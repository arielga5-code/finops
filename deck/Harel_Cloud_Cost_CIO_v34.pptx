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7.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8.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9.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0.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5.xml" ContentType="application/vnd.openxmlformats-officedocument.drawingml.chart+xml"/>
  <Override PartName="/ppt/charts/chart16.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7.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8.xml" ContentType="application/vnd.openxmlformats-officedocument.drawingml.chart+xml"/>
  <Override PartName="/ppt/charts/chart19.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0.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21.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22.xml" ContentType="application/vnd.openxmlformats-officedocument.drawingml.chart+xml"/>
  <Override PartName="/ppt/charts/chart23.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F4F7FB"/>
            </a:solidFill>
            <a:ln w="31750" cap="flat">
              <a:solidFill>
                <a:srgbClr val="F4F7F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4F7FB"/>
              </a:solidFill>
              <a:ln w="9525" cap="flat">
                <a:solidFill>
                  <a:srgbClr val="F4F7FB"/>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234115</c:v>
                </c:pt>
                <c:pt idx="1">
                  <c:v>218324</c:v>
                </c:pt>
                <c:pt idx="2">
                  <c:v>261455</c:v>
                </c:pt>
                <c:pt idx="3">
                  <c:v>234947</c:v>
                </c:pt>
                <c:pt idx="4">
                  <c:v>236775</c:v>
                </c:pt>
                <c:pt idx="5">
                  <c:v>256207</c:v>
                </c:pt>
                <c:pt idx="6">
                  <c:v>283554</c:v>
                </c:pt>
                <c:pt idx="7">
                  <c:v/>
                </c:pt>
                <c:pt idx="8">
                  <c:v/>
                </c:pt>
                <c:pt idx="9">
                  <c:v/>
                </c:pt>
                <c:pt idx="10">
                  <c:v/>
                </c:pt>
                <c:pt idx="11">
                  <c:v/>
                </c:pt>
              </c:numCache>
            </c:numRef>
          </c:val>
          <c:smooth val="0"/>
        </c:ser>
        <c:ser>
          <c:idx val="1"/>
          <c:order val="1"/>
          <c:tx>
            <c:strRef>
              <c:f>Sheet1!$C$1</c:f>
              <c:strCache>
                <c:ptCount val="1"/>
                <c:pt idx="0">
                  <c:v>Projected at the Jan-Jul pace</c:v>
                </c:pt>
              </c:strCache>
            </c:strRef>
          </c:tx>
          <c:spPr>
            <a:solidFill>
              <a:srgbClr val="E0A030"/>
            </a:solidFill>
            <a:ln w="31750" cap="flat">
              <a:solidFill>
                <a:srgbClr val="E0A03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0A030"/>
              </a:solidFill>
              <a:ln w="9525" cap="flat">
                <a:solidFill>
                  <a:srgbClr val="E0A030"/>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
                </c:pt>
                <c:pt idx="1">
                  <c:v/>
                </c:pt>
                <c:pt idx="2">
                  <c:v/>
                </c:pt>
                <c:pt idx="3">
                  <c:v/>
                </c:pt>
                <c:pt idx="4">
                  <c:v/>
                </c:pt>
                <c:pt idx="5">
                  <c:v/>
                </c:pt>
                <c:pt idx="6">
                  <c:v>283554</c:v>
                </c:pt>
                <c:pt idx="7">
                  <c:v>293102</c:v>
                </c:pt>
                <c:pt idx="8">
                  <c:v>302905</c:v>
                </c:pt>
                <c:pt idx="9">
                  <c:v>312972</c:v>
                </c:pt>
                <c:pt idx="10">
                  <c:v>323309</c:v>
                </c:pt>
                <c:pt idx="11">
                  <c:v>333925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F4F7FB"/>
            </a:solidFill>
            <a:ln w="31750" cap="flat">
              <a:solidFill>
                <a:srgbClr val="F4F7F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4F7FB"/>
              </a:solidFill>
              <a:ln w="9525" cap="flat">
                <a:solidFill>
                  <a:srgbClr val="F4F7FB"/>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234115</c:v>
                </c:pt>
                <c:pt idx="1">
                  <c:v>218324</c:v>
                </c:pt>
                <c:pt idx="2">
                  <c:v>261455</c:v>
                </c:pt>
                <c:pt idx="3">
                  <c:v>234947</c:v>
                </c:pt>
                <c:pt idx="4">
                  <c:v>236775</c:v>
                </c:pt>
                <c:pt idx="5">
                  <c:v>256207</c:v>
                </c:pt>
                <c:pt idx="6">
                  <c:v>283554</c:v>
                </c:pt>
                <c:pt idx="7">
                  <c:v/>
                </c:pt>
                <c:pt idx="8">
                  <c:v/>
                </c:pt>
                <c:pt idx="9">
                  <c:v/>
                </c:pt>
                <c:pt idx="10">
                  <c:v/>
                </c:pt>
                <c:pt idx="11">
                  <c:v/>
                </c:pt>
              </c:numCache>
            </c:numRef>
          </c:val>
          <c:smooth val="0"/>
        </c:ser>
        <c:ser>
          <c:idx val="1"/>
          <c:order val="1"/>
          <c:tx>
            <c:strRef>
              <c:f>Sheet1!$C$1</c:f>
              <c:strCache>
                <c:ptCount val="1"/>
                <c:pt idx="0">
                  <c:v>Jan-Jul pace / +3.2%/mo</c:v>
                </c:pt>
              </c:strCache>
            </c:strRef>
          </c:tx>
          <c:spPr>
            <a:solidFill>
              <a:srgbClr val="E0A030"/>
            </a:solidFill>
            <a:ln w="31750" cap="flat">
              <a:solidFill>
                <a:srgbClr val="E0A03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0A030"/>
              </a:solidFill>
              <a:ln w="9525" cap="flat">
                <a:solidFill>
                  <a:srgbClr val="E0A030"/>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
                </c:pt>
                <c:pt idx="1">
                  <c:v/>
                </c:pt>
                <c:pt idx="2">
                  <c:v/>
                </c:pt>
                <c:pt idx="3">
                  <c:v/>
                </c:pt>
                <c:pt idx="4">
                  <c:v/>
                </c:pt>
                <c:pt idx="5">
                  <c:v/>
                </c:pt>
                <c:pt idx="6">
                  <c:v>283554</c:v>
                </c:pt>
                <c:pt idx="7">
                  <c:v>293160</c:v>
                </c:pt>
                <c:pt idx="8">
                  <c:v>303026</c:v>
                </c:pt>
                <c:pt idx="9">
                  <c:v>313158</c:v>
                </c:pt>
                <c:pt idx="10">
                  <c:v>323566</c:v>
                </c:pt>
                <c:pt idx="11">
                  <c:v>334256</c:v>
                </c:pt>
              </c:numCache>
            </c:numRef>
          </c:val>
          <c:smooth val="0"/>
        </c:ser>
        <c:ser>
          <c:idx val="2"/>
          <c:order val="2"/>
          <c:tx>
            <c:strRef>
              <c:f>Sheet1!$D$1</c:f>
              <c:strCache>
                <c:ptCount val="1"/>
                <c:pt idx="0">
                  <c:v>May-Jul pace / Azure +13.3%/mo</c:v>
                </c:pt>
              </c:strCache>
            </c:strRef>
          </c:tx>
          <c:spPr>
            <a:solidFill>
              <a:srgbClr val="FF6B7A"/>
            </a:solidFill>
            <a:ln w="31750" cap="flat">
              <a:solidFill>
                <a:srgbClr val="FF6B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6B7A"/>
              </a:solidFill>
              <a:ln w="9525" cap="flat">
                <a:solidFill>
                  <a:srgbClr val="FF6B7A"/>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Sheet1!$D$2:$D$13</c:f>
              <c:numCache>
                <c:formatCode>General</c:formatCode>
                <c:ptCount val="12"/>
                <c:pt idx="0">
                  <c:v/>
                </c:pt>
                <c:pt idx="1">
                  <c:v/>
                </c:pt>
                <c:pt idx="2">
                  <c:v/>
                </c:pt>
                <c:pt idx="3">
                  <c:v/>
                </c:pt>
                <c:pt idx="4">
                  <c:v/>
                </c:pt>
                <c:pt idx="5">
                  <c:v/>
                </c:pt>
                <c:pt idx="6">
                  <c:v>283554</c:v>
                </c:pt>
                <c:pt idx="7">
                  <c:v>314904</c:v>
                </c:pt>
                <c:pt idx="8">
                  <c:v>349873</c:v>
                </c:pt>
                <c:pt idx="9">
                  <c:v>388919</c:v>
                </c:pt>
                <c:pt idx="10">
                  <c:v>432559</c:v>
                </c:pt>
                <c:pt idx="11">
                  <c:v>481378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Azure</c:v>
                </c:pt>
              </c:strCache>
            </c:strRef>
          </c:tx>
          <c:spPr>
            <a:solidFill>
              <a:srgbClr val="2F8CFF"/>
            </a:solidFill>
            <a:ln w="31750" cap="flat">
              <a:solidFill>
                <a:srgbClr val="2F8C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F8CFF"/>
              </a:solidFill>
              <a:ln w="9525" cap="flat">
                <a:solidFill>
                  <a:srgbClr val="2F8CFF"/>
                </a:solidFill>
                <a:prstDash val="solid"/>
                <a:round/>
              </a:ln>
              <a:effectLst/>
            </c:spPr>
          </c:marker>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156990</c:v>
                </c:pt>
                <c:pt idx="1">
                  <c:v>135742</c:v>
                </c:pt>
                <c:pt idx="2">
                  <c:v>165199</c:v>
                </c:pt>
                <c:pt idx="3">
                  <c:v>152577</c:v>
                </c:pt>
                <c:pt idx="4">
                  <c:v>152263</c:v>
                </c:pt>
                <c:pt idx="5">
                  <c:v>167406</c:v>
                </c:pt>
                <c:pt idx="6">
                  <c:v>186917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plotVisOnly val="1"/>
    <c:dispBlanksAs val="span"/>
  </c:chart>
  <c:spPr>
    <a:solidFill>
      <a:srgbClr val="070A12"/>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Azure AI Foundry</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5764</c:v>
                </c:pt>
                <c:pt idx="1">
                  <c:v>6875</c:v>
                </c:pt>
                <c:pt idx="2">
                  <c:v>7840</c:v>
                </c:pt>
                <c:pt idx="3">
                  <c:v>10544</c:v>
                </c:pt>
                <c:pt idx="4">
                  <c:v>14913</c:v>
                </c:pt>
                <c:pt idx="5">
                  <c:v>21609</c:v>
                </c:pt>
                <c:pt idx="6">
                  <c:v>19613</c:v>
                </c:pt>
              </c:numCache>
            </c:numRef>
          </c:val>
        </c:ser>
        <c:ser>
          <c:idx val="1"/>
          <c:order val="1"/>
          <c:tx>
            <c:strRef>
              <c:f>Sheet1!$C$1</c:f>
              <c:strCache>
                <c:ptCount val="1"/>
                <c:pt idx="0">
                  <c:v>GitHub Copilot</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2779</c:v>
                </c:pt>
                <c:pt idx="1">
                  <c:v>3618</c:v>
                </c:pt>
                <c:pt idx="2">
                  <c:v>4319</c:v>
                </c:pt>
                <c:pt idx="3">
                  <c:v>4080</c:v>
                </c:pt>
                <c:pt idx="4">
                  <c:v>6467</c:v>
                </c:pt>
                <c:pt idx="5">
                  <c:v>16654</c:v>
                </c:pt>
                <c:pt idx="6">
                  <c:v>19260</c:v>
                </c:pt>
              </c:numCache>
            </c:numRef>
          </c:val>
        </c:ser>
        <c:ser>
          <c:idx val="2"/>
          <c:order val="2"/>
          <c:tx>
            <c:strRef>
              <c:f>Sheet1!$D$1</c:f>
              <c:strCache>
                <c:ptCount val="1"/>
                <c:pt idx="0">
                  <c:v>AWS Bedrock (Claude)</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0</c:v>
                </c:pt>
                <c:pt idx="1">
                  <c:v>0</c:v>
                </c:pt>
                <c:pt idx="2">
                  <c:v>841</c:v>
                </c:pt>
                <c:pt idx="3">
                  <c:v>1609</c:v>
                </c:pt>
                <c:pt idx="4">
                  <c:v>3811</c:v>
                </c:pt>
                <c:pt idx="5">
                  <c:v>10507</c:v>
                </c:pt>
                <c:pt idx="6">
                  <c:v>25288</c:v>
                </c:pt>
              </c:numCache>
            </c:numRef>
          </c:val>
        </c:ser>
        <c:ser>
          <c:idx val="3"/>
          <c:order val="3"/>
          <c:tx>
            <c:strRef>
              <c:f>Sheet1!$E$1</c:f>
              <c:strCache>
                <c:ptCount val="1"/>
                <c:pt idx="0">
                  <c:v>Cowork</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97</c:v>
                </c:pt>
                <c:pt idx="1">
                  <c:v>100</c:v>
                </c:pt>
                <c:pt idx="2">
                  <c:v>117</c:v>
                </c:pt>
                <c:pt idx="3">
                  <c:v>130</c:v>
                </c:pt>
                <c:pt idx="4">
                  <c:v>80</c:v>
                </c:pt>
                <c:pt idx="5">
                  <c:v>0</c:v>
                </c:pt>
                <c:pt idx="6">
                  <c:v>8920</c:v>
                </c:pt>
              </c:numCache>
            </c:numRef>
          </c:val>
        </c:ser>
        <c:ser>
          <c:idx val="4"/>
          <c:order val="4"/>
          <c:tx>
            <c:strRef>
              <c:f>Sheet1!$F$1</c:f>
              <c:strCache>
                <c:ptCount val="1"/>
                <c:pt idx="0">
                  <c:v>Google Vertex AI</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0</c:v>
                </c:pt>
                <c:pt idx="1">
                  <c:v>0</c:v>
                </c:pt>
                <c:pt idx="2">
                  <c:v>0</c:v>
                </c:pt>
                <c:pt idx="3">
                  <c:v>0</c:v>
                </c:pt>
                <c:pt idx="4">
                  <c:v>379</c:v>
                </c:pt>
                <c:pt idx="5">
                  <c:v>958</c:v>
                </c:pt>
                <c:pt idx="6">
                  <c:v>2359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c:v>
                </c:pt>
              </c:strCache>
            </c:strRef>
          </c:tx>
          <c:spPr>
            <a:solidFill>
              <a:srgbClr val="2F8CFF"/>
            </a:solidFill>
            <a:effectLst/>
          </c:spPr>
          <c:invertIfNegative val="0"/>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F5 Distributed Cloud Bot Defense</c:v>
                  </c:pt>
                  <c:pt idx="1">
                    <c:v>Fortinet Cloud Security Platform</c:v>
                  </c:pt>
                  <c:pt idx="2">
                    <c:v>Trellix_Private Offer Only</c:v>
                  </c:pt>
                  <c:pt idx="3">
                    <c:v>All other</c:v>
                  </c:pt>
                  <c:pt idx="4">
                    <c:v>(Private) Cortex</c:v>
                  </c:pt>
                  <c:pt idx="5">
                    <c:v>MongoDB Atlas on AWS - Contract ...</c:v>
                  </c:pt>
                  <c:pt idx="6">
                    <c:v>F5 Distributed Cloud Services</c:v>
                  </c:pt>
                  <c:pt idx="7">
                    <c:v>CrowdStrike Falcon Identity Prot...</c:v>
                  </c:pt>
                  <c:pt idx="8">
                    <c:v>TrendAI Enterprise Security Solu...</c:v>
                  </c:pt>
                  <c:pt idx="9">
                    <c:v>Splunk Private Offer Session 3</c:v>
                  </c:pt>
                </c:lvl>
              </c:multiLvlStrCache>
            </c:multiLvlStrRef>
          </c:cat>
          <c:val>
            <c:numRef>
              <c:f>Sheet1!$B$2:$B$11</c:f>
              <c:numCache>
                <c:formatCode>General</c:formatCode>
                <c:ptCount val="10"/>
                <c:pt idx="0">
                  <c:v>43307.51</c:v>
                </c:pt>
                <c:pt idx="1">
                  <c:v>61998.34</c:v>
                </c:pt>
                <c:pt idx="2">
                  <c:v>70680</c:v>
                </c:pt>
                <c:pt idx="3">
                  <c:v>101662.59</c:v>
                </c:pt>
                <c:pt idx="4">
                  <c:v>142960.14</c:v>
                </c:pt>
                <c:pt idx="5">
                  <c:v>163240.16999999998</c:v>
                </c:pt>
                <c:pt idx="6">
                  <c:v>166293</c:v>
                </c:pt>
                <c:pt idx="7">
                  <c:v>171303</c:v>
                </c:pt>
                <c:pt idx="8">
                  <c:v>257323</c:v>
                </c:pt>
                <c:pt idx="9">
                  <c:v>365018</c:v>
                </c:pt>
              </c:numCache>
            </c:numRef>
          </c:val>
        </c:ser>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3304A"/>
              </a:solidFill>
              <a:prstDash val="solid"/>
              <a:round/>
            </a:ln>
          </c:spPr>
        </c:majorGridlines>
        <c:numFmt formatCode="&quot;$&quot;#,##0"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plotVisOnly val="1"/>
    <c:dispBlanksAs val="span"/>
  </c:chart>
  <c:spPr>
    <a:solidFill>
      <a:srgbClr val="070A12"/>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Vertex AI</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Sheet1!$B$2:$B$6</c:f>
              <c:numCache>
                <c:formatCode>General</c:formatCode>
                <c:ptCount val="5"/>
                <c:pt idx="0">
                  <c:v>0</c:v>
                </c:pt>
                <c:pt idx="1">
                  <c:v>0.01</c:v>
                </c:pt>
                <c:pt idx="2">
                  <c:v>378.84</c:v>
                </c:pt>
                <c:pt idx="3">
                  <c:v>957.52</c:v>
                </c:pt>
                <c:pt idx="4">
                  <c:v>2359</c:v>
                </c:pt>
              </c:numCache>
            </c:numRef>
          </c:val>
        </c:ser>
        <c:ser>
          <c:idx val="1"/>
          <c:order val="1"/>
          <c:tx>
            <c:strRef>
              <c:f>Sheet1!$C$1</c:f>
              <c:strCache>
                <c:ptCount val="1"/>
                <c:pt idx="0">
                  <c:v>Compute Engine</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Sheet1!$C$2:$C$6</c:f>
              <c:numCache>
                <c:formatCode>General</c:formatCode>
                <c:ptCount val="5"/>
                <c:pt idx="0">
                  <c:v>0</c:v>
                </c:pt>
                <c:pt idx="1">
                  <c:v>221.73</c:v>
                </c:pt>
                <c:pt idx="2">
                  <c:v>714.24</c:v>
                </c:pt>
                <c:pt idx="3">
                  <c:v>977.33</c:v>
                </c:pt>
                <c:pt idx="4">
                  <c:v>1011.51</c:v>
                </c:pt>
              </c:numCache>
            </c:numRef>
          </c:val>
        </c:ser>
        <c:ser>
          <c:idx val="2"/>
          <c:order val="2"/>
          <c:tx>
            <c:strRef>
              <c:f>Sheet1!$D$1</c:f>
              <c:strCache>
                <c:ptCount val="1"/>
                <c:pt idx="0">
                  <c:v>Networking</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Sheet1!$D$2:$D$6</c:f>
              <c:numCache>
                <c:formatCode>General</c:formatCode>
                <c:ptCount val="5"/>
                <c:pt idx="0">
                  <c:v>0</c:v>
                </c:pt>
                <c:pt idx="1">
                  <c:v>74.48</c:v>
                </c:pt>
                <c:pt idx="2">
                  <c:v>311.42</c:v>
                </c:pt>
                <c:pt idx="3">
                  <c:v>303.73</c:v>
                </c:pt>
                <c:pt idx="4">
                  <c:v>310</c:v>
                </c:pt>
              </c:numCache>
            </c:numRef>
          </c:val>
        </c:ser>
        <c:ser>
          <c:idx val="3"/>
          <c:order val="3"/>
          <c:tx>
            <c:strRef>
              <c:f>Sheet1!$E$1</c:f>
              <c:strCache>
                <c:ptCount val="1"/>
                <c:pt idx="0">
                  <c:v>Gemini API</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Sheet1!$E$2:$E$6</c:f>
              <c:numCache>
                <c:formatCode>General</c:formatCode>
                <c:ptCount val="5"/>
                <c:pt idx="0">
                  <c:v>395.81</c:v>
                </c:pt>
                <c:pt idx="1">
                  <c:v>134.71</c:v>
                </c:pt>
                <c:pt idx="2">
                  <c:v>92.38</c:v>
                </c:pt>
                <c:pt idx="3">
                  <c:v>0</c:v>
                </c:pt>
                <c:pt idx="4">
                  <c:v>0</c:v>
                </c:pt>
              </c:numCache>
            </c:numRef>
          </c:val>
        </c:ser>
        <c:ser>
          <c:idx val="4"/>
          <c:order val="4"/>
          <c:tx>
            <c:strRef>
              <c:f>Sheet1!$F$1</c:f>
              <c:strCache>
                <c:ptCount val="1"/>
                <c:pt idx="0">
                  <c:v>Support</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Sheet1!$F$2:$F$6</c:f>
              <c:numCache>
                <c:formatCode>General</c:formatCode>
                <c:ptCount val="5"/>
                <c:pt idx="0">
                  <c:v>0</c:v>
                </c:pt>
                <c:pt idx="1">
                  <c:v>0</c:v>
                </c:pt>
                <c:pt idx="2">
                  <c:v>26.43</c:v>
                </c:pt>
                <c:pt idx="3">
                  <c:v>98.24</c:v>
                </c:pt>
                <c:pt idx="4">
                  <c:v>141.65</c:v>
                </c:pt>
              </c:numCache>
            </c:numRef>
          </c:val>
        </c:ser>
        <c:ser>
          <c:idx val="5"/>
          <c:order val="5"/>
          <c:tx>
            <c:strRef>
              <c:f>Sheet1!$G$1</c:f>
              <c:strCache>
                <c:ptCount val="1"/>
                <c:pt idx="0">
                  <c:v>other services</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Sheet1!$G$2:$G$6</c:f>
              <c:numCache>
                <c:formatCode>General</c:formatCode>
                <c:ptCount val="5"/>
                <c:pt idx="0">
                  <c:v>0.06</c:v>
                </c:pt>
                <c:pt idx="1">
                  <c:v>9.23</c:v>
                </c:pt>
                <c:pt idx="2">
                  <c:v>-73.96</c:v>
                </c:pt>
                <c:pt idx="3">
                  <c:v>-117.27</c:v>
                </c:pt>
                <c:pt idx="4">
                  <c:v>-115.11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aws-prod-Digital</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22332.66</c:v>
                </c:pt>
                <c:pt idx="1">
                  <c:v>21140.47</c:v>
                </c:pt>
                <c:pt idx="2">
                  <c:v>21628.91</c:v>
                </c:pt>
                <c:pt idx="3">
                  <c:v>21144.81</c:v>
                </c:pt>
                <c:pt idx="4">
                  <c:v>21545.74</c:v>
                </c:pt>
                <c:pt idx="5">
                  <c:v>21516.36</c:v>
                </c:pt>
                <c:pt idx="6">
                  <c:v>22251.5</c:v>
                </c:pt>
              </c:numCache>
            </c:numRef>
          </c:val>
        </c:ser>
        <c:ser>
          <c:idx val="1"/>
          <c:order val="1"/>
          <c:tx>
            <c:strRef>
              <c:f>Sheet1!$C$1</c:f>
              <c:strCache>
                <c:ptCount val="1"/>
                <c:pt idx="0">
                  <c:v>aws-devTest-digital</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9774.69</c:v>
                </c:pt>
                <c:pt idx="1">
                  <c:v>9293.5</c:v>
                </c:pt>
                <c:pt idx="2">
                  <c:v>13019.52</c:v>
                </c:pt>
                <c:pt idx="3">
                  <c:v>12889.08</c:v>
                </c:pt>
                <c:pt idx="4">
                  <c:v>14478.53</c:v>
                </c:pt>
                <c:pt idx="5">
                  <c:v>13223.96</c:v>
                </c:pt>
                <c:pt idx="6">
                  <c:v>13679.04</c:v>
                </c:pt>
              </c:numCache>
            </c:numRef>
          </c:val>
        </c:ser>
        <c:ser>
          <c:idx val="2"/>
          <c:order val="2"/>
          <c:tx>
            <c:strRef>
              <c:f>Sheet1!$D$1</c:f>
              <c:strCache>
                <c:ptCount val="1"/>
                <c:pt idx="0">
                  <c:v>aws-preProd-digital</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10763.47</c:v>
                </c:pt>
                <c:pt idx="1">
                  <c:v>9195.09</c:v>
                </c:pt>
                <c:pt idx="2">
                  <c:v>10753.11</c:v>
                </c:pt>
                <c:pt idx="3">
                  <c:v>10593.41</c:v>
                </c:pt>
                <c:pt idx="4">
                  <c:v>11424.85</c:v>
                </c:pt>
                <c:pt idx="5">
                  <c:v>10158.6</c:v>
                </c:pt>
                <c:pt idx="6">
                  <c:v>10824.22</c:v>
                </c:pt>
              </c:numCache>
            </c:numRef>
          </c:val>
        </c:ser>
        <c:ser>
          <c:idx val="3"/>
          <c:order val="3"/>
          <c:tx>
            <c:strRef>
              <c:f>Sheet1!$E$1</c:f>
              <c:strCache>
                <c:ptCount val="1"/>
                <c:pt idx="0">
                  <c:v>aws-foundation-security</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8241.01</c:v>
                </c:pt>
                <c:pt idx="1">
                  <c:v>7426.22</c:v>
                </c:pt>
                <c:pt idx="2">
                  <c:v>8018.52</c:v>
                </c:pt>
                <c:pt idx="3">
                  <c:v>7844.99</c:v>
                </c:pt>
                <c:pt idx="4">
                  <c:v>8595.8</c:v>
                </c:pt>
                <c:pt idx="5">
                  <c:v>8586.64</c:v>
                </c:pt>
                <c:pt idx="6">
                  <c:v>8752.36</c:v>
                </c:pt>
              </c:numCache>
            </c:numRef>
          </c:val>
        </c:ser>
        <c:ser>
          <c:idx val="4"/>
          <c:order val="4"/>
          <c:tx>
            <c:strRef>
              <c:f>Sheet1!$F$1</c:f>
              <c:strCache>
                <c:ptCount val="1"/>
                <c:pt idx="0">
                  <c:v>customers3-prod</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886.84</c:v>
                </c:pt>
                <c:pt idx="1">
                  <c:v>13482.36</c:v>
                </c:pt>
                <c:pt idx="2">
                  <c:v>11082.36</c:v>
                </c:pt>
                <c:pt idx="3">
                  <c:v>2357.5</c:v>
                </c:pt>
                <c:pt idx="4">
                  <c:v>4222.21</c:v>
                </c:pt>
                <c:pt idx="5">
                  <c:v>6507.56</c:v>
                </c:pt>
                <c:pt idx="6">
                  <c:v>9065.77</c:v>
                </c:pt>
              </c:numCache>
            </c:numRef>
          </c:val>
        </c:ser>
        <c:ser>
          <c:idx val="5"/>
          <c:order val="5"/>
          <c:tx>
            <c:strRef>
              <c:f>Sheet1!$G$1</c:f>
              <c:strCache>
                <c:ptCount val="1"/>
                <c:pt idx="0">
                  <c:v>cloudops-network</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Sheet1!$G$2:$G$8</c:f>
              <c:numCache>
                <c:formatCode>General</c:formatCode>
                <c:ptCount val="7"/>
                <c:pt idx="0">
                  <c:v>6243.55</c:v>
                </c:pt>
                <c:pt idx="1">
                  <c:v>5752.81</c:v>
                </c:pt>
                <c:pt idx="2">
                  <c:v>7021.84</c:v>
                </c:pt>
                <c:pt idx="3">
                  <c:v>6897.91</c:v>
                </c:pt>
                <c:pt idx="4">
                  <c:v>7152.27</c:v>
                </c:pt>
                <c:pt idx="5">
                  <c:v>7100.37</c:v>
                </c:pt>
                <c:pt idx="6">
                  <c:v>7373.13</c:v>
                </c:pt>
              </c:numCache>
            </c:numRef>
          </c:val>
        </c:ser>
        <c:ser>
          <c:idx val="6"/>
          <c:order val="6"/>
          <c:tx>
            <c:strRef>
              <c:f>Sheet1!$H$1</c:f>
              <c:strCache>
                <c:ptCount val="1"/>
                <c:pt idx="0">
                  <c:v>aws-foundation-sharedservices</c:v>
                </c:pt>
              </c:strCache>
            </c:strRef>
          </c:tx>
          <c:spPr>
            <a:solidFill>
              <a:srgbClr val="2AD3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Sheet1!$H$2:$H$8</c:f>
              <c:numCache>
                <c:formatCode>General</c:formatCode>
                <c:ptCount val="7"/>
                <c:pt idx="0">
                  <c:v>6557.18</c:v>
                </c:pt>
                <c:pt idx="1">
                  <c:v>5506.82</c:v>
                </c:pt>
                <c:pt idx="2">
                  <c:v>5796.97</c:v>
                </c:pt>
                <c:pt idx="3">
                  <c:v>5754.82</c:v>
                </c:pt>
                <c:pt idx="4">
                  <c:v>6022.6</c:v>
                </c:pt>
                <c:pt idx="5">
                  <c:v>6015.61</c:v>
                </c:pt>
                <c:pt idx="6">
                  <c:v>6067.45</c:v>
                </c:pt>
              </c:numCache>
            </c:numRef>
          </c:val>
        </c:ser>
        <c:ser>
          <c:idx val="7"/>
          <c:order val="7"/>
          <c:tx>
            <c:strRef>
              <c:f>Sheet1!$I$1</c:f>
              <c:strCache>
                <c:ptCount val="1"/>
                <c:pt idx="0">
                  <c:v>Harel Insurance</c:v>
                </c:pt>
              </c:strCache>
            </c:strRef>
          </c:tx>
          <c:spPr>
            <a:solidFill>
              <a:srgbClr val="FFB8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Sheet1!$I$2:$I$8</c:f>
              <c:numCache>
                <c:formatCode>General</c:formatCode>
                <c:ptCount val="7"/>
                <c:pt idx="0">
                  <c:v>6065.71</c:v>
                </c:pt>
                <c:pt idx="1">
                  <c:v>3782.04</c:v>
                </c:pt>
                <c:pt idx="2">
                  <c:v>6397.95</c:v>
                </c:pt>
                <c:pt idx="3">
                  <c:v>8584.51</c:v>
                </c:pt>
                <c:pt idx="4">
                  <c:v>3830.37</c:v>
                </c:pt>
                <c:pt idx="5">
                  <c:v>6197.57</c:v>
                </c:pt>
                <c:pt idx="6">
                  <c:v>5139.86</c:v>
                </c:pt>
              </c:numCache>
            </c:numRef>
          </c:val>
        </c:ser>
        <c:ser>
          <c:idx val="8"/>
          <c:order val="8"/>
          <c:tx>
            <c:strRef>
              <c:f>Sheet1!$J$1</c:f>
              <c:strCache>
                <c:ptCount val="1"/>
                <c:pt idx="0">
                  <c:v>All other</c:v>
                </c:pt>
              </c:strCache>
            </c:strRef>
          </c:tx>
          <c:spPr>
            <a:solidFill>
              <a:srgbClr val="6C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Sheet1!$J$2:$J$8</c:f>
              <c:numCache>
                <c:formatCode>General</c:formatCode>
                <c:ptCount val="7"/>
                <c:pt idx="0">
                  <c:v>6260.39</c:v>
                </c:pt>
                <c:pt idx="1">
                  <c:v>7002.899999999999</c:v>
                </c:pt>
                <c:pt idx="2">
                  <c:v>12141.12</c:v>
                </c:pt>
                <c:pt idx="3">
                  <c:v>5862.049999999999</c:v>
                </c:pt>
                <c:pt idx="4">
                  <c:v>5790.1100000000015</c:v>
                </c:pt>
                <c:pt idx="5">
                  <c:v>7274.5199999999995</c:v>
                </c:pt>
                <c:pt idx="6">
                  <c:v>-6323.640000000001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EC2 - Compute</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31180.69</c:v>
                </c:pt>
                <c:pt idx="1">
                  <c:v>28236.72</c:v>
                </c:pt>
                <c:pt idx="2">
                  <c:v>32994.93</c:v>
                </c:pt>
                <c:pt idx="3">
                  <c:v>32045.93</c:v>
                </c:pt>
                <c:pt idx="4">
                  <c:v>35082.64</c:v>
                </c:pt>
                <c:pt idx="5">
                  <c:v>33427.89</c:v>
                </c:pt>
                <c:pt idx="6">
                  <c:v>35426.33</c:v>
                </c:pt>
              </c:numCache>
            </c:numRef>
          </c:val>
        </c:ser>
        <c:ser>
          <c:idx val="1"/>
          <c:order val="1"/>
          <c:tx>
            <c:strRef>
              <c:f>Sheet1!$C$1</c:f>
              <c:strCache>
                <c:ptCount val="1"/>
                <c:pt idx="0">
                  <c:v>Business Support</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3876.88</c:v>
                </c:pt>
                <c:pt idx="1">
                  <c:v>4268.96</c:v>
                </c:pt>
                <c:pt idx="2">
                  <c:v>4581.17</c:v>
                </c:pt>
                <c:pt idx="3">
                  <c:v>4108.04</c:v>
                </c:pt>
                <c:pt idx="4">
                  <c:v>4478.1</c:v>
                </c:pt>
                <c:pt idx="5">
                  <c:v>4839.14</c:v>
                </c:pt>
                <c:pt idx="6">
                  <c:v>5893.49</c:v>
                </c:pt>
              </c:numCache>
            </c:numRef>
          </c:val>
        </c:ser>
        <c:ser>
          <c:idx val="2"/>
          <c:order val="2"/>
          <c:tx>
            <c:strRef>
              <c:f>Sheet1!$D$1</c:f>
              <c:strCache>
                <c:ptCount val="1"/>
                <c:pt idx="0">
                  <c:v>S3 - Storage</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1978.49</c:v>
                </c:pt>
                <c:pt idx="1">
                  <c:v>13276.31</c:v>
                </c:pt>
                <c:pt idx="2">
                  <c:v>5868.01</c:v>
                </c:pt>
                <c:pt idx="3">
                  <c:v>2134.47</c:v>
                </c:pt>
                <c:pt idx="4">
                  <c:v>2249.46</c:v>
                </c:pt>
                <c:pt idx="5">
                  <c:v>2370.09</c:v>
                </c:pt>
                <c:pt idx="6">
                  <c:v>2324.71</c:v>
                </c:pt>
              </c:numCache>
            </c:numRef>
          </c:val>
        </c:ser>
        <c:ser>
          <c:idx val="3"/>
          <c:order val="3"/>
          <c:tx>
            <c:strRef>
              <c:f>Sheet1!$E$1</c:f>
              <c:strCache>
                <c:ptCount val="1"/>
                <c:pt idx="0">
                  <c:v>Virtual Private Cloud - Transit Gateway</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3925.73</c:v>
                </c:pt>
                <c:pt idx="1">
                  <c:v>3570.88</c:v>
                </c:pt>
                <c:pt idx="2">
                  <c:v>3963.99</c:v>
                </c:pt>
                <c:pt idx="3">
                  <c:v>3878.04</c:v>
                </c:pt>
                <c:pt idx="4">
                  <c:v>4428.68</c:v>
                </c:pt>
                <c:pt idx="5">
                  <c:v>4573.6</c:v>
                </c:pt>
                <c:pt idx="6">
                  <c:v>4657.27</c:v>
                </c:pt>
              </c:numCache>
            </c:numRef>
          </c:val>
        </c:ser>
        <c:ser>
          <c:idx val="4"/>
          <c:order val="4"/>
          <c:tx>
            <c:strRef>
              <c:f>Sheet1!$F$1</c:f>
              <c:strCache>
                <c:ptCount val="1"/>
                <c:pt idx="0">
                  <c:v>RDS - Compute</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4939.68</c:v>
                </c:pt>
                <c:pt idx="1">
                  <c:v>3272.18</c:v>
                </c:pt>
                <c:pt idx="2">
                  <c:v>3522.03</c:v>
                </c:pt>
                <c:pt idx="3">
                  <c:v>3408.12</c:v>
                </c:pt>
                <c:pt idx="4">
                  <c:v>3521.72</c:v>
                </c:pt>
                <c:pt idx="5">
                  <c:v>4011.45</c:v>
                </c:pt>
                <c:pt idx="6">
                  <c:v>4355</c:v>
                </c:pt>
              </c:numCache>
            </c:numRef>
          </c:val>
        </c:ser>
        <c:ser>
          <c:idx val="5"/>
          <c:order val="5"/>
          <c:tx>
            <c:strRef>
              <c:f>Sheet1!$G$1</c:f>
              <c:strCache>
                <c:ptCount val="1"/>
                <c:pt idx="0">
                  <c:v>Direct Connect - Port Hours</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Sheet1!$G$2:$G$8</c:f>
              <c:numCache>
                <c:formatCode>General</c:formatCode>
                <c:ptCount val="7"/>
                <c:pt idx="0">
                  <c:v>3794.4</c:v>
                </c:pt>
                <c:pt idx="1">
                  <c:v>3427.2</c:v>
                </c:pt>
                <c:pt idx="2">
                  <c:v>3794.4</c:v>
                </c:pt>
                <c:pt idx="3">
                  <c:v>3672</c:v>
                </c:pt>
                <c:pt idx="4">
                  <c:v>3794.4</c:v>
                </c:pt>
                <c:pt idx="5">
                  <c:v>3672</c:v>
                </c:pt>
                <c:pt idx="6">
                  <c:v>3794.4</c:v>
                </c:pt>
              </c:numCache>
            </c:numRef>
          </c:val>
        </c:ser>
        <c:ser>
          <c:idx val="6"/>
          <c:order val="6"/>
          <c:tx>
            <c:strRef>
              <c:f>Sheet1!$H$1</c:f>
              <c:strCache>
                <c:ptCount val="1"/>
                <c:pt idx="0">
                  <c:v>CloudWatch Log Groups</c:v>
                </c:pt>
              </c:strCache>
            </c:strRef>
          </c:tx>
          <c:spPr>
            <a:solidFill>
              <a:srgbClr val="2AD3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Sheet1!$H$2:$H$8</c:f>
              <c:numCache>
                <c:formatCode>General</c:formatCode>
                <c:ptCount val="7"/>
                <c:pt idx="0">
                  <c:v>2791.6</c:v>
                </c:pt>
                <c:pt idx="1">
                  <c:v>2486.91</c:v>
                </c:pt>
                <c:pt idx="2">
                  <c:v>2914.14</c:v>
                </c:pt>
                <c:pt idx="3">
                  <c:v>2895.9</c:v>
                </c:pt>
                <c:pt idx="4">
                  <c:v>3040.1</c:v>
                </c:pt>
                <c:pt idx="5">
                  <c:v>3061.85</c:v>
                </c:pt>
                <c:pt idx="6">
                  <c:v>2991.11</c:v>
                </c:pt>
              </c:numCache>
            </c:numRef>
          </c:val>
        </c:ser>
        <c:ser>
          <c:idx val="7"/>
          <c:order val="7"/>
          <c:tx>
            <c:strRef>
              <c:f>Sheet1!$I$1</c:f>
              <c:strCache>
                <c:ptCount val="1"/>
                <c:pt idx="0">
                  <c:v>all other services</c:v>
                </c:pt>
              </c:strCache>
            </c:strRef>
          </c:tx>
          <c:spPr>
            <a:solidFill>
              <a:srgbClr val="FFB8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Sheet1!$I$2:$I$8</c:f>
              <c:numCache>
                <c:formatCode>General</c:formatCode>
                <c:ptCount val="7"/>
                <c:pt idx="0">
                  <c:v>2981.34</c:v>
                </c:pt>
                <c:pt idx="1">
                  <c:v>4394.96</c:v>
                </c:pt>
                <c:pt idx="2">
                  <c:v>3697.84</c:v>
                </c:pt>
                <c:pt idx="3">
                  <c:v>2273.25</c:v>
                </c:pt>
                <c:pt idx="4">
                  <c:v>2037.07</c:v>
                </c:pt>
                <c:pt idx="5">
                  <c:v>1889.52</c:v>
                </c:pt>
                <c:pt idx="6">
                  <c:v>1276.28</c:v>
                </c:pt>
              </c:numCache>
            </c:numRef>
          </c:val>
        </c:ser>
        <c:ser>
          <c:idx val="8"/>
          <c:order val="8"/>
          <c:tx>
            <c:strRef>
              <c:f>Sheet1!$J$1</c:f>
              <c:strCache>
                <c:ptCount val="1"/>
                <c:pt idx="0">
                  <c:v>All other</c:v>
                </c:pt>
              </c:strCache>
            </c:strRef>
          </c:tx>
          <c:spPr>
            <a:solidFill>
              <a:srgbClr val="6C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Sheet1!$J$2:$J$8</c:f>
              <c:numCache>
                <c:formatCode>General</c:formatCode>
                <c:ptCount val="7"/>
                <c:pt idx="0">
                  <c:v>21656.71000000001</c:v>
                </c:pt>
                <c:pt idx="1">
                  <c:v>19648.1</c:v>
                </c:pt>
                <c:pt idx="2">
                  <c:v>34523.78</c:v>
                </c:pt>
                <c:pt idx="3">
                  <c:v>27513.360000000008</c:v>
                </c:pt>
                <c:pt idx="4">
                  <c:v>24430.3</c:v>
                </c:pt>
                <c:pt idx="5">
                  <c:v>28735.639999999996</c:v>
                </c:pt>
                <c:pt idx="6">
                  <c:v>16111.090000000006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datacloud</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47462</c:v>
                </c:pt>
                <c:pt idx="1">
                  <c:v>49198.19</c:v>
                </c:pt>
                <c:pt idx="2">
                  <c:v>54536</c:v>
                </c:pt>
                <c:pt idx="3">
                  <c:v>50235.01</c:v>
                </c:pt>
                <c:pt idx="4">
                  <c:v>43924.46</c:v>
                </c:pt>
                <c:pt idx="5">
                  <c:v>44390</c:v>
                </c:pt>
                <c:pt idx="6">
                  <c:v>49118</c:v>
                </c:pt>
              </c:numCache>
            </c:numRef>
          </c:val>
        </c:ser>
        <c:ser>
          <c:idx val="1"/>
          <c:order val="1"/>
          <c:tx>
            <c:strRef>
              <c:f>Sheet1!$C$1</c:f>
              <c:strCache>
                <c:ptCount val="1"/>
                <c:pt idx="0">
                  <c:v>sap</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42266</c:v>
                </c:pt>
                <c:pt idx="1">
                  <c:v>39098.06</c:v>
                </c:pt>
                <c:pt idx="2">
                  <c:v>41546</c:v>
                </c:pt>
                <c:pt idx="3">
                  <c:v>40825.4</c:v>
                </c:pt>
                <c:pt idx="4">
                  <c:v>46601</c:v>
                </c:pt>
                <c:pt idx="5">
                  <c:v>42665</c:v>
                </c:pt>
                <c:pt idx="6">
                  <c:v>40925</c:v>
                </c:pt>
              </c:numCache>
            </c:numRef>
          </c:val>
        </c:ser>
        <c:ser>
          <c:idx val="2"/>
          <c:order val="2"/>
          <c:tx>
            <c:strRef>
              <c:f>Sheet1!$D$1</c:f>
              <c:strCache>
                <c:ptCount val="1"/>
                <c:pt idx="0">
                  <c:v>cloudit</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30915</c:v>
                </c:pt>
                <c:pt idx="1">
                  <c:v>24680.95</c:v>
                </c:pt>
                <c:pt idx="2">
                  <c:v>40730</c:v>
                </c:pt>
                <c:pt idx="3">
                  <c:v>29195.48</c:v>
                </c:pt>
                <c:pt idx="4">
                  <c:v>28615</c:v>
                </c:pt>
                <c:pt idx="5">
                  <c:v>28585</c:v>
                </c:pt>
                <c:pt idx="6">
                  <c:v>33421</c:v>
                </c:pt>
              </c:numCache>
            </c:numRef>
          </c:val>
        </c:ser>
        <c:ser>
          <c:idx val="3"/>
          <c:order val="3"/>
          <c:tx>
            <c:strRef>
              <c:f>Sheet1!$E$1</c:f>
              <c:strCache>
                <c:ptCount val="1"/>
                <c:pt idx="0">
                  <c:v>aifactory</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854</c:v>
                </c:pt>
                <c:pt idx="1">
                  <c:v>3477.58</c:v>
                </c:pt>
                <c:pt idx="2">
                  <c:v>12632</c:v>
                </c:pt>
                <c:pt idx="3">
                  <c:v>11675.62</c:v>
                </c:pt>
                <c:pt idx="4">
                  <c:v>13656</c:v>
                </c:pt>
                <c:pt idx="5">
                  <c:v>26476</c:v>
                </c:pt>
                <c:pt idx="6">
                  <c:v>24531</c:v>
                </c:pt>
              </c:numCache>
            </c:numRef>
          </c:val>
        </c:ser>
        <c:ser>
          <c:idx val="4"/>
          <c:order val="4"/>
          <c:tx>
            <c:strRef>
              <c:f>Sheet1!$F$1</c:f>
              <c:strCache>
                <c:ptCount val="1"/>
                <c:pt idx="0">
                  <c:v>other</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4371</c:v>
                </c:pt>
                <c:pt idx="1">
                  <c:v>5240</c:v>
                </c:pt>
                <c:pt idx="2">
                  <c:v>5614</c:v>
                </c:pt>
                <c:pt idx="3">
                  <c:v>5760</c:v>
                </c:pt>
                <c:pt idx="4">
                  <c:v>8681.34</c:v>
                </c:pt>
                <c:pt idx="5">
                  <c:v>18094</c:v>
                </c:pt>
                <c:pt idx="6">
                  <c:v>22410</c:v>
                </c:pt>
              </c:numCache>
            </c:numRef>
          </c:val>
        </c:ser>
        <c:ser>
          <c:idx val="5"/>
          <c:order val="5"/>
          <c:tx>
            <c:strRef>
              <c:f>Sheet1!$G$1</c:f>
              <c:strCache>
                <c:ptCount val="1"/>
                <c:pt idx="0">
                  <c:v>actuary</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Sheet1!$G$2:$G$8</c:f>
              <c:numCache>
                <c:formatCode>General</c:formatCode>
                <c:ptCount val="7"/>
                <c:pt idx="0">
                  <c:v>15102</c:v>
                </c:pt>
                <c:pt idx="1">
                  <c:v>4959.24</c:v>
                </c:pt>
                <c:pt idx="2">
                  <c:v>3549</c:v>
                </c:pt>
                <c:pt idx="3">
                  <c:v>5341</c:v>
                </c:pt>
                <c:pt idx="4">
                  <c:v>4672</c:v>
                </c:pt>
                <c:pt idx="5">
                  <c:v>2733</c:v>
                </c:pt>
                <c:pt idx="6">
                  <c:v>4058</c:v>
                </c:pt>
              </c:numCache>
            </c:numRef>
          </c:val>
        </c:ser>
        <c:ser>
          <c:idx val="6"/>
          <c:order val="6"/>
          <c:tx>
            <c:strRef>
              <c:f>Sheet1!$H$1</c:f>
              <c:strCache>
                <c:ptCount val="1"/>
                <c:pt idx="0">
                  <c:v>Risk Agility</c:v>
                </c:pt>
              </c:strCache>
            </c:strRef>
          </c:tx>
          <c:spPr>
            <a:solidFill>
              <a:srgbClr val="2AD3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Sheet1!$H$2:$H$8</c:f>
              <c:numCache>
                <c:formatCode>General</c:formatCode>
                <c:ptCount val="7"/>
                <c:pt idx="0">
                  <c:v>13063</c:v>
                </c:pt>
                <c:pt idx="1">
                  <c:v>5274</c:v>
                </c:pt>
                <c:pt idx="2">
                  <c:v>2617</c:v>
                </c:pt>
                <c:pt idx="3">
                  <c:v>5768</c:v>
                </c:pt>
                <c:pt idx="4">
                  <c:v>2842</c:v>
                </c:pt>
                <c:pt idx="5">
                  <c:v>1031</c:v>
                </c:pt>
                <c:pt idx="6">
                  <c:v>1032</c:v>
                </c:pt>
              </c:numCache>
            </c:numRef>
          </c:val>
        </c:ser>
        <c:ser>
          <c:idx val="7"/>
          <c:order val="7"/>
          <c:tx>
            <c:strRef>
              <c:f>Sheet1!$I$1</c:f>
              <c:strCache>
                <c:ptCount val="1"/>
                <c:pt idx="0">
                  <c:v>itsec</c:v>
                </c:pt>
              </c:strCache>
            </c:strRef>
          </c:tx>
          <c:spPr>
            <a:solidFill>
              <a:srgbClr val="FFB8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Sheet1!$I$2:$I$8</c:f>
              <c:numCache>
                <c:formatCode>General</c:formatCode>
                <c:ptCount val="7"/>
                <c:pt idx="0">
                  <c:v>2082</c:v>
                </c:pt>
                <c:pt idx="1">
                  <c:v>1733.66</c:v>
                </c:pt>
                <c:pt idx="2">
                  <c:v>1908</c:v>
                </c:pt>
                <c:pt idx="3">
                  <c:v>1897.79</c:v>
                </c:pt>
                <c:pt idx="4">
                  <c:v>2047</c:v>
                </c:pt>
                <c:pt idx="5">
                  <c:v>2059</c:v>
                </c:pt>
                <c:pt idx="6">
                  <c:v>2221</c:v>
                </c:pt>
              </c:numCache>
            </c:numRef>
          </c:val>
        </c:ser>
        <c:ser>
          <c:idx val="8"/>
          <c:order val="8"/>
          <c:tx>
            <c:strRef>
              <c:f>Sheet1!$J$1</c:f>
              <c:strCache>
                <c:ptCount val="1"/>
                <c:pt idx="0">
                  <c:v>All other</c:v>
                </c:pt>
              </c:strCache>
            </c:strRef>
          </c:tx>
          <c:spPr>
            <a:solidFill>
              <a:srgbClr val="6C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Sheet1!$J$2:$J$8</c:f>
              <c:numCache>
                <c:formatCode>General</c:formatCode>
                <c:ptCount val="7"/>
                <c:pt idx="0">
                  <c:v>874.61</c:v>
                </c:pt>
                <c:pt idx="1">
                  <c:v>2079.7999999999997</c:v>
                </c:pt>
                <c:pt idx="2">
                  <c:v>2067</c:v>
                </c:pt>
                <c:pt idx="3">
                  <c:v>1879.0600000000002</c:v>
                </c:pt>
                <c:pt idx="4">
                  <c:v>1224.2</c:v>
                </c:pt>
                <c:pt idx="5">
                  <c:v>1373</c:v>
                </c:pt>
                <c:pt idx="6">
                  <c:v>9201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58546.14</c:v>
                </c:pt>
                <c:pt idx="1">
                  <c:v>48277</c:v>
                </c:pt>
                <c:pt idx="2">
                  <c:v>52579.27</c:v>
                </c:pt>
                <c:pt idx="3">
                  <c:v>51502.75</c:v>
                </c:pt>
                <c:pt idx="4">
                  <c:v>57465.99</c:v>
                </c:pt>
                <c:pt idx="5">
                  <c:v>52188.55</c:v>
                </c:pt>
                <c:pt idx="6">
                  <c:v>53314.28</c:v>
                </c:pt>
              </c:numCache>
            </c:numRef>
          </c:val>
        </c:ser>
        <c:ser>
          <c:idx val="1"/>
          <c:order val="1"/>
          <c:tx>
            <c:strRef>
              <c:f>Sheet1!$C$1</c:f>
              <c:strCache>
                <c:ptCount val="1"/>
                <c:pt idx="0">
                  <c:v>Storage</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24139.41</c:v>
                </c:pt>
                <c:pt idx="1">
                  <c:v>22951</c:v>
                </c:pt>
                <c:pt idx="2">
                  <c:v>22458.08</c:v>
                </c:pt>
                <c:pt idx="3">
                  <c:v>22680.51</c:v>
                </c:pt>
                <c:pt idx="4">
                  <c:v>24615.18</c:v>
                </c:pt>
                <c:pt idx="5">
                  <c:v>25022.53</c:v>
                </c:pt>
                <c:pt idx="6">
                  <c:v>26364.22</c:v>
                </c:pt>
              </c:numCache>
            </c:numRef>
          </c:val>
        </c:ser>
        <c:ser>
          <c:idx val="2"/>
          <c:order val="2"/>
          <c:tx>
            <c:strRef>
              <c:f>Sheet1!$D$1</c:f>
              <c:strCache>
                <c:ptCount val="1"/>
                <c:pt idx="0">
                  <c:v>Virtual Network</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12726.23</c:v>
                </c:pt>
                <c:pt idx="1">
                  <c:v>12145</c:v>
                </c:pt>
                <c:pt idx="2">
                  <c:v>14087.61</c:v>
                </c:pt>
                <c:pt idx="3">
                  <c:v>15311.83</c:v>
                </c:pt>
                <c:pt idx="4">
                  <c:v>18338.27</c:v>
                </c:pt>
                <c:pt idx="5">
                  <c:v>18564.99</c:v>
                </c:pt>
                <c:pt idx="6">
                  <c:v>21999.6</c:v>
                </c:pt>
              </c:numCache>
            </c:numRef>
          </c:val>
        </c:ser>
        <c:ser>
          <c:idx val="3"/>
          <c:order val="3"/>
          <c:tx>
            <c:strRef>
              <c:f>Sheet1!$E$1</c:f>
              <c:strCache>
                <c:ptCount val="1"/>
                <c:pt idx="0">
                  <c:v>Other services</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11748.56</c:v>
                </c:pt>
                <c:pt idx="1">
                  <c:v>10773</c:v>
                </c:pt>
                <c:pt idx="2">
                  <c:v>12318.12</c:v>
                </c:pt>
                <c:pt idx="3">
                  <c:v>12412.59</c:v>
                </c:pt>
                <c:pt idx="4">
                  <c:v>15149.61</c:v>
                </c:pt>
                <c:pt idx="5">
                  <c:v>18338.58</c:v>
                </c:pt>
                <c:pt idx="6">
                  <c:v>20600.18</c:v>
                </c:pt>
              </c:numCache>
            </c:numRef>
          </c:val>
        </c:ser>
        <c:ser>
          <c:idx val="4"/>
          <c:order val="4"/>
          <c:tx>
            <c:strRef>
              <c:f>Sheet1!$F$1</c:f>
              <c:strCache>
                <c:ptCount val="1"/>
                <c:pt idx="0">
                  <c:v>Azure Databricks</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24556.13</c:v>
                </c:pt>
                <c:pt idx="1">
                  <c:v>18645</c:v>
                </c:pt>
                <c:pt idx="2">
                  <c:v>22427.89</c:v>
                </c:pt>
                <c:pt idx="3">
                  <c:v>19936.33</c:v>
                </c:pt>
                <c:pt idx="4">
                  <c:v>0</c:v>
                </c:pt>
                <c:pt idx="5">
                  <c:v>0</c:v>
                </c:pt>
                <c:pt idx="6">
                  <c:v>0</c:v>
                </c:pt>
              </c:numCache>
            </c:numRef>
          </c:val>
        </c:ser>
        <c:ser>
          <c:idx val="5"/>
          <c:order val="5"/>
          <c:tx>
            <c:strRef>
              <c:f>Sheet1!$G$1</c:f>
              <c:strCache>
                <c:ptCount val="1"/>
                <c:pt idx="0">
                  <c:v>GitHub</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Sheet1!$G$2:$G$8</c:f>
              <c:numCache>
                <c:formatCode>General</c:formatCode>
                <c:ptCount val="7"/>
                <c:pt idx="0">
                  <c:v>2778.52</c:v>
                </c:pt>
                <c:pt idx="1">
                  <c:v>3618</c:v>
                </c:pt>
                <c:pt idx="2">
                  <c:v>4319.13</c:v>
                </c:pt>
                <c:pt idx="3">
                  <c:v>4079.57</c:v>
                </c:pt>
                <c:pt idx="4">
                  <c:v>6467.04</c:v>
                </c:pt>
                <c:pt idx="5">
                  <c:v>16654.2</c:v>
                </c:pt>
                <c:pt idx="6">
                  <c:v>19259.78</c:v>
                </c:pt>
              </c:numCache>
            </c:numRef>
          </c:val>
        </c:ser>
        <c:ser>
          <c:idx val="6"/>
          <c:order val="6"/>
          <c:tx>
            <c:strRef>
              <c:f>Sheet1!$H$1</c:f>
              <c:strCache>
                <c:ptCount val="1"/>
                <c:pt idx="0">
                  <c:v>Foundry Models</c:v>
                </c:pt>
              </c:strCache>
            </c:strRef>
          </c:tx>
          <c:spPr>
            <a:solidFill>
              <a:srgbClr val="2AD3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Sheet1!$H$2:$H$8</c:f>
              <c:numCache>
                <c:formatCode>General</c:formatCode>
                <c:ptCount val="7"/>
                <c:pt idx="0">
                  <c:v>1353.37</c:v>
                </c:pt>
                <c:pt idx="1">
                  <c:v>2260</c:v>
                </c:pt>
                <c:pt idx="2">
                  <c:v>4236.35</c:v>
                </c:pt>
                <c:pt idx="3">
                  <c:v>8369.39</c:v>
                </c:pt>
                <c:pt idx="4">
                  <c:v>11512.76</c:v>
                </c:pt>
                <c:pt idx="5">
                  <c:v>15453.34</c:v>
                </c:pt>
                <c:pt idx="6">
                  <c:v>12291.25</c:v>
                </c:pt>
              </c:numCache>
            </c:numRef>
          </c:val>
        </c:ser>
        <c:ser>
          <c:idx val="7"/>
          <c:order val="7"/>
          <c:tx>
            <c:strRef>
              <c:f>Sheet1!$I$1</c:f>
              <c:strCache>
                <c:ptCount val="1"/>
                <c:pt idx="0">
                  <c:v>Log Analytics</c:v>
                </c:pt>
              </c:strCache>
            </c:strRef>
          </c:tx>
          <c:spPr>
            <a:solidFill>
              <a:srgbClr val="FFB8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Sheet1!$I$2:$I$8</c:f>
              <c:numCache>
                <c:formatCode>General</c:formatCode>
                <c:ptCount val="7"/>
                <c:pt idx="0">
                  <c:v>7521.92</c:v>
                </c:pt>
                <c:pt idx="1">
                  <c:v>3955</c:v>
                </c:pt>
                <c:pt idx="2">
                  <c:v>10858.98</c:v>
                </c:pt>
                <c:pt idx="3">
                  <c:v>3911.97</c:v>
                </c:pt>
                <c:pt idx="4">
                  <c:v>2204.52</c:v>
                </c:pt>
                <c:pt idx="5">
                  <c:v>2318.73</c:v>
                </c:pt>
                <c:pt idx="6">
                  <c:v>2680.5</c:v>
                </c:pt>
              </c:numCache>
            </c:numRef>
          </c:val>
        </c:ser>
        <c:ser>
          <c:idx val="8"/>
          <c:order val="8"/>
          <c:tx>
            <c:strRef>
              <c:f>Sheet1!$J$1</c:f>
              <c:strCache>
                <c:ptCount val="1"/>
                <c:pt idx="0">
                  <c:v>All other</c:v>
                </c:pt>
              </c:strCache>
            </c:strRef>
          </c:tx>
          <c:spPr>
            <a:solidFill>
              <a:srgbClr val="6C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Sheet1!$J$2:$J$8</c:f>
              <c:numCache>
                <c:formatCode>General</c:formatCode>
                <c:ptCount val="7"/>
                <c:pt idx="0">
                  <c:v>13619.52</c:v>
                </c:pt>
                <c:pt idx="1">
                  <c:v>13118</c:v>
                </c:pt>
                <c:pt idx="2">
                  <c:v>21913.22</c:v>
                </c:pt>
                <c:pt idx="3">
                  <c:v>14372.410000000002</c:v>
                </c:pt>
                <c:pt idx="4">
                  <c:v>16509.63</c:v>
                </c:pt>
                <c:pt idx="5">
                  <c:v>18865.080000000005</c:v>
                </c:pt>
                <c:pt idx="6">
                  <c:v>30407.2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8001.69</c:v>
                </c:pt>
                <c:pt idx="1">
                  <c:v>8851</c:v>
                </c:pt>
                <c:pt idx="2">
                  <c:v>9977</c:v>
                </c:pt>
                <c:pt idx="3">
                  <c:v>8938.34</c:v>
                </c:pt>
                <c:pt idx="4">
                  <c:v>10192.34</c:v>
                </c:pt>
                <c:pt idx="5">
                  <c:v>10365.58</c:v>
                </c:pt>
                <c:pt idx="6">
                  <c:v>11078.33</c:v>
                </c:pt>
              </c:numCache>
            </c:numRef>
          </c:val>
        </c:ser>
        <c:ser>
          <c:idx val="1"/>
          <c:order val="1"/>
          <c:tx>
            <c:strRef>
              <c:f>Sheet1!$C$1</c:f>
              <c:strCache>
                <c:ptCount val="1"/>
                <c:pt idx="0">
                  <c:v>Azure Databricks</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13661.81</c:v>
                </c:pt>
                <c:pt idx="1">
                  <c:v>14023</c:v>
                </c:pt>
                <c:pt idx="2">
                  <c:v>19412</c:v>
                </c:pt>
                <c:pt idx="3">
                  <c:v>16633.53</c:v>
                </c:pt>
                <c:pt idx="4">
                  <c:v>0</c:v>
                </c:pt>
                <c:pt idx="5">
                  <c:v>0</c:v>
                </c:pt>
                <c:pt idx="6">
                  <c:v>0</c:v>
                </c:pt>
              </c:numCache>
            </c:numRef>
          </c:val>
        </c:ser>
        <c:ser>
          <c:idx val="2"/>
          <c:order val="2"/>
          <c:tx>
            <c:strRef>
              <c:f>Sheet1!$D$1</c:f>
              <c:strCache>
                <c:ptCount val="1"/>
                <c:pt idx="0">
                  <c:v>Storage</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5134.31</c:v>
                </c:pt>
                <c:pt idx="1">
                  <c:v>5630</c:v>
                </c:pt>
                <c:pt idx="2">
                  <c:v>5747</c:v>
                </c:pt>
                <c:pt idx="3">
                  <c:v>5515.42</c:v>
                </c:pt>
                <c:pt idx="4">
                  <c:v>6124.59</c:v>
                </c:pt>
                <c:pt idx="5">
                  <c:v>6488.31</c:v>
                </c:pt>
                <c:pt idx="6">
                  <c:v>6847.08</c:v>
                </c:pt>
              </c:numCache>
            </c:numRef>
          </c:val>
        </c:ser>
        <c:ser>
          <c:idx val="3"/>
          <c:order val="3"/>
          <c:tx>
            <c:strRef>
              <c:f>Sheet1!$E$1</c:f>
              <c:strCache>
                <c:ptCount val="1"/>
                <c:pt idx="0">
                  <c:v>Virtual Network</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4756.18</c:v>
                </c:pt>
                <c:pt idx="1">
                  <c:v>4988</c:v>
                </c:pt>
                <c:pt idx="2">
                  <c:v>5905.3</c:v>
                </c:pt>
                <c:pt idx="3">
                  <c:v>5036.83</c:v>
                </c:pt>
                <c:pt idx="4">
                  <c:v>5067.49</c:v>
                </c:pt>
                <c:pt idx="5">
                  <c:v>6698.63</c:v>
                </c:pt>
                <c:pt idx="6">
                  <c:v>7400.62</c:v>
                </c:pt>
              </c:numCache>
            </c:numRef>
          </c:val>
        </c:ser>
        <c:ser>
          <c:idx val="4"/>
          <c:order val="4"/>
          <c:tx>
            <c:strRef>
              <c:f>Sheet1!$F$1</c:f>
              <c:strCache>
                <c:ptCount val="1"/>
                <c:pt idx="0">
                  <c:v>Foundry Models</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1347.06</c:v>
                </c:pt>
                <c:pt idx="1">
                  <c:v>2243</c:v>
                </c:pt>
                <c:pt idx="2">
                  <c:v>1274.47</c:v>
                </c:pt>
                <c:pt idx="3">
                  <c:v>4218.08</c:v>
                </c:pt>
                <c:pt idx="4">
                  <c:v>10329.63</c:v>
                </c:pt>
                <c:pt idx="5">
                  <c:v>5769.96</c:v>
                </c:pt>
                <c:pt idx="6">
                  <c:v>6649.77</c:v>
                </c:pt>
              </c:numCache>
            </c:numRef>
          </c:val>
        </c:ser>
        <c:ser>
          <c:idx val="5"/>
          <c:order val="5"/>
          <c:tx>
            <c:strRef>
              <c:f>Sheet1!$G$1</c:f>
              <c:strCache>
                <c:ptCount val="1"/>
                <c:pt idx="0">
                  <c:v>Foundry Tools</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Sheet1!$G$2:$G$8</c:f>
              <c:numCache>
                <c:formatCode>General</c:formatCode>
                <c:ptCount val="7"/>
                <c:pt idx="0">
                  <c:v>4271.49</c:v>
                </c:pt>
                <c:pt idx="1">
                  <c:v>4337</c:v>
                </c:pt>
                <c:pt idx="2">
                  <c:v>3298.75</c:v>
                </c:pt>
                <c:pt idx="3">
                  <c:v>1922.73</c:v>
                </c:pt>
                <c:pt idx="4">
                  <c:v>3305.17</c:v>
                </c:pt>
                <c:pt idx="5">
                  <c:v>5675.5</c:v>
                </c:pt>
                <c:pt idx="6">
                  <c:v>6603.58</c:v>
                </c:pt>
              </c:numCache>
            </c:numRef>
          </c:val>
        </c:ser>
        <c:ser>
          <c:idx val="6"/>
          <c:order val="6"/>
          <c:tx>
            <c:strRef>
              <c:f>Sheet1!$H$1</c:f>
              <c:strCache>
                <c:ptCount val="1"/>
                <c:pt idx="0">
                  <c:v>All other</c:v>
                </c:pt>
              </c:strCache>
            </c:strRef>
          </c:tx>
          <c:spPr>
            <a:solidFill>
              <a:srgbClr val="2AD3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Sheet1!$H$2:$H$8</c:f>
              <c:numCache>
                <c:formatCode>General</c:formatCode>
                <c:ptCount val="7"/>
                <c:pt idx="0">
                  <c:v>10289.35</c:v>
                </c:pt>
                <c:pt idx="1">
                  <c:v>9126</c:v>
                </c:pt>
                <c:pt idx="2">
                  <c:v>8921.980000000001</c:v>
                </c:pt>
                <c:pt idx="3">
                  <c:v>7970.080000000001</c:v>
                </c:pt>
                <c:pt idx="4">
                  <c:v>8905.24</c:v>
                </c:pt>
                <c:pt idx="5">
                  <c:v>9392.630000000001</c:v>
                </c:pt>
                <c:pt idx="6">
                  <c:v>10538.439999999999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DataCloud prod</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40269.8</c:v>
                </c:pt>
                <c:pt idx="1">
                  <c:v>41870.09</c:v>
                </c:pt>
                <c:pt idx="2">
                  <c:v>48649</c:v>
                </c:pt>
                <c:pt idx="3">
                  <c:v>42196.41</c:v>
                </c:pt>
                <c:pt idx="4">
                  <c:v>29317.96</c:v>
                </c:pt>
                <c:pt idx="5">
                  <c:v>33038.95</c:v>
                </c:pt>
                <c:pt idx="6">
                  <c:v>36010.25</c:v>
                </c:pt>
              </c:numCache>
            </c:numRef>
          </c:val>
        </c:ser>
        <c:ser>
          <c:idx val="1"/>
          <c:order val="1"/>
          <c:tx>
            <c:strRef>
              <c:f>Sheet1!$C$1</c:f>
              <c:strCache>
                <c:ptCount val="1"/>
                <c:pt idx="0">
                  <c:v>Solugen Production</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854.16</c:v>
                </c:pt>
                <c:pt idx="1">
                  <c:v>702.78</c:v>
                </c:pt>
                <c:pt idx="2">
                  <c:v>620.89</c:v>
                </c:pt>
                <c:pt idx="3">
                  <c:v>1545.48</c:v>
                </c:pt>
                <c:pt idx="4">
                  <c:v>10021.98</c:v>
                </c:pt>
                <c:pt idx="5">
                  <c:v>6749.23</c:v>
                </c:pt>
                <c:pt idx="6">
                  <c:v>8415.87</c:v>
                </c:pt>
              </c:numCache>
            </c:numRef>
          </c:val>
        </c:ser>
        <c:ser>
          <c:idx val="2"/>
          <c:order val="2"/>
          <c:tx>
            <c:strRef>
              <c:f>Sheet1!$D$1</c:f>
              <c:strCache>
                <c:ptCount val="1"/>
                <c:pt idx="0">
                  <c:v>DataCloud dev</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3242.73</c:v>
                </c:pt>
                <c:pt idx="1">
                  <c:v>2995.17</c:v>
                </c:pt>
                <c:pt idx="2">
                  <c:v>2380</c:v>
                </c:pt>
                <c:pt idx="3">
                  <c:v>3985.63</c:v>
                </c:pt>
                <c:pt idx="4">
                  <c:v>1715.02</c:v>
                </c:pt>
                <c:pt idx="5">
                  <c:v>1838.65</c:v>
                </c:pt>
                <c:pt idx="6">
                  <c:v>1579.05</c:v>
                </c:pt>
              </c:numCache>
            </c:numRef>
          </c:val>
        </c:ser>
        <c:ser>
          <c:idx val="3"/>
          <c:order val="3"/>
          <c:tx>
            <c:strRef>
              <c:f>Sheet1!$E$1</c:f>
              <c:strCache>
                <c:ptCount val="1"/>
                <c:pt idx="0">
                  <c:v>INSAIT Production</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1063.63</c:v>
                </c:pt>
                <c:pt idx="1">
                  <c:v>1914.41</c:v>
                </c:pt>
                <c:pt idx="2">
                  <c:v>1364.48</c:v>
                </c:pt>
                <c:pt idx="3">
                  <c:v>1354.4</c:v>
                </c:pt>
                <c:pt idx="4">
                  <c:v>1456.6</c:v>
                </c:pt>
                <c:pt idx="5">
                  <c:v>1604.48</c:v>
                </c:pt>
                <c:pt idx="6">
                  <c:v>1983.38</c:v>
                </c:pt>
              </c:numCache>
            </c:numRef>
          </c:val>
        </c:ser>
        <c:ser>
          <c:idx val="4"/>
          <c:order val="4"/>
          <c:tx>
            <c:strRef>
              <c:f>Sheet1!$F$1</c:f>
              <c:strCache>
                <c:ptCount val="1"/>
                <c:pt idx="0">
                  <c:v>DataCloud dev 1</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324.17</c:v>
                </c:pt>
                <c:pt idx="1">
                  <c:v>275</c:v>
                </c:pt>
                <c:pt idx="2">
                  <c:v>285.86</c:v>
                </c:pt>
                <c:pt idx="3">
                  <c:v>269.84</c:v>
                </c:pt>
                <c:pt idx="4">
                  <c:v>281.57</c:v>
                </c:pt>
                <c:pt idx="5">
                  <c:v>269.21</c:v>
                </c:pt>
                <c:pt idx="6">
                  <c:v>278.23</c:v>
                </c:pt>
              </c:numCache>
            </c:numRef>
          </c:val>
        </c:ser>
        <c:ser>
          <c:idx val="5"/>
          <c:order val="5"/>
          <c:tx>
            <c:strRef>
              <c:f>Sheet1!$G$1</c:f>
              <c:strCache>
                <c:ptCount val="1"/>
                <c:pt idx="0">
                  <c:v>Sandbox System</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Sheet1!$G$2:$G$8</c:f>
              <c:numCache>
                <c:formatCode>General</c:formatCode>
                <c:ptCount val="7"/>
                <c:pt idx="0">
                  <c:v>263.89</c:v>
                </c:pt>
                <c:pt idx="1">
                  <c:v>308.03</c:v>
                </c:pt>
                <c:pt idx="2">
                  <c:v>265</c:v>
                </c:pt>
                <c:pt idx="3">
                  <c:v>260.07</c:v>
                </c:pt>
                <c:pt idx="4">
                  <c:v>335.75</c:v>
                </c:pt>
                <c:pt idx="5">
                  <c:v>256.14</c:v>
                </c:pt>
                <c:pt idx="6">
                  <c:v>267.43</c:v>
                </c:pt>
              </c:numCache>
            </c:numRef>
          </c:val>
        </c:ser>
        <c:ser>
          <c:idx val="6"/>
          <c:order val="6"/>
          <c:tx>
            <c:strRef>
              <c:f>Sheet1!$H$1</c:f>
              <c:strCache>
                <c:ptCount val="1"/>
                <c:pt idx="0">
                  <c:v>All other</c:v>
                </c:pt>
              </c:strCache>
            </c:strRef>
          </c:tx>
          <c:spPr>
            <a:solidFill>
              <a:srgbClr val="2AD3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Sheet1!$H$2:$H$8</c:f>
              <c:numCache>
                <c:formatCode>General</c:formatCode>
                <c:ptCount val="7"/>
                <c:pt idx="0">
                  <c:v>1443.54</c:v>
                </c:pt>
                <c:pt idx="1">
                  <c:v>1132.52</c:v>
                </c:pt>
                <c:pt idx="2">
                  <c:v>971.1200000000001</c:v>
                </c:pt>
                <c:pt idx="3">
                  <c:v>623.1899999999998</c:v>
                </c:pt>
                <c:pt idx="4">
                  <c:v>796.0699999999999</c:v>
                </c:pt>
                <c:pt idx="5">
                  <c:v>633.9499999999999</c:v>
                </c:pt>
                <c:pt idx="6">
                  <c:v>583.62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30152.87</c:v>
                </c:pt>
                <c:pt idx="1">
                  <c:v>28348</c:v>
                </c:pt>
                <c:pt idx="2">
                  <c:v>31348</c:v>
                </c:pt>
                <c:pt idx="3">
                  <c:v>30597</c:v>
                </c:pt>
                <c:pt idx="4">
                  <c:v>35586.32</c:v>
                </c:pt>
                <c:pt idx="5">
                  <c:v>31413</c:v>
                </c:pt>
                <c:pt idx="6">
                  <c:v>30117</c:v>
                </c:pt>
              </c:numCache>
            </c:numRef>
          </c:val>
        </c:ser>
        <c:ser>
          <c:idx val="1"/>
          <c:order val="1"/>
          <c:tx>
            <c:strRef>
              <c:f>Sheet1!$C$1</c:f>
              <c:strCache>
                <c:ptCount val="1"/>
                <c:pt idx="0">
                  <c:v>Storage</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11916.96</c:v>
                </c:pt>
                <c:pt idx="1">
                  <c:v>10639</c:v>
                </c:pt>
                <c:pt idx="2">
                  <c:v>10074</c:v>
                </c:pt>
                <c:pt idx="3">
                  <c:v>10076</c:v>
                </c:pt>
                <c:pt idx="4">
                  <c:v>10811.81</c:v>
                </c:pt>
                <c:pt idx="5">
                  <c:v>11077</c:v>
                </c:pt>
                <c:pt idx="6">
                  <c:v>10526</c:v>
                </c:pt>
              </c:numCache>
            </c:numRef>
          </c:val>
        </c:ser>
        <c:ser>
          <c:idx val="2"/>
          <c:order val="2"/>
          <c:tx>
            <c:strRef>
              <c:f>Sheet1!$D$1</c:f>
              <c:strCache>
                <c:ptCount val="1"/>
                <c:pt idx="0">
                  <c:v>Virtual Network</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195.78</c:v>
                </c:pt>
                <c:pt idx="1">
                  <c:v>112</c:v>
                </c:pt>
                <c:pt idx="2">
                  <c:v>124</c:v>
                </c:pt>
                <c:pt idx="3">
                  <c:v>153</c:v>
                </c:pt>
                <c:pt idx="4">
                  <c:v>166.67</c:v>
                </c:pt>
                <c:pt idx="5">
                  <c:v>134</c:v>
                </c:pt>
                <c:pt idx="6">
                  <c:v>238</c:v>
                </c:pt>
              </c:numCache>
            </c:numRef>
          </c:val>
        </c:ser>
        <c:ser>
          <c:idx val="3"/>
          <c:order val="3"/>
          <c:tx>
            <c:strRef>
              <c:f>Sheet1!$E$1</c:f>
              <c:strCache>
                <c:ptCount val="1"/>
                <c:pt idx="0">
                  <c:v>Virtual Machines Licenses</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0</c:v>
                </c:pt>
                <c:pt idx="1">
                  <c:v>0</c:v>
                </c:pt>
                <c:pt idx="2">
                  <c:v>0</c:v>
                </c:pt>
                <c:pt idx="3">
                  <c:v>0</c:v>
                </c:pt>
                <c:pt idx="4">
                  <c:v>36.53</c:v>
                </c:pt>
                <c:pt idx="5">
                  <c:v>41</c:v>
                </c:pt>
                <c:pt idx="6">
                  <c:v>43</c:v>
                </c:pt>
              </c:numCache>
            </c:numRef>
          </c:val>
        </c:ser>
        <c:ser>
          <c:idx val="4"/>
          <c:order val="4"/>
          <c:tx>
            <c:strRef>
              <c:f>Sheet1!$F$1</c:f>
              <c:strCache>
                <c:ptCount val="1"/>
                <c:pt idx="0">
                  <c:v>Bandwidth</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0</c:v>
                </c:pt>
                <c:pt idx="1">
                  <c:v>0</c:v>
                </c:pt>
                <c:pt idx="2">
                  <c:v>0</c:v>
                </c:pt>
                <c:pt idx="3">
                  <c:v>0</c:v>
                </c:pt>
                <c:pt idx="4">
                  <c:v>0.01</c:v>
                </c:pt>
                <c:pt idx="5">
                  <c:v>0</c:v>
                </c:pt>
                <c:pt idx="6">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SAP Dev/Test</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23275.74</c:v>
                </c:pt>
                <c:pt idx="1">
                  <c:v>22687</c:v>
                </c:pt>
                <c:pt idx="2">
                  <c:v>24090</c:v>
                </c:pt>
                <c:pt idx="3">
                  <c:v>23647</c:v>
                </c:pt>
                <c:pt idx="4">
                  <c:v>26321.74</c:v>
                </c:pt>
                <c:pt idx="5">
                  <c:v>24985</c:v>
                </c:pt>
                <c:pt idx="6">
                  <c:v>23467</c:v>
                </c:pt>
              </c:numCache>
            </c:numRef>
          </c:val>
        </c:ser>
        <c:ser>
          <c:idx val="1"/>
          <c:order val="1"/>
          <c:tx>
            <c:strRef>
              <c:f>Sheet1!$C$1</c:f>
              <c:strCache>
                <c:ptCount val="1"/>
                <c:pt idx="0">
                  <c:v>SAP Production</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18989.88</c:v>
                </c:pt>
                <c:pt idx="1">
                  <c:v>16411</c:v>
                </c:pt>
                <c:pt idx="2">
                  <c:v>17456</c:v>
                </c:pt>
                <c:pt idx="3">
                  <c:v>17178</c:v>
                </c:pt>
                <c:pt idx="4">
                  <c:v>20279.59</c:v>
                </c:pt>
                <c:pt idx="5">
                  <c:v>17680</c:v>
                </c:pt>
                <c:pt idx="6">
                  <c:v>17457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Virtual Network</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5740.91</c:v>
                </c:pt>
                <c:pt idx="1">
                  <c:v>5286</c:v>
                </c:pt>
                <c:pt idx="2">
                  <c:v>5960.04</c:v>
                </c:pt>
                <c:pt idx="3">
                  <c:v>7306.9</c:v>
                </c:pt>
                <c:pt idx="4">
                  <c:v>8900.5</c:v>
                </c:pt>
                <c:pt idx="5">
                  <c:v>8855.65</c:v>
                </c:pt>
                <c:pt idx="6">
                  <c:v>10913.22</c:v>
                </c:pt>
              </c:numCache>
            </c:numRef>
          </c:val>
        </c:ser>
        <c:ser>
          <c:idx val="1"/>
          <c:order val="1"/>
          <c:tx>
            <c:strRef>
              <c:f>Sheet1!$C$1</c:f>
              <c:strCache>
                <c:ptCount val="1"/>
                <c:pt idx="0">
                  <c:v>Storage</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5000.41</c:v>
                </c:pt>
                <c:pt idx="1">
                  <c:v>4756</c:v>
                </c:pt>
                <c:pt idx="2">
                  <c:v>4679.66</c:v>
                </c:pt>
                <c:pt idx="3">
                  <c:v>4663.37</c:v>
                </c:pt>
                <c:pt idx="4">
                  <c:v>4758.84</c:v>
                </c:pt>
                <c:pt idx="5">
                  <c:v>4887.15</c:v>
                </c:pt>
                <c:pt idx="6">
                  <c:v>6077.62</c:v>
                </c:pt>
              </c:numCache>
            </c:numRef>
          </c:val>
        </c:ser>
        <c:ser>
          <c:idx val="2"/>
          <c:order val="2"/>
          <c:tx>
            <c:strRef>
              <c:f>Sheet1!$D$1</c:f>
              <c:strCache>
                <c:ptCount val="1"/>
                <c:pt idx="0">
                  <c:v>Log Analytics</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7300.46</c:v>
                </c:pt>
                <c:pt idx="1">
                  <c:v>3692</c:v>
                </c:pt>
                <c:pt idx="2">
                  <c:v>10596.09</c:v>
                </c:pt>
                <c:pt idx="3">
                  <c:v>3911.97</c:v>
                </c:pt>
                <c:pt idx="4">
                  <c:v>1966.89</c:v>
                </c:pt>
                <c:pt idx="5">
                  <c:v>2066.7</c:v>
                </c:pt>
                <c:pt idx="6">
                  <c:v>2306.05</c:v>
                </c:pt>
              </c:numCache>
            </c:numRef>
          </c:val>
        </c:ser>
        <c:ser>
          <c:idx val="3"/>
          <c:order val="3"/>
          <c:tx>
            <c:strRef>
              <c:f>Sheet1!$E$1</c:f>
              <c:strCache>
                <c:ptCount val="1"/>
                <c:pt idx="0">
                  <c:v>Virtual Machines</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4242.88</c:v>
                </c:pt>
                <c:pt idx="1">
                  <c:v>3549</c:v>
                </c:pt>
                <c:pt idx="2">
                  <c:v>4067.07</c:v>
                </c:pt>
                <c:pt idx="3">
                  <c:v>3938.6</c:v>
                </c:pt>
                <c:pt idx="4">
                  <c:v>4539.7</c:v>
                </c:pt>
                <c:pt idx="5">
                  <c:v>4344.13</c:v>
                </c:pt>
                <c:pt idx="6">
                  <c:v>4847.43</c:v>
                </c:pt>
              </c:numCache>
            </c:numRef>
          </c:val>
        </c:ser>
        <c:ser>
          <c:idx val="4"/>
          <c:order val="4"/>
          <c:tx>
            <c:strRef>
              <c:f>Sheet1!$F$1</c:f>
              <c:strCache>
                <c:ptCount val="1"/>
                <c:pt idx="0">
                  <c:v>Sentinel</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1732.05</c:v>
                </c:pt>
                <c:pt idx="1">
                  <c:v>1468</c:v>
                </c:pt>
                <c:pt idx="2">
                  <c:v>8874.9</c:v>
                </c:pt>
                <c:pt idx="3">
                  <c:v>3278.03</c:v>
                </c:pt>
                <c:pt idx="4">
                  <c:v>1333.2</c:v>
                </c:pt>
                <c:pt idx="5">
                  <c:v>1369.67</c:v>
                </c:pt>
                <c:pt idx="6">
                  <c:v>1467.73</c:v>
                </c:pt>
              </c:numCache>
            </c:numRef>
          </c:val>
        </c:ser>
        <c:ser>
          <c:idx val="5"/>
          <c:order val="5"/>
          <c:tx>
            <c:strRef>
              <c:f>Sheet1!$G$1</c:f>
              <c:strCache>
                <c:ptCount val="1"/>
                <c:pt idx="0">
                  <c:v>Other services</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Sheet1!$G$2:$G$8</c:f>
              <c:numCache>
                <c:formatCode>General</c:formatCode>
                <c:ptCount val="7"/>
                <c:pt idx="0">
                  <c:v>2265</c:v>
                </c:pt>
                <c:pt idx="1">
                  <c:v>1965</c:v>
                </c:pt>
                <c:pt idx="2">
                  <c:v>2206</c:v>
                </c:pt>
                <c:pt idx="3">
                  <c:v>2059</c:v>
                </c:pt>
                <c:pt idx="4">
                  <c:v>2253.46</c:v>
                </c:pt>
                <c:pt idx="5">
                  <c:v>2467.09</c:v>
                </c:pt>
                <c:pt idx="6">
                  <c:v>2528.47</c:v>
                </c:pt>
              </c:numCache>
            </c:numRef>
          </c:val>
        </c:ser>
        <c:ser>
          <c:idx val="6"/>
          <c:order val="6"/>
          <c:tx>
            <c:strRef>
              <c:f>Sheet1!$H$1</c:f>
              <c:strCache>
                <c:ptCount val="1"/>
                <c:pt idx="0">
                  <c:v>All other</c:v>
                </c:pt>
              </c:strCache>
            </c:strRef>
          </c:tx>
          <c:spPr>
            <a:solidFill>
              <a:srgbClr val="2AD3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Sheet1!$H$2:$H$8</c:f>
              <c:numCache>
                <c:formatCode>General</c:formatCode>
                <c:ptCount val="7"/>
                <c:pt idx="0">
                  <c:v>4634.13</c:v>
                </c:pt>
                <c:pt idx="1">
                  <c:v>3962</c:v>
                </c:pt>
                <c:pt idx="2">
                  <c:v>4345.76</c:v>
                </c:pt>
                <c:pt idx="3">
                  <c:v>4241.64</c:v>
                </c:pt>
                <c:pt idx="4">
                  <c:v>4862.66</c:v>
                </c:pt>
                <c:pt idx="5">
                  <c:v>4595.34</c:v>
                </c:pt>
                <c:pt idx="6">
                  <c:v>5280.59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Shared Resources</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16903.74</c:v>
                </c:pt>
                <c:pt idx="1">
                  <c:v>12321</c:v>
                </c:pt>
                <c:pt idx="2">
                  <c:v>26897.08</c:v>
                </c:pt>
                <c:pt idx="3">
                  <c:v>14231</c:v>
                </c:pt>
                <c:pt idx="4">
                  <c:v>10755.39</c:v>
                </c:pt>
                <c:pt idx="5">
                  <c:v>10557</c:v>
                </c:pt>
                <c:pt idx="6">
                  <c:v>11092.99</c:v>
                </c:pt>
              </c:numCache>
            </c:numRef>
          </c:val>
        </c:ser>
        <c:ser>
          <c:idx val="1"/>
          <c:order val="1"/>
          <c:tx>
            <c:strRef>
              <c:f>Sheet1!$C$1</c:f>
              <c:strCache>
                <c:ptCount val="1"/>
                <c:pt idx="0">
                  <c:v>Prod</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12493.49</c:v>
                </c:pt>
                <c:pt idx="1">
                  <c:v>11171</c:v>
                </c:pt>
                <c:pt idx="2">
                  <c:v>12360.07</c:v>
                </c:pt>
                <c:pt idx="3">
                  <c:v>13593</c:v>
                </c:pt>
                <c:pt idx="4">
                  <c:v>15743.11</c:v>
                </c:pt>
                <c:pt idx="5">
                  <c:v>15398</c:v>
                </c:pt>
                <c:pt idx="6">
                  <c:v>19303.29</c:v>
                </c:pt>
              </c:numCache>
            </c:numRef>
          </c:val>
        </c:ser>
        <c:ser>
          <c:idx val="2"/>
          <c:order val="2"/>
          <c:tx>
            <c:strRef>
              <c:f>Sheet1!$D$1</c:f>
              <c:strCache>
                <c:ptCount val="1"/>
                <c:pt idx="0">
                  <c:v>CloudOps</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872.66</c:v>
                </c:pt>
                <c:pt idx="1">
                  <c:v>555</c:v>
                </c:pt>
                <c:pt idx="2">
                  <c:v>768.67</c:v>
                </c:pt>
                <c:pt idx="3">
                  <c:v>737</c:v>
                </c:pt>
                <c:pt idx="4">
                  <c:v>971.96</c:v>
                </c:pt>
                <c:pt idx="5">
                  <c:v>1089</c:v>
                </c:pt>
                <c:pt idx="6">
                  <c:v>1225.74</c:v>
                </c:pt>
              </c:numCache>
            </c:numRef>
          </c:val>
        </c:ser>
        <c:ser>
          <c:idx val="3"/>
          <c:order val="3"/>
          <c:tx>
            <c:strRef>
              <c:f>Sheet1!$E$1</c:f>
              <c:strCache>
                <c:ptCount val="1"/>
                <c:pt idx="0">
                  <c:v>DataCloud prod</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363.16</c:v>
                </c:pt>
                <c:pt idx="1">
                  <c:v>357</c:v>
                </c:pt>
                <c:pt idx="2">
                  <c:v>397.3</c:v>
                </c:pt>
                <c:pt idx="3">
                  <c:v>336</c:v>
                </c:pt>
                <c:pt idx="4">
                  <c:v>370.22</c:v>
                </c:pt>
                <c:pt idx="5">
                  <c:v>550</c:v>
                </c:pt>
                <c:pt idx="6">
                  <c:v>818.11</c:v>
                </c:pt>
              </c:numCache>
            </c:numRef>
          </c:val>
        </c:ser>
        <c:ser>
          <c:idx val="4"/>
          <c:order val="4"/>
          <c:tx>
            <c:strRef>
              <c:f>Sheet1!$F$1</c:f>
              <c:strCache>
                <c:ptCount val="1"/>
                <c:pt idx="0">
                  <c:v>DataCloud dev</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188.97</c:v>
                </c:pt>
                <c:pt idx="1">
                  <c:v>169</c:v>
                </c:pt>
                <c:pt idx="2">
                  <c:v>189.53</c:v>
                </c:pt>
                <c:pt idx="3">
                  <c:v>184</c:v>
                </c:pt>
                <c:pt idx="4">
                  <c:v>506.65</c:v>
                </c:pt>
                <c:pt idx="5">
                  <c:v>582</c:v>
                </c:pt>
                <c:pt idx="6">
                  <c:v>573.9</c:v>
                </c:pt>
              </c:numCache>
            </c:numRef>
          </c:val>
        </c:ser>
        <c:ser>
          <c:idx val="5"/>
          <c:order val="5"/>
          <c:tx>
            <c:strRef>
              <c:f>Sheet1!$G$1</c:f>
              <c:strCache>
                <c:ptCount val="1"/>
                <c:pt idx="0">
                  <c:v>All other</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Sheet1!$G$2:$G$8</c:f>
              <c:numCache>
                <c:formatCode>General</c:formatCode>
                <c:ptCount val="7"/>
                <c:pt idx="0">
                  <c:v>93.22</c:v>
                </c:pt>
                <c:pt idx="1">
                  <c:v>107</c:v>
                </c:pt>
                <c:pt idx="2">
                  <c:v>117.14</c:v>
                </c:pt>
                <c:pt idx="3">
                  <c:v>114</c:v>
                </c:pt>
                <c:pt idx="4">
                  <c:v>268.11</c:v>
                </c:pt>
                <c:pt idx="5">
                  <c:v>407</c:v>
                </c:pt>
                <c:pt idx="6">
                  <c:v>406.88000000000005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Aifactory</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854.31</c:v>
                </c:pt>
                <c:pt idx="1">
                  <c:v>3477</c:v>
                </c:pt>
                <c:pt idx="2">
                  <c:v>12632</c:v>
                </c:pt>
                <c:pt idx="3">
                  <c:v>11676</c:v>
                </c:pt>
                <c:pt idx="4">
                  <c:v>13656</c:v>
                </c:pt>
                <c:pt idx="5">
                  <c:v>26342</c:v>
                </c:pt>
                <c:pt idx="6">
                  <c:v>23610</c:v>
                </c:pt>
              </c:numCache>
            </c:numRef>
          </c:val>
        </c:ser>
        <c:ser>
          <c:idx val="1"/>
          <c:order val="1"/>
          <c:tx>
            <c:strRef>
              <c:f>Sheet1!$C$1</c:f>
              <c:strCache>
                <c:ptCount val="1"/>
                <c:pt idx="0">
                  <c:v>Solugen</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936.63</c:v>
                </c:pt>
                <c:pt idx="1">
                  <c:v>917</c:v>
                </c:pt>
                <c:pt idx="2">
                  <c:v>1027</c:v>
                </c:pt>
                <c:pt idx="3">
                  <c:v>2005</c:v>
                </c:pt>
                <c:pt idx="4">
                  <c:v>10657</c:v>
                </c:pt>
                <c:pt idx="5">
                  <c:v>7230.21</c:v>
                </c:pt>
                <c:pt idx="6">
                  <c:v>8858</c:v>
                </c:pt>
              </c:numCache>
            </c:numRef>
          </c:val>
        </c:ser>
        <c:ser>
          <c:idx val="2"/>
          <c:order val="2"/>
          <c:tx>
            <c:strRef>
              <c:f>Sheet1!$D$1</c:f>
              <c:strCache>
                <c:ptCount val="1"/>
                <c:pt idx="0">
                  <c:v>Document Intelligence (OCR Services)</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4231</c:v>
                </c:pt>
                <c:pt idx="1">
                  <c:v>4282</c:v>
                </c:pt>
                <c:pt idx="2">
                  <c:v>3552</c:v>
                </c:pt>
                <c:pt idx="3">
                  <c:v>2152</c:v>
                </c:pt>
                <c:pt idx="4">
                  <c:v>3362</c:v>
                </c:pt>
                <c:pt idx="5">
                  <c:v>6114</c:v>
                </c:pt>
                <c:pt idx="6">
                  <c:v>7277</c:v>
                </c:pt>
              </c:numCache>
            </c:numRef>
          </c:val>
        </c:ser>
        <c:ser>
          <c:idx val="3"/>
          <c:order val="3"/>
          <c:tx>
            <c:strRef>
              <c:f>Sheet1!$E$1</c:f>
              <c:strCache>
                <c:ptCount val="1"/>
                <c:pt idx="0">
                  <c:v>INSAIT</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1063.63</c:v>
                </c:pt>
                <c:pt idx="1">
                  <c:v>1914</c:v>
                </c:pt>
                <c:pt idx="2">
                  <c:v>1365</c:v>
                </c:pt>
                <c:pt idx="3">
                  <c:v>1354</c:v>
                </c:pt>
                <c:pt idx="4">
                  <c:v>1456</c:v>
                </c:pt>
                <c:pt idx="5">
                  <c:v>1604.28</c:v>
                </c:pt>
                <c:pt idx="6">
                  <c:v>1983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API Management</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0</c:v>
                </c:pt>
                <c:pt idx="1">
                  <c:v>406</c:v>
                </c:pt>
                <c:pt idx="2">
                  <c:v>2848.78</c:v>
                </c:pt>
                <c:pt idx="3">
                  <c:v>3097.66</c:v>
                </c:pt>
                <c:pt idx="4">
                  <c:v>5693.72</c:v>
                </c:pt>
                <c:pt idx="5">
                  <c:v>5513.76</c:v>
                </c:pt>
                <c:pt idx="6">
                  <c:v>6103.43</c:v>
                </c:pt>
              </c:numCache>
            </c:numRef>
          </c:val>
        </c:ser>
        <c:ser>
          <c:idx val="1"/>
          <c:order val="1"/>
          <c:tx>
            <c:strRef>
              <c:f>Sheet1!$C$1</c:f>
              <c:strCache>
                <c:ptCount val="1"/>
                <c:pt idx="0">
                  <c:v>Foundry Models</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0</c:v>
                </c:pt>
                <c:pt idx="1">
                  <c:v>6</c:v>
                </c:pt>
                <c:pt idx="2">
                  <c:v>2961.34</c:v>
                </c:pt>
                <c:pt idx="3">
                  <c:v>4151.25</c:v>
                </c:pt>
                <c:pt idx="4">
                  <c:v>1183.1</c:v>
                </c:pt>
                <c:pt idx="5">
                  <c:v>9682.8</c:v>
                </c:pt>
                <c:pt idx="6">
                  <c:v>5641.2</c:v>
                </c:pt>
              </c:numCache>
            </c:numRef>
          </c:val>
        </c:ser>
        <c:ser>
          <c:idx val="2"/>
          <c:order val="2"/>
          <c:tx>
            <c:strRef>
              <c:f>Sheet1!$D$1</c:f>
              <c:strCache>
                <c:ptCount val="1"/>
                <c:pt idx="0">
                  <c:v>Virtual Machines</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487.69</c:v>
                </c:pt>
                <c:pt idx="1">
                  <c:v>1951</c:v>
                </c:pt>
                <c:pt idx="2">
                  <c:v>4361.9</c:v>
                </c:pt>
                <c:pt idx="3">
                  <c:v>1724.33</c:v>
                </c:pt>
                <c:pt idx="4">
                  <c:v>2887.44</c:v>
                </c:pt>
                <c:pt idx="5">
                  <c:v>4556.63</c:v>
                </c:pt>
                <c:pt idx="6">
                  <c:v>4865.47</c:v>
                </c:pt>
              </c:numCache>
            </c:numRef>
          </c:val>
        </c:ser>
        <c:ser>
          <c:idx val="3"/>
          <c:order val="3"/>
          <c:tx>
            <c:strRef>
              <c:f>Sheet1!$E$1</c:f>
              <c:strCache>
                <c:ptCount val="1"/>
                <c:pt idx="0">
                  <c:v>Azure Cognitive Search</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23.43</c:v>
                </c:pt>
                <c:pt idx="1">
                  <c:v>68</c:v>
                </c:pt>
                <c:pt idx="2">
                  <c:v>305.51</c:v>
                </c:pt>
                <c:pt idx="3">
                  <c:v>629.28</c:v>
                </c:pt>
                <c:pt idx="4">
                  <c:v>1166.49</c:v>
                </c:pt>
                <c:pt idx="5">
                  <c:v>1582.03</c:v>
                </c:pt>
                <c:pt idx="6">
                  <c:v>1825.03</c:v>
                </c:pt>
              </c:numCache>
            </c:numRef>
          </c:val>
        </c:ser>
        <c:ser>
          <c:idx val="4"/>
          <c:order val="4"/>
          <c:tx>
            <c:strRef>
              <c:f>Sheet1!$F$1</c:f>
              <c:strCache>
                <c:ptCount val="1"/>
                <c:pt idx="0">
                  <c:v>Microsoft Defender for Cloud</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83.58</c:v>
                </c:pt>
                <c:pt idx="1">
                  <c:v>237</c:v>
                </c:pt>
                <c:pt idx="2">
                  <c:v>535.5</c:v>
                </c:pt>
                <c:pt idx="3">
                  <c:v>143.21</c:v>
                </c:pt>
                <c:pt idx="4">
                  <c:v>401.16</c:v>
                </c:pt>
                <c:pt idx="5">
                  <c:v>1574.44</c:v>
                </c:pt>
                <c:pt idx="6">
                  <c:v>1166.17</c:v>
                </c:pt>
              </c:numCache>
            </c:numRef>
          </c:val>
        </c:ser>
        <c:ser>
          <c:idx val="5"/>
          <c:order val="5"/>
          <c:tx>
            <c:strRef>
              <c:f>Sheet1!$G$1</c:f>
              <c:strCache>
                <c:ptCount val="1"/>
                <c:pt idx="0">
                  <c:v>Azure Database for PostgreSQL</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Sheet1!$G$2:$G$8</c:f>
              <c:numCache>
                <c:formatCode>General</c:formatCode>
                <c:ptCount val="7"/>
                <c:pt idx="0">
                  <c:v>46.79</c:v>
                </c:pt>
                <c:pt idx="1">
                  <c:v>141</c:v>
                </c:pt>
                <c:pt idx="2">
                  <c:v>356.15</c:v>
                </c:pt>
                <c:pt idx="3">
                  <c:v>489.68</c:v>
                </c:pt>
                <c:pt idx="4">
                  <c:v>790.07</c:v>
                </c:pt>
                <c:pt idx="5">
                  <c:v>1068.76</c:v>
                </c:pt>
                <c:pt idx="6">
                  <c:v>1101.71</c:v>
                </c:pt>
              </c:numCache>
            </c:numRef>
          </c:val>
        </c:ser>
        <c:ser>
          <c:idx val="6"/>
          <c:order val="6"/>
          <c:tx>
            <c:strRef>
              <c:f>Sheet1!$H$1</c:f>
              <c:strCache>
                <c:ptCount val="1"/>
                <c:pt idx="0">
                  <c:v>All other</c:v>
                </c:pt>
              </c:strCache>
            </c:strRef>
          </c:tx>
          <c:spPr>
            <a:solidFill>
              <a:srgbClr val="2AD3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Sheet1!$H$2:$H$8</c:f>
              <c:numCache>
                <c:formatCode>General</c:formatCode>
                <c:ptCount val="7"/>
                <c:pt idx="0">
                  <c:v>212.84999999999997</c:v>
                </c:pt>
                <c:pt idx="1">
                  <c:v>669</c:v>
                </c:pt>
                <c:pt idx="2">
                  <c:v>1260.73</c:v>
                </c:pt>
                <c:pt idx="3">
                  <c:v>1440.16</c:v>
                </c:pt>
                <c:pt idx="4">
                  <c:v>1534.08</c:v>
                </c:pt>
                <c:pt idx="5">
                  <c:v>2364.1500000000005</c:v>
                </c:pt>
                <c:pt idx="6">
                  <c:v>2907.3499999999995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Prod Subscription</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798.75</c:v>
                </c:pt>
                <c:pt idx="1">
                  <c:v>2844</c:v>
                </c:pt>
                <c:pt idx="2">
                  <c:v>10910</c:v>
                </c:pt>
                <c:pt idx="3">
                  <c:v>9522</c:v>
                </c:pt>
                <c:pt idx="4">
                  <c:v>7610.56</c:v>
                </c:pt>
                <c:pt idx="5">
                  <c:v>17286</c:v>
                </c:pt>
                <c:pt idx="6">
                  <c:v>13714</c:v>
                </c:pt>
              </c:numCache>
            </c:numRef>
          </c:val>
        </c:ser>
        <c:ser>
          <c:idx val="1"/>
          <c:order val="1"/>
          <c:tx>
            <c:strRef>
              <c:f>Sheet1!$C$1</c:f>
              <c:strCache>
                <c:ptCount val="1"/>
                <c:pt idx="0">
                  <c:v>Dev/Test</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0</c:v>
                </c:pt>
                <c:pt idx="1">
                  <c:v>464</c:v>
                </c:pt>
                <c:pt idx="2">
                  <c:v>1031</c:v>
                </c:pt>
                <c:pt idx="3">
                  <c:v>1368</c:v>
                </c:pt>
                <c:pt idx="4">
                  <c:v>4874.39</c:v>
                </c:pt>
                <c:pt idx="5">
                  <c:v>7063</c:v>
                </c:pt>
                <c:pt idx="6">
                  <c:v>6454</c:v>
                </c:pt>
              </c:numCache>
            </c:numRef>
          </c:val>
        </c:ser>
        <c:ser>
          <c:idx val="2"/>
          <c:order val="2"/>
          <c:tx>
            <c:strRef>
              <c:f>Sheet1!$D$1</c:f>
              <c:strCache>
                <c:ptCount val="1"/>
                <c:pt idx="0">
                  <c:v>AI Factory prod</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55.56</c:v>
                </c:pt>
                <c:pt idx="1">
                  <c:v>169</c:v>
                </c:pt>
                <c:pt idx="2">
                  <c:v>460</c:v>
                </c:pt>
                <c:pt idx="3">
                  <c:v>454</c:v>
                </c:pt>
                <c:pt idx="4">
                  <c:v>575.07</c:v>
                </c:pt>
                <c:pt idx="5">
                  <c:v>814</c:v>
                </c:pt>
                <c:pt idx="6">
                  <c:v>1160</c:v>
                </c:pt>
              </c:numCache>
            </c:numRef>
          </c:val>
        </c:ser>
        <c:ser>
          <c:idx val="3"/>
          <c:order val="3"/>
          <c:tx>
            <c:strRef>
              <c:f>Sheet1!$E$1</c:f>
              <c:strCache>
                <c:ptCount val="1"/>
                <c:pt idx="0">
                  <c:v>AI Factory dev</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0</c:v>
                </c:pt>
                <c:pt idx="1">
                  <c:v>0</c:v>
                </c:pt>
                <c:pt idx="2">
                  <c:v>231</c:v>
                </c:pt>
                <c:pt idx="3">
                  <c:v>332</c:v>
                </c:pt>
                <c:pt idx="4">
                  <c:v>347.57</c:v>
                </c:pt>
                <c:pt idx="5">
                  <c:v>497</c:v>
                </c:pt>
                <c:pt idx="6">
                  <c:v>458</c:v>
                </c:pt>
              </c:numCache>
            </c:numRef>
          </c:val>
        </c:ser>
        <c:ser>
          <c:idx val="4"/>
          <c:order val="4"/>
          <c:tx>
            <c:strRef>
              <c:f>Sheet1!$F$1</c:f>
              <c:strCache>
                <c:ptCount val="1"/>
                <c:pt idx="0">
                  <c:v>INSAIT Dev</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0</c:v>
                </c:pt>
                <c:pt idx="1">
                  <c:v>0</c:v>
                </c:pt>
                <c:pt idx="2">
                  <c:v>0</c:v>
                </c:pt>
                <c:pt idx="3">
                  <c:v>0</c:v>
                </c:pt>
                <c:pt idx="4">
                  <c:v>193.18</c:v>
                </c:pt>
                <c:pt idx="5">
                  <c:v>239</c:v>
                </c:pt>
                <c:pt idx="6">
                  <c:v>1339</c:v>
                </c:pt>
              </c:numCache>
            </c:numRef>
          </c:val>
        </c:ser>
        <c:ser>
          <c:idx val="5"/>
          <c:order val="5"/>
          <c:tx>
            <c:strRef>
              <c:f>Sheet1!$G$1</c:f>
              <c:strCache>
                <c:ptCount val="1"/>
                <c:pt idx="0">
                  <c:v>All other</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Sheet1!$G$2:$G$8</c:f>
              <c:numCache>
                <c:formatCode>General</c:formatCode>
                <c:ptCount val="7"/>
                <c:pt idx="0">
                  <c:v>0</c:v>
                </c:pt>
                <c:pt idx="1">
                  <c:v>0</c:v>
                </c:pt>
                <c:pt idx="2">
                  <c:v>0</c:v>
                </c:pt>
                <c:pt idx="3">
                  <c:v>0</c:v>
                </c:pt>
                <c:pt idx="4">
                  <c:v>55.57</c:v>
                </c:pt>
                <c:pt idx="5">
                  <c:v>443</c:v>
                </c:pt>
                <c:pt idx="6">
                  <c:v>485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S0 Custom Pages</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3312</c:v>
                </c:pt>
                <c:pt idx="1">
                  <c:v>3720</c:v>
                </c:pt>
                <c:pt idx="2">
                  <c:v>2846</c:v>
                </c:pt>
                <c:pt idx="3">
                  <c:v>1523.49</c:v>
                </c:pt>
                <c:pt idx="4">
                  <c:v>2246.94</c:v>
                </c:pt>
                <c:pt idx="5">
                  <c:v>2764.98</c:v>
                </c:pt>
                <c:pt idx="6">
                  <c:v>2392.32</c:v>
                </c:pt>
              </c:numCache>
            </c:numRef>
          </c:val>
        </c:ser>
        <c:ser>
          <c:idx val="1"/>
          <c:order val="1"/>
          <c:tx>
            <c:strRef>
              <c:f>Sheet1!$C$1</c:f>
              <c:strCache>
                <c:ptCount val="1"/>
                <c:pt idx="0">
                  <c:v>5.4 opt</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0</c:v>
                </c:pt>
                <c:pt idx="1">
                  <c:v>0</c:v>
                </c:pt>
                <c:pt idx="2">
                  <c:v>0</c:v>
                </c:pt>
                <c:pt idx="3">
                  <c:v>0</c:v>
                </c:pt>
                <c:pt idx="4">
                  <c:v>941.41</c:v>
                </c:pt>
                <c:pt idx="5">
                  <c:v>6273.8</c:v>
                </c:pt>
                <c:pt idx="6">
                  <c:v>3893</c:v>
                </c:pt>
              </c:numCache>
            </c:numRef>
          </c:val>
        </c:ser>
        <c:ser>
          <c:idx val="2"/>
          <c:order val="2"/>
          <c:tx>
            <c:strRef>
              <c:f>Sheet1!$D$1</c:f>
              <c:strCache>
                <c:ptCount val="1"/>
                <c:pt idx="0">
                  <c:v>5.4 inp</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Sheet1!$D$2:$D$8</c:f>
              <c:numCache>
                <c:formatCode>General</c:formatCode>
                <c:ptCount val="7"/>
                <c:pt idx="0">
                  <c:v>0</c:v>
                </c:pt>
                <c:pt idx="1">
                  <c:v>0</c:v>
                </c:pt>
                <c:pt idx="2">
                  <c:v>0</c:v>
                </c:pt>
                <c:pt idx="3">
                  <c:v>0</c:v>
                </c:pt>
                <c:pt idx="4">
                  <c:v>1056.29</c:v>
                </c:pt>
                <c:pt idx="5">
                  <c:v>4877.16</c:v>
                </c:pt>
                <c:pt idx="6">
                  <c:v>4947</c:v>
                </c:pt>
              </c:numCache>
            </c:numRef>
          </c:val>
        </c:ser>
        <c:ser>
          <c:idx val="3"/>
          <c:order val="3"/>
          <c:tx>
            <c:strRef>
              <c:f>Sheet1!$E$1</c:f>
              <c:strCache>
                <c:ptCount val="1"/>
                <c:pt idx="0">
                  <c:v>S0 Pre-built Pages</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Sheet1!$E$2:$E$8</c:f>
              <c:numCache>
                <c:formatCode>General</c:formatCode>
                <c:ptCount val="7"/>
                <c:pt idx="0">
                  <c:v>804</c:v>
                </c:pt>
                <c:pt idx="1">
                  <c:v>385</c:v>
                </c:pt>
                <c:pt idx="2">
                  <c:v>521</c:v>
                </c:pt>
                <c:pt idx="3">
                  <c:v>336.11</c:v>
                </c:pt>
                <c:pt idx="4">
                  <c:v>627.22</c:v>
                </c:pt>
                <c:pt idx="5">
                  <c:v>2035.82</c:v>
                </c:pt>
                <c:pt idx="6">
                  <c:v>3385.11</c:v>
                </c:pt>
              </c:numCache>
            </c:numRef>
          </c:val>
        </c:ser>
        <c:ser>
          <c:idx val="4"/>
          <c:order val="4"/>
          <c:tx>
            <c:strRef>
              <c:f>Sheet1!$F$1</c:f>
              <c:strCache>
                <c:ptCount val="1"/>
                <c:pt idx="0">
                  <c:v>gpt 4o 0513</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Sheet1!$F$2:$F$8</c:f>
              <c:numCache>
                <c:formatCode>General</c:formatCode>
                <c:ptCount val="7"/>
                <c:pt idx="0">
                  <c:v>1145</c:v>
                </c:pt>
                <c:pt idx="1">
                  <c:v>1300</c:v>
                </c:pt>
                <c:pt idx="2">
                  <c:v>1060.02</c:v>
                </c:pt>
                <c:pt idx="3">
                  <c:v>3220.28</c:v>
                </c:pt>
                <c:pt idx="4">
                  <c:v>917</c:v>
                </c:pt>
                <c:pt idx="5">
                  <c:v>261</c:v>
                </c:pt>
                <c:pt idx="6">
                  <c:v>188</c:v>
                </c:pt>
              </c:numCache>
            </c:numRef>
          </c:val>
        </c:ser>
        <c:ser>
          <c:idx val="5"/>
          <c:order val="5"/>
          <c:tx>
            <c:strRef>
              <c:f>Sheet1!$G$1</c:f>
              <c:strCache>
                <c:ptCount val="1"/>
                <c:pt idx="0">
                  <c:v>gpt 4o 1120</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Sheet1!$G$2:$G$8</c:f>
              <c:numCache>
                <c:formatCode>General</c:formatCode>
                <c:ptCount val="7"/>
                <c:pt idx="0">
                  <c:v>6.11</c:v>
                </c:pt>
                <c:pt idx="1">
                  <c:v>524</c:v>
                </c:pt>
                <c:pt idx="2">
                  <c:v>2563.76</c:v>
                </c:pt>
                <c:pt idx="3">
                  <c:v>3081.82</c:v>
                </c:pt>
                <c:pt idx="4">
                  <c:v>253</c:v>
                </c:pt>
                <c:pt idx="5">
                  <c:v>663</c:v>
                </c:pt>
                <c:pt idx="6">
                  <c:v>107</c:v>
                </c:pt>
              </c:numCache>
            </c:numRef>
          </c:val>
        </c:ser>
        <c:ser>
          <c:idx val="6"/>
          <c:order val="6"/>
          <c:tx>
            <c:strRef>
              <c:f>Sheet1!$H$1</c:f>
              <c:strCache>
                <c:ptCount val="1"/>
                <c:pt idx="0">
                  <c:v>GPT 5</c:v>
                </c:pt>
              </c:strCache>
            </c:strRef>
          </c:tx>
          <c:spPr>
            <a:solidFill>
              <a:srgbClr val="2AD3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Sheet1!$H$2:$H$8</c:f>
              <c:numCache>
                <c:formatCode>General</c:formatCode>
                <c:ptCount val="7"/>
                <c:pt idx="0">
                  <c:v>13.65</c:v>
                </c:pt>
                <c:pt idx="1">
                  <c:v>17</c:v>
                </c:pt>
                <c:pt idx="2">
                  <c:v>272.95</c:v>
                </c:pt>
                <c:pt idx="3">
                  <c:v>971.26</c:v>
                </c:pt>
                <c:pt idx="4">
                  <c:v>5056</c:v>
                </c:pt>
                <c:pt idx="5">
                  <c:v>494</c:v>
                </c:pt>
                <c:pt idx="6">
                  <c:v>1</c:v>
                </c:pt>
              </c:numCache>
            </c:numRef>
          </c:val>
        </c:ser>
        <c:ser>
          <c:idx val="7"/>
          <c:order val="7"/>
          <c:tx>
            <c:strRef>
              <c:f>Sheet1!$I$1</c:f>
              <c:strCache>
                <c:ptCount val="1"/>
                <c:pt idx="0">
                  <c:v>GPT 5.1</c:v>
                </c:pt>
              </c:strCache>
            </c:strRef>
          </c:tx>
          <c:spPr>
            <a:solidFill>
              <a:srgbClr val="FFB8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Sheet1!$I$2:$I$8</c:f>
              <c:numCache>
                <c:formatCode>General</c:formatCode>
                <c:ptCount val="7"/>
                <c:pt idx="0">
                  <c:v>0</c:v>
                </c:pt>
                <c:pt idx="1">
                  <c:v>0</c:v>
                </c:pt>
                <c:pt idx="2">
                  <c:v>22.62</c:v>
                </c:pt>
                <c:pt idx="3">
                  <c:v>0.21</c:v>
                </c:pt>
                <c:pt idx="4">
                  <c:v>220</c:v>
                </c:pt>
                <c:pt idx="5">
                  <c:v>1946</c:v>
                </c:pt>
                <c:pt idx="6">
                  <c:v>1204</c:v>
                </c:pt>
              </c:numCache>
            </c:numRef>
          </c:val>
        </c:ser>
        <c:ser>
          <c:idx val="8"/>
          <c:order val="8"/>
          <c:tx>
            <c:strRef>
              <c:f>Sheet1!$J$1</c:f>
              <c:strCache>
                <c:ptCount val="1"/>
                <c:pt idx="0">
                  <c:v>All other</c:v>
                </c:pt>
              </c:strCache>
            </c:strRef>
          </c:tx>
          <c:spPr>
            <a:solidFill>
              <a:srgbClr val="6C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Sheet1!$J$2:$J$8</c:f>
              <c:numCache>
                <c:formatCode>General</c:formatCode>
                <c:ptCount val="7"/>
                <c:pt idx="0">
                  <c:v>481.32</c:v>
                </c:pt>
                <c:pt idx="1">
                  <c:v>846</c:v>
                </c:pt>
                <c:pt idx="2">
                  <c:v>552.18</c:v>
                </c:pt>
                <c:pt idx="3">
                  <c:v>1410.55</c:v>
                </c:pt>
                <c:pt idx="4">
                  <c:v>3611.5500000000006</c:v>
                </c:pt>
                <c:pt idx="5">
                  <c:v>2292.8399999999997</c:v>
                </c:pt>
                <c:pt idx="6">
                  <c:v>3491.7999999999997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Claude Opus 4.6</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Sheet1!$B$2:$B$6</c:f>
              <c:numCache>
                <c:formatCode>General</c:formatCode>
                <c:ptCount val="5"/>
                <c:pt idx="0">
                  <c:v>0</c:v>
                </c:pt>
                <c:pt idx="1">
                  <c:v>0</c:v>
                </c:pt>
                <c:pt idx="2">
                  <c:v>2866.65</c:v>
                </c:pt>
                <c:pt idx="3">
                  <c:v>4806.49</c:v>
                </c:pt>
                <c:pt idx="4">
                  <c:v>9873.22</c:v>
                </c:pt>
              </c:numCache>
            </c:numRef>
          </c:val>
        </c:ser>
        <c:ser>
          <c:idx val="1"/>
          <c:order val="1"/>
          <c:tx>
            <c:strRef>
              <c:f>Sheet1!$C$1</c:f>
              <c:strCache>
                <c:ptCount val="1"/>
                <c:pt idx="0">
                  <c:v>Claude Opus 4.8</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Sheet1!$C$2:$C$6</c:f>
              <c:numCache>
                <c:formatCode>General</c:formatCode>
                <c:ptCount val="5"/>
                <c:pt idx="0">
                  <c:v>0</c:v>
                </c:pt>
                <c:pt idx="1">
                  <c:v>0</c:v>
                </c:pt>
                <c:pt idx="2">
                  <c:v>76.7</c:v>
                </c:pt>
                <c:pt idx="3">
                  <c:v>2024.12</c:v>
                </c:pt>
                <c:pt idx="4">
                  <c:v>11361.86</c:v>
                </c:pt>
              </c:numCache>
            </c:numRef>
          </c:val>
        </c:ser>
        <c:ser>
          <c:idx val="2"/>
          <c:order val="2"/>
          <c:tx>
            <c:strRef>
              <c:f>Sheet1!$D$1</c:f>
              <c:strCache>
                <c:ptCount val="1"/>
                <c:pt idx="0">
                  <c:v>Claude Opus 4.7</c:v>
                </c:pt>
              </c:strCache>
            </c:strRef>
          </c:tx>
          <c:spPr>
            <a:solidFill>
              <a:srgbClr val="FF9F4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Sheet1!$D$2:$D$6</c:f>
              <c:numCache>
                <c:formatCode>General</c:formatCode>
                <c:ptCount val="5"/>
                <c:pt idx="0">
                  <c:v>0</c:v>
                </c:pt>
                <c:pt idx="1">
                  <c:v>0</c:v>
                </c:pt>
                <c:pt idx="2">
                  <c:v>786.79</c:v>
                </c:pt>
                <c:pt idx="3">
                  <c:v>2917.83</c:v>
                </c:pt>
                <c:pt idx="4">
                  <c:v>2438.48</c:v>
                </c:pt>
              </c:numCache>
            </c:numRef>
          </c:val>
        </c:ser>
        <c:ser>
          <c:idx val="3"/>
          <c:order val="3"/>
          <c:tx>
            <c:strRef>
              <c:f>Sheet1!$E$1</c:f>
              <c:strCache>
                <c:ptCount val="1"/>
                <c:pt idx="0">
                  <c:v>Amazon Bedrock Edition</c:v>
                </c:pt>
              </c:strCache>
            </c:strRef>
          </c:tx>
          <c:spPr>
            <a:solidFill>
              <a:srgbClr val="B07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Sheet1!$E$2:$E$6</c:f>
              <c:numCache>
                <c:formatCode>General</c:formatCode>
                <c:ptCount val="5"/>
                <c:pt idx="0">
                  <c:v>841</c:v>
                </c:pt>
                <c:pt idx="1">
                  <c:v>1609</c:v>
                </c:pt>
                <c:pt idx="2">
                  <c:v>0</c:v>
                </c:pt>
                <c:pt idx="3">
                  <c:v>0</c:v>
                </c:pt>
                <c:pt idx="4">
                  <c:v>0</c:v>
                </c:pt>
              </c:numCache>
            </c:numRef>
          </c:val>
        </c:ser>
        <c:ser>
          <c:idx val="4"/>
          <c:order val="4"/>
          <c:tx>
            <c:strRef>
              <c:f>Sheet1!$F$1</c:f>
              <c:strCache>
                <c:ptCount val="1"/>
                <c:pt idx="0">
                  <c:v>Claude Sonnet 4.6</c:v>
                </c:pt>
              </c:strCache>
            </c:strRef>
          </c:tx>
          <c:spPr>
            <a:solidFill>
              <a:srgbClr val="3DDC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Sheet1!$F$2:$F$6</c:f>
              <c:numCache>
                <c:formatCode>General</c:formatCode>
                <c:ptCount val="5"/>
                <c:pt idx="0">
                  <c:v>0</c:v>
                </c:pt>
                <c:pt idx="1">
                  <c:v>0</c:v>
                </c:pt>
                <c:pt idx="2">
                  <c:v>14.53</c:v>
                </c:pt>
                <c:pt idx="3">
                  <c:v>540.41</c:v>
                </c:pt>
                <c:pt idx="4">
                  <c:v>688.26</c:v>
                </c:pt>
              </c:numCache>
            </c:numRef>
          </c:val>
        </c:ser>
        <c:ser>
          <c:idx val="5"/>
          <c:order val="5"/>
          <c:tx>
            <c:strRef>
              <c:f>Sheet1!$G$1</c:f>
              <c:strCache>
                <c:ptCount val="1"/>
                <c:pt idx="0">
                  <c:v>Claude Opus 5</c:v>
                </c:pt>
              </c:strCache>
            </c:strRef>
          </c:tx>
          <c:spPr>
            <a:solidFill>
              <a:srgbClr val="FF6B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Sheet1!$G$2:$G$6</c:f>
              <c:numCache>
                <c:formatCode>General</c:formatCode>
                <c:ptCount val="5"/>
                <c:pt idx="0">
                  <c:v>0</c:v>
                </c:pt>
                <c:pt idx="1">
                  <c:v>0</c:v>
                </c:pt>
                <c:pt idx="2">
                  <c:v>0</c:v>
                </c:pt>
                <c:pt idx="3">
                  <c:v>0</c:v>
                </c:pt>
                <c:pt idx="4">
                  <c:v>691.45</c:v>
                </c:pt>
              </c:numCache>
            </c:numRef>
          </c:val>
        </c:ser>
        <c:ser>
          <c:idx val="6"/>
          <c:order val="6"/>
          <c:tx>
            <c:strRef>
              <c:f>Sheet1!$H$1</c:f>
              <c:strCache>
                <c:ptCount val="1"/>
                <c:pt idx="0">
                  <c:v>Claude Haiku 4.5</c:v>
                </c:pt>
              </c:strCache>
            </c:strRef>
          </c:tx>
          <c:spPr>
            <a:solidFill>
              <a:srgbClr val="2AD3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Sheet1!$H$2:$H$6</c:f>
              <c:numCache>
                <c:formatCode>General</c:formatCode>
                <c:ptCount val="5"/>
                <c:pt idx="0">
                  <c:v>0</c:v>
                </c:pt>
                <c:pt idx="1">
                  <c:v>0</c:v>
                </c:pt>
                <c:pt idx="2">
                  <c:v>57.15</c:v>
                </c:pt>
                <c:pt idx="3">
                  <c:v>159.32</c:v>
                </c:pt>
                <c:pt idx="4">
                  <c:v>157.37</c:v>
                </c:pt>
              </c:numCache>
            </c:numRef>
          </c:val>
        </c:ser>
        <c:ser>
          <c:idx val="7"/>
          <c:order val="7"/>
          <c:tx>
            <c:strRef>
              <c:f>Sheet1!$I$1</c:f>
              <c:strCache>
                <c:ptCount val="1"/>
                <c:pt idx="0">
                  <c:v>Claude Sonnet 4.5</c:v>
                </c:pt>
              </c:strCache>
            </c:strRef>
          </c:tx>
          <c:spPr>
            <a:solidFill>
              <a:srgbClr val="FFB8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Sheet1!$I$2:$I$6</c:f>
              <c:numCache>
                <c:formatCode>General</c:formatCode>
                <c:ptCount val="5"/>
                <c:pt idx="0">
                  <c:v>0</c:v>
                </c:pt>
                <c:pt idx="1">
                  <c:v>0</c:v>
                </c:pt>
                <c:pt idx="2">
                  <c:v>9.63</c:v>
                </c:pt>
                <c:pt idx="3">
                  <c:v>58.63</c:v>
                </c:pt>
                <c:pt idx="4">
                  <c:v>77.41</c:v>
                </c:pt>
              </c:numCache>
            </c:numRef>
          </c:val>
        </c:ser>
        <c:ser>
          <c:idx val="8"/>
          <c:order val="8"/>
          <c:tx>
            <c:strRef>
              <c:f>Sheet1!$J$1</c:f>
              <c:strCache>
                <c:ptCount val="1"/>
                <c:pt idx="0">
                  <c:v>All other</c:v>
                </c:pt>
              </c:strCache>
            </c:strRef>
          </c:tx>
          <c:spPr>
            <a:solidFill>
              <a:srgbClr val="6C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Mar</c:v>
                  </c:pt>
                  <c:pt idx="1">
                    <c:v>Apr</c:v>
                  </c:pt>
                  <c:pt idx="2">
                    <c:v>May</c:v>
                  </c:pt>
                  <c:pt idx="3">
                    <c:v>Jun</c:v>
                  </c:pt>
                  <c:pt idx="4">
                    <c:v>Jul</c:v>
                  </c:pt>
                </c:lvl>
              </c:multiLvlStrCache>
            </c:multiLvlStrRef>
          </c:cat>
          <c:val>
            <c:numRef>
              <c:f>Sheet1!$J$2:$J$6</c:f>
              <c:numCache>
                <c:formatCode>General</c:formatCode>
                <c:ptCount val="5"/>
                <c:pt idx="0">
                  <c:v>0</c:v>
                </c:pt>
                <c:pt idx="1">
                  <c:v>0</c:v>
                </c:pt>
                <c:pt idx="2">
                  <c:v>0.01</c:v>
                </c:pt>
                <c:pt idx="3">
                  <c:v>0</c:v>
                </c:pt>
                <c:pt idx="4">
                  <c:v>0.28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Shared resources</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May</c:v>
                  </c:pt>
                  <c:pt idx="1">
                    <c:v>Jun</c:v>
                  </c:pt>
                  <c:pt idx="2">
                    <c:v>Jul</c:v>
                  </c:pt>
                </c:lvl>
              </c:multiLvlStrCache>
            </c:multiLvlStrRef>
          </c:cat>
          <c:val>
            <c:numRef>
              <c:f>Sheet1!$B$2:$B$4</c:f>
              <c:numCache>
                <c:formatCode>General</c:formatCode>
                <c:ptCount val="3"/>
                <c:pt idx="0">
                  <c:v>6467</c:v>
                </c:pt>
                <c:pt idx="1">
                  <c:v>16654</c:v>
                </c:pt>
                <c:pt idx="2">
                  <c:v>19260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Shared resources</c:v>
                </c:pt>
              </c:strCache>
            </c:strRef>
          </c:tx>
          <c:spPr>
            <a:solidFill>
              <a:srgbClr val="2F8C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May</c:v>
                  </c:pt>
                  <c:pt idx="1">
                    <c:v>Jun</c:v>
                  </c:pt>
                  <c:pt idx="2">
                    <c:v>Jul</c:v>
                  </c:pt>
                </c:lvl>
              </c:multiLvlStrCache>
            </c:multiLvlStrRef>
          </c:cat>
          <c:val>
            <c:numRef>
              <c:f>Sheet1!$B$2:$B$4</c:f>
              <c:numCache>
                <c:formatCode>General</c:formatCode>
                <c:ptCount val="3"/>
                <c:pt idx="0">
                  <c:v>0</c:v>
                </c:pt>
                <c:pt idx="1">
                  <c:v>0</c:v>
                </c:pt>
                <c:pt idx="2">
                  <c:v>8919</c:v>
                </c:pt>
              </c:numCache>
            </c:numRef>
          </c:val>
        </c:ser>
        <c:ser>
          <c:idx val="1"/>
          <c:order val="1"/>
          <c:tx>
            <c:strRef>
              <c:f>Sheet1!$C$1</c:f>
              <c:strCache>
                <c:ptCount val="1"/>
                <c:pt idx="0">
                  <c:v>VdiHorizion Prod</c:v>
                </c:pt>
              </c:strCache>
            </c:strRef>
          </c:tx>
          <c:spPr>
            <a:solidFill>
              <a:srgbClr val="3DD9E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May</c:v>
                  </c:pt>
                  <c:pt idx="1">
                    <c:v>Jun</c:v>
                  </c:pt>
                  <c:pt idx="2">
                    <c:v>Jul</c:v>
                  </c:pt>
                </c:lvl>
              </c:multiLvlStrCache>
            </c:multiLvlStrRef>
          </c:cat>
          <c:val>
            <c:numRef>
              <c:f>Sheet1!$C$2:$C$4</c:f>
              <c:numCache>
                <c:formatCode>General</c:formatCode>
                <c:ptCount val="3"/>
                <c:pt idx="0">
                  <c:v>80</c:v>
                </c:pt>
                <c:pt idx="1">
                  <c:v>0</c:v>
                </c:pt>
                <c:pt idx="2">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BASIS FOR THE WHOLE DECK: metered consumption, January to July 2026,
all three clouds. Seven months, one series, no switching.
Marketplace purchases are excluded throughout and reported on their own slide.
AWS July is shown gross of the $16,100 MAP credit, which has its own slide.
If asked why this differs from the May-July briefing: same estate, longer
window. Seven months of data instead of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$3.4M IS BUILT, one month, times twelve. No model, no forecast.
  Azure    186,917
  AWS       92,930   (gross, before the $16,100 MAP credit)
  GCP        3,707
  ------------------
  July     283,554   per month
  x 12   3,402,648   per year   -&gt;  $3.4M
If July repeats for a full year, we are at a $3.4M pace. That is all it says.
WHERE THE $593K COMES FROM
  Jan    234,115 x 12 = 2,809,384
  Jul    283,554 x 12 = 3,402,648
  difference              593,264   = +21.1%
Six months, and the annual pace rose by about $593K.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PROJECTION, BUILT IN THREE STEPS.
1. Measure the pace over the whole period, not a corner of it:
     Jan 234,115  -&gt;  Jul 283,554
     six months, compounding  =  +3.2% per month
2. Carry July forward five months at that pace:
     Aug 293,102   Sep 302,905   Oct 312,972   Nov 323,309   Dec 333,925
3. Annualise December:  333,925 x 12  =  $4.01M
The floor is $3.40M, July repeating with no growth at all.
IF ASKED ABOUT THE $5.8M IN THE JULY BRIEFING
That used May-&gt;Jul only: Azure 145,254 -&gt; 186,541 = +13.3% a month. Two months,
starting from the softest month of the year, so a rebound read as a trend.
Nothing was wrong with the arithmetic; the window was too short. Seven months
of data now says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UPPER BOUND. Same start, same method, faster rate.
Rates from the May-July window, as published in the July briefing:
  Azure  +13.3% per month
  AWS     +5.8% per month
  GCP     +$1.1K per month
Carried from July's actual 283,554:
  Aug 314,904   Sep 349,873   Oct 388,919   Nov 432,559   Dec 481,378
  481,378 x 12 = $5.78M
WHAT IT COSTS IF IT HAPPENS
  December run-rate   5,776,533  vs  4,011,077   = +1,765,456 a year
  Cash Aug-Dec        1,967,632  vs  1,567,166   =   +400,465
HOW TO POSITION IT
Do not present this as the forecast, present it as the range's top. The
base case is the previous slide at $4.0M. This slide answers 'what if the
acceleration was real', and it is the number the July briefing carried.
Note the Azure rate here is v33's 13.3%, measured off the invoiced May
figure of 145,254. On the consumption basis this deck uses, May was 152,263
and the same window gives 10.8% a month. The 13.3% is deliberately the
harsher of the two, which is what an upper bound should be.
The trigger to watch: if August lands above roughly 300K, we are on the red
line, not the orange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here is the same seven-month consumption series, unless a slide says otherwise on its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SEVEN MONTHS OF METERED CONSUMPTION.
  Jan 156,990   Feb 135,742   Mar 165,199   Apr 152,577
  May 152,263   Jun 167,406   Jul 186,917
  Jan-Jul total  1,117,094
  +19% = 186,917 / 156,990 - 1
BILLED AI INSIDE THAT, Foundry Models, Foundry Tools, GitHub Copilot and
Cowork. Databricks is excluded: it draws on the pre-purchase and
bills at $0, so counting it would overstate what we actually pay.
  Jan   8,640   ( 5.5% of Azure )
  Jul  47,792   (25.6% of Azure )
  Jan-Jul total  153,779      growth  +453%
The line to use out loud: Azure grew 19%, its AI bill grew 453%.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Billed AI, all clouds, per month:
  Jan  8,640    Feb 10,593   Mar 13,117   Apr 16,363
  May 25,650    Jun 49,729   Jul 75,439
  Jan-Jul total  199,531        growth  +773%
AGAINST THE WHOLE CLOUD BILL
  Jan   8,640 / 234,115 =  3.7%
  Jul  75,439 / 283,554 = 26.6%
So: in January AI was one dollar in twenty-seven. In July it is one in four.
WHAT IS EXCLUDED AND WHY
Databricks. It draws on the 600,000 DBU pre-purchase and bills at $0, so
including it would inflate what we actually pay. It has its own slide.
The July step-up is Bedrock (Claude, 25,288) plus Cowork arriving at
8,920 in its first full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ITEM 3 ON THE NEXT SLIDE IS TWO JOBS, NOT ONE.
Resource tagging, owner, application, environment, cost centre, business
unit, fixes attribution for VMs, storage and databases. That work is in
progress and it is worth finishing: it is what closes the 23.4% untagged gap.
It will NOT fix AI attribution. AI cost does not sit on a resource; it sits
on a request. One Bedrock key served $25,288 of Claude in July across an
unknown number of use cases. No tag on a resource can split that.
WHAT CHANGES
Every AI call goes through the gateway anyway, for budgets and quotas. The
same gateway stamps each request with use case, agent, model and provider.
Cost then lands against a use case instead of a subscription.
The telemetry side already exists in our Elastic design, OpenTelemetry
spans carry token counts and tool activity. This is the missing half.
IF ASKED WHAT IT COSTS: nothing new to buy. It is a schema decision plus
gateway configuration, done once, enforced in CI/CD.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BUDGET IS NOT A KILL SWITCH
Azure Cost Management budgets are a reporting mechanism: cost data arrives
roughly 8-24 hours late, the budget is evaluated about once a day, and
breaching it does not stop consumption. By the time it fires, the money is
spent. APIM token quota is the enforcement point; the budget is the late
financial control.
SEPARATE IDENTITY PER APPLICATION
Each application gets its own APIM subscription or Entra client_id, carrying
owner, cost centre, environment, monthly budget, approved models, TPM, and
daily plus monthly quota. Never share one key across applications, you can
then neither limit nor attribute.
HARD LIMITS IN APIM, three llm-token-limit instances in &lt;inbound&gt;:
  minute   tokens-per-minute="20000"                    burst protection
  daily    token-quota="3000000"  period="Daily"        runaway job
  monthly  token-quota="60000000" period="Monthly"      hard ceiling
  counter-key on context.Subscription.Id, estimate-prompt-tokens="true"
  so an oversized prompt is blocked before it reaches the model.
  TPM breach returns 429; quota breach returns 403.
Add rate-limit-by-key, cap max_output_tokens, disable streaming and tool
calling where not needed, and cap concurrency for agents.
HIERARCHY: low TPM per user; TPM plus quotas per application; cumulative
quota per cost centre; a ceiling on each expensive model; sandbox well
below production. One user cannot drain an application, one application
cannot drain the organisation.
BUDGET INTO TOKENS, the policy counts tokens, not dollars, so each model
needs its own quota:
  cost = (input tokens x input price + output tokens x output price) / 1M
On a $1,000 budget set the hard quota near $750-$850. The margin covers
in-flight parallel requests, reasoning tokens, price differences between
models, counting lag, and multiple gateways. Microsoft notes concurrent
requests can temporarily exceed the quota, and that in multi-region APIM
each gateway counts separately rather than globally, so split the quota
across regions.
ALERTS: emit llm-emit-token-metric to Application Insights with application,
cost centre, model, environment and owner as dimensions. Alert on an
abnormal token rate over 5 and 15 minutes; 70% of quota to the owner; 85%
to FinOps with a rate reduction; 100% automatic block; a jump in the
output-to-input ratio; and repeated 429s, 403s or agent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chart" Target="/ppt/charts/chart16.xml"/><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chart" Target="/ppt/charts/chart19.xml"/><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chart" Target="/ppt/charts/chart23.xml"/><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457200" y="1723136"/>
            <a:ext cx="8229600" cy="274320"/>
          </a:xfrm>
          <a:prstGeom prst="rect">
            <a:avLst/>
          </a:prstGeom>
          <a:noFill/>
          <a:ln/>
        </p:spPr>
        <p:txBody>
          <a:bodyPr wrap="square" lIns="0" tIns="0" rIns="0" bIns="0" rtlCol="0" anchor="ctr"/>
          <a:lstStyle/>
          <a:p>
            <a:pPr indent="0" marL="0">
              <a:buNone/>
            </a:pPr>
            <a:r>
              <a:rPr lang="en-US" sz="1300" b="1" spc="300" kern="0" dirty="0">
                <a:solidFill>
                  <a:srgbClr val="3DD9EB"/>
                </a:solidFill>
                <a:latin typeface="Calibri" pitchFamily="34" charset="0"/>
                <a:ea typeface="Calibri" pitchFamily="34" charset="-122"/>
                <a:cs typeface="Calibri" pitchFamily="34" charset="-120"/>
              </a:rPr>
              <a:t>HAREL INSURANCE / CLOUD FINOPS</a:t>
            </a:r>
            <a:endParaRPr lang="en-US" sz="1300" dirty="0"/>
          </a:p>
        </p:txBody>
      </p:sp>
      <p:sp>
        <p:nvSpPr>
          <p:cNvPr id="6" name="Text 4"/>
          <p:cNvSpPr/>
          <p:nvPr/>
        </p:nvSpPr>
        <p:spPr>
          <a:xfrm>
            <a:off x="457200" y="2070608"/>
            <a:ext cx="8412480" cy="2479040"/>
          </a:xfrm>
          <a:prstGeom prst="rect">
            <a:avLst/>
          </a:prstGeom>
          <a:noFill/>
          <a:ln/>
        </p:spPr>
        <p:txBody>
          <a:bodyPr wrap="square" lIns="0" tIns="0" rIns="0" bIns="0" rtlCol="0" anchor="ctr"/>
          <a:lstStyle/>
          <a:p>
            <a:pPr indent="0" marL="0">
              <a:buNone/>
            </a:pPr>
            <a:r>
              <a:rPr lang="en-US" sz="4000" b="1" dirty="0">
                <a:solidFill>
                  <a:srgbClr val="F4F7FB"/>
                </a:solidFill>
                <a:latin typeface="Calibri" pitchFamily="34" charset="0"/>
                <a:ea typeface="Calibri" pitchFamily="34" charset="-122"/>
                <a:cs typeface="Calibri" pitchFamily="34" charset="-120"/>
              </a:rPr>
              <a:t>Cloud spend, the AI shift,</a:t>
            </a:r>
            <a:endParaRPr lang="en-US" sz="4000" dirty="0"/>
          </a:p>
          <a:p>
            <a:pPr indent="0" marL="0">
              <a:buNone/>
            </a:pPr>
            <a:r>
              <a:rPr lang="en-US" sz="4000" b="1" dirty="0">
                <a:solidFill>
                  <a:srgbClr val="F4F7FB"/>
                </a:solidFill>
                <a:latin typeface="Calibri" pitchFamily="34" charset="0"/>
                <a:ea typeface="Calibri" pitchFamily="34" charset="-122"/>
                <a:cs typeface="Calibri" pitchFamily="34" charset="-120"/>
              </a:rPr>
              <a:t>and what we have taken out</a:t>
            </a:r>
            <a:endParaRPr lang="en-US" sz="4000" dirty="0"/>
          </a:p>
        </p:txBody>
      </p:sp>
      <p:sp>
        <p:nvSpPr>
          <p:cNvPr id="7" name="Text 5"/>
          <p:cNvSpPr/>
          <p:nvPr/>
        </p:nvSpPr>
        <p:spPr>
          <a:xfrm>
            <a:off x="457200" y="4677664"/>
            <a:ext cx="7863840" cy="457200"/>
          </a:xfrm>
          <a:prstGeom prst="rect">
            <a:avLst/>
          </a:prstGeom>
          <a:noFill/>
          <a:ln/>
        </p:spPr>
        <p:txBody>
          <a:bodyPr wrap="square" lIns="0" tIns="0" rIns="0" bIns="0" rtlCol="0" anchor="t"/>
          <a:lstStyle/>
          <a:p>
            <a:pPr indent="0" marL="0">
              <a:buNone/>
            </a:pPr>
            <a:r>
              <a:rPr lang="en-US" sz="1500" dirty="0">
                <a:solidFill>
                  <a:srgbClr val="91A0B7"/>
                </a:solidFill>
                <a:latin typeface="Calibri" pitchFamily="34" charset="0"/>
                <a:ea typeface="Calibri" pitchFamily="34" charset="-122"/>
                <a:cs typeface="Calibri" pitchFamily="34" charset="-120"/>
              </a:rPr>
              <a:t>Seven months of consumption, January to July 2026, CIO briefing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WHERE WE ARE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Today's run-rate</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July annualised, all three clouds. A pace, not a budget.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Consumption only, Marketplace purchases are excluded here and reported separately. AWS is shown gross of the $16,100 July credit, which is explained later in this deck.</a:t>
            </a:r>
            <a:endParaRPr lang="en-US" sz="1200" dirty="0"/>
          </a:p>
        </p:txBody>
      </p:sp>
      <p:sp>
        <p:nvSpPr>
          <p:cNvPr id="8" name="Text 6"/>
          <p:cNvSpPr/>
          <p:nvPr/>
        </p:nvSpPr>
        <p:spPr>
          <a:xfrm>
            <a:off x="457200" y="1691640"/>
            <a:ext cx="5669280" cy="1371600"/>
          </a:xfrm>
          <a:prstGeom prst="rect">
            <a:avLst/>
          </a:prstGeom>
          <a:noFill/>
          <a:ln/>
        </p:spPr>
        <p:txBody>
          <a:bodyPr wrap="square" lIns="0" tIns="0" rIns="0" bIns="0" rtlCol="0" anchor="ctr"/>
          <a:lstStyle/>
          <a:p>
            <a:pPr indent="0" marL="0">
              <a:buNone/>
            </a:pPr>
            <a:r>
              <a:rPr lang="en-US" sz="9600" b="1" dirty="0">
                <a:solidFill>
                  <a:srgbClr val="F4F7FB"/>
                </a:solidFill>
                <a:latin typeface="Calibri" pitchFamily="34" charset="0"/>
                <a:ea typeface="Calibri" pitchFamily="34" charset="-122"/>
                <a:cs typeface="Calibri" pitchFamily="34" charset="-120"/>
              </a:rPr>
              <a:t>$3.4M</a:t>
            </a:r>
            <a:endParaRPr lang="en-US" sz="9600" dirty="0"/>
          </a:p>
        </p:txBody>
      </p:sp>
      <p:sp>
        <p:nvSpPr>
          <p:cNvPr id="9" name="Text 7"/>
          <p:cNvSpPr/>
          <p:nvPr/>
        </p:nvSpPr>
        <p:spPr>
          <a:xfrm>
            <a:off x="457200" y="3063240"/>
            <a:ext cx="5669280" cy="365760"/>
          </a:xfrm>
          <a:prstGeom prst="rect">
            <a:avLst/>
          </a:prstGeom>
          <a:noFill/>
          <a:ln/>
        </p:spPr>
        <p:txBody>
          <a:bodyPr wrap="square" lIns="0" tIns="0" rIns="0" bIns="0" rtlCol="0" anchor="ctr"/>
          <a:lstStyle/>
          <a:p>
            <a:pPr indent="0" marL="0">
              <a:buNone/>
            </a:pPr>
            <a:r>
              <a:rPr lang="en-US" sz="1500" dirty="0">
                <a:solidFill>
                  <a:srgbClr val="91A0B7"/>
                </a:solidFill>
                <a:latin typeface="Calibri" pitchFamily="34" charset="0"/>
                <a:ea typeface="Calibri" pitchFamily="34" charset="-122"/>
                <a:cs typeface="Calibri" pitchFamily="34" charset="-120"/>
              </a:rPr>
              <a:t>run-rate today. July consumption x 12, across Azure, AWS and GCP</a:t>
            </a:r>
            <a:endParaRPr lang="en-US" sz="1500" dirty="0"/>
          </a:p>
        </p:txBody>
      </p:sp>
      <p:sp>
        <p:nvSpPr>
          <p:cNvPr id="10" name="Text 8"/>
          <p:cNvSpPr/>
          <p:nvPr/>
        </p:nvSpPr>
        <p:spPr>
          <a:xfrm>
            <a:off x="457200" y="3456432"/>
            <a:ext cx="5669280" cy="365760"/>
          </a:xfrm>
          <a:prstGeom prst="rect">
            <a:avLst/>
          </a:prstGeom>
          <a:noFill/>
          <a:ln/>
        </p:spPr>
        <p:txBody>
          <a:bodyPr wrap="square" lIns="0" tIns="0" rIns="0" bIns="0" rtlCol="0" anchor="ctr"/>
          <a:lstStyle/>
          <a:p>
            <a:pPr indent="0" marL="0">
              <a:buNone/>
            </a:pPr>
            <a:r>
              <a:rPr lang="en-US" sz="1700" b="1" dirty="0">
                <a:solidFill>
                  <a:srgbClr val="FF6B7A"/>
                </a:solidFill>
                <a:latin typeface="Calibri" pitchFamily="34" charset="0"/>
                <a:ea typeface="Calibri" pitchFamily="34" charset="-122"/>
                <a:cs typeface="Calibri" pitchFamily="34" charset="-120"/>
              </a:rPr>
              <a:t>up $593K since January, +21.1%</a:t>
            </a:r>
            <a:endParaRPr lang="en-US" sz="1700" dirty="0"/>
          </a:p>
        </p:txBody>
      </p:sp>
      <p:sp>
        <p:nvSpPr>
          <p:cNvPr id="11" name="Shape 9"/>
          <p:cNvSpPr/>
          <p:nvPr/>
        </p:nvSpPr>
        <p:spPr>
          <a:xfrm>
            <a:off x="6492240" y="1554480"/>
            <a:ext cx="5242255" cy="914400"/>
          </a:xfrm>
          <a:prstGeom prst="roundRect">
            <a:avLst>
              <a:gd name="adj" fmla="val 6000"/>
            </a:avLst>
          </a:prstGeom>
          <a:solidFill>
            <a:srgbClr val="121B2D"/>
          </a:solidFill>
          <a:ln w="12700">
            <a:solidFill>
              <a:srgbClr val="23304A"/>
            </a:solidFill>
            <a:prstDash val="solid"/>
          </a:ln>
        </p:spPr>
      </p:sp>
      <p:sp>
        <p:nvSpPr>
          <p:cNvPr id="12" name="Text 10"/>
          <p:cNvSpPr/>
          <p:nvPr/>
        </p:nvSpPr>
        <p:spPr>
          <a:xfrm>
            <a:off x="6693408" y="1682496"/>
            <a:ext cx="4839919" cy="274320"/>
          </a:xfrm>
          <a:prstGeom prst="rect">
            <a:avLst/>
          </a:prstGeom>
          <a:noFill/>
          <a:ln/>
        </p:spPr>
        <p:txBody>
          <a:bodyPr wrap="square" lIns="0" tIns="0" rIns="0" bIns="0" rtlCol="0" anchor="ctr"/>
          <a:lstStyle/>
          <a:p>
            <a:pPr indent="0" marL="0">
              <a:buNone/>
            </a:pPr>
            <a:r>
              <a:rPr lang="en-US" sz="1500" b="1" dirty="0">
                <a:solidFill>
                  <a:srgbClr val="2F8CFF"/>
                </a:solidFill>
                <a:latin typeface="Calibri" pitchFamily="34" charset="0"/>
                <a:ea typeface="Calibri" pitchFamily="34" charset="-122"/>
                <a:cs typeface="Calibri" pitchFamily="34" charset="-120"/>
              </a:rPr>
              <a:t>Azure</a:t>
            </a:r>
            <a:endParaRPr lang="en-US" sz="1500" dirty="0"/>
          </a:p>
        </p:txBody>
      </p:sp>
      <p:sp>
        <p:nvSpPr>
          <p:cNvPr id="13" name="Text 11"/>
          <p:cNvSpPr/>
          <p:nvPr/>
        </p:nvSpPr>
        <p:spPr>
          <a:xfrm>
            <a:off x="6693408" y="197510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$186,917</a:t>
            </a:r>
            <a:endParaRPr lang="en-US" sz="2200" dirty="0"/>
          </a:p>
        </p:txBody>
      </p:sp>
      <p:sp>
        <p:nvSpPr>
          <p:cNvPr id="14" name="Text 12"/>
          <p:cNvSpPr/>
          <p:nvPr/>
        </p:nvSpPr>
        <p:spPr>
          <a:xfrm>
            <a:off x="9113368" y="197510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66% of the bill</a:t>
            </a:r>
            <a:endParaRPr lang="en-US" sz="1200" dirty="0"/>
          </a:p>
        </p:txBody>
      </p:sp>
      <p:sp>
        <p:nvSpPr>
          <p:cNvPr id="15" name="Shape 13"/>
          <p:cNvSpPr/>
          <p:nvPr/>
        </p:nvSpPr>
        <p:spPr>
          <a:xfrm>
            <a:off x="6492240" y="2606040"/>
            <a:ext cx="5242255" cy="914400"/>
          </a:xfrm>
          <a:prstGeom prst="roundRect">
            <a:avLst>
              <a:gd name="adj" fmla="val 6000"/>
            </a:avLst>
          </a:prstGeom>
          <a:solidFill>
            <a:srgbClr val="121B2D"/>
          </a:solidFill>
          <a:ln w="12700">
            <a:solidFill>
              <a:srgbClr val="23304A"/>
            </a:solidFill>
            <a:prstDash val="solid"/>
          </a:ln>
        </p:spPr>
      </p:sp>
      <p:sp>
        <p:nvSpPr>
          <p:cNvPr id="16" name="Text 14"/>
          <p:cNvSpPr/>
          <p:nvPr/>
        </p:nvSpPr>
        <p:spPr>
          <a:xfrm>
            <a:off x="6693408" y="2734056"/>
            <a:ext cx="4839919" cy="274320"/>
          </a:xfrm>
          <a:prstGeom prst="rect">
            <a:avLst/>
          </a:prstGeom>
          <a:noFill/>
          <a:ln/>
        </p:spPr>
        <p:txBody>
          <a:bodyPr wrap="square" lIns="0" tIns="0" rIns="0" bIns="0" rtlCol="0" anchor="ctr"/>
          <a:lstStyle/>
          <a:p>
            <a:pPr indent="0" marL="0">
              <a:buNone/>
            </a:pPr>
            <a:r>
              <a:rPr lang="en-US" sz="1500" b="1" dirty="0">
                <a:solidFill>
                  <a:srgbClr val="FF9F43"/>
                </a:solidFill>
                <a:latin typeface="Calibri" pitchFamily="34" charset="0"/>
                <a:ea typeface="Calibri" pitchFamily="34" charset="-122"/>
                <a:cs typeface="Calibri" pitchFamily="34" charset="-120"/>
              </a:rPr>
              <a:t>AWS</a:t>
            </a:r>
            <a:endParaRPr lang="en-US" sz="1500" dirty="0"/>
          </a:p>
        </p:txBody>
      </p:sp>
      <p:sp>
        <p:nvSpPr>
          <p:cNvPr id="17" name="Text 15"/>
          <p:cNvSpPr/>
          <p:nvPr/>
        </p:nvSpPr>
        <p:spPr>
          <a:xfrm>
            <a:off x="6693408" y="302666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$92,930</a:t>
            </a:r>
            <a:endParaRPr lang="en-US" sz="2200" dirty="0"/>
          </a:p>
        </p:txBody>
      </p:sp>
      <p:sp>
        <p:nvSpPr>
          <p:cNvPr id="18" name="Text 16"/>
          <p:cNvSpPr/>
          <p:nvPr/>
        </p:nvSpPr>
        <p:spPr>
          <a:xfrm>
            <a:off x="9113368" y="302666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33% of the bill</a:t>
            </a:r>
            <a:endParaRPr lang="en-US" sz="1200" dirty="0"/>
          </a:p>
        </p:txBody>
      </p:sp>
      <p:sp>
        <p:nvSpPr>
          <p:cNvPr id="19" name="Shape 17"/>
          <p:cNvSpPr/>
          <p:nvPr/>
        </p:nvSpPr>
        <p:spPr>
          <a:xfrm>
            <a:off x="6492240" y="3657600"/>
            <a:ext cx="5242255" cy="914400"/>
          </a:xfrm>
          <a:prstGeom prst="roundRect">
            <a:avLst>
              <a:gd name="adj" fmla="val 6000"/>
            </a:avLst>
          </a:prstGeom>
          <a:solidFill>
            <a:srgbClr val="121B2D"/>
          </a:solidFill>
          <a:ln w="12700">
            <a:solidFill>
              <a:srgbClr val="23304A"/>
            </a:solidFill>
            <a:prstDash val="solid"/>
          </a:ln>
        </p:spPr>
      </p:sp>
      <p:sp>
        <p:nvSpPr>
          <p:cNvPr id="20" name="Text 18"/>
          <p:cNvSpPr/>
          <p:nvPr/>
        </p:nvSpPr>
        <p:spPr>
          <a:xfrm>
            <a:off x="6693408" y="3785616"/>
            <a:ext cx="4839919" cy="274320"/>
          </a:xfrm>
          <a:prstGeom prst="rect">
            <a:avLst/>
          </a:prstGeom>
          <a:noFill/>
          <a:ln/>
        </p:spPr>
        <p:txBody>
          <a:bodyPr wrap="square" lIns="0" tIns="0" rIns="0" bIns="0" rtlCol="0" anchor="ctr"/>
          <a:lstStyle/>
          <a:p>
            <a:pPr indent="0" marL="0">
              <a:buNone/>
            </a:pPr>
            <a:r>
              <a:rPr lang="en-US" sz="1500" b="1" dirty="0">
                <a:solidFill>
                  <a:srgbClr val="3DDC97"/>
                </a:solidFill>
                <a:latin typeface="Calibri" pitchFamily="34" charset="0"/>
                <a:ea typeface="Calibri" pitchFamily="34" charset="-122"/>
                <a:cs typeface="Calibri" pitchFamily="34" charset="-120"/>
              </a:rPr>
              <a:t>GCP</a:t>
            </a:r>
            <a:endParaRPr lang="en-US" sz="1500" dirty="0"/>
          </a:p>
        </p:txBody>
      </p:sp>
      <p:sp>
        <p:nvSpPr>
          <p:cNvPr id="21" name="Text 19"/>
          <p:cNvSpPr/>
          <p:nvPr/>
        </p:nvSpPr>
        <p:spPr>
          <a:xfrm>
            <a:off x="6693408" y="407822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$3,707</a:t>
            </a:r>
            <a:endParaRPr lang="en-US" sz="2200" dirty="0"/>
          </a:p>
        </p:txBody>
      </p:sp>
      <p:sp>
        <p:nvSpPr>
          <p:cNvPr id="22" name="Text 20"/>
          <p:cNvSpPr/>
          <p:nvPr/>
        </p:nvSpPr>
        <p:spPr>
          <a:xfrm>
            <a:off x="9113368" y="407822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1.3% of the bill</a:t>
            </a:r>
            <a:endParaRPr lang="en-US" sz="1200" dirty="0"/>
          </a:p>
        </p:txBody>
      </p:sp>
      <p:sp>
        <p:nvSpPr>
          <p:cNvPr id="23" name="Text 21"/>
          <p:cNvSpPr/>
          <p:nvPr/>
        </p:nvSpPr>
        <p:spPr>
          <a:xfrm>
            <a:off x="457200" y="4069080"/>
            <a:ext cx="5669280" cy="219456"/>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WHAT MOVED SINCE JANUARY</a:t>
            </a:r>
            <a:endParaRPr lang="en-US" sz="1200" dirty="0"/>
          </a:p>
        </p:txBody>
      </p:sp>
      <p:sp>
        <p:nvSpPr>
          <p:cNvPr id="24" name="Shape 22"/>
          <p:cNvSpPr/>
          <p:nvPr/>
        </p:nvSpPr>
        <p:spPr>
          <a:xfrm>
            <a:off x="457200" y="4443984"/>
            <a:ext cx="64008" cy="64008"/>
          </a:xfrm>
          <a:prstGeom prst="rect">
            <a:avLst/>
          </a:prstGeom>
          <a:solidFill>
            <a:srgbClr val="3DD9EB"/>
          </a:solidFill>
          <a:ln w="12700">
            <a:solidFill>
              <a:srgbClr val="3DD9EB"/>
            </a:solidFill>
            <a:prstDash val="solid"/>
          </a:ln>
        </p:spPr>
      </p:sp>
      <p:sp>
        <p:nvSpPr>
          <p:cNvPr id="25" name="Text 23"/>
          <p:cNvSpPr/>
          <p:nvPr/>
        </p:nvSpPr>
        <p:spPr>
          <a:xfrm>
            <a:off x="630936" y="4361688"/>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Azure added $29,927 a month, billed AI accounts for more than the whole increase.</a:t>
            </a:r>
            <a:endParaRPr lang="en-US" sz="1250" dirty="0"/>
          </a:p>
        </p:txBody>
      </p:sp>
      <p:sp>
        <p:nvSpPr>
          <p:cNvPr id="26" name="Shape 24"/>
          <p:cNvSpPr/>
          <p:nvPr/>
        </p:nvSpPr>
        <p:spPr>
          <a:xfrm>
            <a:off x="457200" y="5010912"/>
            <a:ext cx="64008" cy="64008"/>
          </a:xfrm>
          <a:prstGeom prst="rect">
            <a:avLst/>
          </a:prstGeom>
          <a:solidFill>
            <a:srgbClr val="3DD9EB"/>
          </a:solidFill>
          <a:ln w="12700">
            <a:solidFill>
              <a:srgbClr val="3DD9EB"/>
            </a:solidFill>
            <a:prstDash val="solid"/>
          </a:ln>
        </p:spPr>
      </p:sp>
      <p:sp>
        <p:nvSpPr>
          <p:cNvPr id="27" name="Text 25"/>
          <p:cNvSpPr/>
          <p:nvPr/>
        </p:nvSpPr>
        <p:spPr>
          <a:xfrm>
            <a:off x="630936" y="4928616"/>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AWS added $15,804 a month of usage, before Marketplace, which is reported separately.</a:t>
            </a:r>
            <a:endParaRPr lang="en-US" sz="1250" dirty="0"/>
          </a:p>
        </p:txBody>
      </p:sp>
      <p:sp>
        <p:nvSpPr>
          <p:cNvPr id="28" name="Shape 26"/>
          <p:cNvSpPr/>
          <p:nvPr/>
        </p:nvSpPr>
        <p:spPr>
          <a:xfrm>
            <a:off x="457200" y="5577840"/>
            <a:ext cx="64008" cy="64008"/>
          </a:xfrm>
          <a:prstGeom prst="rect">
            <a:avLst/>
          </a:prstGeom>
          <a:solidFill>
            <a:srgbClr val="3DD9EB"/>
          </a:solidFill>
          <a:ln w="12700">
            <a:solidFill>
              <a:srgbClr val="3DD9EB"/>
            </a:solidFill>
            <a:prstDash val="solid"/>
          </a:ln>
        </p:spPr>
      </p:sp>
      <p:sp>
        <p:nvSpPr>
          <p:cNvPr id="29" name="Text 27"/>
          <p:cNvSpPr/>
          <p:nvPr/>
        </p:nvSpPr>
        <p:spPr>
          <a:xfrm>
            <a:off x="630936" y="5495544"/>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GCP started from nothing in March and is now $3,707 a month, almost entirely Vertex AI.</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E0A030"/>
                </a:solidFill>
                <a:latin typeface="Calibri" pitchFamily="34" charset="0"/>
                <a:ea typeface="Calibri" pitchFamily="34" charset="-122"/>
                <a:cs typeface="Calibri" pitchFamily="34" charset="-120"/>
              </a:rPr>
              <a:t>WHERE THIS GOES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December is a $4.0M run-rate</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Seven months of actuals, carried forward at the pace those seven months actually set.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This is the base case: the pace measured across the full seven months, 3.2% a month. The next slide carries the faster May-July pace instead, that is where the $5.8M in the July briefing comes from, and it is the top of the range rather than the forecast.</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Monthly spend, actual January to July, projected to December</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DECEMBER RUN-RATE</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$4.01M</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+18% on today's $3.4M</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THE PACE BEING CARRIED</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+3.2%</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per month, measured Jan to Jul</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IF JULY SIMPLY REPEATS</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$3.40M</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the floor, no growth at all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6B7A"/>
                </a:solidFill>
                <a:latin typeface="Calibri" pitchFamily="34" charset="0"/>
                <a:ea typeface="Calibri" pitchFamily="34" charset="-122"/>
                <a:cs typeface="Calibri" pitchFamily="34" charset="-120"/>
              </a:rPr>
              <a:t>THE RISK CASE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400" b="1" dirty="0">
                <a:solidFill>
                  <a:srgbClr val="F4F7FB"/>
                </a:solidFill>
                <a:latin typeface="Calibri" pitchFamily="34" charset="0"/>
                <a:ea typeface="Calibri" pitchFamily="34" charset="-122"/>
                <a:cs typeface="Calibri" pitchFamily="34" charset="-120"/>
              </a:rPr>
              <a:t>If the May-July pace returns: $5.8M</a:t>
            </a:r>
            <a:endParaRPr lang="en-US" sz="24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The same arithmetic as the previous slide, carried at the faster rate the last three months set.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The July briefing's number, recomputed from today's July actual. It is the upper bound, not the forecast: it assumes Azure resumes 13.3% a month, a rate seen over two months only. August and September decide which line we are on.</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Monthly spend to December, on both paces</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DECEMBER RUN-RATE</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$5.78M</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+70% on today's $3.4M</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AGAINST THE BASE CASE</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+$1.77M</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a year more than the Jan-Jul pace</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EXTRA CASH, AUG-DEC</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$400,465</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if the faster pace resumes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2F8CFF">
              <a:alpha val="8000"/>
            </a:srgbClr>
          </a:solidFill>
          <a:ln w="12700">
            <a:solidFill>
              <a:srgbClr val="2F8CFF">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457200" y="2342896"/>
            <a:ext cx="8229600" cy="274320"/>
          </a:xfrm>
          <a:prstGeom prst="rect">
            <a:avLst/>
          </a:prstGeom>
          <a:noFill/>
          <a:ln/>
        </p:spPr>
        <p:txBody>
          <a:bodyPr wrap="square" lIns="0" tIns="0" rIns="0" bIns="0" rtlCol="0" anchor="ctr"/>
          <a:lstStyle/>
          <a:p>
            <a:pPr indent="0" marL="0">
              <a:buNone/>
            </a:pPr>
            <a:r>
              <a:rPr lang="en-US" sz="1300" b="1" spc="300" kern="0" dirty="0">
                <a:solidFill>
                  <a:srgbClr val="2F8CFF"/>
                </a:solidFill>
                <a:latin typeface="Calibri" pitchFamily="34" charset="0"/>
                <a:ea typeface="Calibri" pitchFamily="34" charset="-122"/>
                <a:cs typeface="Calibri" pitchFamily="34" charset="-120"/>
              </a:rPr>
              <a:t>PART ONE</a:t>
            </a:r>
            <a:endParaRPr lang="en-US" sz="1300" dirty="0"/>
          </a:p>
        </p:txBody>
      </p:sp>
      <p:sp>
        <p:nvSpPr>
          <p:cNvPr id="6" name="Text 4"/>
          <p:cNvSpPr/>
          <p:nvPr/>
        </p:nvSpPr>
        <p:spPr>
          <a:xfrm>
            <a:off x="457200" y="2690368"/>
            <a:ext cx="8412480" cy="1239520"/>
          </a:xfrm>
          <a:prstGeom prst="rect">
            <a:avLst/>
          </a:prstGeom>
          <a:noFill/>
          <a:ln/>
        </p:spPr>
        <p:txBody>
          <a:bodyPr wrap="square" lIns="0" tIns="0" rIns="0" bIns="0" rtlCol="0" anchor="ctr"/>
          <a:lstStyle/>
          <a:p>
            <a:pPr indent="0" marL="0">
              <a:buNone/>
            </a:pPr>
            <a:r>
              <a:rPr lang="en-US" sz="4000" b="1" dirty="0">
                <a:solidFill>
                  <a:srgbClr val="F4F7FB"/>
                </a:solidFill>
                <a:latin typeface="Calibri" pitchFamily="34" charset="0"/>
                <a:ea typeface="Calibri" pitchFamily="34" charset="-122"/>
                <a:cs typeface="Calibri" pitchFamily="34" charset="-120"/>
              </a:rPr>
              <a:t>What the money is doing</a:t>
            </a:r>
            <a:endParaRPr lang="en-US" sz="4000" dirty="0"/>
          </a:p>
        </p:txBody>
      </p:sp>
      <p:sp>
        <p:nvSpPr>
          <p:cNvPr id="7" name="Text 5"/>
          <p:cNvSpPr/>
          <p:nvPr/>
        </p:nvSpPr>
        <p:spPr>
          <a:xfrm>
            <a:off x="457200" y="4057904"/>
            <a:ext cx="7863840" cy="457200"/>
          </a:xfrm>
          <a:prstGeom prst="rect">
            <a:avLst/>
          </a:prstGeom>
          <a:noFill/>
          <a:ln/>
        </p:spPr>
        <p:txBody>
          <a:bodyPr wrap="square" lIns="0" tIns="0" rIns="0" bIns="0" rtlCol="0" anchor="t"/>
          <a:lstStyle/>
          <a:p>
            <a:pPr indent="0" marL="0">
              <a:buNone/>
            </a:pPr>
            <a:r>
              <a:rPr lang="en-US" sz="1500" dirty="0">
                <a:solidFill>
                  <a:srgbClr val="91A0B7"/>
                </a:solidFill>
                <a:latin typeface="Calibri" pitchFamily="34" charset="0"/>
                <a:ea typeface="Calibri" pitchFamily="34" charset="-122"/>
                <a:cs typeface="Calibri" pitchFamily="34" charset="-120"/>
              </a:rPr>
              <a:t>Where it sits, where it grew, and one number that did not add up</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2F8CFF"/>
                </a:solidFill>
                <a:latin typeface="Calibri" pitchFamily="34" charset="0"/>
                <a:ea typeface="Calibri" pitchFamily="34" charset="-122"/>
                <a:cs typeface="Calibri" pitchFamily="34" charset="-120"/>
              </a:rPr>
              <a:t>AZURE / THE ESTATE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211" b="1" dirty="0">
                <a:solidFill>
                  <a:srgbClr val="F4F7FB"/>
                </a:solidFill>
                <a:latin typeface="Calibri" pitchFamily="34" charset="0"/>
                <a:ea typeface="Calibri" pitchFamily="34" charset="-122"/>
                <a:cs typeface="Calibri" pitchFamily="34" charset="-120"/>
              </a:rPr>
              <a:t>Azure grew 19%. Its AI bill grew 453%.</a:t>
            </a:r>
            <a:endParaRPr lang="en-US" sz="2211"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Metered consumption, January to July. Marketplace and the Databricks prepayment are excluded so the line reads as usage.</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Azure itself is growing modestly. What is changing underneath it is the mix: in January AI was one dollar in twenty of the Azure bill, in July it is one in four. The total is not the story, the composition is.</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Monthly Azure consumption, Jan-Jul 2026</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AZURE, JAN-JUL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$1.12M</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2F8CFF"/>
                </a:solidFill>
                <a:latin typeface="Calibri" pitchFamily="34" charset="0"/>
                <a:ea typeface="Calibri" pitchFamily="34" charset="-122"/>
                <a:cs typeface="Calibri" pitchFamily="34" charset="-120"/>
              </a:rPr>
              <a:t>+19% Jan to Jul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BILLED AI, JAN-JUL</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$153,779</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+453% Jan to Jul</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AI SHARE OF AZURE</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25.6%</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was 5.5% in January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THE SHIFT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471" b="1" dirty="0">
                <a:solidFill>
                  <a:srgbClr val="F4F7FB"/>
                </a:solidFill>
                <a:latin typeface="Calibri" pitchFamily="34" charset="0"/>
                <a:ea typeface="Calibri" pitchFamily="34" charset="-122"/>
                <a:cs typeface="Calibri" pitchFamily="34" charset="-120"/>
              </a:rPr>
              <a:t>AI went from 4% of the bill to 27%</a:t>
            </a:r>
            <a:endParaRPr lang="en-US" sz="2471"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Billed AI across all three clouds. Excludes the Databricks pre-purchase, which bills at $0.</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Five platforms, three clouds, bought separately by different teams. This is the slide the rest of the deck is about: the total bill is manageable, the rate at which AI is taking it over is not, and today nothing sits between a team and a provider.</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Billed AI spend by platform, Jan-Jul 2026</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BILLED AI, JULY</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$75,439</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was $8,640 in January</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SHARE OF THE CLOUD BILL</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26.6%</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was 3.7% in January</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BILLED AI, JAN-JUL</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$199,531</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+773% Jan to Jul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AZURE / AI DEEP DIVE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545" b="1" dirty="0">
                <a:solidFill>
                  <a:srgbClr val="F4F7FB"/>
                </a:solidFill>
                <a:latin typeface="Calibri" pitchFamily="34" charset="0"/>
                <a:ea typeface="Calibri" pitchFamily="34" charset="-122"/>
                <a:cs typeface="Calibri" pitchFamily="34" charset="-120"/>
              </a:rPr>
              <a:t>Most of the AI bill is not models</a:t>
            </a:r>
            <a:endParaRPr lang="en-US" sz="2545"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May-Jul invoiced, the only window with project-level meter splits. $152,402 of AI meter spend across tagged projects.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Not automatically wrong, inference needs somewhere to run, but it is the part of the AI bill that right-sizing can actually move, and it is the part nobody is looking at.</a:t>
            </a:r>
            <a:endParaRPr lang="en-US" sz="1200" dirty="0"/>
          </a:p>
        </p:txBody>
      </p:sp>
      <p:sp>
        <p:nvSpPr>
          <p:cNvPr id="8" name="Text 6"/>
          <p:cNvSpPr/>
          <p:nvPr/>
        </p:nvSpPr>
        <p:spPr>
          <a:xfrm>
            <a:off x="457200" y="1234440"/>
            <a:ext cx="777240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AI spend by project</a:t>
            </a:r>
            <a:endParaRPr lang="en-US" sz="1500" dirty="0"/>
          </a:p>
        </p:txBody>
      </p:sp>
      <p:sp>
        <p:nvSpPr>
          <p:cNvPr id="9" name="Text 7"/>
          <p:cNvSpPr/>
          <p:nvPr/>
        </p:nvSpPr>
        <p:spPr>
          <a:xfrm>
            <a:off x="457200" y="1508760"/>
            <a:ext cx="7772400" cy="219456"/>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Three-month totals, with the infrastructure share of each tag</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64792"/>
          <a:ext cx="7772400" cy="914400"/>
        </p:xfrm>
        <a:graphic>
          <a:graphicData uri="http://schemas.openxmlformats.org/drawingml/2006/table">
            <a:tbl>
              <a:tblPr/>
              <a:tblGrid>
                <a:gridCol w="1828800"/>
                <a:gridCol w="1463040"/>
                <a:gridCol w="1188720"/>
                <a:gridCol w="329184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Project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AI meter spend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Share of AI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Largest driver inside the tag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DataCloud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$43,840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28.8%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Azure Databricks 47.3%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BI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$28,358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18.6%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F6B7A"/>
                          </a:solidFill>
                          <a:latin typeface="Calibri" pitchFamily="34" charset="0"/>
                          <a:ea typeface="Calibri" pitchFamily="34" charset="-122"/>
                          <a:cs typeface="Calibri" pitchFamily="34" charset="-120"/>
                        </a:rPr>
                        <a:t>Infrastructure 69.3%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Solugen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$23,855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15.7%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Foundry Models 61.1%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AIFactory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$22,374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14.7%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F6B7A"/>
                          </a:solidFill>
                          <a:latin typeface="Calibri" pitchFamily="34" charset="0"/>
                          <a:ea typeface="Calibri" pitchFamily="34" charset="-122"/>
                          <a:cs typeface="Calibri" pitchFamily="34" charset="-120"/>
                        </a:rPr>
                        <a:t>Infrastructure 64.8%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Actuary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$13,887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9.1%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Azure Databricks 55.3%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Research</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$12,090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7.9%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F6B7A"/>
                          </a:solidFill>
                          <a:latin typeface="Calibri" pitchFamily="34" charset="0"/>
                          <a:ea typeface="Calibri" pitchFamily="34" charset="-122"/>
                          <a:cs typeface="Calibri" pitchFamily="34" charset="-120"/>
                        </a:rPr>
                        <a:t>Infrastructure 55.8%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bl>
          </a:graphicData>
        </a:graphic>
      </p:graphicFrame>
      <p:sp>
        <p:nvSpPr>
          <p:cNvPr id="11" name="Shape 8"/>
          <p:cNvSpPr/>
          <p:nvPr/>
        </p:nvSpPr>
        <p:spPr>
          <a:xfrm>
            <a:off x="8595360" y="1234440"/>
            <a:ext cx="3139135" cy="1097280"/>
          </a:xfrm>
          <a:prstGeom prst="roundRect">
            <a:avLst>
              <a:gd name="adj" fmla="val 5000"/>
            </a:avLst>
          </a:prstGeom>
          <a:solidFill>
            <a:srgbClr val="121B2D"/>
          </a:solidFill>
          <a:ln w="12700">
            <a:solidFill>
              <a:srgbClr val="23304A"/>
            </a:solidFill>
            <a:prstDash val="solid"/>
          </a:ln>
        </p:spPr>
      </p:sp>
      <p:sp>
        <p:nvSpPr>
          <p:cNvPr id="12" name="Text 9"/>
          <p:cNvSpPr/>
          <p:nvPr/>
        </p:nvSpPr>
        <p:spPr>
          <a:xfrm>
            <a:off x="8796528" y="1325880"/>
            <a:ext cx="273679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THREE OF THE TOP SIX</a:t>
            </a:r>
            <a:endParaRPr lang="en-US" sz="1200" dirty="0"/>
          </a:p>
        </p:txBody>
      </p:sp>
      <p:sp>
        <p:nvSpPr>
          <p:cNvPr id="13" name="Text 10"/>
          <p:cNvSpPr/>
          <p:nvPr/>
        </p:nvSpPr>
        <p:spPr>
          <a:xfrm>
            <a:off x="8796528" y="1527048"/>
            <a:ext cx="273679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&gt; 50%</a:t>
            </a:r>
            <a:endParaRPr lang="en-US" sz="2800" dirty="0"/>
          </a:p>
        </p:txBody>
      </p:sp>
      <p:sp>
        <p:nvSpPr>
          <p:cNvPr id="14" name="Text 11"/>
          <p:cNvSpPr/>
          <p:nvPr/>
        </p:nvSpPr>
        <p:spPr>
          <a:xfrm>
            <a:off x="8796528" y="1929384"/>
            <a:ext cx="273679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spend more on infrastructure than on models</a:t>
            </a:r>
            <a:endParaRPr lang="en-US" sz="1200" dirty="0"/>
          </a:p>
        </p:txBody>
      </p:sp>
      <p:sp>
        <p:nvSpPr>
          <p:cNvPr id="15" name="Shape 12"/>
          <p:cNvSpPr/>
          <p:nvPr/>
        </p:nvSpPr>
        <p:spPr>
          <a:xfrm>
            <a:off x="8595360" y="2459736"/>
            <a:ext cx="3139135" cy="1097280"/>
          </a:xfrm>
          <a:prstGeom prst="roundRect">
            <a:avLst>
              <a:gd name="adj" fmla="val 5000"/>
            </a:avLst>
          </a:prstGeom>
          <a:solidFill>
            <a:srgbClr val="121B2D"/>
          </a:solidFill>
          <a:ln w="12700">
            <a:solidFill>
              <a:srgbClr val="23304A"/>
            </a:solidFill>
            <a:prstDash val="solid"/>
          </a:ln>
        </p:spPr>
      </p:sp>
      <p:sp>
        <p:nvSpPr>
          <p:cNvPr id="16" name="Text 13"/>
          <p:cNvSpPr/>
          <p:nvPr/>
        </p:nvSpPr>
        <p:spPr>
          <a:xfrm>
            <a:off x="8796528" y="2551176"/>
            <a:ext cx="273679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AIFACTORY TAG</a:t>
            </a:r>
            <a:endParaRPr lang="en-US" sz="1200" dirty="0"/>
          </a:p>
        </p:txBody>
      </p:sp>
      <p:sp>
        <p:nvSpPr>
          <p:cNvPr id="17" name="Text 14"/>
          <p:cNvSpPr/>
          <p:nvPr/>
        </p:nvSpPr>
        <p:spPr>
          <a:xfrm>
            <a:off x="8796528" y="2752344"/>
            <a:ext cx="273679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$63,609</a:t>
            </a:r>
            <a:endParaRPr lang="en-US" sz="2800" dirty="0"/>
          </a:p>
        </p:txBody>
      </p:sp>
      <p:sp>
        <p:nvSpPr>
          <p:cNvPr id="18" name="Text 15"/>
          <p:cNvSpPr/>
          <p:nvPr/>
        </p:nvSpPr>
        <p:spPr>
          <a:xfrm>
            <a:off x="8796528" y="3154680"/>
            <a:ext cx="2736799" cy="356616"/>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of which 64.8% is infrastructure</a:t>
            </a:r>
            <a:endParaRPr lang="en-US" sz="1200" dirty="0"/>
          </a:p>
        </p:txBody>
      </p:sp>
      <p:sp>
        <p:nvSpPr>
          <p:cNvPr id="19" name="Shape 16"/>
          <p:cNvSpPr/>
          <p:nvPr/>
        </p:nvSpPr>
        <p:spPr>
          <a:xfrm>
            <a:off x="8595360" y="3685032"/>
            <a:ext cx="3139135" cy="1097280"/>
          </a:xfrm>
          <a:prstGeom prst="roundRect">
            <a:avLst>
              <a:gd name="adj" fmla="val 5000"/>
            </a:avLst>
          </a:prstGeom>
          <a:solidFill>
            <a:srgbClr val="121B2D"/>
          </a:solidFill>
          <a:ln w="12700">
            <a:solidFill>
              <a:srgbClr val="23304A"/>
            </a:solidFill>
            <a:prstDash val="solid"/>
          </a:ln>
        </p:spPr>
      </p:sp>
      <p:sp>
        <p:nvSpPr>
          <p:cNvPr id="20" name="Text 17"/>
          <p:cNvSpPr/>
          <p:nvPr/>
        </p:nvSpPr>
        <p:spPr>
          <a:xfrm>
            <a:off x="8796528" y="3776472"/>
            <a:ext cx="273679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SINGLE LINE</a:t>
            </a:r>
            <a:endParaRPr lang="en-US" sz="1200" dirty="0"/>
          </a:p>
        </p:txBody>
      </p:sp>
      <p:sp>
        <p:nvSpPr>
          <p:cNvPr id="21" name="Text 18"/>
          <p:cNvSpPr/>
          <p:nvPr/>
        </p:nvSpPr>
        <p:spPr>
          <a:xfrm>
            <a:off x="8796528" y="3977640"/>
            <a:ext cx="273679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$17,311</a:t>
            </a:r>
            <a:endParaRPr lang="en-US" sz="2800" dirty="0"/>
          </a:p>
        </p:txBody>
      </p:sp>
      <p:sp>
        <p:nvSpPr>
          <p:cNvPr id="22" name="Text 19"/>
          <p:cNvSpPr/>
          <p:nvPr/>
        </p:nvSpPr>
        <p:spPr>
          <a:xfrm>
            <a:off x="8796528" y="4379976"/>
            <a:ext cx="273679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API Management, ahead of Foundry Models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9F43"/>
                </a:solidFill>
                <a:latin typeface="Calibri" pitchFamily="34" charset="0"/>
                <a:ea typeface="Calibri" pitchFamily="34" charset="-122"/>
                <a:cs typeface="Calibri" pitchFamily="34" charset="-120"/>
              </a:rPr>
              <a:t>AWS / THE $16,100 QUESTION</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400" b="1" dirty="0">
                <a:solidFill>
                  <a:srgbClr val="F4F7FB"/>
                </a:solidFill>
                <a:latin typeface="Calibri" pitchFamily="34" charset="0"/>
                <a:ea typeface="Calibri" pitchFamily="34" charset="-122"/>
                <a:cs typeface="Calibri" pitchFamily="34" charset="-120"/>
              </a:rPr>
              <a:t>The undocumented credit, identified</a:t>
            </a:r>
            <a:endParaRPr lang="en-US" sz="24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v33 flagged a $16,100.27 charge on ai-factory-dev that was reversed and never itemised. Cross-referencing the operational data identifies it exactly.</a:t>
            </a:r>
            <a:endParaRPr lang="en-US" sz="1200" dirty="0"/>
          </a:p>
        </p:txBody>
      </p:sp>
      <p:sp>
        <p:nvSpPr>
          <p:cNvPr id="7" name="Text 5"/>
          <p:cNvSpPr/>
          <p:nvPr/>
        </p:nvSpPr>
        <p:spPr>
          <a:xfrm>
            <a:off x="457200" y="6172200"/>
            <a:ext cx="11277295" cy="576072"/>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The reversed charge is Claude Opus 4.8 in full plus part of Opus 4.6, on ai-factory-dev, and the operational deck names the reason: a MAP contract credit. v33 concluded it was 'not a discount on Claude consumption'; the line-level match says otherwise. Worth confirming with Comm-IT before it is treated as settled, but it is no longer an open mystery.</a:t>
            </a:r>
            <a:endParaRPr lang="en-US" sz="1200" dirty="0"/>
          </a:p>
        </p:txBody>
      </p:sp>
      <p:sp>
        <p:nvSpPr>
          <p:cNvPr id="8" name="Shape 6"/>
          <p:cNvSpPr/>
          <p:nvPr/>
        </p:nvSpPr>
        <p:spPr>
          <a:xfrm>
            <a:off x="457200" y="1234440"/>
            <a:ext cx="3423818" cy="1188720"/>
          </a:xfrm>
          <a:prstGeom prst="roundRect">
            <a:avLst>
              <a:gd name="adj" fmla="val 4615"/>
            </a:avLst>
          </a:prstGeom>
          <a:solidFill>
            <a:srgbClr val="121B2D"/>
          </a:solidFill>
          <a:ln w="12700">
            <a:solidFill>
              <a:srgbClr val="F4F7FB"/>
            </a:solidFill>
            <a:prstDash val="solid"/>
          </a:ln>
        </p:spPr>
      </p:sp>
      <p:sp>
        <p:nvSpPr>
          <p:cNvPr id="9" name="Text 7"/>
          <p:cNvSpPr/>
          <p:nvPr/>
        </p:nvSpPr>
        <p:spPr>
          <a:xfrm>
            <a:off x="658368" y="1380744"/>
            <a:ext cx="302148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REGULAR AWS USAGE, JULY</a:t>
            </a:r>
            <a:endParaRPr lang="en-US" sz="1200" dirty="0"/>
          </a:p>
        </p:txBody>
      </p:sp>
      <p:sp>
        <p:nvSpPr>
          <p:cNvPr id="10" name="Text 8"/>
          <p:cNvSpPr/>
          <p:nvPr/>
        </p:nvSpPr>
        <p:spPr>
          <a:xfrm>
            <a:off x="658368" y="1655064"/>
            <a:ext cx="3021482" cy="457200"/>
          </a:xfrm>
          <a:prstGeom prst="rect">
            <a:avLst/>
          </a:prstGeom>
          <a:noFill/>
          <a:ln/>
        </p:spPr>
        <p:txBody>
          <a:bodyPr wrap="square" lIns="0" tIns="0" rIns="0" bIns="0" rtlCol="0" anchor="ctr"/>
          <a:lstStyle/>
          <a:p>
            <a:pPr indent="0" marL="0">
              <a:buNone/>
            </a:pPr>
            <a:r>
              <a:rPr lang="en-US" sz="3000" b="1" dirty="0">
                <a:solidFill>
                  <a:srgbClr val="F4F7FB"/>
                </a:solidFill>
                <a:latin typeface="Calibri" pitchFamily="34" charset="0"/>
                <a:ea typeface="Calibri" pitchFamily="34" charset="-122"/>
                <a:cs typeface="Calibri" pitchFamily="34" charset="-120"/>
              </a:rPr>
              <a:t>$92,930</a:t>
            </a:r>
            <a:endParaRPr lang="en-US" sz="3000" dirty="0"/>
          </a:p>
        </p:txBody>
      </p:sp>
      <p:sp>
        <p:nvSpPr>
          <p:cNvPr id="11" name="Text 9"/>
          <p:cNvSpPr/>
          <p:nvPr/>
        </p:nvSpPr>
        <p:spPr>
          <a:xfrm>
            <a:off x="658368" y="2093976"/>
            <a:ext cx="3021482" cy="237744"/>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service usage as metered</a:t>
            </a:r>
            <a:endParaRPr lang="en-US" sz="1200" dirty="0"/>
          </a:p>
        </p:txBody>
      </p:sp>
      <p:sp>
        <p:nvSpPr>
          <p:cNvPr id="12" name="Shape 10"/>
          <p:cNvSpPr/>
          <p:nvPr/>
        </p:nvSpPr>
        <p:spPr>
          <a:xfrm>
            <a:off x="4383938" y="1234440"/>
            <a:ext cx="3423818" cy="1188720"/>
          </a:xfrm>
          <a:prstGeom prst="roundRect">
            <a:avLst>
              <a:gd name="adj" fmla="val 4615"/>
            </a:avLst>
          </a:prstGeom>
          <a:solidFill>
            <a:srgbClr val="121B2D"/>
          </a:solidFill>
          <a:ln w="12700">
            <a:solidFill>
              <a:srgbClr val="FF9F43"/>
            </a:solidFill>
            <a:prstDash val="solid"/>
          </a:ln>
        </p:spPr>
      </p:sp>
      <p:sp>
        <p:nvSpPr>
          <p:cNvPr id="13" name="Text 11"/>
          <p:cNvSpPr/>
          <p:nvPr/>
        </p:nvSpPr>
        <p:spPr>
          <a:xfrm>
            <a:off x="4585106" y="1380744"/>
            <a:ext cx="302148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CREDIT APPLIED</a:t>
            </a:r>
            <a:endParaRPr lang="en-US" sz="1200" dirty="0"/>
          </a:p>
        </p:txBody>
      </p:sp>
      <p:sp>
        <p:nvSpPr>
          <p:cNvPr id="14" name="Text 12"/>
          <p:cNvSpPr/>
          <p:nvPr/>
        </p:nvSpPr>
        <p:spPr>
          <a:xfrm>
            <a:off x="4585106" y="1655064"/>
            <a:ext cx="3021482" cy="457200"/>
          </a:xfrm>
          <a:prstGeom prst="rect">
            <a:avLst/>
          </a:prstGeom>
          <a:noFill/>
          <a:ln/>
        </p:spPr>
        <p:txBody>
          <a:bodyPr wrap="square" lIns="0" tIns="0" rIns="0" bIns="0" rtlCol="0" anchor="ctr"/>
          <a:lstStyle/>
          <a:p>
            <a:pPr indent="0" marL="0">
              <a:buNone/>
            </a:pPr>
            <a:r>
              <a:rPr lang="en-US" sz="3000" b="1" dirty="0">
                <a:solidFill>
                  <a:srgbClr val="FF9F43"/>
                </a:solidFill>
                <a:latin typeface="Calibri" pitchFamily="34" charset="0"/>
                <a:ea typeface="Calibri" pitchFamily="34" charset="-122"/>
                <a:cs typeface="Calibri" pitchFamily="34" charset="-120"/>
              </a:rPr>
              <a:t>$16,100</a:t>
            </a:r>
            <a:endParaRPr lang="en-US" sz="3000" dirty="0"/>
          </a:p>
        </p:txBody>
      </p:sp>
      <p:sp>
        <p:nvSpPr>
          <p:cNvPr id="15" name="Text 13"/>
          <p:cNvSpPr/>
          <p:nvPr/>
        </p:nvSpPr>
        <p:spPr>
          <a:xfrm>
            <a:off x="4585106" y="2093976"/>
            <a:ext cx="3021482" cy="237744"/>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MAP contract credit, ai-factory-dev</a:t>
            </a:r>
            <a:endParaRPr lang="en-US" sz="1200" dirty="0"/>
          </a:p>
        </p:txBody>
      </p:sp>
      <p:sp>
        <p:nvSpPr>
          <p:cNvPr id="16" name="Text 14"/>
          <p:cNvSpPr/>
          <p:nvPr/>
        </p:nvSpPr>
        <p:spPr>
          <a:xfrm>
            <a:off x="3881018" y="1600200"/>
            <a:ext cx="502920" cy="457200"/>
          </a:xfrm>
          <a:prstGeom prst="rect">
            <a:avLst/>
          </a:prstGeom>
          <a:noFill/>
          <a:ln/>
        </p:spPr>
        <p:txBody>
          <a:bodyPr wrap="square" lIns="0" tIns="0" rIns="0" bIns="0" rtlCol="0" anchor="ctr"/>
          <a:lstStyle/>
          <a:p>
            <a:pPr algn="ctr" indent="0" marL="0">
              <a:buNone/>
            </a:pPr>
            <a:r>
              <a:rPr lang="en-US" sz="2400" b="1" dirty="0">
                <a:solidFill>
                  <a:srgbClr val="91A0B7"/>
                </a:solidFill>
                <a:latin typeface="Calibri" pitchFamily="34" charset="0"/>
                <a:ea typeface="Calibri" pitchFamily="34" charset="-122"/>
                <a:cs typeface="Calibri" pitchFamily="34" charset="-120"/>
              </a:rPr>
              <a:t>-</a:t>
            </a:r>
            <a:endParaRPr lang="en-US" sz="2400" dirty="0"/>
          </a:p>
        </p:txBody>
      </p:sp>
      <p:sp>
        <p:nvSpPr>
          <p:cNvPr id="17" name="Shape 15"/>
          <p:cNvSpPr/>
          <p:nvPr/>
        </p:nvSpPr>
        <p:spPr>
          <a:xfrm>
            <a:off x="8310677" y="1234440"/>
            <a:ext cx="3423818" cy="1188720"/>
          </a:xfrm>
          <a:prstGeom prst="roundRect">
            <a:avLst>
              <a:gd name="adj" fmla="val 4615"/>
            </a:avLst>
          </a:prstGeom>
          <a:solidFill>
            <a:srgbClr val="121B2D"/>
          </a:solidFill>
          <a:ln w="12700">
            <a:solidFill>
              <a:srgbClr val="3DDC97"/>
            </a:solidFill>
            <a:prstDash val="solid"/>
          </a:ln>
        </p:spPr>
      </p:sp>
      <p:sp>
        <p:nvSpPr>
          <p:cNvPr id="18" name="Text 16"/>
          <p:cNvSpPr/>
          <p:nvPr/>
        </p:nvSpPr>
        <p:spPr>
          <a:xfrm>
            <a:off x="8511845" y="1380744"/>
            <a:ext cx="302148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INVOICED BY COMM-IT</a:t>
            </a:r>
            <a:endParaRPr lang="en-US" sz="1200" dirty="0"/>
          </a:p>
        </p:txBody>
      </p:sp>
      <p:sp>
        <p:nvSpPr>
          <p:cNvPr id="19" name="Text 17"/>
          <p:cNvSpPr/>
          <p:nvPr/>
        </p:nvSpPr>
        <p:spPr>
          <a:xfrm>
            <a:off x="8511845" y="1655064"/>
            <a:ext cx="3021482" cy="457200"/>
          </a:xfrm>
          <a:prstGeom prst="rect">
            <a:avLst/>
          </a:prstGeom>
          <a:noFill/>
          <a:ln/>
        </p:spPr>
        <p:txBody>
          <a:bodyPr wrap="square" lIns="0" tIns="0" rIns="0" bIns="0" rtlCol="0" anchor="ctr"/>
          <a:lstStyle/>
          <a:p>
            <a:pPr indent="0" marL="0">
              <a:buNone/>
            </a:pPr>
            <a:r>
              <a:rPr lang="en-US" sz="3000" b="1" dirty="0">
                <a:solidFill>
                  <a:srgbClr val="3DDC97"/>
                </a:solidFill>
                <a:latin typeface="Calibri" pitchFamily="34" charset="0"/>
                <a:ea typeface="Calibri" pitchFamily="34" charset="-122"/>
                <a:cs typeface="Calibri" pitchFamily="34" charset="-120"/>
              </a:rPr>
              <a:t>$76,830</a:t>
            </a:r>
            <a:endParaRPr lang="en-US" sz="3000" dirty="0"/>
          </a:p>
        </p:txBody>
      </p:sp>
      <p:sp>
        <p:nvSpPr>
          <p:cNvPr id="20" name="Text 18"/>
          <p:cNvSpPr/>
          <p:nvPr/>
        </p:nvSpPr>
        <p:spPr>
          <a:xfrm>
            <a:off x="8511845" y="2093976"/>
            <a:ext cx="3021482" cy="237744"/>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what we actually paid</a:t>
            </a:r>
            <a:endParaRPr lang="en-US" sz="1200" dirty="0"/>
          </a:p>
        </p:txBody>
      </p:sp>
      <p:sp>
        <p:nvSpPr>
          <p:cNvPr id="21" name="Text 19"/>
          <p:cNvSpPr/>
          <p:nvPr/>
        </p:nvSpPr>
        <p:spPr>
          <a:xfrm>
            <a:off x="7807757" y="1600200"/>
            <a:ext cx="502920" cy="457200"/>
          </a:xfrm>
          <a:prstGeom prst="rect">
            <a:avLst/>
          </a:prstGeom>
          <a:noFill/>
          <a:ln/>
        </p:spPr>
        <p:txBody>
          <a:bodyPr wrap="square" lIns="0" tIns="0" rIns="0" bIns="0" rtlCol="0" anchor="ctr"/>
          <a:lstStyle/>
          <a:p>
            <a:pPr algn="ctr" indent="0" marL="0">
              <a:buNone/>
            </a:pPr>
            <a:r>
              <a:rPr lang="en-US" sz="2400" b="1" dirty="0">
                <a:solidFill>
                  <a:srgbClr val="91A0B7"/>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457200" y="2834640"/>
            <a:ext cx="11277295"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Where the $16,100.27 sits: July Bedrock consumption, two sources</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3145536"/>
          <a:ext cx="11274552" cy="914400"/>
        </p:xfrm>
        <a:graphic>
          <a:graphicData uri="http://schemas.openxmlformats.org/drawingml/2006/table">
            <a:tbl>
              <a:tblPr/>
              <a:tblGrid>
                <a:gridCol w="2926080"/>
                <a:gridCol w="2103120"/>
                <a:gridCol w="1920240"/>
                <a:gridCol w="1554480"/>
                <a:gridCol w="2770632"/>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Claude model, July 2026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Operational data (gross)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v33 CIO deck (net)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Difference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Claude Opus 4.8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$11,361.86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F9F43"/>
                          </a:solidFill>
                          <a:latin typeface="Calibri" pitchFamily="34" charset="0"/>
                          <a:ea typeface="Calibri" pitchFamily="34" charset="-122"/>
                          <a:cs typeface="Calibri" pitchFamily="34" charset="-120"/>
                        </a:rPr>
                        <a:t>$11,361.86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entire line reversed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Claude Opus 4.6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$9,873.22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$5,134.81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F9F43"/>
                          </a:solidFill>
                          <a:latin typeface="Calibri" pitchFamily="34" charset="0"/>
                          <a:ea typeface="Calibri" pitchFamily="34" charset="-122"/>
                          <a:cs typeface="Calibri" pitchFamily="34" charset="-120"/>
                        </a:rPr>
                        <a:t>$4,738.41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part of the line reversed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Opus 4.7, Opus 5, Sonnet 4.6, Haiku 4.5, Sonnet 4.5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$3,362.97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$3,362.97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91A0B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identical in both</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$25,288.33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$9,188.06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3DDC97"/>
                          </a:solidFill>
                          <a:latin typeface="Calibri" pitchFamily="34" charset="0"/>
                          <a:ea typeface="Calibri" pitchFamily="34" charset="-122"/>
                          <a:cs typeface="Calibri" pitchFamily="34" charset="-120"/>
                        </a:rPr>
                        <a:t>$16,100.27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3DDC97"/>
                          </a:solidFill>
                          <a:latin typeface="Calibri" pitchFamily="34" charset="0"/>
                          <a:ea typeface="Calibri" pitchFamily="34" charset="-122"/>
                          <a:cs typeface="Calibri" pitchFamily="34" charset="-120"/>
                        </a:rPr>
                        <a:t>matches the credit to the cent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bl>
          </a:graphicData>
        </a:graphic>
      </p:graphicFrame>
      <p:sp>
        <p:nvSpPr>
          <p:cNvPr id="24" name="Shape 21"/>
          <p:cNvSpPr/>
          <p:nvPr/>
        </p:nvSpPr>
        <p:spPr>
          <a:xfrm>
            <a:off x="457200" y="5074920"/>
            <a:ext cx="3606698" cy="1078992"/>
          </a:xfrm>
          <a:prstGeom prst="roundRect">
            <a:avLst>
              <a:gd name="adj" fmla="val 5085"/>
            </a:avLst>
          </a:prstGeom>
          <a:solidFill>
            <a:srgbClr val="121B2D"/>
          </a:solidFill>
          <a:ln w="12700">
            <a:solidFill>
              <a:srgbClr val="23304A"/>
            </a:solidFill>
            <a:prstDash val="solid"/>
          </a:ln>
        </p:spPr>
      </p:sp>
      <p:sp>
        <p:nvSpPr>
          <p:cNvPr id="25" name="Text 22"/>
          <p:cNvSpPr/>
          <p:nvPr/>
        </p:nvSpPr>
        <p:spPr>
          <a:xfrm>
            <a:off x="658368" y="51663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IDENTIFIED</a:t>
            </a:r>
            <a:endParaRPr lang="en-US" sz="1200" dirty="0"/>
          </a:p>
        </p:txBody>
      </p:sp>
      <p:sp>
        <p:nvSpPr>
          <p:cNvPr id="26" name="Text 23"/>
          <p:cNvSpPr/>
          <p:nvPr/>
        </p:nvSpPr>
        <p:spPr>
          <a:xfrm>
            <a:off x="658368" y="53675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$16,100.27</a:t>
            </a:r>
            <a:endParaRPr lang="en-US" sz="2800" dirty="0"/>
          </a:p>
        </p:txBody>
      </p:sp>
      <p:sp>
        <p:nvSpPr>
          <p:cNvPr id="27" name="Text 24"/>
          <p:cNvSpPr/>
          <p:nvPr/>
        </p:nvSpPr>
        <p:spPr>
          <a:xfrm>
            <a:off x="658368" y="57698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Opus 4.8 in full, plus part of Opus 4.6</a:t>
            </a:r>
            <a:endParaRPr lang="en-US" sz="1200" dirty="0"/>
          </a:p>
        </p:txBody>
      </p:sp>
      <p:sp>
        <p:nvSpPr>
          <p:cNvPr id="28" name="Shape 25"/>
          <p:cNvSpPr/>
          <p:nvPr/>
        </p:nvSpPr>
        <p:spPr>
          <a:xfrm>
            <a:off x="4292498" y="5074920"/>
            <a:ext cx="3606698" cy="1078992"/>
          </a:xfrm>
          <a:prstGeom prst="roundRect">
            <a:avLst>
              <a:gd name="adj" fmla="val 5085"/>
            </a:avLst>
          </a:prstGeom>
          <a:solidFill>
            <a:srgbClr val="121B2D"/>
          </a:solidFill>
          <a:ln w="12700">
            <a:solidFill>
              <a:srgbClr val="23304A"/>
            </a:solidFill>
            <a:prstDash val="solid"/>
          </a:ln>
        </p:spPr>
      </p:sp>
      <p:sp>
        <p:nvSpPr>
          <p:cNvPr id="29" name="Text 26"/>
          <p:cNvSpPr/>
          <p:nvPr/>
        </p:nvSpPr>
        <p:spPr>
          <a:xfrm>
            <a:off x="4493666" y="51663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ATTRIBUTED TO</a:t>
            </a:r>
            <a:endParaRPr lang="en-US" sz="1200" dirty="0"/>
          </a:p>
        </p:txBody>
      </p:sp>
      <p:sp>
        <p:nvSpPr>
          <p:cNvPr id="30" name="Text 27"/>
          <p:cNvSpPr/>
          <p:nvPr/>
        </p:nvSpPr>
        <p:spPr>
          <a:xfrm>
            <a:off x="4493666" y="53675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ai-factory-dev</a:t>
            </a:r>
            <a:endParaRPr lang="en-US" sz="2800" dirty="0"/>
          </a:p>
        </p:txBody>
      </p:sp>
      <p:sp>
        <p:nvSpPr>
          <p:cNvPr id="31" name="Text 28"/>
          <p:cNvSpPr/>
          <p:nvPr/>
        </p:nvSpPr>
        <p:spPr>
          <a:xfrm>
            <a:off x="4493666" y="57698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FF9F43"/>
                </a:solidFill>
                <a:latin typeface="Calibri" pitchFamily="34" charset="0"/>
                <a:ea typeface="Calibri" pitchFamily="34" charset="-122"/>
                <a:cs typeface="Calibri" pitchFamily="34" charset="-120"/>
              </a:rPr>
              <a:t>88.6% of all July AWS credits</a:t>
            </a:r>
            <a:endParaRPr lang="en-US" sz="1200" dirty="0"/>
          </a:p>
        </p:txBody>
      </p:sp>
      <p:sp>
        <p:nvSpPr>
          <p:cNvPr id="32" name="Shape 29"/>
          <p:cNvSpPr/>
          <p:nvPr/>
        </p:nvSpPr>
        <p:spPr>
          <a:xfrm>
            <a:off x="8127797" y="5074920"/>
            <a:ext cx="3606698" cy="1078992"/>
          </a:xfrm>
          <a:prstGeom prst="roundRect">
            <a:avLst>
              <a:gd name="adj" fmla="val 5085"/>
            </a:avLst>
          </a:prstGeom>
          <a:solidFill>
            <a:srgbClr val="121B2D"/>
          </a:solidFill>
          <a:ln w="12700">
            <a:solidFill>
              <a:srgbClr val="23304A"/>
            </a:solidFill>
            <a:prstDash val="solid"/>
          </a:ln>
        </p:spPr>
      </p:sp>
      <p:sp>
        <p:nvSpPr>
          <p:cNvPr id="33" name="Text 30"/>
          <p:cNvSpPr/>
          <p:nvPr/>
        </p:nvSpPr>
        <p:spPr>
          <a:xfrm>
            <a:off x="8328965" y="51663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ACTION</a:t>
            </a:r>
            <a:endParaRPr lang="en-US" sz="1200" dirty="0"/>
          </a:p>
        </p:txBody>
      </p:sp>
      <p:sp>
        <p:nvSpPr>
          <p:cNvPr id="34" name="Text 31"/>
          <p:cNvSpPr/>
          <p:nvPr/>
        </p:nvSpPr>
        <p:spPr>
          <a:xfrm>
            <a:off x="8328965" y="53675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Confirm</a:t>
            </a:r>
            <a:endParaRPr lang="en-US" sz="2800" dirty="0"/>
          </a:p>
        </p:txBody>
      </p:sp>
      <p:sp>
        <p:nvSpPr>
          <p:cNvPr id="35" name="Text 32"/>
          <p:cNvSpPr/>
          <p:nvPr/>
        </p:nvSpPr>
        <p:spPr>
          <a:xfrm>
            <a:off x="8328965" y="57698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raise with Comm-IT, then close the v33 item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9F43"/>
                </a:solidFill>
                <a:latin typeface="Calibri" pitchFamily="34" charset="0"/>
                <a:ea typeface="Calibri" pitchFamily="34" charset="-122"/>
                <a:cs typeface="Calibri" pitchFamily="34" charset="-120"/>
              </a:rPr>
              <a:t>MARKETPLACE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000" b="1" dirty="0">
                <a:solidFill>
                  <a:srgbClr val="F4F7FB"/>
                </a:solidFill>
                <a:latin typeface="Calibri" pitchFamily="34" charset="0"/>
                <a:ea typeface="Calibri" pitchFamily="34" charset="-122"/>
                <a:cs typeface="Calibri" pitchFamily="34" charset="-120"/>
              </a:rPr>
              <a:t>Marketplace dwarfs the usage underneath it</a:t>
            </a:r>
            <a:endParaRPr lang="en-US" sz="20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None of this is consumption. Security vendors bought, replaced and retired inside the year.</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Splunk, CrowdStrike and Trellix land in Q1; TrendAI and Fortinet in June and gone by July; Cortex replaces them. Treating Marketplace as part of the cloud bill makes the trend unreadable. It belongs on its own line in the budget.</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AWS Marketplace purchases by product, Jan-Jul total</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AWS MARKETPLACE, JAN-JUL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$1.54M</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9F43"/>
                </a:solidFill>
                <a:latin typeface="Calibri" pitchFamily="34" charset="0"/>
                <a:ea typeface="Calibri" pitchFamily="34" charset="-122"/>
                <a:cs typeface="Calibri" pitchFamily="34" charset="-120"/>
              </a:rPr>
              <a:t>2.6x regular AWS usage</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199" b="1" spc="120" kern="0" dirty="0">
                <a:solidFill>
                  <a:srgbClr val="91A0B7"/>
                </a:solidFill>
                <a:latin typeface="Calibri" pitchFamily="34" charset="0"/>
                <a:ea typeface="Calibri" pitchFamily="34" charset="-122"/>
                <a:cs typeface="Calibri" pitchFamily="34" charset="-120"/>
              </a:rPr>
              <a:t>AZURE MARKETPLACE, JAN-JUL</a:t>
            </a:r>
            <a:endParaRPr lang="en-US" sz="1199"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$551K</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2F8CFF"/>
                </a:solidFill>
                <a:latin typeface="Calibri" pitchFamily="34" charset="0"/>
                <a:ea typeface="Calibri" pitchFamily="34" charset="-122"/>
                <a:cs typeface="Calibri" pitchFamily="34" charset="-120"/>
              </a:rPr>
              <a:t>mostly the Databricks prepayment</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RECURRING, OF ALL OF IT</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~$14K/mo</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MongoDB Atlas and the small tools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C97"/>
          </a:solidFill>
          <a:ln w="12700">
            <a:solidFill>
              <a:srgbClr val="3DDC97"/>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C97"/>
                </a:solidFill>
                <a:latin typeface="Calibri" pitchFamily="34" charset="0"/>
                <a:ea typeface="Calibri" pitchFamily="34" charset="-122"/>
                <a:cs typeface="Calibri" pitchFamily="34" charset="-120"/>
              </a:rPr>
              <a:t>GCP</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Small, and entirely AI</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The smallest provider by a wide margin, and the fastest growing. All three statements reconcile to their invoices exactly.</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Vertex AI passed Compute Engine in July. Every dollar of GCP growth this year is AI, which makes it the cleanest illustration of the shift happening more expensively elsewhere.</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Monthly spend by service</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GCP, JULY</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$3,707</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1.4% of the total cloud bill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VERTEX AI, JULY</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$2,359</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now the largest GCP service</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EVERYTHING ELSE</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flat</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Compute, networking and DNS unchanged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E0A030">
              <a:alpha val="8000"/>
            </a:srgbClr>
          </a:solidFill>
          <a:ln w="12700">
            <a:solidFill>
              <a:srgbClr val="E0A030">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457200" y="2652776"/>
            <a:ext cx="8229600" cy="274320"/>
          </a:xfrm>
          <a:prstGeom prst="rect">
            <a:avLst/>
          </a:prstGeom>
          <a:noFill/>
          <a:ln/>
        </p:spPr>
        <p:txBody>
          <a:bodyPr wrap="square" lIns="0" tIns="0" rIns="0" bIns="0" rtlCol="0" anchor="ctr"/>
          <a:lstStyle/>
          <a:p>
            <a:pPr indent="0" marL="0">
              <a:buNone/>
            </a:pPr>
            <a:r>
              <a:rPr lang="en-US" sz="1300" b="1" spc="300" kern="0" dirty="0">
                <a:solidFill>
                  <a:srgbClr val="E0A030"/>
                </a:solidFill>
                <a:latin typeface="Calibri" pitchFamily="34" charset="0"/>
                <a:ea typeface="Calibri" pitchFamily="34" charset="-122"/>
                <a:cs typeface="Calibri" pitchFamily="34" charset="-120"/>
              </a:rPr>
              <a:t>PART TWO</a:t>
            </a:r>
            <a:endParaRPr lang="en-US" sz="1300" dirty="0"/>
          </a:p>
        </p:txBody>
      </p:sp>
      <p:sp>
        <p:nvSpPr>
          <p:cNvPr id="6" name="Text 4"/>
          <p:cNvSpPr/>
          <p:nvPr/>
        </p:nvSpPr>
        <p:spPr>
          <a:xfrm>
            <a:off x="457200" y="3000248"/>
            <a:ext cx="8412480" cy="619760"/>
          </a:xfrm>
          <a:prstGeom prst="rect">
            <a:avLst/>
          </a:prstGeom>
          <a:noFill/>
          <a:ln/>
        </p:spPr>
        <p:txBody>
          <a:bodyPr wrap="square" lIns="0" tIns="0" rIns="0" bIns="0" rtlCol="0" anchor="ctr"/>
          <a:lstStyle/>
          <a:p>
            <a:pPr indent="0" marL="0">
              <a:buNone/>
            </a:pPr>
            <a:r>
              <a:rPr lang="en-US" sz="4000" b="1" dirty="0">
                <a:solidFill>
                  <a:srgbClr val="F4F7FB"/>
                </a:solidFill>
                <a:latin typeface="Calibri" pitchFamily="34" charset="0"/>
                <a:ea typeface="Calibri" pitchFamily="34" charset="-122"/>
                <a:cs typeface="Calibri" pitchFamily="34" charset="-120"/>
              </a:rPr>
              <a:t>What waiting costs</a:t>
            </a:r>
            <a:endParaRPr lang="en-US" sz="4000" dirty="0"/>
          </a:p>
        </p:txBody>
      </p:sp>
      <p:sp>
        <p:nvSpPr>
          <p:cNvPr id="7" name="Text 5"/>
          <p:cNvSpPr/>
          <p:nvPr/>
        </p:nvSpPr>
        <p:spPr>
          <a:xfrm>
            <a:off x="457200" y="3748024"/>
            <a:ext cx="7863840" cy="457200"/>
          </a:xfrm>
          <a:prstGeom prst="rect">
            <a:avLst/>
          </a:prstGeom>
          <a:noFill/>
          <a:ln/>
        </p:spPr>
        <p:txBody>
          <a:bodyPr wrap="square" lIns="0" tIns="0" rIns="0" bIns="0" rtlCol="0" anchor="t"/>
          <a:lstStyle/>
          <a:p>
            <a:pPr indent="0" marL="0">
              <a:buNone/>
            </a:pPr>
            <a:r>
              <a:rPr lang="en-US" sz="1500" dirty="0">
                <a:solidFill>
                  <a:srgbClr val="91A0B7"/>
                </a:solidFill>
                <a:latin typeface="Calibri" pitchFamily="34" charset="0"/>
                <a:ea typeface="Calibri" pitchFamily="34" charset="-122"/>
                <a:cs typeface="Calibri" pitchFamily="34" charset="-120"/>
              </a:rPr>
              <a:t>Three gaps that are already priced, and already being paid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E0A030"/>
                </a:solidFill>
                <a:latin typeface="Calibri" pitchFamily="34" charset="0"/>
                <a:ea typeface="Calibri" pitchFamily="34" charset="-122"/>
                <a:cs typeface="Calibri" pitchFamily="34" charset="-120"/>
              </a:rPr>
              <a:t>COVERAGE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270" b="1" dirty="0">
                <a:solidFill>
                  <a:srgbClr val="F4F7FB"/>
                </a:solidFill>
                <a:latin typeface="Calibri" pitchFamily="34" charset="0"/>
                <a:ea typeface="Calibri" pitchFamily="34" charset="-122"/>
                <a:cs typeface="Calibri" pitchFamily="34" charset="-120"/>
              </a:rPr>
              <a:t>Azure buys 59% at a discount, AWS 93%</a:t>
            </a:r>
            <a:endParaRPr lang="en-US" sz="227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How each cloud's compute is actually purchased, the single biggest lever on unit cost.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SAP is the obvious first candidate: it is the largest Azure workload, it has not moved more than a few percent in seven months, and it is almost entirely virtual machines, the flattest, most reservable profile in the estate.</a:t>
            </a:r>
            <a:endParaRPr lang="en-US" sz="1200" dirty="0"/>
          </a:p>
        </p:txBody>
      </p:sp>
      <p:sp>
        <p:nvSpPr>
          <p:cNvPr id="8" name="Text 6"/>
          <p:cNvSpPr/>
          <p:nvPr/>
        </p:nvSpPr>
        <p:spPr>
          <a:xfrm>
            <a:off x="457200" y="1234440"/>
            <a:ext cx="475488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AWS</a:t>
            </a:r>
            <a:endParaRPr lang="en-US" sz="1500" dirty="0"/>
          </a:p>
        </p:txBody>
      </p:sp>
      <p:sp>
        <p:nvSpPr>
          <p:cNvPr id="9" name="Text 7"/>
          <p:cNvSpPr/>
          <p:nvPr/>
        </p:nvSpPr>
        <p:spPr>
          <a:xfrm>
            <a:off x="457200" y="1508760"/>
            <a:ext cx="4754880" cy="219456"/>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Monthly cost by purchase option</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64792"/>
          <a:ext cx="4754880" cy="914400"/>
        </p:xfrm>
        <a:graphic>
          <a:graphicData uri="http://schemas.openxmlformats.org/drawingml/2006/table">
            <a:tbl>
              <a:tblPr/>
              <a:tblGrid>
                <a:gridCol w="2377440"/>
                <a:gridCol w="1371600"/>
                <a:gridCol w="100584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Purchase option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Total cost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Spot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$16,559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Compute Savings Plan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$16,364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On-Demand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$2,502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F6B7A"/>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$35,425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dirty="0">
                          <a:solidFill>
                            <a:srgbClr val="91A0B7"/>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bl>
          </a:graphicData>
        </a:graphic>
      </p:graphicFrame>
      <p:sp>
        <p:nvSpPr>
          <p:cNvPr id="11" name="Text 8"/>
          <p:cNvSpPr/>
          <p:nvPr/>
        </p:nvSpPr>
        <p:spPr>
          <a:xfrm>
            <a:off x="5577840" y="1234440"/>
            <a:ext cx="475488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Azure</a:t>
            </a:r>
            <a:endParaRPr lang="en-US" sz="1500" dirty="0"/>
          </a:p>
        </p:txBody>
      </p:sp>
      <p:sp>
        <p:nvSpPr>
          <p:cNvPr id="12" name="Text 9"/>
          <p:cNvSpPr/>
          <p:nvPr/>
        </p:nvSpPr>
        <p:spPr>
          <a:xfrm>
            <a:off x="5577840" y="1508760"/>
            <a:ext cx="4754880" cy="219456"/>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Monthly cost by purchase option</a:t>
            </a:r>
            <a:endParaRPr lang="en-US" sz="12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577840" y="1764792"/>
          <a:ext cx="4754880" cy="914400"/>
        </p:xfrm>
        <a:graphic>
          <a:graphicData uri="http://schemas.openxmlformats.org/drawingml/2006/table">
            <a:tbl>
              <a:tblPr/>
              <a:tblGrid>
                <a:gridCol w="2377440"/>
                <a:gridCol w="1371600"/>
                <a:gridCol w="100584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Purchase option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Total cost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On-Demand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$21,690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F6B7A"/>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Reservation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$21,463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Compute Savings Plan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$9,424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Spot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$737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91A0B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F4F7FB"/>
                          </a:solidFill>
                          <a:latin typeface="Calibri" pitchFamily="34" charset="0"/>
                          <a:ea typeface="Calibri" pitchFamily="34" charset="-122"/>
                          <a:cs typeface="Calibri" pitchFamily="34" charset="-120"/>
                        </a:rPr>
                        <a:t>$53,314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b="1" dirty="0">
                          <a:solidFill>
                            <a:srgbClr val="91A0B7"/>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bl>
          </a:graphicData>
        </a:graphic>
      </p:graphicFrame>
      <p:sp>
        <p:nvSpPr>
          <p:cNvPr id="14" name="Shape 10"/>
          <p:cNvSpPr/>
          <p:nvPr/>
        </p:nvSpPr>
        <p:spPr>
          <a:xfrm>
            <a:off x="457200" y="3938869"/>
            <a:ext cx="3606698" cy="1078992"/>
          </a:xfrm>
          <a:prstGeom prst="roundRect">
            <a:avLst>
              <a:gd name="adj" fmla="val 5085"/>
            </a:avLst>
          </a:prstGeom>
          <a:solidFill>
            <a:srgbClr val="121B2D"/>
          </a:solidFill>
          <a:ln w="12700">
            <a:solidFill>
              <a:srgbClr val="23304A"/>
            </a:solidFill>
            <a:prstDash val="solid"/>
          </a:ln>
        </p:spPr>
      </p:sp>
      <p:sp>
        <p:nvSpPr>
          <p:cNvPr id="15" name="Text 11"/>
          <p:cNvSpPr/>
          <p:nvPr/>
        </p:nvSpPr>
        <p:spPr>
          <a:xfrm>
            <a:off x="658368" y="4030309"/>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AZURE ON-DEMAND</a:t>
            </a:r>
            <a:endParaRPr lang="en-US" sz="1200" dirty="0"/>
          </a:p>
        </p:txBody>
      </p:sp>
      <p:sp>
        <p:nvSpPr>
          <p:cNvPr id="16" name="Text 12"/>
          <p:cNvSpPr/>
          <p:nvPr/>
        </p:nvSpPr>
        <p:spPr>
          <a:xfrm>
            <a:off x="658368" y="4231477"/>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$21,690</a:t>
            </a:r>
            <a:endParaRPr lang="en-US" sz="2800" dirty="0"/>
          </a:p>
        </p:txBody>
      </p:sp>
      <p:sp>
        <p:nvSpPr>
          <p:cNvPr id="17" name="Text 13"/>
          <p:cNvSpPr/>
          <p:nvPr/>
        </p:nvSpPr>
        <p:spPr>
          <a:xfrm>
            <a:off x="658368" y="4633813"/>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per month, at list price</a:t>
            </a:r>
            <a:endParaRPr lang="en-US" sz="1200" dirty="0"/>
          </a:p>
        </p:txBody>
      </p:sp>
      <p:sp>
        <p:nvSpPr>
          <p:cNvPr id="18" name="Shape 14"/>
          <p:cNvSpPr/>
          <p:nvPr/>
        </p:nvSpPr>
        <p:spPr>
          <a:xfrm>
            <a:off x="4292498" y="3938869"/>
            <a:ext cx="3606698" cy="1078992"/>
          </a:xfrm>
          <a:prstGeom prst="roundRect">
            <a:avLst>
              <a:gd name="adj" fmla="val 5085"/>
            </a:avLst>
          </a:prstGeom>
          <a:solidFill>
            <a:srgbClr val="121B2D"/>
          </a:solidFill>
          <a:ln w="12700">
            <a:solidFill>
              <a:srgbClr val="23304A"/>
            </a:solidFill>
            <a:prstDash val="solid"/>
          </a:ln>
        </p:spPr>
      </p:sp>
      <p:sp>
        <p:nvSpPr>
          <p:cNvPr id="19" name="Text 15"/>
          <p:cNvSpPr/>
          <p:nvPr/>
        </p:nvSpPr>
        <p:spPr>
          <a:xfrm>
            <a:off x="4493666" y="4030309"/>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IF AZURE MATCHED AWS</a:t>
            </a:r>
            <a:endParaRPr lang="en-US" sz="1200" dirty="0"/>
          </a:p>
        </p:txBody>
      </p:sp>
      <p:sp>
        <p:nvSpPr>
          <p:cNvPr id="20" name="Text 16"/>
          <p:cNvSpPr/>
          <p:nvPr/>
        </p:nvSpPr>
        <p:spPr>
          <a:xfrm>
            <a:off x="4493666" y="4231477"/>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~$7,600</a:t>
            </a:r>
            <a:endParaRPr lang="en-US" sz="2800" dirty="0"/>
          </a:p>
        </p:txBody>
      </p:sp>
      <p:sp>
        <p:nvSpPr>
          <p:cNvPr id="21" name="Text 17"/>
          <p:cNvSpPr/>
          <p:nvPr/>
        </p:nvSpPr>
        <p:spPr>
          <a:xfrm>
            <a:off x="4493666" y="4633813"/>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estimated monthly saving at 93% coverage</a:t>
            </a:r>
            <a:endParaRPr lang="en-US" sz="1200" dirty="0"/>
          </a:p>
        </p:txBody>
      </p:sp>
      <p:sp>
        <p:nvSpPr>
          <p:cNvPr id="22" name="Shape 18"/>
          <p:cNvSpPr/>
          <p:nvPr/>
        </p:nvSpPr>
        <p:spPr>
          <a:xfrm>
            <a:off x="8127797" y="3938869"/>
            <a:ext cx="3606698" cy="1078992"/>
          </a:xfrm>
          <a:prstGeom prst="roundRect">
            <a:avLst>
              <a:gd name="adj" fmla="val 5085"/>
            </a:avLst>
          </a:prstGeom>
          <a:solidFill>
            <a:srgbClr val="121B2D"/>
          </a:solidFill>
          <a:ln w="12700">
            <a:solidFill>
              <a:srgbClr val="23304A"/>
            </a:solidFill>
            <a:prstDash val="solid"/>
          </a:ln>
        </p:spPr>
      </p:sp>
      <p:sp>
        <p:nvSpPr>
          <p:cNvPr id="23" name="Text 19"/>
          <p:cNvSpPr/>
          <p:nvPr/>
        </p:nvSpPr>
        <p:spPr>
          <a:xfrm>
            <a:off x="8328965" y="4030309"/>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ANNUALISED</a:t>
            </a:r>
            <a:endParaRPr lang="en-US" sz="1200" dirty="0"/>
          </a:p>
        </p:txBody>
      </p:sp>
      <p:sp>
        <p:nvSpPr>
          <p:cNvPr id="24" name="Text 20"/>
          <p:cNvSpPr/>
          <p:nvPr/>
        </p:nvSpPr>
        <p:spPr>
          <a:xfrm>
            <a:off x="8328965" y="4231477"/>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~$91,000</a:t>
            </a:r>
            <a:endParaRPr lang="en-US" sz="2800" dirty="0"/>
          </a:p>
        </p:txBody>
      </p:sp>
      <p:sp>
        <p:nvSpPr>
          <p:cNvPr id="25" name="Text 21"/>
          <p:cNvSpPr/>
          <p:nvPr/>
        </p:nvSpPr>
        <p:spPr>
          <a:xfrm>
            <a:off x="8328965" y="4633813"/>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on compute alone, nothing switched off</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DATABRICKS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154" b="1" dirty="0">
                <a:solidFill>
                  <a:srgbClr val="F4F7FB"/>
                </a:solidFill>
                <a:latin typeface="Calibri" pitchFamily="34" charset="0"/>
                <a:ea typeface="Calibri" pitchFamily="34" charset="-122"/>
                <a:cs typeface="Calibri" pitchFamily="34" charset="-120"/>
              </a:rPr>
              <a:t>$504,000 paid in April. 18% of it used.</a:t>
            </a:r>
            <a:endParaRPr lang="en-US" sz="2154"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A three-year, 600,000 DBU-hour pre-purchase made on 28 April 2026.</a:t>
            </a:r>
            <a:endParaRPr lang="en-US" sz="1200" dirty="0"/>
          </a:p>
        </p:txBody>
      </p:sp>
      <p:sp>
        <p:nvSpPr>
          <p:cNvPr id="7" name="Shape 5"/>
          <p:cNvSpPr/>
          <p:nvPr/>
        </p:nvSpPr>
        <p:spPr>
          <a:xfrm>
            <a:off x="457200" y="1234440"/>
            <a:ext cx="2647874" cy="1078992"/>
          </a:xfrm>
          <a:prstGeom prst="roundRect">
            <a:avLst>
              <a:gd name="adj" fmla="val 5085"/>
            </a:avLst>
          </a:prstGeom>
          <a:solidFill>
            <a:srgbClr val="121B2D"/>
          </a:solidFill>
          <a:ln w="12700">
            <a:solidFill>
              <a:srgbClr val="23304A"/>
            </a:solidFill>
            <a:prstDash val="solid"/>
          </a:ln>
        </p:spPr>
      </p:sp>
      <p:sp>
        <p:nvSpPr>
          <p:cNvPr id="8" name="Text 6"/>
          <p:cNvSpPr/>
          <p:nvPr/>
        </p:nvSpPr>
        <p:spPr>
          <a:xfrm>
            <a:off x="658368" y="1325880"/>
            <a:ext cx="2245538"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COMMITTED</a:t>
            </a:r>
            <a:endParaRPr lang="en-US" sz="1200" dirty="0"/>
          </a:p>
        </p:txBody>
      </p:sp>
      <p:sp>
        <p:nvSpPr>
          <p:cNvPr id="9" name="Text 7"/>
          <p:cNvSpPr/>
          <p:nvPr/>
        </p:nvSpPr>
        <p:spPr>
          <a:xfrm>
            <a:off x="658368" y="1527048"/>
            <a:ext cx="2245538"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$504,000</a:t>
            </a:r>
            <a:endParaRPr lang="en-US" sz="2800" dirty="0"/>
          </a:p>
        </p:txBody>
      </p:sp>
      <p:sp>
        <p:nvSpPr>
          <p:cNvPr id="10" name="Text 8"/>
          <p:cNvSpPr/>
          <p:nvPr/>
        </p:nvSpPr>
        <p:spPr>
          <a:xfrm>
            <a:off x="658368" y="1929384"/>
            <a:ext cx="2245538" cy="338328"/>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Azure P3 pre-purchase, 28 Apr 2026</a:t>
            </a:r>
            <a:endParaRPr lang="en-US" sz="1200" dirty="0"/>
          </a:p>
        </p:txBody>
      </p:sp>
      <p:sp>
        <p:nvSpPr>
          <p:cNvPr id="11" name="Shape 9"/>
          <p:cNvSpPr/>
          <p:nvPr/>
        </p:nvSpPr>
        <p:spPr>
          <a:xfrm>
            <a:off x="3333674" y="1234440"/>
            <a:ext cx="2647874" cy="1078992"/>
          </a:xfrm>
          <a:prstGeom prst="roundRect">
            <a:avLst>
              <a:gd name="adj" fmla="val 5085"/>
            </a:avLst>
          </a:prstGeom>
          <a:solidFill>
            <a:srgbClr val="121B2D"/>
          </a:solidFill>
          <a:ln w="12700">
            <a:solidFill>
              <a:srgbClr val="23304A"/>
            </a:solidFill>
            <a:prstDash val="solid"/>
          </a:ln>
        </p:spPr>
      </p:sp>
      <p:sp>
        <p:nvSpPr>
          <p:cNvPr id="12" name="Text 10"/>
          <p:cNvSpPr/>
          <p:nvPr/>
        </p:nvSpPr>
        <p:spPr>
          <a:xfrm>
            <a:off x="3534842" y="1325880"/>
            <a:ext cx="2245538"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TERM</a:t>
            </a:r>
            <a:endParaRPr lang="en-US" sz="1200" dirty="0"/>
          </a:p>
        </p:txBody>
      </p:sp>
      <p:sp>
        <p:nvSpPr>
          <p:cNvPr id="13" name="Text 11"/>
          <p:cNvSpPr/>
          <p:nvPr/>
        </p:nvSpPr>
        <p:spPr>
          <a:xfrm>
            <a:off x="3534842" y="1527048"/>
            <a:ext cx="2245538"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3 years</a:t>
            </a:r>
            <a:endParaRPr lang="en-US" sz="2800" dirty="0"/>
          </a:p>
        </p:txBody>
      </p:sp>
      <p:sp>
        <p:nvSpPr>
          <p:cNvPr id="14" name="Text 12"/>
          <p:cNvSpPr/>
          <p:nvPr/>
        </p:nvSpPr>
        <p:spPr>
          <a:xfrm>
            <a:off x="3534842" y="1929384"/>
            <a:ext cx="2245538" cy="338328"/>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600,000 DBU hours</a:t>
            </a:r>
            <a:endParaRPr lang="en-US" sz="1200" dirty="0"/>
          </a:p>
        </p:txBody>
      </p:sp>
      <p:sp>
        <p:nvSpPr>
          <p:cNvPr id="15" name="Shape 13"/>
          <p:cNvSpPr/>
          <p:nvPr/>
        </p:nvSpPr>
        <p:spPr>
          <a:xfrm>
            <a:off x="6210148" y="1234440"/>
            <a:ext cx="2647874" cy="1078992"/>
          </a:xfrm>
          <a:prstGeom prst="roundRect">
            <a:avLst>
              <a:gd name="adj" fmla="val 5085"/>
            </a:avLst>
          </a:prstGeom>
          <a:solidFill>
            <a:srgbClr val="121B2D"/>
          </a:solidFill>
          <a:ln w="12700">
            <a:solidFill>
              <a:srgbClr val="23304A"/>
            </a:solidFill>
            <a:prstDash val="solid"/>
          </a:ln>
        </p:spPr>
      </p:sp>
      <p:sp>
        <p:nvSpPr>
          <p:cNvPr id="16" name="Text 14"/>
          <p:cNvSpPr/>
          <p:nvPr/>
        </p:nvSpPr>
        <p:spPr>
          <a:xfrm>
            <a:off x="6411316" y="1325880"/>
            <a:ext cx="2245538"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DRAWN TO JULY</a:t>
            </a:r>
            <a:endParaRPr lang="en-US" sz="1200" dirty="0"/>
          </a:p>
        </p:txBody>
      </p:sp>
      <p:sp>
        <p:nvSpPr>
          <p:cNvPr id="17" name="Text 15"/>
          <p:cNvSpPr/>
          <p:nvPr/>
        </p:nvSpPr>
        <p:spPr>
          <a:xfrm>
            <a:off x="6411316" y="1527048"/>
            <a:ext cx="2245538"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$88,666</a:t>
            </a:r>
            <a:endParaRPr lang="en-US" sz="2800" dirty="0"/>
          </a:p>
        </p:txBody>
      </p:sp>
      <p:sp>
        <p:nvSpPr>
          <p:cNvPr id="18" name="Text 16"/>
          <p:cNvSpPr/>
          <p:nvPr/>
        </p:nvSpPr>
        <p:spPr>
          <a:xfrm>
            <a:off x="6411316" y="1929384"/>
            <a:ext cx="2245538"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consumption, not new cash</a:t>
            </a:r>
            <a:endParaRPr lang="en-US" sz="1200" dirty="0"/>
          </a:p>
        </p:txBody>
      </p:sp>
      <p:sp>
        <p:nvSpPr>
          <p:cNvPr id="19" name="Shape 17"/>
          <p:cNvSpPr/>
          <p:nvPr/>
        </p:nvSpPr>
        <p:spPr>
          <a:xfrm>
            <a:off x="9086621" y="1234440"/>
            <a:ext cx="2647874" cy="1078992"/>
          </a:xfrm>
          <a:prstGeom prst="roundRect">
            <a:avLst>
              <a:gd name="adj" fmla="val 5085"/>
            </a:avLst>
          </a:prstGeom>
          <a:solidFill>
            <a:srgbClr val="121B2D"/>
          </a:solidFill>
          <a:ln w="12700">
            <a:solidFill>
              <a:srgbClr val="23304A"/>
            </a:solidFill>
            <a:prstDash val="solid"/>
          </a:ln>
        </p:spPr>
      </p:sp>
      <p:sp>
        <p:nvSpPr>
          <p:cNvPr id="20" name="Text 18"/>
          <p:cNvSpPr/>
          <p:nvPr/>
        </p:nvSpPr>
        <p:spPr>
          <a:xfrm>
            <a:off x="9287789" y="1325880"/>
            <a:ext cx="2245538"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INFRA UNDERNEATH</a:t>
            </a:r>
            <a:endParaRPr lang="en-US" sz="1200" dirty="0"/>
          </a:p>
        </p:txBody>
      </p:sp>
      <p:sp>
        <p:nvSpPr>
          <p:cNvPr id="21" name="Text 19"/>
          <p:cNvSpPr/>
          <p:nvPr/>
        </p:nvSpPr>
        <p:spPr>
          <a:xfrm>
            <a:off x="9287789" y="1527048"/>
            <a:ext cx="2245538"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$63,501</a:t>
            </a:r>
            <a:endParaRPr lang="en-US" sz="2800" dirty="0"/>
          </a:p>
        </p:txBody>
      </p:sp>
      <p:sp>
        <p:nvSpPr>
          <p:cNvPr id="22" name="Text 20"/>
          <p:cNvSpPr/>
          <p:nvPr/>
        </p:nvSpPr>
        <p:spPr>
          <a:xfrm>
            <a:off x="9287789" y="1929384"/>
            <a:ext cx="2245538" cy="338328"/>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May-Jul, this part still bills</a:t>
            </a:r>
            <a:endParaRPr lang="en-US" sz="1200" dirty="0"/>
          </a:p>
        </p:txBody>
      </p:sp>
      <p:sp>
        <p:nvSpPr>
          <p:cNvPr id="23" name="Shape 21"/>
          <p:cNvSpPr/>
          <p:nvPr/>
        </p:nvSpPr>
        <p:spPr>
          <a:xfrm>
            <a:off x="457200" y="2468880"/>
            <a:ext cx="11277295" cy="1691640"/>
          </a:xfrm>
          <a:prstGeom prst="roundRect">
            <a:avLst>
              <a:gd name="adj" fmla="val 3243"/>
            </a:avLst>
          </a:prstGeom>
          <a:solidFill>
            <a:srgbClr val="121B2D"/>
          </a:solidFill>
          <a:ln w="12700">
            <a:solidFill>
              <a:srgbClr val="B07CFF"/>
            </a:solidFill>
            <a:prstDash val="solid"/>
          </a:ln>
        </p:spPr>
      </p:sp>
      <p:sp>
        <p:nvSpPr>
          <p:cNvPr id="24" name="Text 22"/>
          <p:cNvSpPr/>
          <p:nvPr/>
        </p:nvSpPr>
        <p:spPr>
          <a:xfrm>
            <a:off x="777240" y="2651760"/>
            <a:ext cx="3108960" cy="1325880"/>
          </a:xfrm>
          <a:prstGeom prst="rect">
            <a:avLst/>
          </a:prstGeom>
          <a:noFill/>
          <a:ln/>
        </p:spPr>
        <p:txBody>
          <a:bodyPr wrap="square" lIns="0" tIns="0" rIns="0" bIns="0" rtlCol="0" anchor="ctr"/>
          <a:lstStyle/>
          <a:p>
            <a:pPr indent="0" marL="0">
              <a:buNone/>
            </a:pPr>
            <a:r>
              <a:rPr lang="en-US" sz="6600" b="1" dirty="0">
                <a:solidFill>
                  <a:srgbClr val="B07CFF"/>
                </a:solidFill>
                <a:latin typeface="Calibri" pitchFamily="34" charset="0"/>
                <a:ea typeface="Calibri" pitchFamily="34" charset="-122"/>
                <a:cs typeface="Calibri" pitchFamily="34" charset="-120"/>
              </a:rPr>
              <a:t>18%</a:t>
            </a:r>
            <a:endParaRPr lang="en-US" sz="6600" dirty="0"/>
          </a:p>
        </p:txBody>
      </p:sp>
      <p:sp>
        <p:nvSpPr>
          <p:cNvPr id="25" name="Text 23"/>
          <p:cNvSpPr/>
          <p:nvPr/>
        </p:nvSpPr>
        <p:spPr>
          <a:xfrm>
            <a:off x="4023360" y="2724912"/>
            <a:ext cx="7345375" cy="1188720"/>
          </a:xfrm>
          <a:prstGeom prst="rect">
            <a:avLst/>
          </a:prstGeom>
          <a:noFill/>
          <a:ln/>
        </p:spPr>
        <p:txBody>
          <a:bodyPr wrap="square" lIns="0" tIns="0" rIns="0" bIns="0" rtlCol="0" anchor="ctr"/>
          <a:lstStyle/>
          <a:p>
            <a:pPr indent="0" marL="0">
              <a:lnSpc>
                <a:spcPct val="125000"/>
              </a:lnSpc>
              <a:buNone/>
            </a:pPr>
            <a:r>
              <a:rPr lang="en-US" sz="1550" dirty="0">
                <a:solidFill>
                  <a:srgbClr val="F4F7FB"/>
                </a:solidFill>
                <a:latin typeface="Calibri" pitchFamily="34" charset="0"/>
                <a:ea typeface="Calibri" pitchFamily="34" charset="-122"/>
                <a:cs typeface="Calibri" pitchFamily="34" charset="-120"/>
              </a:rPr>
              <a:t>cumulative utilisation of the Databricks commitment as at July. Databricks compute bills at $0 because it draws against a balance already paid, so it disappears from every consumption report while the money is already gone.</a:t>
            </a:r>
            <a:endParaRPr lang="en-US" sz="1550" dirty="0"/>
          </a:p>
        </p:txBody>
      </p:sp>
      <p:sp>
        <p:nvSpPr>
          <p:cNvPr id="26" name="Shape 24"/>
          <p:cNvSpPr/>
          <p:nvPr/>
        </p:nvSpPr>
        <p:spPr>
          <a:xfrm>
            <a:off x="457200" y="4517136"/>
            <a:ext cx="64008" cy="64008"/>
          </a:xfrm>
          <a:prstGeom prst="rect">
            <a:avLst/>
          </a:prstGeom>
          <a:solidFill>
            <a:srgbClr val="B07CFF"/>
          </a:solidFill>
          <a:ln w="12700">
            <a:solidFill>
              <a:srgbClr val="B07CFF"/>
            </a:solidFill>
            <a:prstDash val="solid"/>
          </a:ln>
        </p:spPr>
      </p:sp>
      <p:sp>
        <p:nvSpPr>
          <p:cNvPr id="27" name="Text 25"/>
          <p:cNvSpPr/>
          <p:nvPr/>
        </p:nvSpPr>
        <p:spPr>
          <a:xfrm>
            <a:off x="630936" y="4434840"/>
            <a:ext cx="11103559"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At the current pace the commitment finishes its three-year term substantially unused, the choice is to drive utilisation up or to renegotiate.</a:t>
            </a:r>
            <a:endParaRPr lang="en-US" sz="1250" dirty="0"/>
          </a:p>
        </p:txBody>
      </p:sp>
      <p:sp>
        <p:nvSpPr>
          <p:cNvPr id="28" name="Shape 26"/>
          <p:cNvSpPr/>
          <p:nvPr/>
        </p:nvSpPr>
        <p:spPr>
          <a:xfrm>
            <a:off x="457200" y="5084064"/>
            <a:ext cx="64008" cy="64008"/>
          </a:xfrm>
          <a:prstGeom prst="rect">
            <a:avLst/>
          </a:prstGeom>
          <a:solidFill>
            <a:srgbClr val="B07CFF"/>
          </a:solidFill>
          <a:ln w="12700">
            <a:solidFill>
              <a:srgbClr val="B07CFF"/>
            </a:solidFill>
            <a:prstDash val="solid"/>
          </a:ln>
        </p:spPr>
      </p:sp>
      <p:sp>
        <p:nvSpPr>
          <p:cNvPr id="29" name="Text 27"/>
          <p:cNvSpPr/>
          <p:nvPr/>
        </p:nvSpPr>
        <p:spPr>
          <a:xfrm>
            <a:off x="630936" y="5001768"/>
            <a:ext cx="11103559"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The VMs, networking and storage that Databricks runs on are not covered by the pre-purchase and cost $63,501 across May to July alone.</a:t>
            </a:r>
            <a:endParaRPr lang="en-US" sz="1250" dirty="0"/>
          </a:p>
        </p:txBody>
      </p:sp>
      <p:sp>
        <p:nvSpPr>
          <p:cNvPr id="30" name="Shape 28"/>
          <p:cNvSpPr/>
          <p:nvPr/>
        </p:nvSpPr>
        <p:spPr>
          <a:xfrm>
            <a:off x="457200" y="5650992"/>
            <a:ext cx="64008" cy="64008"/>
          </a:xfrm>
          <a:prstGeom prst="rect">
            <a:avLst/>
          </a:prstGeom>
          <a:solidFill>
            <a:srgbClr val="B07CFF"/>
          </a:solidFill>
          <a:ln w="12700">
            <a:solidFill>
              <a:srgbClr val="B07CFF"/>
            </a:solidFill>
            <a:prstDash val="solid"/>
          </a:ln>
        </p:spPr>
      </p:sp>
      <p:sp>
        <p:nvSpPr>
          <p:cNvPr id="31" name="Text 29"/>
          <p:cNvSpPr/>
          <p:nvPr/>
        </p:nvSpPr>
        <p:spPr>
          <a:xfrm>
            <a:off x="630936" y="5568696"/>
            <a:ext cx="11103559" cy="18288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This is invisible in a consumption-only view, which is exactly why it belongs in a CIO briefing rather than an operations report.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6B7A"/>
                </a:solidFill>
                <a:latin typeface="Calibri" pitchFamily="34" charset="0"/>
                <a:ea typeface="Calibri" pitchFamily="34" charset="-122"/>
                <a:cs typeface="Calibri" pitchFamily="34" charset="-120"/>
              </a:rPr>
              <a:t>ATTRIBUTION</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471" b="1" dirty="0">
                <a:solidFill>
                  <a:srgbClr val="F4F7FB"/>
                </a:solidFill>
                <a:latin typeface="Calibri" pitchFamily="34" charset="0"/>
                <a:ea typeface="Calibri" pitchFamily="34" charset="-122"/>
                <a:cs typeface="Calibri" pitchFamily="34" charset="-120"/>
              </a:rPr>
              <a:t>A quarter of the bill has no owner</a:t>
            </a:r>
            <a:endParaRPr lang="en-US" sz="2471"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From the Project tag on each resource, Azure enrollment.</a:t>
            </a:r>
            <a:endParaRPr lang="en-US" sz="1200" dirty="0"/>
          </a:p>
        </p:txBody>
      </p:sp>
      <p:sp>
        <p:nvSpPr>
          <p:cNvPr id="7" name="Shape 5"/>
          <p:cNvSpPr/>
          <p:nvPr/>
        </p:nvSpPr>
        <p:spPr>
          <a:xfrm>
            <a:off x="457200" y="1234440"/>
            <a:ext cx="3606698" cy="1078992"/>
          </a:xfrm>
          <a:prstGeom prst="roundRect">
            <a:avLst>
              <a:gd name="adj" fmla="val 5085"/>
            </a:avLst>
          </a:prstGeom>
          <a:solidFill>
            <a:srgbClr val="121B2D"/>
          </a:solidFill>
          <a:ln w="12700">
            <a:solidFill>
              <a:srgbClr val="23304A"/>
            </a:solidFill>
            <a:prstDash val="solid"/>
          </a:ln>
        </p:spPr>
      </p:sp>
      <p:sp>
        <p:nvSpPr>
          <p:cNvPr id="8" name="Text 6"/>
          <p:cNvSpPr/>
          <p:nvPr/>
        </p:nvSpPr>
        <p:spPr>
          <a:xfrm>
            <a:off x="658368"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UNTAGGED, JULY</a:t>
            </a:r>
            <a:endParaRPr lang="en-US" sz="1200" dirty="0"/>
          </a:p>
        </p:txBody>
      </p:sp>
      <p:sp>
        <p:nvSpPr>
          <p:cNvPr id="9" name="Text 7"/>
          <p:cNvSpPr/>
          <p:nvPr/>
        </p:nvSpPr>
        <p:spPr>
          <a:xfrm>
            <a:off x="658368"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23.4%</a:t>
            </a:r>
            <a:endParaRPr lang="en-US" sz="2800" dirty="0"/>
          </a:p>
        </p:txBody>
      </p:sp>
      <p:sp>
        <p:nvSpPr>
          <p:cNvPr id="10" name="Text 8"/>
          <p:cNvSpPr/>
          <p:nvPr/>
        </p:nvSpPr>
        <p:spPr>
          <a:xfrm>
            <a:off x="658368"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was 8.4% in May</a:t>
            </a:r>
            <a:endParaRPr lang="en-US" sz="1200" dirty="0"/>
          </a:p>
        </p:txBody>
      </p:sp>
      <p:sp>
        <p:nvSpPr>
          <p:cNvPr id="11" name="Shape 9"/>
          <p:cNvSpPr/>
          <p:nvPr/>
        </p:nvSpPr>
        <p:spPr>
          <a:xfrm>
            <a:off x="4292498" y="1234440"/>
            <a:ext cx="3606698" cy="1078992"/>
          </a:xfrm>
          <a:prstGeom prst="roundRect">
            <a:avLst>
              <a:gd name="adj" fmla="val 5085"/>
            </a:avLst>
          </a:prstGeom>
          <a:solidFill>
            <a:srgbClr val="121B2D"/>
          </a:solidFill>
          <a:ln w="12700">
            <a:solidFill>
              <a:srgbClr val="23304A"/>
            </a:solidFill>
            <a:prstDash val="solid"/>
          </a:ln>
        </p:spPr>
      </p:sp>
      <p:sp>
        <p:nvSpPr>
          <p:cNvPr id="12" name="Text 10"/>
          <p:cNvSpPr/>
          <p:nvPr/>
        </p:nvSpPr>
        <p:spPr>
          <a:xfrm>
            <a:off x="4493666"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UNTAGGED AI SPEND</a:t>
            </a:r>
            <a:endParaRPr lang="en-US" sz="1200" dirty="0"/>
          </a:p>
        </p:txBody>
      </p:sp>
      <p:sp>
        <p:nvSpPr>
          <p:cNvPr id="13" name="Text 11"/>
          <p:cNvSpPr/>
          <p:nvPr/>
        </p:nvSpPr>
        <p:spPr>
          <a:xfrm>
            <a:off x="4493666"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$51,381</a:t>
            </a:r>
            <a:endParaRPr lang="en-US" sz="2800" dirty="0"/>
          </a:p>
        </p:txBody>
      </p:sp>
      <p:sp>
        <p:nvSpPr>
          <p:cNvPr id="14" name="Text 12"/>
          <p:cNvSpPr/>
          <p:nvPr/>
        </p:nvSpPr>
        <p:spPr>
          <a:xfrm>
            <a:off x="4493666"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of $96,843 untagged in total</a:t>
            </a:r>
            <a:endParaRPr lang="en-US" sz="1200" dirty="0"/>
          </a:p>
        </p:txBody>
      </p:sp>
      <p:sp>
        <p:nvSpPr>
          <p:cNvPr id="15" name="Shape 13"/>
          <p:cNvSpPr/>
          <p:nvPr/>
        </p:nvSpPr>
        <p:spPr>
          <a:xfrm>
            <a:off x="8127797" y="1234440"/>
            <a:ext cx="3606698" cy="1078992"/>
          </a:xfrm>
          <a:prstGeom prst="roundRect">
            <a:avLst>
              <a:gd name="adj" fmla="val 5085"/>
            </a:avLst>
          </a:prstGeom>
          <a:solidFill>
            <a:srgbClr val="121B2D"/>
          </a:solidFill>
          <a:ln w="12700">
            <a:solidFill>
              <a:srgbClr val="23304A"/>
            </a:solidFill>
            <a:prstDash val="solid"/>
          </a:ln>
        </p:spPr>
      </p:sp>
      <p:sp>
        <p:nvSpPr>
          <p:cNvPr id="16" name="Text 14"/>
          <p:cNvSpPr/>
          <p:nvPr/>
        </p:nvSpPr>
        <p:spPr>
          <a:xfrm>
            <a:off x="8328965"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COST CENTRE FIELD</a:t>
            </a:r>
            <a:endParaRPr lang="en-US" sz="1200" dirty="0"/>
          </a:p>
        </p:txBody>
      </p:sp>
      <p:sp>
        <p:nvSpPr>
          <p:cNvPr id="17" name="Text 15"/>
          <p:cNvSpPr/>
          <p:nvPr/>
        </p:nvSpPr>
        <p:spPr>
          <a:xfrm>
            <a:off x="8328965"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empty</a:t>
            </a:r>
            <a:endParaRPr lang="en-US" sz="2800" dirty="0"/>
          </a:p>
        </p:txBody>
      </p:sp>
      <p:sp>
        <p:nvSpPr>
          <p:cNvPr id="18" name="Text 16"/>
          <p:cNvSpPr/>
          <p:nvPr/>
        </p:nvSpPr>
        <p:spPr>
          <a:xfrm>
            <a:off x="8328965"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on every line of the enrollment</a:t>
            </a:r>
            <a:endParaRPr lang="en-US" sz="1200" dirty="0"/>
          </a:p>
        </p:txBody>
      </p:sp>
      <p:sp>
        <p:nvSpPr>
          <p:cNvPr id="19" name="Shape 17"/>
          <p:cNvSpPr/>
          <p:nvPr/>
        </p:nvSpPr>
        <p:spPr>
          <a:xfrm>
            <a:off x="457200" y="2468880"/>
            <a:ext cx="11277295" cy="1691640"/>
          </a:xfrm>
          <a:prstGeom prst="roundRect">
            <a:avLst>
              <a:gd name="adj" fmla="val 3243"/>
            </a:avLst>
          </a:prstGeom>
          <a:solidFill>
            <a:srgbClr val="121B2D"/>
          </a:solidFill>
          <a:ln w="12700">
            <a:solidFill>
              <a:srgbClr val="FF6B7A"/>
            </a:solidFill>
            <a:prstDash val="solid"/>
          </a:ln>
        </p:spPr>
      </p:sp>
      <p:sp>
        <p:nvSpPr>
          <p:cNvPr id="20" name="Text 18"/>
          <p:cNvSpPr/>
          <p:nvPr/>
        </p:nvSpPr>
        <p:spPr>
          <a:xfrm>
            <a:off x="777240" y="2651760"/>
            <a:ext cx="3108960" cy="1325880"/>
          </a:xfrm>
          <a:prstGeom prst="rect">
            <a:avLst/>
          </a:prstGeom>
          <a:noFill/>
          <a:ln/>
        </p:spPr>
        <p:txBody>
          <a:bodyPr wrap="square" lIns="0" tIns="0" rIns="0" bIns="0" rtlCol="0" anchor="ctr"/>
          <a:lstStyle/>
          <a:p>
            <a:pPr indent="0" marL="0">
              <a:buNone/>
            </a:pPr>
            <a:r>
              <a:rPr lang="en-US" sz="6600" b="1" dirty="0">
                <a:solidFill>
                  <a:srgbClr val="FF6B7A"/>
                </a:solidFill>
                <a:latin typeface="Calibri" pitchFamily="34" charset="0"/>
                <a:ea typeface="Calibri" pitchFamily="34" charset="-122"/>
                <a:cs typeface="Calibri" pitchFamily="34" charset="-120"/>
              </a:rPr>
              <a:t>23.4%</a:t>
            </a:r>
            <a:endParaRPr lang="en-US" sz="6600" dirty="0"/>
          </a:p>
        </p:txBody>
      </p:sp>
      <p:sp>
        <p:nvSpPr>
          <p:cNvPr id="21" name="Text 19"/>
          <p:cNvSpPr/>
          <p:nvPr/>
        </p:nvSpPr>
        <p:spPr>
          <a:xfrm>
            <a:off x="4023360" y="2724912"/>
            <a:ext cx="7345375" cy="1188720"/>
          </a:xfrm>
          <a:prstGeom prst="rect">
            <a:avLst/>
          </a:prstGeom>
          <a:noFill/>
          <a:ln/>
        </p:spPr>
        <p:txBody>
          <a:bodyPr wrap="square" lIns="0" tIns="0" rIns="0" bIns="0" rtlCol="0" anchor="ctr"/>
          <a:lstStyle/>
          <a:p>
            <a:pPr indent="0" marL="0">
              <a:lnSpc>
                <a:spcPct val="125000"/>
              </a:lnSpc>
              <a:buNone/>
            </a:pPr>
            <a:r>
              <a:rPr lang="en-US" sz="1550" dirty="0">
                <a:solidFill>
                  <a:srgbClr val="F4F7FB"/>
                </a:solidFill>
                <a:latin typeface="Calibri" pitchFamily="34" charset="0"/>
                <a:ea typeface="Calibri" pitchFamily="34" charset="-122"/>
                <a:cs typeface="Calibri" pitchFamily="34" charset="-120"/>
              </a:rPr>
              <a:t>of July's Azure spend carries no project tag, up from 8.4% in May. Nearly a quarter of the bill cannot be attributed to a team, which means it cannot be charged back, questioned, or defended.</a:t>
            </a:r>
            <a:endParaRPr lang="en-US" sz="1550" dirty="0"/>
          </a:p>
        </p:txBody>
      </p:sp>
      <p:sp>
        <p:nvSpPr>
          <p:cNvPr id="22" name="Shape 20"/>
          <p:cNvSpPr/>
          <p:nvPr/>
        </p:nvSpPr>
        <p:spPr>
          <a:xfrm>
            <a:off x="457200" y="4517136"/>
            <a:ext cx="64008" cy="64008"/>
          </a:xfrm>
          <a:prstGeom prst="rect">
            <a:avLst/>
          </a:prstGeom>
          <a:solidFill>
            <a:srgbClr val="FF6B7A"/>
          </a:solidFill>
          <a:ln w="12700">
            <a:solidFill>
              <a:srgbClr val="FF6B7A"/>
            </a:solidFill>
            <a:prstDash val="solid"/>
          </a:ln>
        </p:spPr>
      </p:sp>
      <p:sp>
        <p:nvSpPr>
          <p:cNvPr id="23" name="Text 21"/>
          <p:cNvSpPr/>
          <p:nvPr/>
        </p:nvSpPr>
        <p:spPr>
          <a:xfrm>
            <a:off x="630936" y="4434840"/>
            <a:ext cx="11103559"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The untagged share tripled in three months, it is getting worse, not better, and it is worst in exactly the AI workloads that are growing fastest.</a:t>
            </a:r>
            <a:endParaRPr lang="en-US" sz="1250" dirty="0"/>
          </a:p>
        </p:txBody>
      </p:sp>
      <p:sp>
        <p:nvSpPr>
          <p:cNvPr id="24" name="Shape 22"/>
          <p:cNvSpPr/>
          <p:nvPr/>
        </p:nvSpPr>
        <p:spPr>
          <a:xfrm>
            <a:off x="457200" y="5084064"/>
            <a:ext cx="64008" cy="64008"/>
          </a:xfrm>
          <a:prstGeom prst="rect">
            <a:avLst/>
          </a:prstGeom>
          <a:solidFill>
            <a:srgbClr val="FF6B7A"/>
          </a:solidFill>
          <a:ln w="12700">
            <a:solidFill>
              <a:srgbClr val="FF6B7A"/>
            </a:solidFill>
            <a:prstDash val="solid"/>
          </a:ln>
        </p:spPr>
      </p:sp>
      <p:sp>
        <p:nvSpPr>
          <p:cNvPr id="25" name="Text 23"/>
          <p:cNvSpPr/>
          <p:nvPr/>
        </p:nvSpPr>
        <p:spPr>
          <a:xfrm>
            <a:off x="630936" y="5001768"/>
            <a:ext cx="11103559"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Tagging is the dependency under everything else: no chargeback, no per-consumer budget, and no gateway quota can be enforced without it.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3DDC97">
              <a:alpha val="8000"/>
            </a:srgbClr>
          </a:solidFill>
          <a:ln w="12700">
            <a:solidFill>
              <a:srgbClr val="3DDC97">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457200" y="2342896"/>
            <a:ext cx="8229600" cy="274320"/>
          </a:xfrm>
          <a:prstGeom prst="rect">
            <a:avLst/>
          </a:prstGeom>
          <a:noFill/>
          <a:ln/>
        </p:spPr>
        <p:txBody>
          <a:bodyPr wrap="square" lIns="0" tIns="0" rIns="0" bIns="0" rtlCol="0" anchor="ctr"/>
          <a:lstStyle/>
          <a:p>
            <a:pPr indent="0" marL="0">
              <a:buNone/>
            </a:pPr>
            <a:r>
              <a:rPr lang="en-US" sz="1300" b="1" spc="300" kern="0" dirty="0">
                <a:solidFill>
                  <a:srgbClr val="3DDC97"/>
                </a:solidFill>
                <a:latin typeface="Calibri" pitchFamily="34" charset="0"/>
                <a:ea typeface="Calibri" pitchFamily="34" charset="-122"/>
                <a:cs typeface="Calibri" pitchFamily="34" charset="-120"/>
              </a:rPr>
              <a:t>PART THREE</a:t>
            </a:r>
            <a:endParaRPr lang="en-US" sz="1300" dirty="0"/>
          </a:p>
        </p:txBody>
      </p:sp>
      <p:sp>
        <p:nvSpPr>
          <p:cNvPr id="6" name="Text 4"/>
          <p:cNvSpPr/>
          <p:nvPr/>
        </p:nvSpPr>
        <p:spPr>
          <a:xfrm>
            <a:off x="457200" y="2690368"/>
            <a:ext cx="8412480" cy="1239520"/>
          </a:xfrm>
          <a:prstGeom prst="rect">
            <a:avLst/>
          </a:prstGeom>
          <a:noFill/>
          <a:ln/>
        </p:spPr>
        <p:txBody>
          <a:bodyPr wrap="square" lIns="0" tIns="0" rIns="0" bIns="0" rtlCol="0" anchor="ctr"/>
          <a:lstStyle/>
          <a:p>
            <a:pPr indent="0" marL="0">
              <a:buNone/>
            </a:pPr>
            <a:r>
              <a:rPr lang="en-US" sz="4000" b="1" dirty="0">
                <a:solidFill>
                  <a:srgbClr val="F4F7FB"/>
                </a:solidFill>
                <a:latin typeface="Calibri" pitchFamily="34" charset="0"/>
                <a:ea typeface="Calibri" pitchFamily="34" charset="-122"/>
                <a:cs typeface="Calibri" pitchFamily="34" charset="-120"/>
              </a:rPr>
              <a:t>What we have already taken out</a:t>
            </a:r>
            <a:endParaRPr lang="en-US" sz="4000" dirty="0"/>
          </a:p>
        </p:txBody>
      </p:sp>
      <p:sp>
        <p:nvSpPr>
          <p:cNvPr id="7" name="Text 5"/>
          <p:cNvSpPr/>
          <p:nvPr/>
        </p:nvSpPr>
        <p:spPr>
          <a:xfrm>
            <a:off x="457200" y="4057904"/>
            <a:ext cx="7863840" cy="457200"/>
          </a:xfrm>
          <a:prstGeom prst="rect">
            <a:avLst/>
          </a:prstGeom>
          <a:noFill/>
          <a:ln/>
        </p:spPr>
        <p:txBody>
          <a:bodyPr wrap="square" lIns="0" tIns="0" rIns="0" bIns="0" rtlCol="0" anchor="t"/>
          <a:lstStyle/>
          <a:p>
            <a:pPr indent="0" marL="0">
              <a:buNone/>
            </a:pPr>
            <a:r>
              <a:rPr lang="en-US" sz="1500" dirty="0">
                <a:solidFill>
                  <a:srgbClr val="91A0B7"/>
                </a:solidFill>
                <a:latin typeface="Calibri" pitchFamily="34" charset="0"/>
                <a:ea typeface="Calibri" pitchFamily="34" charset="-122"/>
                <a:cs typeface="Calibri" pitchFamily="34" charset="-120"/>
              </a:rPr>
              <a:t>$278,868 banked, $193,000 identified and waiting</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C97"/>
          </a:solidFill>
          <a:ln w="12700">
            <a:solidFill>
              <a:srgbClr val="3DDC97"/>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C97"/>
                </a:solidFill>
                <a:latin typeface="Calibri" pitchFamily="34" charset="0"/>
                <a:ea typeface="Calibri" pitchFamily="34" charset="-122"/>
                <a:cs typeface="Calibri" pitchFamily="34" charset="-120"/>
              </a:rPr>
              <a:t>IMPLEMENTED</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953" b="1" dirty="0">
                <a:solidFill>
                  <a:srgbClr val="F4F7FB"/>
                </a:solidFill>
                <a:latin typeface="Calibri" pitchFamily="34" charset="0"/>
                <a:ea typeface="Calibri" pitchFamily="34" charset="-122"/>
                <a:cs typeface="Calibri" pitchFamily="34" charset="-120"/>
              </a:rPr>
              <a:t>$278,868 of annual saving, already actioned</a:t>
            </a:r>
            <a:endParaRPr lang="en-US" sz="1953"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Delivered during 2026. Annualised figures.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This is the half of the story the previous briefing did not tell: the bill grew 21% since January, and it would have grown considerably more without these.</a:t>
            </a:r>
            <a:endParaRPr lang="en-US" sz="1200" dirty="0"/>
          </a:p>
        </p:txBody>
      </p:sp>
      <p:sp>
        <p:nvSpPr>
          <p:cNvPr id="8" name="Text 6"/>
          <p:cNvSpPr/>
          <p:nvPr/>
        </p:nvSpPr>
        <p:spPr>
          <a:xfrm>
            <a:off x="457200" y="1234440"/>
            <a:ext cx="53035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Banked savings, by type</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5303520" cy="914400"/>
        </p:xfrm>
        <a:graphic>
          <a:graphicData uri="http://schemas.openxmlformats.org/drawingml/2006/table">
            <a:tbl>
              <a:tblPr/>
              <a:tblGrid>
                <a:gridCol w="3840480"/>
                <a:gridCol w="146304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Savings type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Annual saving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Decommission North Europe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$70,452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VM reserved instance purchase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$66,783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Savings plan purchase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$65,335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Remove unnecessary VMs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$28,105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Idle unattached disks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$20,576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RI renewal, blob storage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$9,432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RDS reserved instance purchase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$7,944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Retire two unused SQL instances on expiring RI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$4,563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EKS extended support 1.33, preprod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$4,526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App Service, reserved instance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$712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RI refund to reach 100% utilisation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$440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bl>
          </a:graphicData>
        </a:graphic>
      </p:graphicFrame>
      <p:sp>
        <p:nvSpPr>
          <p:cNvPr id="10" name="Shape 7"/>
          <p:cNvSpPr/>
          <p:nvPr/>
        </p:nvSpPr>
        <p:spPr>
          <a:xfrm>
            <a:off x="6126480" y="1234440"/>
            <a:ext cx="560801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6327648" y="1325880"/>
            <a:ext cx="520567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ANNUAL SAVINGS</a:t>
            </a:r>
            <a:endParaRPr lang="en-US" sz="1200" dirty="0"/>
          </a:p>
        </p:txBody>
      </p:sp>
      <p:sp>
        <p:nvSpPr>
          <p:cNvPr id="12" name="Text 9"/>
          <p:cNvSpPr/>
          <p:nvPr/>
        </p:nvSpPr>
        <p:spPr>
          <a:xfrm>
            <a:off x="6327648" y="1527048"/>
            <a:ext cx="5205679" cy="438912"/>
          </a:xfrm>
          <a:prstGeom prst="rect">
            <a:avLst/>
          </a:prstGeom>
          <a:noFill/>
          <a:ln/>
        </p:spPr>
        <p:txBody>
          <a:bodyPr wrap="square" lIns="0" tIns="0" rIns="0" bIns="0" rtlCol="0" anchor="ctr"/>
          <a:lstStyle/>
          <a:p>
            <a:pPr indent="0" marL="0">
              <a:buNone/>
            </a:pPr>
            <a:r>
              <a:rPr lang="en-US" sz="3000" b="1" dirty="0">
                <a:solidFill>
                  <a:srgbClr val="F4F7FB"/>
                </a:solidFill>
                <a:latin typeface="Calibri" pitchFamily="34" charset="0"/>
                <a:ea typeface="Calibri" pitchFamily="34" charset="-122"/>
                <a:cs typeface="Calibri" pitchFamily="34" charset="-120"/>
              </a:rPr>
              <a:t>$278,868</a:t>
            </a:r>
            <a:endParaRPr lang="en-US" sz="3000" dirty="0"/>
          </a:p>
        </p:txBody>
      </p:sp>
      <p:sp>
        <p:nvSpPr>
          <p:cNvPr id="13" name="Text 10"/>
          <p:cNvSpPr/>
          <p:nvPr/>
        </p:nvSpPr>
        <p:spPr>
          <a:xfrm>
            <a:off x="6327648" y="1929384"/>
            <a:ext cx="520567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already implemented</a:t>
            </a:r>
            <a:endParaRPr lang="en-US" sz="1200" dirty="0"/>
          </a:p>
        </p:txBody>
      </p:sp>
      <p:sp>
        <p:nvSpPr>
          <p:cNvPr id="14" name="Shape 11"/>
          <p:cNvSpPr/>
          <p:nvPr/>
        </p:nvSpPr>
        <p:spPr>
          <a:xfrm>
            <a:off x="6126480" y="2459736"/>
            <a:ext cx="560801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6327648" y="2551176"/>
            <a:ext cx="520567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AGAINST ANNUALISED SPEND</a:t>
            </a:r>
            <a:endParaRPr lang="en-US" sz="1200" dirty="0"/>
          </a:p>
        </p:txBody>
      </p:sp>
      <p:sp>
        <p:nvSpPr>
          <p:cNvPr id="16" name="Text 13"/>
          <p:cNvSpPr/>
          <p:nvPr/>
        </p:nvSpPr>
        <p:spPr>
          <a:xfrm>
            <a:off x="6327648" y="2752344"/>
            <a:ext cx="520567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9.4%</a:t>
            </a:r>
            <a:endParaRPr lang="en-US" sz="2800" dirty="0"/>
          </a:p>
        </p:txBody>
      </p:sp>
      <p:sp>
        <p:nvSpPr>
          <p:cNvPr id="17" name="Text 14"/>
          <p:cNvSpPr/>
          <p:nvPr/>
        </p:nvSpPr>
        <p:spPr>
          <a:xfrm>
            <a:off x="6327648" y="3154680"/>
            <a:ext cx="520567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of ~$3.0M consumption</a:t>
            </a:r>
            <a:endParaRPr lang="en-US" sz="1200" dirty="0"/>
          </a:p>
        </p:txBody>
      </p:sp>
      <p:sp>
        <p:nvSpPr>
          <p:cNvPr id="18" name="Shape 15"/>
          <p:cNvSpPr/>
          <p:nvPr/>
        </p:nvSpPr>
        <p:spPr>
          <a:xfrm>
            <a:off x="6126480" y="3685032"/>
            <a:ext cx="560801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6327648" y="3776472"/>
            <a:ext cx="520567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ACTION</a:t>
            </a:r>
            <a:endParaRPr lang="en-US" sz="1200" dirty="0"/>
          </a:p>
        </p:txBody>
      </p:sp>
      <p:sp>
        <p:nvSpPr>
          <p:cNvPr id="20" name="Text 17"/>
          <p:cNvSpPr/>
          <p:nvPr/>
        </p:nvSpPr>
        <p:spPr>
          <a:xfrm>
            <a:off x="6327648" y="3977640"/>
            <a:ext cx="520567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$70,452</a:t>
            </a:r>
            <a:endParaRPr lang="en-US" sz="2800" dirty="0"/>
          </a:p>
        </p:txBody>
      </p:sp>
      <p:sp>
        <p:nvSpPr>
          <p:cNvPr id="21" name="Text 18"/>
          <p:cNvSpPr/>
          <p:nvPr/>
        </p:nvSpPr>
        <p:spPr>
          <a:xfrm>
            <a:off x="6327648" y="4379976"/>
            <a:ext cx="5205679" cy="356616"/>
          </a:xfrm>
          <a:prstGeom prst="rect">
            <a:avLst/>
          </a:prstGeom>
          <a:noFill/>
          <a:ln/>
        </p:spPr>
        <p:txBody>
          <a:bodyPr wrap="square" lIns="0" tIns="0" rIns="0" bIns="0" rtlCol="0" anchor="t"/>
          <a:lstStyle/>
          <a:p>
            <a:pPr indent="0" marL="0">
              <a:lnSpc>
                <a:spcPct val="105000"/>
              </a:lnSpc>
              <a:buNone/>
            </a:pPr>
            <a:r>
              <a:rPr lang="en-US" sz="1200" b="1" dirty="0">
                <a:solidFill>
                  <a:srgbClr val="2F8CFF"/>
                </a:solidFill>
                <a:latin typeface="Calibri" pitchFamily="34" charset="0"/>
                <a:ea typeface="Calibri" pitchFamily="34" charset="-122"/>
                <a:cs typeface="Calibri" pitchFamily="34" charset="-120"/>
              </a:rPr>
              <a:t>North Europe, $5,871/mo removed</a:t>
            </a:r>
            <a:endParaRPr lang="en-US" sz="1200" dirty="0"/>
          </a:p>
        </p:txBody>
      </p:sp>
      <p:sp>
        <p:nvSpPr>
          <p:cNvPr id="22" name="Shape 19"/>
          <p:cNvSpPr/>
          <p:nvPr/>
        </p:nvSpPr>
        <p:spPr>
          <a:xfrm>
            <a:off x="6126480" y="4910328"/>
            <a:ext cx="5608015" cy="1097280"/>
          </a:xfrm>
          <a:prstGeom prst="roundRect">
            <a:avLst>
              <a:gd name="adj" fmla="val 5000"/>
            </a:avLst>
          </a:prstGeom>
          <a:solidFill>
            <a:srgbClr val="121B2D"/>
          </a:solidFill>
          <a:ln w="12700">
            <a:solidFill>
              <a:srgbClr val="23304A"/>
            </a:solidFill>
            <a:prstDash val="solid"/>
          </a:ln>
        </p:spPr>
      </p:sp>
      <p:sp>
        <p:nvSpPr>
          <p:cNvPr id="23" name="Text 20"/>
          <p:cNvSpPr/>
          <p:nvPr/>
        </p:nvSpPr>
        <p:spPr>
          <a:xfrm>
            <a:off x="6327648" y="5001768"/>
            <a:ext cx="520567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COMMITMENT-BASED</a:t>
            </a:r>
            <a:endParaRPr lang="en-US" sz="1200" dirty="0"/>
          </a:p>
        </p:txBody>
      </p:sp>
      <p:sp>
        <p:nvSpPr>
          <p:cNvPr id="24" name="Text 21"/>
          <p:cNvSpPr/>
          <p:nvPr/>
        </p:nvSpPr>
        <p:spPr>
          <a:xfrm>
            <a:off x="6327648" y="5202936"/>
            <a:ext cx="520567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$132,118</a:t>
            </a:r>
            <a:endParaRPr lang="en-US" sz="2800" dirty="0"/>
          </a:p>
        </p:txBody>
      </p:sp>
      <p:sp>
        <p:nvSpPr>
          <p:cNvPr id="25" name="Text 22"/>
          <p:cNvSpPr/>
          <p:nvPr/>
        </p:nvSpPr>
        <p:spPr>
          <a:xfrm>
            <a:off x="6327648" y="5605272"/>
            <a:ext cx="5205679" cy="356616"/>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reservations and savings plans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E0A030"/>
                </a:solidFill>
                <a:latin typeface="Calibri" pitchFamily="34" charset="0"/>
                <a:ea typeface="Calibri" pitchFamily="34" charset="-122"/>
                <a:cs typeface="Calibri" pitchFamily="34" charset="-120"/>
              </a:rPr>
              <a:t>IDENTIFIED</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$193,000 more, costed and waiting on a decision</a:t>
            </a:r>
            <a:endParaRPr lang="en-US" sz="1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Identified, not yet implemented. Annualised figures.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None of this changes what runs, it changes how it is bought and how long it stays on. The ask is a decision on the top four items, which are 66% of the value.</a:t>
            </a:r>
            <a:endParaRPr lang="en-US" sz="1200" dirty="0"/>
          </a:p>
        </p:txBody>
      </p:sp>
      <p:sp>
        <p:nvSpPr>
          <p:cNvPr id="8" name="Text 6"/>
          <p:cNvSpPr/>
          <p:nvPr/>
        </p:nvSpPr>
        <p:spPr>
          <a:xfrm>
            <a:off x="457200" y="1234440"/>
            <a:ext cx="452628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Azure</a:t>
            </a:r>
            <a:endParaRPr lang="en-US" sz="1500" dirty="0"/>
          </a:p>
        </p:txBody>
      </p:sp>
      <p:sp>
        <p:nvSpPr>
          <p:cNvPr id="9" name="Text 7"/>
          <p:cNvSpPr/>
          <p:nvPr/>
        </p:nvSpPr>
        <p:spPr>
          <a:xfrm>
            <a:off x="457200" y="1508760"/>
            <a:ext cx="4526280" cy="219456"/>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Annual saving if implemented</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764792"/>
          <a:ext cx="4526280" cy="914400"/>
        </p:xfrm>
        <a:graphic>
          <a:graphicData uri="http://schemas.openxmlformats.org/drawingml/2006/table">
            <a:tbl>
              <a:tblPr/>
              <a:tblGrid>
                <a:gridCol w="3200400"/>
                <a:gridCol w="132588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Recommendation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Annual saving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Premium disks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$44,592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Schedule shutdown for 24/7 VMs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$36,741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VM reserved instance purchase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$26,758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VM right-size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$19,854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RI, PostgreSQL databases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$17,037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Idle reserved disks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$13,464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Remove unnecessary VMs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$13,147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91A0B7"/>
                          </a:solidFill>
                          <a:latin typeface="Calibri" pitchFamily="34" charset="0"/>
                          <a:ea typeface="Calibri" pitchFamily="34" charset="-122"/>
                          <a:cs typeface="Calibri" pitchFamily="34" charset="-120"/>
                        </a:rPr>
                        <a:t>Four smaller items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$13,243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bl>
          </a:graphicData>
        </a:graphic>
      </p:graphicFrame>
      <p:sp>
        <p:nvSpPr>
          <p:cNvPr id="11" name="Text 8"/>
          <p:cNvSpPr/>
          <p:nvPr/>
        </p:nvSpPr>
        <p:spPr>
          <a:xfrm>
            <a:off x="5349240" y="1234440"/>
            <a:ext cx="452628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AWS</a:t>
            </a:r>
            <a:endParaRPr lang="en-US" sz="1500" dirty="0"/>
          </a:p>
        </p:txBody>
      </p:sp>
      <p:sp>
        <p:nvSpPr>
          <p:cNvPr id="12" name="Text 9"/>
          <p:cNvSpPr/>
          <p:nvPr/>
        </p:nvSpPr>
        <p:spPr>
          <a:xfrm>
            <a:off x="5349240" y="1508760"/>
            <a:ext cx="4526280" cy="219456"/>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Annual saving if implemented</a:t>
            </a:r>
            <a:endParaRPr lang="en-US" sz="120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5349240" y="1764792"/>
          <a:ext cx="4526280" cy="914400"/>
        </p:xfrm>
        <a:graphic>
          <a:graphicData uri="http://schemas.openxmlformats.org/drawingml/2006/table">
            <a:tbl>
              <a:tblPr/>
              <a:tblGrid>
                <a:gridCol w="3200400"/>
                <a:gridCol w="132588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Recommendation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Annual saving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EKS extended support 1.33, prod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$4,526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SageMaker, check necessity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$3,420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bl>
          </a:graphicData>
        </a:graphic>
      </p:graphicFrame>
      <p:sp>
        <p:nvSpPr>
          <p:cNvPr id="14" name="Shape 10"/>
          <p:cNvSpPr/>
          <p:nvPr/>
        </p:nvSpPr>
        <p:spPr>
          <a:xfrm>
            <a:off x="457200" y="4843028"/>
            <a:ext cx="3606698" cy="1078992"/>
          </a:xfrm>
          <a:prstGeom prst="roundRect">
            <a:avLst>
              <a:gd name="adj" fmla="val 5085"/>
            </a:avLst>
          </a:prstGeom>
          <a:solidFill>
            <a:srgbClr val="121B2D"/>
          </a:solidFill>
          <a:ln w="12700">
            <a:solidFill>
              <a:srgbClr val="23304A"/>
            </a:solidFill>
            <a:prstDash val="solid"/>
          </a:ln>
        </p:spPr>
      </p:sp>
      <p:sp>
        <p:nvSpPr>
          <p:cNvPr id="15" name="Text 11"/>
          <p:cNvSpPr/>
          <p:nvPr/>
        </p:nvSpPr>
        <p:spPr>
          <a:xfrm>
            <a:off x="658368" y="4934468"/>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POTENTIAL</a:t>
            </a:r>
            <a:endParaRPr lang="en-US" sz="1200" dirty="0"/>
          </a:p>
        </p:txBody>
      </p:sp>
      <p:sp>
        <p:nvSpPr>
          <p:cNvPr id="16" name="Text 12"/>
          <p:cNvSpPr/>
          <p:nvPr/>
        </p:nvSpPr>
        <p:spPr>
          <a:xfrm>
            <a:off x="658368" y="5135636"/>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$193K</a:t>
            </a:r>
            <a:endParaRPr lang="en-US" sz="2800" dirty="0"/>
          </a:p>
        </p:txBody>
      </p:sp>
      <p:sp>
        <p:nvSpPr>
          <p:cNvPr id="17" name="Text 13"/>
          <p:cNvSpPr/>
          <p:nvPr/>
        </p:nvSpPr>
        <p:spPr>
          <a:xfrm>
            <a:off x="658368" y="5537972"/>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annualised, both clouds</a:t>
            </a:r>
            <a:endParaRPr lang="en-US" sz="1200" dirty="0"/>
          </a:p>
        </p:txBody>
      </p:sp>
      <p:sp>
        <p:nvSpPr>
          <p:cNvPr id="18" name="Shape 14"/>
          <p:cNvSpPr/>
          <p:nvPr/>
        </p:nvSpPr>
        <p:spPr>
          <a:xfrm>
            <a:off x="4292498" y="4843028"/>
            <a:ext cx="3606698" cy="1078992"/>
          </a:xfrm>
          <a:prstGeom prst="roundRect">
            <a:avLst>
              <a:gd name="adj" fmla="val 5085"/>
            </a:avLst>
          </a:prstGeom>
          <a:solidFill>
            <a:srgbClr val="121B2D"/>
          </a:solidFill>
          <a:ln w="12700">
            <a:solidFill>
              <a:srgbClr val="23304A"/>
            </a:solidFill>
            <a:prstDash val="solid"/>
          </a:ln>
        </p:spPr>
      </p:sp>
      <p:sp>
        <p:nvSpPr>
          <p:cNvPr id="19" name="Text 15"/>
          <p:cNvSpPr/>
          <p:nvPr/>
        </p:nvSpPr>
        <p:spPr>
          <a:xfrm>
            <a:off x="4493666" y="4934468"/>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PLUS THE COVERAGE GAP</a:t>
            </a:r>
            <a:endParaRPr lang="en-US" sz="1200" dirty="0"/>
          </a:p>
        </p:txBody>
      </p:sp>
      <p:sp>
        <p:nvSpPr>
          <p:cNvPr id="20" name="Text 16"/>
          <p:cNvSpPr/>
          <p:nvPr/>
        </p:nvSpPr>
        <p:spPr>
          <a:xfrm>
            <a:off x="4493666" y="5135636"/>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~$91K</a:t>
            </a:r>
            <a:endParaRPr lang="en-US" sz="2800" dirty="0"/>
          </a:p>
        </p:txBody>
      </p:sp>
      <p:sp>
        <p:nvSpPr>
          <p:cNvPr id="21" name="Text 17"/>
          <p:cNvSpPr/>
          <p:nvPr/>
        </p:nvSpPr>
        <p:spPr>
          <a:xfrm>
            <a:off x="4493666" y="5537972"/>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Azure on-demand, at AWS rates</a:t>
            </a:r>
            <a:endParaRPr lang="en-US" sz="1200" dirty="0"/>
          </a:p>
        </p:txBody>
      </p:sp>
      <p:sp>
        <p:nvSpPr>
          <p:cNvPr id="22" name="Shape 18"/>
          <p:cNvSpPr/>
          <p:nvPr/>
        </p:nvSpPr>
        <p:spPr>
          <a:xfrm>
            <a:off x="8127797" y="4843028"/>
            <a:ext cx="3606698" cy="1078992"/>
          </a:xfrm>
          <a:prstGeom prst="roundRect">
            <a:avLst>
              <a:gd name="adj" fmla="val 5085"/>
            </a:avLst>
          </a:prstGeom>
          <a:solidFill>
            <a:srgbClr val="121B2D"/>
          </a:solidFill>
          <a:ln w="12700">
            <a:solidFill>
              <a:srgbClr val="23304A"/>
            </a:solidFill>
            <a:prstDash val="solid"/>
          </a:ln>
        </p:spPr>
      </p:sp>
      <p:sp>
        <p:nvSpPr>
          <p:cNvPr id="23" name="Text 19"/>
          <p:cNvSpPr/>
          <p:nvPr/>
        </p:nvSpPr>
        <p:spPr>
          <a:xfrm>
            <a:off x="8328965" y="4934468"/>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BANKED PLUS IDENTIFIED</a:t>
            </a:r>
            <a:endParaRPr lang="en-US" sz="1200" dirty="0"/>
          </a:p>
        </p:txBody>
      </p:sp>
      <p:sp>
        <p:nvSpPr>
          <p:cNvPr id="24" name="Text 20"/>
          <p:cNvSpPr/>
          <p:nvPr/>
        </p:nvSpPr>
        <p:spPr>
          <a:xfrm>
            <a:off x="8328965" y="5135636"/>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$563K</a:t>
            </a:r>
            <a:endParaRPr lang="en-US" sz="2800" dirty="0"/>
          </a:p>
        </p:txBody>
      </p:sp>
      <p:sp>
        <p:nvSpPr>
          <p:cNvPr id="25" name="Text 21"/>
          <p:cNvSpPr/>
          <p:nvPr/>
        </p:nvSpPr>
        <p:spPr>
          <a:xfrm>
            <a:off x="8328965" y="5537972"/>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about 19% of annualised consumption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B07CFF">
              <a:alpha val="8000"/>
            </a:srgbClr>
          </a:solidFill>
          <a:ln w="12700">
            <a:solidFill>
              <a:srgbClr val="B07CFF">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457200" y="2342896"/>
            <a:ext cx="8229600" cy="274320"/>
          </a:xfrm>
          <a:prstGeom prst="rect">
            <a:avLst/>
          </a:prstGeom>
          <a:noFill/>
          <a:ln/>
        </p:spPr>
        <p:txBody>
          <a:bodyPr wrap="square" lIns="0" tIns="0" rIns="0" bIns="0" rtlCol="0" anchor="ctr"/>
          <a:lstStyle/>
          <a:p>
            <a:pPr indent="0" marL="0">
              <a:buNone/>
            </a:pPr>
            <a:r>
              <a:rPr lang="en-US" sz="1300" b="1" spc="300" kern="0" dirty="0">
                <a:solidFill>
                  <a:srgbClr val="B07CFF"/>
                </a:solidFill>
                <a:latin typeface="Calibri" pitchFamily="34" charset="0"/>
                <a:ea typeface="Calibri" pitchFamily="34" charset="-122"/>
                <a:cs typeface="Calibri" pitchFamily="34" charset="-120"/>
              </a:rPr>
              <a:t>PART FOUR</a:t>
            </a:r>
            <a:endParaRPr lang="en-US" sz="1300" dirty="0"/>
          </a:p>
        </p:txBody>
      </p:sp>
      <p:sp>
        <p:nvSpPr>
          <p:cNvPr id="6" name="Text 4"/>
          <p:cNvSpPr/>
          <p:nvPr/>
        </p:nvSpPr>
        <p:spPr>
          <a:xfrm>
            <a:off x="457200" y="2690368"/>
            <a:ext cx="8412480" cy="1239520"/>
          </a:xfrm>
          <a:prstGeom prst="rect">
            <a:avLst/>
          </a:prstGeom>
          <a:noFill/>
          <a:ln/>
        </p:spPr>
        <p:txBody>
          <a:bodyPr wrap="square" lIns="0" tIns="0" rIns="0" bIns="0" rtlCol="0" anchor="ctr"/>
          <a:lstStyle/>
          <a:p>
            <a:pPr indent="0" marL="0">
              <a:buNone/>
            </a:pPr>
            <a:r>
              <a:rPr lang="en-US" sz="4000" b="1" dirty="0">
                <a:solidFill>
                  <a:srgbClr val="F4F7FB"/>
                </a:solidFill>
                <a:latin typeface="Calibri" pitchFamily="34" charset="0"/>
                <a:ea typeface="Calibri" pitchFamily="34" charset="-122"/>
                <a:cs typeface="Calibri" pitchFamily="34" charset="-120"/>
              </a:rPr>
              <a:t>Stopping it recurring</a:t>
            </a:r>
            <a:endParaRPr lang="en-US" sz="4000" dirty="0"/>
          </a:p>
        </p:txBody>
      </p:sp>
      <p:sp>
        <p:nvSpPr>
          <p:cNvPr id="7" name="Text 5"/>
          <p:cNvSpPr/>
          <p:nvPr/>
        </p:nvSpPr>
        <p:spPr>
          <a:xfrm>
            <a:off x="457200" y="4057904"/>
            <a:ext cx="7863840" cy="457200"/>
          </a:xfrm>
          <a:prstGeom prst="rect">
            <a:avLst/>
          </a:prstGeom>
          <a:noFill/>
          <a:ln/>
        </p:spPr>
        <p:txBody>
          <a:bodyPr wrap="square" lIns="0" tIns="0" rIns="0" bIns="0" rtlCol="0" anchor="t"/>
          <a:lstStyle/>
          <a:p>
            <a:pPr indent="0" marL="0">
              <a:buNone/>
            </a:pPr>
            <a:r>
              <a:rPr lang="en-US" sz="1500" dirty="0">
                <a:solidFill>
                  <a:srgbClr val="91A0B7"/>
                </a:solidFill>
                <a:latin typeface="Calibri" pitchFamily="34" charset="0"/>
                <a:ea typeface="Calibri" pitchFamily="34" charset="-122"/>
                <a:cs typeface="Calibri" pitchFamily="34" charset="-120"/>
              </a:rPr>
              <a:t>Optimisation is a one-off. Governance is what stops the next $600K</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THE MECHANISM</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625" b="1" dirty="0">
                <a:solidFill>
                  <a:srgbClr val="F4F7FB"/>
                </a:solidFill>
                <a:latin typeface="Calibri" pitchFamily="34" charset="0"/>
                <a:ea typeface="Calibri" pitchFamily="34" charset="-122"/>
                <a:cs typeface="Calibri" pitchFamily="34" charset="-120"/>
              </a:rPr>
              <a:t>One gateway for every AI request</a:t>
            </a:r>
            <a:endParaRPr lang="en-US" sz="2625"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The enforcement point, not a reporting layer bolted on afterwards, its logs are the financial record.</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Today every business unit buys AI separately, on shared keys, with no owner per consumer, which is why 23.4% of the bill has no name against it.</a:t>
            </a:r>
            <a:endParaRPr lang="en-US" sz="1200" dirty="0"/>
          </a:p>
        </p:txBody>
      </p:sp>
      <p:sp>
        <p:nvSpPr>
          <p:cNvPr id="8" name="Text 6"/>
          <p:cNvSpPr/>
          <p:nvPr/>
        </p:nvSpPr>
        <p:spPr>
          <a:xfrm>
            <a:off x="457200" y="1115568"/>
            <a:ext cx="3063240" cy="237744"/>
          </a:xfrm>
          <a:prstGeom prst="rect">
            <a:avLst/>
          </a:prstGeom>
          <a:noFill/>
          <a:ln/>
        </p:spPr>
        <p:txBody>
          <a:bodyPr wrap="square" lIns="0" tIns="0" rIns="0" bIns="0" rtlCol="0" anchor="ctr"/>
          <a:lstStyle/>
          <a:p>
            <a:pPr indent="0" marL="0">
              <a:buNone/>
            </a:pPr>
            <a:r>
              <a:rPr lang="en-US" sz="1200" b="1" spc="140" kern="0" dirty="0">
                <a:solidFill>
                  <a:srgbClr val="91A0B7"/>
                </a:solidFill>
                <a:latin typeface="Calibri" pitchFamily="34" charset="0"/>
                <a:ea typeface="Calibri" pitchFamily="34" charset="-122"/>
                <a:cs typeface="Calibri" pitchFamily="34" charset="-120"/>
              </a:rPr>
              <a:t>CONSUMERS</a:t>
            </a:r>
            <a:endParaRPr lang="en-US" sz="1200" dirty="0"/>
          </a:p>
        </p:txBody>
      </p:sp>
      <p:sp>
        <p:nvSpPr>
          <p:cNvPr id="9" name="Shape 7"/>
          <p:cNvSpPr/>
          <p:nvPr/>
        </p:nvSpPr>
        <p:spPr>
          <a:xfrm>
            <a:off x="457200" y="1463040"/>
            <a:ext cx="3063240" cy="548640"/>
          </a:xfrm>
          <a:prstGeom prst="roundRect">
            <a:avLst>
              <a:gd name="adj" fmla="val 10000"/>
            </a:avLst>
          </a:prstGeom>
          <a:solidFill>
            <a:srgbClr val="121B2D"/>
          </a:solidFill>
          <a:ln w="12700">
            <a:solidFill>
              <a:srgbClr val="23304A"/>
            </a:solidFill>
            <a:prstDash val="solid"/>
          </a:ln>
        </p:spPr>
      </p:sp>
      <p:sp>
        <p:nvSpPr>
          <p:cNvPr id="10" name="Text 8"/>
          <p:cNvSpPr/>
          <p:nvPr/>
        </p:nvSpPr>
        <p:spPr>
          <a:xfrm>
            <a:off x="640080" y="1463040"/>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Business applications</a:t>
            </a:r>
            <a:endParaRPr lang="en-US" sz="1300" dirty="0"/>
          </a:p>
        </p:txBody>
      </p:sp>
      <p:sp>
        <p:nvSpPr>
          <p:cNvPr id="11" name="Shape 9"/>
          <p:cNvSpPr/>
          <p:nvPr/>
        </p:nvSpPr>
        <p:spPr>
          <a:xfrm>
            <a:off x="457200" y="2121408"/>
            <a:ext cx="3063240" cy="548640"/>
          </a:xfrm>
          <a:prstGeom prst="roundRect">
            <a:avLst>
              <a:gd name="adj" fmla="val 10000"/>
            </a:avLst>
          </a:prstGeom>
          <a:solidFill>
            <a:srgbClr val="121B2D"/>
          </a:solidFill>
          <a:ln w="12700">
            <a:solidFill>
              <a:srgbClr val="23304A"/>
            </a:solidFill>
            <a:prstDash val="solid"/>
          </a:ln>
        </p:spPr>
      </p:sp>
      <p:sp>
        <p:nvSpPr>
          <p:cNvPr id="12" name="Text 10"/>
          <p:cNvSpPr/>
          <p:nvPr/>
        </p:nvSpPr>
        <p:spPr>
          <a:xfrm>
            <a:off x="640080" y="2121408"/>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Copilots and assistants</a:t>
            </a:r>
            <a:endParaRPr lang="en-US" sz="1300" dirty="0"/>
          </a:p>
        </p:txBody>
      </p:sp>
      <p:sp>
        <p:nvSpPr>
          <p:cNvPr id="13" name="Shape 11"/>
          <p:cNvSpPr/>
          <p:nvPr/>
        </p:nvSpPr>
        <p:spPr>
          <a:xfrm>
            <a:off x="457200" y="2779776"/>
            <a:ext cx="3063240" cy="548640"/>
          </a:xfrm>
          <a:prstGeom prst="roundRect">
            <a:avLst>
              <a:gd name="adj" fmla="val 10000"/>
            </a:avLst>
          </a:prstGeom>
          <a:solidFill>
            <a:srgbClr val="121B2D"/>
          </a:solidFill>
          <a:ln w="12700">
            <a:solidFill>
              <a:srgbClr val="23304A"/>
            </a:solidFill>
            <a:prstDash val="solid"/>
          </a:ln>
        </p:spPr>
      </p:sp>
      <p:sp>
        <p:nvSpPr>
          <p:cNvPr id="14" name="Text 12"/>
          <p:cNvSpPr/>
          <p:nvPr/>
        </p:nvSpPr>
        <p:spPr>
          <a:xfrm>
            <a:off x="640080" y="2779776"/>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Autonomous agents</a:t>
            </a:r>
            <a:endParaRPr lang="en-US" sz="1300" dirty="0"/>
          </a:p>
        </p:txBody>
      </p:sp>
      <p:sp>
        <p:nvSpPr>
          <p:cNvPr id="15" name="Shape 13"/>
          <p:cNvSpPr/>
          <p:nvPr/>
        </p:nvSpPr>
        <p:spPr>
          <a:xfrm>
            <a:off x="457200" y="3438144"/>
            <a:ext cx="3063240" cy="548640"/>
          </a:xfrm>
          <a:prstGeom prst="roundRect">
            <a:avLst>
              <a:gd name="adj" fmla="val 10000"/>
            </a:avLst>
          </a:prstGeom>
          <a:solidFill>
            <a:srgbClr val="121B2D"/>
          </a:solidFill>
          <a:ln w="12700">
            <a:solidFill>
              <a:srgbClr val="23304A"/>
            </a:solidFill>
            <a:prstDash val="solid"/>
          </a:ln>
        </p:spPr>
      </p:sp>
      <p:sp>
        <p:nvSpPr>
          <p:cNvPr id="16" name="Text 14"/>
          <p:cNvSpPr/>
          <p:nvPr/>
        </p:nvSpPr>
        <p:spPr>
          <a:xfrm>
            <a:off x="640080" y="3438144"/>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Data science</a:t>
            </a:r>
            <a:endParaRPr lang="en-US" sz="1300" dirty="0"/>
          </a:p>
        </p:txBody>
      </p:sp>
      <p:sp>
        <p:nvSpPr>
          <p:cNvPr id="17" name="Shape 15"/>
          <p:cNvSpPr/>
          <p:nvPr/>
        </p:nvSpPr>
        <p:spPr>
          <a:xfrm>
            <a:off x="457200" y="4096512"/>
            <a:ext cx="3063240" cy="548640"/>
          </a:xfrm>
          <a:prstGeom prst="roundRect">
            <a:avLst>
              <a:gd name="adj" fmla="val 10000"/>
            </a:avLst>
          </a:prstGeom>
          <a:solidFill>
            <a:srgbClr val="121B2D"/>
          </a:solidFill>
          <a:ln w="12700">
            <a:solidFill>
              <a:srgbClr val="23304A"/>
            </a:solidFill>
            <a:prstDash val="solid"/>
          </a:ln>
        </p:spPr>
      </p:sp>
      <p:sp>
        <p:nvSpPr>
          <p:cNvPr id="18" name="Text 16"/>
          <p:cNvSpPr/>
          <p:nvPr/>
        </p:nvSpPr>
        <p:spPr>
          <a:xfrm>
            <a:off x="640080" y="4096512"/>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Third-party SaaS</a:t>
            </a:r>
            <a:endParaRPr lang="en-US" sz="1300" dirty="0"/>
          </a:p>
        </p:txBody>
      </p:sp>
      <p:sp>
        <p:nvSpPr>
          <p:cNvPr id="19" name="Text 17"/>
          <p:cNvSpPr/>
          <p:nvPr/>
        </p:nvSpPr>
        <p:spPr>
          <a:xfrm>
            <a:off x="8671255" y="1115568"/>
            <a:ext cx="3063240" cy="237744"/>
          </a:xfrm>
          <a:prstGeom prst="rect">
            <a:avLst/>
          </a:prstGeom>
          <a:noFill/>
          <a:ln/>
        </p:spPr>
        <p:txBody>
          <a:bodyPr wrap="square" lIns="0" tIns="0" rIns="0" bIns="0" rtlCol="0" anchor="ctr"/>
          <a:lstStyle/>
          <a:p>
            <a:pPr indent="0" marL="0">
              <a:buNone/>
            </a:pPr>
            <a:r>
              <a:rPr lang="en-US" sz="1200" b="1" spc="140" kern="0" dirty="0">
                <a:solidFill>
                  <a:srgbClr val="91A0B7"/>
                </a:solidFill>
                <a:latin typeface="Calibri" pitchFamily="34" charset="0"/>
                <a:ea typeface="Calibri" pitchFamily="34" charset="-122"/>
                <a:cs typeface="Calibri" pitchFamily="34" charset="-120"/>
              </a:rPr>
              <a:t>PROVIDERS</a:t>
            </a:r>
            <a:endParaRPr lang="en-US" sz="1200" dirty="0"/>
          </a:p>
        </p:txBody>
      </p:sp>
      <p:sp>
        <p:nvSpPr>
          <p:cNvPr id="20" name="Shape 18"/>
          <p:cNvSpPr/>
          <p:nvPr/>
        </p:nvSpPr>
        <p:spPr>
          <a:xfrm>
            <a:off x="8671255" y="1463040"/>
            <a:ext cx="3063240" cy="548640"/>
          </a:xfrm>
          <a:prstGeom prst="roundRect">
            <a:avLst>
              <a:gd name="adj" fmla="val 10000"/>
            </a:avLst>
          </a:prstGeom>
          <a:solidFill>
            <a:srgbClr val="121B2D"/>
          </a:solidFill>
          <a:ln w="12700">
            <a:solidFill>
              <a:srgbClr val="23304A"/>
            </a:solidFill>
            <a:prstDash val="solid"/>
          </a:ln>
        </p:spPr>
      </p:sp>
      <p:sp>
        <p:nvSpPr>
          <p:cNvPr id="21" name="Text 19"/>
          <p:cNvSpPr/>
          <p:nvPr/>
        </p:nvSpPr>
        <p:spPr>
          <a:xfrm>
            <a:off x="8854135" y="1463040"/>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Microsoft Copilot</a:t>
            </a:r>
            <a:endParaRPr lang="en-US" sz="1300" dirty="0"/>
          </a:p>
        </p:txBody>
      </p:sp>
      <p:sp>
        <p:nvSpPr>
          <p:cNvPr id="22" name="Shape 20"/>
          <p:cNvSpPr/>
          <p:nvPr/>
        </p:nvSpPr>
        <p:spPr>
          <a:xfrm>
            <a:off x="8671255" y="2121408"/>
            <a:ext cx="3063240" cy="548640"/>
          </a:xfrm>
          <a:prstGeom prst="roundRect">
            <a:avLst>
              <a:gd name="adj" fmla="val 10000"/>
            </a:avLst>
          </a:prstGeom>
          <a:solidFill>
            <a:srgbClr val="121B2D"/>
          </a:solidFill>
          <a:ln w="12700">
            <a:solidFill>
              <a:srgbClr val="23304A"/>
            </a:solidFill>
            <a:prstDash val="solid"/>
          </a:ln>
        </p:spPr>
      </p:sp>
      <p:sp>
        <p:nvSpPr>
          <p:cNvPr id="23" name="Text 21"/>
          <p:cNvSpPr/>
          <p:nvPr/>
        </p:nvSpPr>
        <p:spPr>
          <a:xfrm>
            <a:off x="8854135" y="2121408"/>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Azure AI Foundry</a:t>
            </a:r>
            <a:endParaRPr lang="en-US" sz="1300" dirty="0"/>
          </a:p>
        </p:txBody>
      </p:sp>
      <p:sp>
        <p:nvSpPr>
          <p:cNvPr id="24" name="Shape 22"/>
          <p:cNvSpPr/>
          <p:nvPr/>
        </p:nvSpPr>
        <p:spPr>
          <a:xfrm>
            <a:off x="8671255" y="2779776"/>
            <a:ext cx="3063240" cy="548640"/>
          </a:xfrm>
          <a:prstGeom prst="roundRect">
            <a:avLst>
              <a:gd name="adj" fmla="val 10000"/>
            </a:avLst>
          </a:prstGeom>
          <a:solidFill>
            <a:srgbClr val="121B2D"/>
          </a:solidFill>
          <a:ln w="12700">
            <a:solidFill>
              <a:srgbClr val="23304A"/>
            </a:solidFill>
            <a:prstDash val="solid"/>
          </a:ln>
        </p:spPr>
      </p:sp>
      <p:sp>
        <p:nvSpPr>
          <p:cNvPr id="25" name="Text 23"/>
          <p:cNvSpPr/>
          <p:nvPr/>
        </p:nvSpPr>
        <p:spPr>
          <a:xfrm>
            <a:off x="8854135" y="2779776"/>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AWS Bedrock</a:t>
            </a:r>
            <a:endParaRPr lang="en-US" sz="1300" dirty="0"/>
          </a:p>
        </p:txBody>
      </p:sp>
      <p:sp>
        <p:nvSpPr>
          <p:cNvPr id="26" name="Shape 24"/>
          <p:cNvSpPr/>
          <p:nvPr/>
        </p:nvSpPr>
        <p:spPr>
          <a:xfrm>
            <a:off x="8671255" y="3438144"/>
            <a:ext cx="3063240" cy="548640"/>
          </a:xfrm>
          <a:prstGeom prst="roundRect">
            <a:avLst>
              <a:gd name="adj" fmla="val 10000"/>
            </a:avLst>
          </a:prstGeom>
          <a:solidFill>
            <a:srgbClr val="121B2D"/>
          </a:solidFill>
          <a:ln w="12700">
            <a:solidFill>
              <a:srgbClr val="23304A"/>
            </a:solidFill>
            <a:prstDash val="solid"/>
          </a:ln>
        </p:spPr>
      </p:sp>
      <p:sp>
        <p:nvSpPr>
          <p:cNvPr id="27" name="Text 25"/>
          <p:cNvSpPr/>
          <p:nvPr/>
        </p:nvSpPr>
        <p:spPr>
          <a:xfrm>
            <a:off x="8854135" y="3438144"/>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Google Vertex AI</a:t>
            </a:r>
            <a:endParaRPr lang="en-US" sz="1300" dirty="0"/>
          </a:p>
        </p:txBody>
      </p:sp>
      <p:sp>
        <p:nvSpPr>
          <p:cNvPr id="28" name="Shape 26"/>
          <p:cNvSpPr/>
          <p:nvPr/>
        </p:nvSpPr>
        <p:spPr>
          <a:xfrm>
            <a:off x="8671255" y="4096512"/>
            <a:ext cx="3063240" cy="548640"/>
          </a:xfrm>
          <a:prstGeom prst="roundRect">
            <a:avLst>
              <a:gd name="adj" fmla="val 10000"/>
            </a:avLst>
          </a:prstGeom>
          <a:solidFill>
            <a:srgbClr val="121B2D"/>
          </a:solidFill>
          <a:ln w="12700">
            <a:solidFill>
              <a:srgbClr val="23304A"/>
            </a:solidFill>
            <a:prstDash val="solid"/>
          </a:ln>
        </p:spPr>
      </p:sp>
      <p:sp>
        <p:nvSpPr>
          <p:cNvPr id="29" name="Text 27"/>
          <p:cNvSpPr/>
          <p:nvPr/>
        </p:nvSpPr>
        <p:spPr>
          <a:xfrm>
            <a:off x="8854135" y="4096512"/>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Claude / OpenAI</a:t>
            </a:r>
            <a:endParaRPr lang="en-US" sz="1300" dirty="0"/>
          </a:p>
        </p:txBody>
      </p:sp>
      <p:sp>
        <p:nvSpPr>
          <p:cNvPr id="30" name="Shape 28"/>
          <p:cNvSpPr/>
          <p:nvPr/>
        </p:nvSpPr>
        <p:spPr>
          <a:xfrm>
            <a:off x="3840480" y="1463040"/>
            <a:ext cx="4510735" cy="3182112"/>
          </a:xfrm>
          <a:prstGeom prst="roundRect">
            <a:avLst>
              <a:gd name="adj" fmla="val 1724"/>
            </a:avLst>
          </a:prstGeom>
          <a:solidFill>
            <a:srgbClr val="1D2D42"/>
          </a:solidFill>
          <a:ln w="15875">
            <a:solidFill>
              <a:srgbClr val="B07CFF"/>
            </a:solidFill>
            <a:prstDash val="solid"/>
          </a:ln>
        </p:spPr>
      </p:sp>
      <p:sp>
        <p:nvSpPr>
          <p:cNvPr id="31" name="Text 29"/>
          <p:cNvSpPr/>
          <p:nvPr/>
        </p:nvSpPr>
        <p:spPr>
          <a:xfrm>
            <a:off x="4023360" y="1627632"/>
            <a:ext cx="4144975" cy="329184"/>
          </a:xfrm>
          <a:prstGeom prst="rect">
            <a:avLst/>
          </a:prstGeom>
          <a:noFill/>
          <a:ln/>
        </p:spPr>
        <p:txBody>
          <a:bodyPr wrap="square" lIns="0" tIns="0" rIns="0" bIns="0" rtlCol="0" anchor="ctr"/>
          <a:lstStyle/>
          <a:p>
            <a:pPr algn="ctr" indent="0" marL="0">
              <a:buNone/>
            </a:pPr>
            <a:r>
              <a:rPr lang="en-US" sz="1700" b="1" dirty="0">
                <a:solidFill>
                  <a:srgbClr val="F4F7FB"/>
                </a:solidFill>
                <a:latin typeface="Calibri" pitchFamily="34" charset="0"/>
                <a:ea typeface="Calibri" pitchFamily="34" charset="-122"/>
                <a:cs typeface="Calibri" pitchFamily="34" charset="-120"/>
              </a:rPr>
              <a:t>AI Command Center</a:t>
            </a:r>
            <a:endParaRPr lang="en-US" sz="1700" dirty="0"/>
          </a:p>
        </p:txBody>
      </p:sp>
      <p:sp>
        <p:nvSpPr>
          <p:cNvPr id="32" name="Text 30"/>
          <p:cNvSpPr/>
          <p:nvPr/>
        </p:nvSpPr>
        <p:spPr>
          <a:xfrm>
            <a:off x="4023360" y="1956816"/>
            <a:ext cx="4144975" cy="256032"/>
          </a:xfrm>
          <a:prstGeom prst="rect">
            <a:avLst/>
          </a:prstGeom>
          <a:noFill/>
          <a:ln/>
        </p:spPr>
        <p:txBody>
          <a:bodyPr wrap="square" lIns="0" tIns="0" rIns="0" bIns="0" rtlCol="0" anchor="ctr"/>
          <a:lstStyle/>
          <a:p>
            <a:pPr algn="ctr" indent="0" marL="0">
              <a:buNone/>
            </a:pPr>
            <a:r>
              <a:rPr lang="en-US" sz="1200" dirty="0">
                <a:solidFill>
                  <a:srgbClr val="91A0B7"/>
                </a:solidFill>
                <a:latin typeface="Calibri" pitchFamily="34" charset="0"/>
                <a:ea typeface="Calibri" pitchFamily="34" charset="-122"/>
                <a:cs typeface="Calibri" pitchFamily="34" charset="-120"/>
              </a:rPr>
              <a:t>Policy enforcement point</a:t>
            </a:r>
            <a:endParaRPr lang="en-US" sz="1200" dirty="0"/>
          </a:p>
        </p:txBody>
      </p:sp>
      <p:sp>
        <p:nvSpPr>
          <p:cNvPr id="33" name="Shape 31"/>
          <p:cNvSpPr/>
          <p:nvPr/>
        </p:nvSpPr>
        <p:spPr>
          <a:xfrm>
            <a:off x="4023360" y="2331720"/>
            <a:ext cx="1981048" cy="365760"/>
          </a:xfrm>
          <a:prstGeom prst="roundRect">
            <a:avLst>
              <a:gd name="adj" fmla="val 25000"/>
            </a:avLst>
          </a:prstGeom>
          <a:solidFill>
            <a:srgbClr val="121B2D"/>
          </a:solidFill>
          <a:ln w="9525">
            <a:solidFill>
              <a:srgbClr val="23304A"/>
            </a:solidFill>
            <a:prstDash val="solid"/>
          </a:ln>
        </p:spPr>
      </p:sp>
      <p:sp>
        <p:nvSpPr>
          <p:cNvPr id="34" name="Text 32"/>
          <p:cNvSpPr/>
          <p:nvPr/>
        </p:nvSpPr>
        <p:spPr>
          <a:xfrm>
            <a:off x="4023360" y="23317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Visibility</a:t>
            </a:r>
            <a:endParaRPr lang="en-US" sz="1200" dirty="0"/>
          </a:p>
        </p:txBody>
      </p:sp>
      <p:sp>
        <p:nvSpPr>
          <p:cNvPr id="35" name="Shape 33"/>
          <p:cNvSpPr/>
          <p:nvPr/>
        </p:nvSpPr>
        <p:spPr>
          <a:xfrm>
            <a:off x="6187288" y="2331720"/>
            <a:ext cx="1981048" cy="365760"/>
          </a:xfrm>
          <a:prstGeom prst="roundRect">
            <a:avLst>
              <a:gd name="adj" fmla="val 25000"/>
            </a:avLst>
          </a:prstGeom>
          <a:solidFill>
            <a:srgbClr val="121B2D"/>
          </a:solidFill>
          <a:ln w="9525">
            <a:solidFill>
              <a:srgbClr val="23304A"/>
            </a:solidFill>
            <a:prstDash val="solid"/>
          </a:ln>
        </p:spPr>
      </p:sp>
      <p:sp>
        <p:nvSpPr>
          <p:cNvPr id="36" name="Text 34"/>
          <p:cNvSpPr/>
          <p:nvPr/>
        </p:nvSpPr>
        <p:spPr>
          <a:xfrm>
            <a:off x="6187288" y="23317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Budgets per unit</a:t>
            </a:r>
            <a:endParaRPr lang="en-US" sz="1200" dirty="0"/>
          </a:p>
        </p:txBody>
      </p:sp>
      <p:sp>
        <p:nvSpPr>
          <p:cNvPr id="37" name="Shape 35"/>
          <p:cNvSpPr/>
          <p:nvPr/>
        </p:nvSpPr>
        <p:spPr>
          <a:xfrm>
            <a:off x="4023360" y="2788920"/>
            <a:ext cx="1981048" cy="365760"/>
          </a:xfrm>
          <a:prstGeom prst="roundRect">
            <a:avLst>
              <a:gd name="adj" fmla="val 25000"/>
            </a:avLst>
          </a:prstGeom>
          <a:solidFill>
            <a:srgbClr val="121B2D"/>
          </a:solidFill>
          <a:ln w="9525">
            <a:solidFill>
              <a:srgbClr val="23304A"/>
            </a:solidFill>
            <a:prstDash val="solid"/>
          </a:ln>
        </p:spPr>
      </p:sp>
      <p:sp>
        <p:nvSpPr>
          <p:cNvPr id="38" name="Text 36"/>
          <p:cNvSpPr/>
          <p:nvPr/>
        </p:nvSpPr>
        <p:spPr>
          <a:xfrm>
            <a:off x="4023360" y="27889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Owners</a:t>
            </a:r>
            <a:endParaRPr lang="en-US" sz="1200" dirty="0"/>
          </a:p>
        </p:txBody>
      </p:sp>
      <p:sp>
        <p:nvSpPr>
          <p:cNvPr id="39" name="Shape 37"/>
          <p:cNvSpPr/>
          <p:nvPr/>
        </p:nvSpPr>
        <p:spPr>
          <a:xfrm>
            <a:off x="6187288" y="2788920"/>
            <a:ext cx="1981048" cy="365760"/>
          </a:xfrm>
          <a:prstGeom prst="roundRect">
            <a:avLst>
              <a:gd name="adj" fmla="val 25000"/>
            </a:avLst>
          </a:prstGeom>
          <a:solidFill>
            <a:srgbClr val="121B2D"/>
          </a:solidFill>
          <a:ln w="9525">
            <a:solidFill>
              <a:srgbClr val="23304A"/>
            </a:solidFill>
            <a:prstDash val="solid"/>
          </a:ln>
        </p:spPr>
      </p:sp>
      <p:sp>
        <p:nvSpPr>
          <p:cNvPr id="40" name="Text 38"/>
          <p:cNvSpPr/>
          <p:nvPr/>
        </p:nvSpPr>
        <p:spPr>
          <a:xfrm>
            <a:off x="6187288" y="27889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Alerts</a:t>
            </a:r>
            <a:endParaRPr lang="en-US" sz="1200" dirty="0"/>
          </a:p>
        </p:txBody>
      </p:sp>
      <p:sp>
        <p:nvSpPr>
          <p:cNvPr id="41" name="Shape 39"/>
          <p:cNvSpPr/>
          <p:nvPr/>
        </p:nvSpPr>
        <p:spPr>
          <a:xfrm>
            <a:off x="4023360" y="3246120"/>
            <a:ext cx="1981048" cy="365760"/>
          </a:xfrm>
          <a:prstGeom prst="roundRect">
            <a:avLst>
              <a:gd name="adj" fmla="val 25000"/>
            </a:avLst>
          </a:prstGeom>
          <a:solidFill>
            <a:srgbClr val="121B2D"/>
          </a:solidFill>
          <a:ln w="9525">
            <a:solidFill>
              <a:srgbClr val="23304A"/>
            </a:solidFill>
            <a:prstDash val="solid"/>
          </a:ln>
        </p:spPr>
      </p:sp>
      <p:sp>
        <p:nvSpPr>
          <p:cNvPr id="42" name="Text 40"/>
          <p:cNvSpPr/>
          <p:nvPr/>
        </p:nvSpPr>
        <p:spPr>
          <a:xfrm>
            <a:off x="4023360" y="32461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Rate limits</a:t>
            </a:r>
            <a:endParaRPr lang="en-US" sz="1200" dirty="0"/>
          </a:p>
        </p:txBody>
      </p:sp>
      <p:sp>
        <p:nvSpPr>
          <p:cNvPr id="43" name="Shape 41"/>
          <p:cNvSpPr/>
          <p:nvPr/>
        </p:nvSpPr>
        <p:spPr>
          <a:xfrm>
            <a:off x="6187288" y="3246120"/>
            <a:ext cx="1981048" cy="365760"/>
          </a:xfrm>
          <a:prstGeom prst="roundRect">
            <a:avLst>
              <a:gd name="adj" fmla="val 25000"/>
            </a:avLst>
          </a:prstGeom>
          <a:solidFill>
            <a:srgbClr val="121B2D"/>
          </a:solidFill>
          <a:ln w="9525">
            <a:solidFill>
              <a:srgbClr val="23304A"/>
            </a:solidFill>
            <a:prstDash val="solid"/>
          </a:ln>
        </p:spPr>
      </p:sp>
      <p:sp>
        <p:nvSpPr>
          <p:cNvPr id="44" name="Text 42"/>
          <p:cNvSpPr/>
          <p:nvPr/>
        </p:nvSpPr>
        <p:spPr>
          <a:xfrm>
            <a:off x="6187288" y="32461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Token quotas</a:t>
            </a:r>
            <a:endParaRPr lang="en-US" sz="1200" dirty="0"/>
          </a:p>
        </p:txBody>
      </p:sp>
      <p:sp>
        <p:nvSpPr>
          <p:cNvPr id="45" name="Shape 43"/>
          <p:cNvSpPr/>
          <p:nvPr/>
        </p:nvSpPr>
        <p:spPr>
          <a:xfrm>
            <a:off x="4023360" y="3703320"/>
            <a:ext cx="1981048" cy="365760"/>
          </a:xfrm>
          <a:prstGeom prst="roundRect">
            <a:avLst>
              <a:gd name="adj" fmla="val 25000"/>
            </a:avLst>
          </a:prstGeom>
          <a:solidFill>
            <a:srgbClr val="121B2D"/>
          </a:solidFill>
          <a:ln w="9525">
            <a:solidFill>
              <a:srgbClr val="23304A"/>
            </a:solidFill>
            <a:prstDash val="solid"/>
          </a:ln>
        </p:spPr>
      </p:sp>
      <p:sp>
        <p:nvSpPr>
          <p:cNvPr id="46" name="Text 44"/>
          <p:cNvSpPr/>
          <p:nvPr/>
        </p:nvSpPr>
        <p:spPr>
          <a:xfrm>
            <a:off x="4023360" y="37033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Chargeback</a:t>
            </a:r>
            <a:endParaRPr lang="en-US" sz="1200" dirty="0"/>
          </a:p>
        </p:txBody>
      </p:sp>
      <p:sp>
        <p:nvSpPr>
          <p:cNvPr id="47" name="Shape 45"/>
          <p:cNvSpPr/>
          <p:nvPr/>
        </p:nvSpPr>
        <p:spPr>
          <a:xfrm>
            <a:off x="6187288" y="3703320"/>
            <a:ext cx="1981048" cy="365760"/>
          </a:xfrm>
          <a:prstGeom prst="roundRect">
            <a:avLst>
              <a:gd name="adj" fmla="val 25000"/>
            </a:avLst>
          </a:prstGeom>
          <a:solidFill>
            <a:srgbClr val="121B2D"/>
          </a:solidFill>
          <a:ln w="9525">
            <a:solidFill>
              <a:srgbClr val="23304A"/>
            </a:solidFill>
            <a:prstDash val="solid"/>
          </a:ln>
        </p:spPr>
      </p:sp>
      <p:sp>
        <p:nvSpPr>
          <p:cNvPr id="48" name="Text 46"/>
          <p:cNvSpPr/>
          <p:nvPr/>
        </p:nvSpPr>
        <p:spPr>
          <a:xfrm>
            <a:off x="6187288" y="37033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Executive dashboard</a:t>
            </a:r>
            <a:endParaRPr lang="en-US" sz="1200" dirty="0"/>
          </a:p>
        </p:txBody>
      </p:sp>
      <p:sp>
        <p:nvSpPr>
          <p:cNvPr id="49" name="Text 47"/>
          <p:cNvSpPr/>
          <p:nvPr/>
        </p:nvSpPr>
        <p:spPr>
          <a:xfrm>
            <a:off x="4023360" y="4078224"/>
            <a:ext cx="4144975" cy="457200"/>
          </a:xfrm>
          <a:prstGeom prst="rect">
            <a:avLst/>
          </a:prstGeom>
          <a:noFill/>
          <a:ln/>
        </p:spPr>
        <p:txBody>
          <a:bodyPr wrap="square" lIns="0" tIns="0" rIns="0" bIns="0" rtlCol="0" anchor="ctr"/>
          <a:lstStyle/>
          <a:p>
            <a:pPr algn="ctr" indent="0" marL="0">
              <a:lnSpc>
                <a:spcPct val="110000"/>
              </a:lnSpc>
              <a:buNone/>
            </a:pPr>
            <a:r>
              <a:rPr lang="en-US" sz="1200" dirty="0">
                <a:solidFill>
                  <a:srgbClr val="91A0B7"/>
                </a:solidFill>
                <a:latin typeface="Calibri" pitchFamily="34" charset="0"/>
                <a:ea typeface="Calibri" pitchFamily="34" charset="-122"/>
                <a:cs typeface="Calibri" pitchFamily="34" charset="-120"/>
              </a:rPr>
              <a:t>Unauthorised or over-budget requests are filtered out. Governed, cost-allocated requests pass through.</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TAGGING</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211" b="1" dirty="0">
                <a:solidFill>
                  <a:srgbClr val="F4F7FB"/>
                </a:solidFill>
                <a:latin typeface="Calibri" pitchFamily="34" charset="0"/>
                <a:ea typeface="Calibri" pitchFamily="34" charset="-122"/>
                <a:cs typeface="Calibri" pitchFamily="34" charset="-120"/>
              </a:rPr>
              <a:t>Tag the request, not just the resource</a:t>
            </a:r>
            <a:endParaRPr lang="en-US" sz="2211"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Resource tags answer which subscription. Only per-request metadata answers which use case.</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Today we can say AI cost $75,439 in July and that $25,288 of it was Claude on Bedrock. We cannot say which agent, which use case, or which tool call spent it, and no resource tag will ever tell us, because the cost is in the traffic, not the resource.</a:t>
            </a:r>
            <a:endParaRPr lang="en-US" sz="1200" dirty="0"/>
          </a:p>
        </p:txBody>
      </p:sp>
      <p:sp>
        <p:nvSpPr>
          <p:cNvPr id="8" name="Text 6"/>
          <p:cNvSpPr/>
          <p:nvPr/>
        </p:nvSpPr>
        <p:spPr>
          <a:xfrm>
            <a:off x="457200" y="1115568"/>
            <a:ext cx="3063240" cy="237744"/>
          </a:xfrm>
          <a:prstGeom prst="rect">
            <a:avLst/>
          </a:prstGeom>
          <a:noFill/>
          <a:ln/>
        </p:spPr>
        <p:txBody>
          <a:bodyPr wrap="square" lIns="0" tIns="0" rIns="0" bIns="0" rtlCol="0" anchor="ctr"/>
          <a:lstStyle/>
          <a:p>
            <a:pPr indent="0" marL="0">
              <a:buNone/>
            </a:pPr>
            <a:r>
              <a:rPr lang="en-US" sz="1200" b="1" spc="140" kern="0" dirty="0">
                <a:solidFill>
                  <a:srgbClr val="91A0B7"/>
                </a:solidFill>
                <a:latin typeface="Calibri" pitchFamily="34" charset="0"/>
                <a:ea typeface="Calibri" pitchFamily="34" charset="-122"/>
                <a:cs typeface="Calibri" pitchFamily="34" charset="-120"/>
              </a:rPr>
              <a:t>FOUNDATION TAGS</a:t>
            </a:r>
            <a:endParaRPr lang="en-US" sz="1200" dirty="0"/>
          </a:p>
        </p:txBody>
      </p:sp>
      <p:sp>
        <p:nvSpPr>
          <p:cNvPr id="9" name="Shape 7"/>
          <p:cNvSpPr/>
          <p:nvPr/>
        </p:nvSpPr>
        <p:spPr>
          <a:xfrm>
            <a:off x="457200" y="1463040"/>
            <a:ext cx="3063240" cy="548640"/>
          </a:xfrm>
          <a:prstGeom prst="roundRect">
            <a:avLst>
              <a:gd name="adj" fmla="val 10000"/>
            </a:avLst>
          </a:prstGeom>
          <a:solidFill>
            <a:srgbClr val="121B2D"/>
          </a:solidFill>
          <a:ln w="12700">
            <a:solidFill>
              <a:srgbClr val="23304A"/>
            </a:solidFill>
            <a:prstDash val="solid"/>
          </a:ln>
        </p:spPr>
      </p:sp>
      <p:sp>
        <p:nvSpPr>
          <p:cNvPr id="10" name="Text 8"/>
          <p:cNvSpPr/>
          <p:nvPr/>
        </p:nvSpPr>
        <p:spPr>
          <a:xfrm>
            <a:off x="640080" y="1463040"/>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owner</a:t>
            </a:r>
            <a:endParaRPr lang="en-US" sz="1300" dirty="0"/>
          </a:p>
        </p:txBody>
      </p:sp>
      <p:sp>
        <p:nvSpPr>
          <p:cNvPr id="11" name="Shape 9"/>
          <p:cNvSpPr/>
          <p:nvPr/>
        </p:nvSpPr>
        <p:spPr>
          <a:xfrm>
            <a:off x="457200" y="2121408"/>
            <a:ext cx="3063240" cy="548640"/>
          </a:xfrm>
          <a:prstGeom prst="roundRect">
            <a:avLst>
              <a:gd name="adj" fmla="val 10000"/>
            </a:avLst>
          </a:prstGeom>
          <a:solidFill>
            <a:srgbClr val="121B2D"/>
          </a:solidFill>
          <a:ln w="12700">
            <a:solidFill>
              <a:srgbClr val="23304A"/>
            </a:solidFill>
            <a:prstDash val="solid"/>
          </a:ln>
        </p:spPr>
      </p:sp>
      <p:sp>
        <p:nvSpPr>
          <p:cNvPr id="12" name="Text 10"/>
          <p:cNvSpPr/>
          <p:nvPr/>
        </p:nvSpPr>
        <p:spPr>
          <a:xfrm>
            <a:off x="640080" y="2121408"/>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application</a:t>
            </a:r>
            <a:endParaRPr lang="en-US" sz="1300" dirty="0"/>
          </a:p>
        </p:txBody>
      </p:sp>
      <p:sp>
        <p:nvSpPr>
          <p:cNvPr id="13" name="Shape 11"/>
          <p:cNvSpPr/>
          <p:nvPr/>
        </p:nvSpPr>
        <p:spPr>
          <a:xfrm>
            <a:off x="457200" y="2779776"/>
            <a:ext cx="3063240" cy="548640"/>
          </a:xfrm>
          <a:prstGeom prst="roundRect">
            <a:avLst>
              <a:gd name="adj" fmla="val 10000"/>
            </a:avLst>
          </a:prstGeom>
          <a:solidFill>
            <a:srgbClr val="121B2D"/>
          </a:solidFill>
          <a:ln w="12700">
            <a:solidFill>
              <a:srgbClr val="23304A"/>
            </a:solidFill>
            <a:prstDash val="solid"/>
          </a:ln>
        </p:spPr>
      </p:sp>
      <p:sp>
        <p:nvSpPr>
          <p:cNvPr id="14" name="Text 12"/>
          <p:cNvSpPr/>
          <p:nvPr/>
        </p:nvSpPr>
        <p:spPr>
          <a:xfrm>
            <a:off x="640080" y="2779776"/>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environment</a:t>
            </a:r>
            <a:endParaRPr lang="en-US" sz="1300" dirty="0"/>
          </a:p>
        </p:txBody>
      </p:sp>
      <p:sp>
        <p:nvSpPr>
          <p:cNvPr id="15" name="Shape 13"/>
          <p:cNvSpPr/>
          <p:nvPr/>
        </p:nvSpPr>
        <p:spPr>
          <a:xfrm>
            <a:off x="457200" y="3438144"/>
            <a:ext cx="3063240" cy="548640"/>
          </a:xfrm>
          <a:prstGeom prst="roundRect">
            <a:avLst>
              <a:gd name="adj" fmla="val 10000"/>
            </a:avLst>
          </a:prstGeom>
          <a:solidFill>
            <a:srgbClr val="121B2D"/>
          </a:solidFill>
          <a:ln w="12700">
            <a:solidFill>
              <a:srgbClr val="23304A"/>
            </a:solidFill>
            <a:prstDash val="solid"/>
          </a:ln>
        </p:spPr>
      </p:sp>
      <p:sp>
        <p:nvSpPr>
          <p:cNvPr id="16" name="Text 14"/>
          <p:cNvSpPr/>
          <p:nvPr/>
        </p:nvSpPr>
        <p:spPr>
          <a:xfrm>
            <a:off x="640080" y="3438144"/>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cost_center</a:t>
            </a:r>
            <a:endParaRPr lang="en-US" sz="1300" dirty="0"/>
          </a:p>
        </p:txBody>
      </p:sp>
      <p:sp>
        <p:nvSpPr>
          <p:cNvPr id="17" name="Shape 15"/>
          <p:cNvSpPr/>
          <p:nvPr/>
        </p:nvSpPr>
        <p:spPr>
          <a:xfrm>
            <a:off x="457200" y="4096512"/>
            <a:ext cx="3063240" cy="548640"/>
          </a:xfrm>
          <a:prstGeom prst="roundRect">
            <a:avLst>
              <a:gd name="adj" fmla="val 10000"/>
            </a:avLst>
          </a:prstGeom>
          <a:solidFill>
            <a:srgbClr val="121B2D"/>
          </a:solidFill>
          <a:ln w="12700">
            <a:solidFill>
              <a:srgbClr val="23304A"/>
            </a:solidFill>
            <a:prstDash val="solid"/>
          </a:ln>
        </p:spPr>
      </p:sp>
      <p:sp>
        <p:nvSpPr>
          <p:cNvPr id="18" name="Text 16"/>
          <p:cNvSpPr/>
          <p:nvPr/>
        </p:nvSpPr>
        <p:spPr>
          <a:xfrm>
            <a:off x="640080" y="4096512"/>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business_unit</a:t>
            </a:r>
            <a:endParaRPr lang="en-US" sz="1300" dirty="0"/>
          </a:p>
        </p:txBody>
      </p:sp>
      <p:sp>
        <p:nvSpPr>
          <p:cNvPr id="19" name="Text 17"/>
          <p:cNvSpPr/>
          <p:nvPr/>
        </p:nvSpPr>
        <p:spPr>
          <a:xfrm>
            <a:off x="8671255" y="1115568"/>
            <a:ext cx="3063240" cy="237744"/>
          </a:xfrm>
          <a:prstGeom prst="rect">
            <a:avLst/>
          </a:prstGeom>
          <a:noFill/>
          <a:ln/>
        </p:spPr>
        <p:txBody>
          <a:bodyPr wrap="square" lIns="0" tIns="0" rIns="0" bIns="0" rtlCol="0" anchor="ctr"/>
          <a:lstStyle/>
          <a:p>
            <a:pPr indent="0" marL="0">
              <a:buNone/>
            </a:pPr>
            <a:r>
              <a:rPr lang="en-US" sz="1200" b="1" spc="140" kern="0" dirty="0">
                <a:solidFill>
                  <a:srgbClr val="91A0B7"/>
                </a:solidFill>
                <a:latin typeface="Calibri" pitchFamily="34" charset="0"/>
                <a:ea typeface="Calibri" pitchFamily="34" charset="-122"/>
                <a:cs typeface="Calibri" pitchFamily="34" charset="-120"/>
              </a:rPr>
              <a:t>WHAT IT UNLOCKS</a:t>
            </a:r>
            <a:endParaRPr lang="en-US" sz="1200" dirty="0"/>
          </a:p>
        </p:txBody>
      </p:sp>
      <p:sp>
        <p:nvSpPr>
          <p:cNvPr id="20" name="Shape 18"/>
          <p:cNvSpPr/>
          <p:nvPr/>
        </p:nvSpPr>
        <p:spPr>
          <a:xfrm>
            <a:off x="8671255" y="1463040"/>
            <a:ext cx="3063240" cy="548640"/>
          </a:xfrm>
          <a:prstGeom prst="roundRect">
            <a:avLst>
              <a:gd name="adj" fmla="val 10000"/>
            </a:avLst>
          </a:prstGeom>
          <a:solidFill>
            <a:srgbClr val="121B2D"/>
          </a:solidFill>
          <a:ln w="12700">
            <a:solidFill>
              <a:srgbClr val="23304A"/>
            </a:solidFill>
            <a:prstDash val="solid"/>
          </a:ln>
        </p:spPr>
      </p:sp>
      <p:sp>
        <p:nvSpPr>
          <p:cNvPr id="21" name="Text 19"/>
          <p:cNvSpPr/>
          <p:nvPr/>
        </p:nvSpPr>
        <p:spPr>
          <a:xfrm>
            <a:off x="8854135" y="1463040"/>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Cost per use case</a:t>
            </a:r>
            <a:endParaRPr lang="en-US" sz="1300" dirty="0"/>
          </a:p>
        </p:txBody>
      </p:sp>
      <p:sp>
        <p:nvSpPr>
          <p:cNvPr id="22" name="Shape 20"/>
          <p:cNvSpPr/>
          <p:nvPr/>
        </p:nvSpPr>
        <p:spPr>
          <a:xfrm>
            <a:off x="8671255" y="2121408"/>
            <a:ext cx="3063240" cy="548640"/>
          </a:xfrm>
          <a:prstGeom prst="roundRect">
            <a:avLst>
              <a:gd name="adj" fmla="val 10000"/>
            </a:avLst>
          </a:prstGeom>
          <a:solidFill>
            <a:srgbClr val="121B2D"/>
          </a:solidFill>
          <a:ln w="12700">
            <a:solidFill>
              <a:srgbClr val="23304A"/>
            </a:solidFill>
            <a:prstDash val="solid"/>
          </a:ln>
        </p:spPr>
      </p:sp>
      <p:sp>
        <p:nvSpPr>
          <p:cNvPr id="23" name="Text 21"/>
          <p:cNvSpPr/>
          <p:nvPr/>
        </p:nvSpPr>
        <p:spPr>
          <a:xfrm>
            <a:off x="8854135" y="2121408"/>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Cost per agent</a:t>
            </a:r>
            <a:endParaRPr lang="en-US" sz="1300" dirty="0"/>
          </a:p>
        </p:txBody>
      </p:sp>
      <p:sp>
        <p:nvSpPr>
          <p:cNvPr id="24" name="Shape 22"/>
          <p:cNvSpPr/>
          <p:nvPr/>
        </p:nvSpPr>
        <p:spPr>
          <a:xfrm>
            <a:off x="8671255" y="2779776"/>
            <a:ext cx="3063240" cy="548640"/>
          </a:xfrm>
          <a:prstGeom prst="roundRect">
            <a:avLst>
              <a:gd name="adj" fmla="val 10000"/>
            </a:avLst>
          </a:prstGeom>
          <a:solidFill>
            <a:srgbClr val="121B2D"/>
          </a:solidFill>
          <a:ln w="12700">
            <a:solidFill>
              <a:srgbClr val="23304A"/>
            </a:solidFill>
            <a:prstDash val="solid"/>
          </a:ln>
        </p:spPr>
      </p:sp>
      <p:sp>
        <p:nvSpPr>
          <p:cNvPr id="25" name="Text 23"/>
          <p:cNvSpPr/>
          <p:nvPr/>
        </p:nvSpPr>
        <p:spPr>
          <a:xfrm>
            <a:off x="8854135" y="2779776"/>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AI unit economics</a:t>
            </a:r>
            <a:endParaRPr lang="en-US" sz="1300" dirty="0"/>
          </a:p>
        </p:txBody>
      </p:sp>
      <p:sp>
        <p:nvSpPr>
          <p:cNvPr id="26" name="Shape 24"/>
          <p:cNvSpPr/>
          <p:nvPr/>
        </p:nvSpPr>
        <p:spPr>
          <a:xfrm>
            <a:off x="8671255" y="3438144"/>
            <a:ext cx="3063240" cy="548640"/>
          </a:xfrm>
          <a:prstGeom prst="roundRect">
            <a:avLst>
              <a:gd name="adj" fmla="val 10000"/>
            </a:avLst>
          </a:prstGeom>
          <a:solidFill>
            <a:srgbClr val="121B2D"/>
          </a:solidFill>
          <a:ln w="12700">
            <a:solidFill>
              <a:srgbClr val="23304A"/>
            </a:solidFill>
            <a:prstDash val="solid"/>
          </a:ln>
        </p:spPr>
      </p:sp>
      <p:sp>
        <p:nvSpPr>
          <p:cNvPr id="27" name="Text 25"/>
          <p:cNvSpPr/>
          <p:nvPr/>
        </p:nvSpPr>
        <p:spPr>
          <a:xfrm>
            <a:off x="8854135" y="3438144"/>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Anomaly detection</a:t>
            </a:r>
            <a:endParaRPr lang="en-US" sz="1300" dirty="0"/>
          </a:p>
        </p:txBody>
      </p:sp>
      <p:sp>
        <p:nvSpPr>
          <p:cNvPr id="28" name="Shape 26"/>
          <p:cNvSpPr/>
          <p:nvPr/>
        </p:nvSpPr>
        <p:spPr>
          <a:xfrm>
            <a:off x="8671255" y="4096512"/>
            <a:ext cx="3063240" cy="548640"/>
          </a:xfrm>
          <a:prstGeom prst="roundRect">
            <a:avLst>
              <a:gd name="adj" fmla="val 10000"/>
            </a:avLst>
          </a:prstGeom>
          <a:solidFill>
            <a:srgbClr val="121B2D"/>
          </a:solidFill>
          <a:ln w="12700">
            <a:solidFill>
              <a:srgbClr val="23304A"/>
            </a:solidFill>
            <a:prstDash val="solid"/>
          </a:ln>
        </p:spPr>
      </p:sp>
      <p:sp>
        <p:nvSpPr>
          <p:cNvPr id="29" name="Text 27"/>
          <p:cNvSpPr/>
          <p:nvPr/>
        </p:nvSpPr>
        <p:spPr>
          <a:xfrm>
            <a:off x="8854135" y="4096512"/>
            <a:ext cx="2697480" cy="54864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Chargeback that holds</a:t>
            </a:r>
            <a:endParaRPr lang="en-US" sz="1300" dirty="0"/>
          </a:p>
        </p:txBody>
      </p:sp>
      <p:sp>
        <p:nvSpPr>
          <p:cNvPr id="30" name="Shape 28"/>
          <p:cNvSpPr/>
          <p:nvPr/>
        </p:nvSpPr>
        <p:spPr>
          <a:xfrm>
            <a:off x="3840480" y="1463040"/>
            <a:ext cx="4510735" cy="3182112"/>
          </a:xfrm>
          <a:prstGeom prst="roundRect">
            <a:avLst>
              <a:gd name="adj" fmla="val 1724"/>
            </a:avLst>
          </a:prstGeom>
          <a:solidFill>
            <a:srgbClr val="1D2D42"/>
          </a:solidFill>
          <a:ln w="15875">
            <a:solidFill>
              <a:srgbClr val="3DD9EB"/>
            </a:solidFill>
            <a:prstDash val="solid"/>
          </a:ln>
        </p:spPr>
      </p:sp>
      <p:sp>
        <p:nvSpPr>
          <p:cNvPr id="31" name="Text 29"/>
          <p:cNvSpPr/>
          <p:nvPr/>
        </p:nvSpPr>
        <p:spPr>
          <a:xfrm>
            <a:off x="4023360" y="1627632"/>
            <a:ext cx="4144975" cy="329184"/>
          </a:xfrm>
          <a:prstGeom prst="rect">
            <a:avLst/>
          </a:prstGeom>
          <a:noFill/>
          <a:ln/>
        </p:spPr>
        <p:txBody>
          <a:bodyPr wrap="square" lIns="0" tIns="0" rIns="0" bIns="0" rtlCol="0" anchor="ctr"/>
          <a:lstStyle/>
          <a:p>
            <a:pPr algn="ctr" indent="0" marL="0">
              <a:buNone/>
            </a:pPr>
            <a:r>
              <a:rPr lang="en-US" sz="1700" b="1" dirty="0">
                <a:solidFill>
                  <a:srgbClr val="F4F7FB"/>
                </a:solidFill>
                <a:latin typeface="Calibri" pitchFamily="34" charset="0"/>
                <a:ea typeface="Calibri" pitchFamily="34" charset="-122"/>
                <a:cs typeface="Calibri" pitchFamily="34" charset="-120"/>
              </a:rPr>
              <a:t>The gateway injects them</a:t>
            </a:r>
            <a:endParaRPr lang="en-US" sz="1700" dirty="0"/>
          </a:p>
        </p:txBody>
      </p:sp>
      <p:sp>
        <p:nvSpPr>
          <p:cNvPr id="32" name="Text 30"/>
          <p:cNvSpPr/>
          <p:nvPr/>
        </p:nvSpPr>
        <p:spPr>
          <a:xfrm>
            <a:off x="4023360" y="1956816"/>
            <a:ext cx="4144975" cy="256032"/>
          </a:xfrm>
          <a:prstGeom prst="rect">
            <a:avLst/>
          </a:prstGeom>
          <a:noFill/>
          <a:ln/>
        </p:spPr>
        <p:txBody>
          <a:bodyPr wrap="square" lIns="0" tIns="0" rIns="0" bIns="0" rtlCol="0" anchor="ctr"/>
          <a:lstStyle/>
          <a:p>
            <a:pPr algn="ctr" indent="0" marL="0">
              <a:buNone/>
            </a:pPr>
            <a:r>
              <a:rPr lang="en-US" sz="1200" dirty="0">
                <a:solidFill>
                  <a:srgbClr val="91A0B7"/>
                </a:solidFill>
                <a:latin typeface="Calibri" pitchFamily="34" charset="0"/>
                <a:ea typeface="Calibri" pitchFamily="34" charset="-122"/>
                <a:cs typeface="Calibri" pitchFamily="34" charset="-120"/>
              </a:rPr>
              <a:t>Every AI request carries its own metadata</a:t>
            </a:r>
            <a:endParaRPr lang="en-US" sz="1200" dirty="0"/>
          </a:p>
        </p:txBody>
      </p:sp>
      <p:sp>
        <p:nvSpPr>
          <p:cNvPr id="33" name="Shape 31"/>
          <p:cNvSpPr/>
          <p:nvPr/>
        </p:nvSpPr>
        <p:spPr>
          <a:xfrm>
            <a:off x="4023360" y="2331720"/>
            <a:ext cx="1981048" cy="365760"/>
          </a:xfrm>
          <a:prstGeom prst="roundRect">
            <a:avLst>
              <a:gd name="adj" fmla="val 25000"/>
            </a:avLst>
          </a:prstGeom>
          <a:solidFill>
            <a:srgbClr val="121B2D"/>
          </a:solidFill>
          <a:ln w="9525">
            <a:solidFill>
              <a:srgbClr val="23304A"/>
            </a:solidFill>
            <a:prstDash val="solid"/>
          </a:ln>
        </p:spPr>
      </p:sp>
      <p:sp>
        <p:nvSpPr>
          <p:cNvPr id="34" name="Text 32"/>
          <p:cNvSpPr/>
          <p:nvPr/>
        </p:nvSpPr>
        <p:spPr>
          <a:xfrm>
            <a:off x="4023360" y="23317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use_case</a:t>
            </a:r>
            <a:endParaRPr lang="en-US" sz="1200" dirty="0"/>
          </a:p>
        </p:txBody>
      </p:sp>
      <p:sp>
        <p:nvSpPr>
          <p:cNvPr id="35" name="Shape 33"/>
          <p:cNvSpPr/>
          <p:nvPr/>
        </p:nvSpPr>
        <p:spPr>
          <a:xfrm>
            <a:off x="6187288" y="2331720"/>
            <a:ext cx="1981048" cy="365760"/>
          </a:xfrm>
          <a:prstGeom prst="roundRect">
            <a:avLst>
              <a:gd name="adj" fmla="val 25000"/>
            </a:avLst>
          </a:prstGeom>
          <a:solidFill>
            <a:srgbClr val="121B2D"/>
          </a:solidFill>
          <a:ln w="9525">
            <a:solidFill>
              <a:srgbClr val="23304A"/>
            </a:solidFill>
            <a:prstDash val="solid"/>
          </a:ln>
        </p:spPr>
      </p:sp>
      <p:sp>
        <p:nvSpPr>
          <p:cNvPr id="36" name="Text 34"/>
          <p:cNvSpPr/>
          <p:nvPr/>
        </p:nvSpPr>
        <p:spPr>
          <a:xfrm>
            <a:off x="6187288" y="23317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agent_id</a:t>
            </a:r>
            <a:endParaRPr lang="en-US" sz="1200" dirty="0"/>
          </a:p>
        </p:txBody>
      </p:sp>
      <p:sp>
        <p:nvSpPr>
          <p:cNvPr id="37" name="Shape 35"/>
          <p:cNvSpPr/>
          <p:nvPr/>
        </p:nvSpPr>
        <p:spPr>
          <a:xfrm>
            <a:off x="4023360" y="2788920"/>
            <a:ext cx="1981048" cy="365760"/>
          </a:xfrm>
          <a:prstGeom prst="roundRect">
            <a:avLst>
              <a:gd name="adj" fmla="val 25000"/>
            </a:avLst>
          </a:prstGeom>
          <a:solidFill>
            <a:srgbClr val="121B2D"/>
          </a:solidFill>
          <a:ln w="9525">
            <a:solidFill>
              <a:srgbClr val="23304A"/>
            </a:solidFill>
            <a:prstDash val="solid"/>
          </a:ln>
        </p:spPr>
      </p:sp>
      <p:sp>
        <p:nvSpPr>
          <p:cNvPr id="38" name="Text 36"/>
          <p:cNvSpPr/>
          <p:nvPr/>
        </p:nvSpPr>
        <p:spPr>
          <a:xfrm>
            <a:off x="4023360" y="27889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workflow_id</a:t>
            </a:r>
            <a:endParaRPr lang="en-US" sz="1200" dirty="0"/>
          </a:p>
        </p:txBody>
      </p:sp>
      <p:sp>
        <p:nvSpPr>
          <p:cNvPr id="39" name="Shape 37"/>
          <p:cNvSpPr/>
          <p:nvPr/>
        </p:nvSpPr>
        <p:spPr>
          <a:xfrm>
            <a:off x="6187288" y="2788920"/>
            <a:ext cx="1981048" cy="365760"/>
          </a:xfrm>
          <a:prstGeom prst="roundRect">
            <a:avLst>
              <a:gd name="adj" fmla="val 25000"/>
            </a:avLst>
          </a:prstGeom>
          <a:solidFill>
            <a:srgbClr val="121B2D"/>
          </a:solidFill>
          <a:ln w="9525">
            <a:solidFill>
              <a:srgbClr val="23304A"/>
            </a:solidFill>
            <a:prstDash val="solid"/>
          </a:ln>
        </p:spPr>
      </p:sp>
      <p:sp>
        <p:nvSpPr>
          <p:cNvPr id="40" name="Text 38"/>
          <p:cNvSpPr/>
          <p:nvPr/>
        </p:nvSpPr>
        <p:spPr>
          <a:xfrm>
            <a:off x="6187288" y="27889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ai_model</a:t>
            </a:r>
            <a:endParaRPr lang="en-US" sz="1200" dirty="0"/>
          </a:p>
        </p:txBody>
      </p:sp>
      <p:sp>
        <p:nvSpPr>
          <p:cNvPr id="41" name="Shape 39"/>
          <p:cNvSpPr/>
          <p:nvPr/>
        </p:nvSpPr>
        <p:spPr>
          <a:xfrm>
            <a:off x="4023360" y="3246120"/>
            <a:ext cx="1981048" cy="365760"/>
          </a:xfrm>
          <a:prstGeom prst="roundRect">
            <a:avLst>
              <a:gd name="adj" fmla="val 25000"/>
            </a:avLst>
          </a:prstGeom>
          <a:solidFill>
            <a:srgbClr val="121B2D"/>
          </a:solidFill>
          <a:ln w="9525">
            <a:solidFill>
              <a:srgbClr val="23304A"/>
            </a:solidFill>
            <a:prstDash val="solid"/>
          </a:ln>
        </p:spPr>
      </p:sp>
      <p:sp>
        <p:nvSpPr>
          <p:cNvPr id="42" name="Text 40"/>
          <p:cNvSpPr/>
          <p:nvPr/>
        </p:nvSpPr>
        <p:spPr>
          <a:xfrm>
            <a:off x="4023360" y="32461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ai_provider</a:t>
            </a:r>
            <a:endParaRPr lang="en-US" sz="1200" dirty="0"/>
          </a:p>
        </p:txBody>
      </p:sp>
      <p:sp>
        <p:nvSpPr>
          <p:cNvPr id="43" name="Shape 41"/>
          <p:cNvSpPr/>
          <p:nvPr/>
        </p:nvSpPr>
        <p:spPr>
          <a:xfrm>
            <a:off x="6187288" y="3246120"/>
            <a:ext cx="1981048" cy="365760"/>
          </a:xfrm>
          <a:prstGeom prst="roundRect">
            <a:avLst>
              <a:gd name="adj" fmla="val 25000"/>
            </a:avLst>
          </a:prstGeom>
          <a:solidFill>
            <a:srgbClr val="121B2D"/>
          </a:solidFill>
          <a:ln w="9525">
            <a:solidFill>
              <a:srgbClr val="23304A"/>
            </a:solidFill>
            <a:prstDash val="solid"/>
          </a:ln>
        </p:spPr>
      </p:sp>
      <p:sp>
        <p:nvSpPr>
          <p:cNvPr id="44" name="Text 42"/>
          <p:cNvSpPr/>
          <p:nvPr/>
        </p:nvSpPr>
        <p:spPr>
          <a:xfrm>
            <a:off x="6187288" y="32461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mcp_tool</a:t>
            </a:r>
            <a:endParaRPr lang="en-US" sz="1200" dirty="0"/>
          </a:p>
        </p:txBody>
      </p:sp>
      <p:sp>
        <p:nvSpPr>
          <p:cNvPr id="45" name="Shape 43"/>
          <p:cNvSpPr/>
          <p:nvPr/>
        </p:nvSpPr>
        <p:spPr>
          <a:xfrm>
            <a:off x="4023360" y="3703320"/>
            <a:ext cx="1981048" cy="365760"/>
          </a:xfrm>
          <a:prstGeom prst="roundRect">
            <a:avLst>
              <a:gd name="adj" fmla="val 25000"/>
            </a:avLst>
          </a:prstGeom>
          <a:solidFill>
            <a:srgbClr val="121B2D"/>
          </a:solidFill>
          <a:ln w="9525">
            <a:solidFill>
              <a:srgbClr val="23304A"/>
            </a:solidFill>
            <a:prstDash val="solid"/>
          </a:ln>
        </p:spPr>
      </p:sp>
      <p:sp>
        <p:nvSpPr>
          <p:cNvPr id="46" name="Text 44"/>
          <p:cNvSpPr/>
          <p:nvPr/>
        </p:nvSpPr>
        <p:spPr>
          <a:xfrm>
            <a:off x="4023360" y="37033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session_id</a:t>
            </a:r>
            <a:endParaRPr lang="en-US" sz="1200" dirty="0"/>
          </a:p>
        </p:txBody>
      </p:sp>
      <p:sp>
        <p:nvSpPr>
          <p:cNvPr id="47" name="Shape 45"/>
          <p:cNvSpPr/>
          <p:nvPr/>
        </p:nvSpPr>
        <p:spPr>
          <a:xfrm>
            <a:off x="6187288" y="3703320"/>
            <a:ext cx="1981048" cy="365760"/>
          </a:xfrm>
          <a:prstGeom prst="roundRect">
            <a:avLst>
              <a:gd name="adj" fmla="val 25000"/>
            </a:avLst>
          </a:prstGeom>
          <a:solidFill>
            <a:srgbClr val="121B2D"/>
          </a:solidFill>
          <a:ln w="9525">
            <a:solidFill>
              <a:srgbClr val="23304A"/>
            </a:solidFill>
            <a:prstDash val="solid"/>
          </a:ln>
        </p:spPr>
      </p:sp>
      <p:sp>
        <p:nvSpPr>
          <p:cNvPr id="48" name="Text 46"/>
          <p:cNvSpPr/>
          <p:nvPr/>
        </p:nvSpPr>
        <p:spPr>
          <a:xfrm>
            <a:off x="6187288" y="3703320"/>
            <a:ext cx="1981048" cy="365760"/>
          </a:xfrm>
          <a:prstGeom prst="rect">
            <a:avLst/>
          </a:prstGeom>
          <a:noFill/>
          <a:ln/>
        </p:spPr>
        <p:txBody>
          <a:bodyPr wrap="square" lIns="0" tIns="0" rIns="0" bIns="0" rtlCol="0" anchor="ctr"/>
          <a:lstStyle/>
          <a:p>
            <a:pPr algn="ctr" indent="0" marL="0">
              <a:buNone/>
            </a:pPr>
            <a:r>
              <a:rPr lang="en-US" sz="1200" dirty="0">
                <a:solidFill>
                  <a:srgbClr val="F4F7FB"/>
                </a:solidFill>
                <a:latin typeface="Calibri" pitchFamily="34" charset="0"/>
                <a:ea typeface="Calibri" pitchFamily="34" charset="-122"/>
                <a:cs typeface="Calibri" pitchFamily="34" charset="-120"/>
              </a:rPr>
              <a:t>request_id</a:t>
            </a:r>
            <a:endParaRPr lang="en-US" sz="1200" dirty="0"/>
          </a:p>
        </p:txBody>
      </p:sp>
      <p:sp>
        <p:nvSpPr>
          <p:cNvPr id="49" name="Text 47"/>
          <p:cNvSpPr/>
          <p:nvPr/>
        </p:nvSpPr>
        <p:spPr>
          <a:xfrm>
            <a:off x="4023360" y="4078224"/>
            <a:ext cx="4144975" cy="457200"/>
          </a:xfrm>
          <a:prstGeom prst="rect">
            <a:avLst/>
          </a:prstGeom>
          <a:noFill/>
          <a:ln/>
        </p:spPr>
        <p:txBody>
          <a:bodyPr wrap="square" lIns="0" tIns="0" rIns="0" bIns="0" rtlCol="0" anchor="ctr"/>
          <a:lstStyle/>
          <a:p>
            <a:pPr algn="ctr" indent="0" marL="0">
              <a:lnSpc>
                <a:spcPct val="110000"/>
              </a:lnSpc>
              <a:buNone/>
            </a:pPr>
            <a:r>
              <a:rPr lang="en-US" sz="1200" dirty="0">
                <a:solidFill>
                  <a:srgbClr val="91A0B7"/>
                </a:solidFill>
                <a:latin typeface="Calibri" pitchFamily="34" charset="0"/>
                <a:ea typeface="Calibri" pitchFamily="34" charset="-122"/>
                <a:cs typeface="Calibri" pitchFamily="34" charset="-120"/>
              </a:rPr>
              <a:t>The gateway is the only place these can be made mandatory.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6B7A"/>
                </a:solidFill>
                <a:latin typeface="Calibri" pitchFamily="34" charset="0"/>
                <a:ea typeface="Calibri" pitchFamily="34" charset="-122"/>
                <a:cs typeface="Calibri" pitchFamily="34" charset="-120"/>
              </a:rPr>
              <a:t>ENFORCEMENT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333" b="1" dirty="0">
                <a:solidFill>
                  <a:srgbClr val="F4F7FB"/>
                </a:solidFill>
                <a:latin typeface="Calibri" pitchFamily="34" charset="0"/>
                <a:ea typeface="Calibri" pitchFamily="34" charset="-122"/>
                <a:cs typeface="Calibri" pitchFamily="34" charset="-120"/>
              </a:rPr>
              <a:t>Azure Budget will not stop the spend</a:t>
            </a:r>
            <a:endParaRPr lang="en-US" sz="2333"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A budget reports. Only the gateway can refuse a request.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No API key is approved without: owner, cost centre, allowed models, max output tokens, TPM, a daily and a monthly quota, and an agreed break-glass path. Direct access to Foundry or a model endpoint is blocked. All traffic goes through the gateway.</a:t>
            </a:r>
            <a:endParaRPr lang="en-US" sz="1200" dirty="0"/>
          </a:p>
        </p:txBody>
      </p:sp>
      <p:sp>
        <p:nvSpPr>
          <p:cNvPr id="8" name="Text 6"/>
          <p:cNvSpPr/>
          <p:nvPr/>
        </p:nvSpPr>
        <p:spPr>
          <a:xfrm>
            <a:off x="457200" y="1234440"/>
            <a:ext cx="786384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The control model</a:t>
            </a:r>
            <a:endParaRPr lang="en-US" sz="1500" dirty="0"/>
          </a:p>
        </p:txBody>
      </p:sp>
      <p:sp>
        <p:nvSpPr>
          <p:cNvPr id="9" name="Text 7"/>
          <p:cNvSpPr/>
          <p:nvPr/>
        </p:nvSpPr>
        <p:spPr>
          <a:xfrm>
            <a:off x="457200" y="1508760"/>
            <a:ext cx="7863840" cy="219456"/>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Every layer enforced in API Management, per subscription key</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764792"/>
          <a:ext cx="7863840" cy="914400"/>
        </p:xfrm>
        <a:graphic>
          <a:graphicData uri="http://schemas.openxmlformats.org/drawingml/2006/table">
            <a:tbl>
              <a:tblPr/>
              <a:tblGrid>
                <a:gridCol w="2468880"/>
                <a:gridCol w="2103120"/>
                <a:gridCol w="329184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Control layer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Enforced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What it prevents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TPM / RPM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User and application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Minute-scale bursts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Daily token quota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 broken job running for hours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Monthly token quota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Application / cost centre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Overrun of the approved budget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Model allowlist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Unplanned jump to an expensive model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Max output tokens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Every request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Runaway answers and agent loops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Global deployment ceiling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Model / backend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Organisation-wide blast radius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bl>
          </a:graphicData>
        </a:graphic>
      </p:graphicFrame>
      <p:sp>
        <p:nvSpPr>
          <p:cNvPr id="11" name="Shape 8"/>
          <p:cNvSpPr/>
          <p:nvPr/>
        </p:nvSpPr>
        <p:spPr>
          <a:xfrm>
            <a:off x="8686800" y="1234440"/>
            <a:ext cx="3047695" cy="1097280"/>
          </a:xfrm>
          <a:prstGeom prst="roundRect">
            <a:avLst>
              <a:gd name="adj" fmla="val 5000"/>
            </a:avLst>
          </a:prstGeom>
          <a:solidFill>
            <a:srgbClr val="121B2D"/>
          </a:solidFill>
          <a:ln w="12700">
            <a:solidFill>
              <a:srgbClr val="23304A"/>
            </a:solidFill>
            <a:prstDash val="solid"/>
          </a:ln>
        </p:spPr>
      </p:sp>
      <p:sp>
        <p:nvSpPr>
          <p:cNvPr id="12" name="Text 9"/>
          <p:cNvSpPr/>
          <p:nvPr/>
        </p:nvSpPr>
        <p:spPr>
          <a:xfrm>
            <a:off x="8887968" y="1325880"/>
            <a:ext cx="264535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AZURE BUDGET LATENCY</a:t>
            </a:r>
            <a:endParaRPr lang="en-US" sz="1200" dirty="0"/>
          </a:p>
        </p:txBody>
      </p:sp>
      <p:sp>
        <p:nvSpPr>
          <p:cNvPr id="13" name="Text 10"/>
          <p:cNvSpPr/>
          <p:nvPr/>
        </p:nvSpPr>
        <p:spPr>
          <a:xfrm>
            <a:off x="8887968" y="1527048"/>
            <a:ext cx="264535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8-24 h</a:t>
            </a:r>
            <a:endParaRPr lang="en-US" sz="2800" dirty="0"/>
          </a:p>
        </p:txBody>
      </p:sp>
      <p:sp>
        <p:nvSpPr>
          <p:cNvPr id="14" name="Text 11"/>
          <p:cNvSpPr/>
          <p:nvPr/>
        </p:nvSpPr>
        <p:spPr>
          <a:xfrm>
            <a:off x="8887968" y="1929384"/>
            <a:ext cx="264535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reporting, not enforcement</a:t>
            </a:r>
            <a:endParaRPr lang="en-US" sz="1200" dirty="0"/>
          </a:p>
        </p:txBody>
      </p:sp>
      <p:sp>
        <p:nvSpPr>
          <p:cNvPr id="15" name="Shape 12"/>
          <p:cNvSpPr/>
          <p:nvPr/>
        </p:nvSpPr>
        <p:spPr>
          <a:xfrm>
            <a:off x="8686800" y="2459736"/>
            <a:ext cx="3047695" cy="1097280"/>
          </a:xfrm>
          <a:prstGeom prst="roundRect">
            <a:avLst>
              <a:gd name="adj" fmla="val 5000"/>
            </a:avLst>
          </a:prstGeom>
          <a:solidFill>
            <a:srgbClr val="121B2D"/>
          </a:solidFill>
          <a:ln w="12700">
            <a:solidFill>
              <a:srgbClr val="23304A"/>
            </a:solidFill>
            <a:prstDash val="solid"/>
          </a:ln>
        </p:spPr>
      </p:sp>
      <p:sp>
        <p:nvSpPr>
          <p:cNvPr id="16" name="Text 13"/>
          <p:cNvSpPr/>
          <p:nvPr/>
        </p:nvSpPr>
        <p:spPr>
          <a:xfrm>
            <a:off x="8887968" y="2551176"/>
            <a:ext cx="264535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APIM ENFORCEMENT</a:t>
            </a:r>
            <a:endParaRPr lang="en-US" sz="1200" dirty="0"/>
          </a:p>
        </p:txBody>
      </p:sp>
      <p:sp>
        <p:nvSpPr>
          <p:cNvPr id="17" name="Text 14"/>
          <p:cNvSpPr/>
          <p:nvPr/>
        </p:nvSpPr>
        <p:spPr>
          <a:xfrm>
            <a:off x="8887968" y="2752344"/>
            <a:ext cx="264535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Per request</a:t>
            </a:r>
            <a:endParaRPr lang="en-US" sz="2800" dirty="0"/>
          </a:p>
        </p:txBody>
      </p:sp>
      <p:sp>
        <p:nvSpPr>
          <p:cNvPr id="18" name="Text 15"/>
          <p:cNvSpPr/>
          <p:nvPr/>
        </p:nvSpPr>
        <p:spPr>
          <a:xfrm>
            <a:off x="8887968" y="3154680"/>
            <a:ext cx="264535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429 on TPM, 403 on quota</a:t>
            </a:r>
            <a:endParaRPr lang="en-US" sz="1200" dirty="0"/>
          </a:p>
        </p:txBody>
      </p:sp>
      <p:sp>
        <p:nvSpPr>
          <p:cNvPr id="19" name="Shape 16"/>
          <p:cNvSpPr/>
          <p:nvPr/>
        </p:nvSpPr>
        <p:spPr>
          <a:xfrm>
            <a:off x="8686800" y="3685032"/>
            <a:ext cx="3047695" cy="1097280"/>
          </a:xfrm>
          <a:prstGeom prst="roundRect">
            <a:avLst>
              <a:gd name="adj" fmla="val 5000"/>
            </a:avLst>
          </a:prstGeom>
          <a:solidFill>
            <a:srgbClr val="121B2D"/>
          </a:solidFill>
          <a:ln w="12700">
            <a:solidFill>
              <a:srgbClr val="23304A"/>
            </a:solidFill>
            <a:prstDash val="solid"/>
          </a:ln>
        </p:spPr>
      </p:sp>
      <p:sp>
        <p:nvSpPr>
          <p:cNvPr id="20" name="Text 17"/>
          <p:cNvSpPr/>
          <p:nvPr/>
        </p:nvSpPr>
        <p:spPr>
          <a:xfrm>
            <a:off x="8887968" y="3776472"/>
            <a:ext cx="264535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SET THE HARD QUOTA AT</a:t>
            </a:r>
            <a:endParaRPr lang="en-US" sz="1200" dirty="0"/>
          </a:p>
        </p:txBody>
      </p:sp>
      <p:sp>
        <p:nvSpPr>
          <p:cNvPr id="21" name="Text 18"/>
          <p:cNvSpPr/>
          <p:nvPr/>
        </p:nvSpPr>
        <p:spPr>
          <a:xfrm>
            <a:off x="8887968" y="3977640"/>
            <a:ext cx="264535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75-85%</a:t>
            </a:r>
            <a:endParaRPr lang="en-US" sz="2800" dirty="0"/>
          </a:p>
        </p:txBody>
      </p:sp>
      <p:sp>
        <p:nvSpPr>
          <p:cNvPr id="22" name="Text 19"/>
          <p:cNvSpPr/>
          <p:nvPr/>
        </p:nvSpPr>
        <p:spPr>
          <a:xfrm>
            <a:off x="8887968" y="4379976"/>
            <a:ext cx="2645359" cy="356616"/>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of the approved budget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OWNERSHIP</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471" b="1" dirty="0">
                <a:solidFill>
                  <a:srgbClr val="F4F7FB"/>
                </a:solidFill>
                <a:latin typeface="Calibri" pitchFamily="34" charset="0"/>
                <a:ea typeface="Calibri" pitchFamily="34" charset="-122"/>
                <a:cs typeface="Calibri" pitchFamily="34" charset="-120"/>
              </a:rPr>
              <a:t>Nothing reaches production unowned</a:t>
            </a:r>
            <a:endParaRPr lang="en-US" sz="2471"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No AI workload goes live without explicit business ownership and financial allocation.</a:t>
            </a:r>
            <a:endParaRPr lang="en-US" sz="1200" dirty="0"/>
          </a:p>
        </p:txBody>
      </p:sp>
      <p:sp>
        <p:nvSpPr>
          <p:cNvPr id="7" name="Shape 5"/>
          <p:cNvSpPr/>
          <p:nvPr/>
        </p:nvSpPr>
        <p:spPr>
          <a:xfrm>
            <a:off x="457200" y="1517904"/>
            <a:ext cx="409766" cy="409766"/>
          </a:xfrm>
          <a:prstGeom prst="ellipse">
            <a:avLst/>
          </a:prstGeom>
          <a:solidFill>
            <a:srgbClr val="121B2D"/>
          </a:solidFill>
          <a:ln w="15875">
            <a:solidFill>
              <a:srgbClr val="B07CFF"/>
            </a:solidFill>
            <a:prstDash val="solid"/>
          </a:ln>
        </p:spPr>
      </p:sp>
      <p:sp>
        <p:nvSpPr>
          <p:cNvPr id="8" name="Text 6"/>
          <p:cNvSpPr/>
          <p:nvPr/>
        </p:nvSpPr>
        <p:spPr>
          <a:xfrm>
            <a:off x="457200" y="1517904"/>
            <a:ext cx="409766" cy="409766"/>
          </a:xfrm>
          <a:prstGeom prst="rect">
            <a:avLst/>
          </a:prstGeom>
          <a:noFill/>
          <a:ln/>
        </p:spPr>
        <p:txBody>
          <a:bodyPr wrap="square" lIns="0" tIns="0" rIns="0" bIns="0" rtlCol="0" anchor="ctr"/>
          <a:lstStyle/>
          <a:p>
            <a:pPr algn="ctr" indent="0" marL="0">
              <a:buNone/>
            </a:pPr>
            <a:r>
              <a:rPr lang="en-US" sz="1618" b="1" dirty="0">
                <a:solidFill>
                  <a:srgbClr val="B07CFF"/>
                </a:solidFill>
                <a:latin typeface="Calibri" pitchFamily="34" charset="0"/>
                <a:ea typeface="Calibri" pitchFamily="34" charset="-122"/>
                <a:cs typeface="Calibri" pitchFamily="34" charset="-120"/>
              </a:rPr>
              <a:t>1</a:t>
            </a:r>
            <a:endParaRPr lang="en-US" sz="1618" dirty="0"/>
          </a:p>
        </p:txBody>
      </p:sp>
      <p:sp>
        <p:nvSpPr>
          <p:cNvPr id="9" name="Text 7"/>
          <p:cNvSpPr/>
          <p:nvPr/>
        </p:nvSpPr>
        <p:spPr>
          <a:xfrm>
            <a:off x="1013270" y="1463040"/>
            <a:ext cx="4899698" cy="206375"/>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Business owner</a:t>
            </a:r>
            <a:endParaRPr lang="en-US" sz="1300" dirty="0"/>
          </a:p>
        </p:txBody>
      </p:sp>
      <p:sp>
        <p:nvSpPr>
          <p:cNvPr id="10" name="Text 8"/>
          <p:cNvSpPr/>
          <p:nvPr/>
        </p:nvSpPr>
        <p:spPr>
          <a:xfrm>
            <a:off x="1013270" y="1715135"/>
            <a:ext cx="4899698" cy="190500"/>
          </a:xfrm>
          <a:prstGeom prst="rect">
            <a:avLst/>
          </a:prstGeom>
          <a:noFill/>
          <a:ln/>
        </p:spPr>
        <p:txBody>
          <a:bodyPr wrap="square" lIns="0" tIns="0" rIns="0" bIns="0" rtlCol="0" anchor="t"/>
          <a:lstStyle/>
          <a:p>
            <a:pPr indent="0" marL="0">
              <a:lnSpc>
                <a:spcPct val="112000"/>
              </a:lnSpc>
              <a:buNone/>
            </a:pPr>
            <a:r>
              <a:rPr lang="en-US" sz="1200" dirty="0">
                <a:solidFill>
                  <a:srgbClr val="91A0B7"/>
                </a:solidFill>
                <a:latin typeface="Calibri" pitchFamily="34" charset="0"/>
                <a:ea typeface="Calibri" pitchFamily="34" charset="-122"/>
                <a:cs typeface="Calibri" pitchFamily="34" charset="-120"/>
              </a:rPr>
              <a:t>Accountability for the use case and its return.</a:t>
            </a:r>
            <a:endParaRPr lang="en-US" sz="1200" dirty="0"/>
          </a:p>
        </p:txBody>
      </p:sp>
      <p:sp>
        <p:nvSpPr>
          <p:cNvPr id="11" name="Text 9"/>
          <p:cNvSpPr/>
          <p:nvPr/>
        </p:nvSpPr>
        <p:spPr>
          <a:xfrm>
            <a:off x="1013270" y="1951355"/>
            <a:ext cx="4899698" cy="227076"/>
          </a:xfrm>
          <a:prstGeom prst="rect">
            <a:avLst/>
          </a:prstGeom>
          <a:noFill/>
          <a:ln/>
        </p:spPr>
        <p:txBody>
          <a:bodyPr wrap="square" lIns="0" tIns="0" rIns="0" bIns="0" rtlCol="0" anchor="t"/>
          <a:lstStyle/>
          <a:p>
            <a:pPr indent="0" marL="0">
              <a:lnSpc>
                <a:spcPct val="105000"/>
              </a:lnSpc>
              <a:buNone/>
            </a:pPr>
            <a:r>
              <a:rPr lang="en-US" sz="1200" i="1" dirty="0">
                <a:solidFill>
                  <a:srgbClr val="B07CFF"/>
                </a:solidFill>
                <a:latin typeface="Calibri" pitchFamily="34" charset="0"/>
                <a:ea typeface="Calibri" pitchFamily="34" charset="-122"/>
                <a:cs typeface="Calibri" pitchFamily="34" charset="-120"/>
              </a:rPr>
              <a:t>Tip: Record it with the cost centre, so it survives a reorg.</a:t>
            </a:r>
            <a:endParaRPr lang="en-US" sz="1200" dirty="0"/>
          </a:p>
        </p:txBody>
      </p:sp>
      <p:sp>
        <p:nvSpPr>
          <p:cNvPr id="12" name="Shape 10"/>
          <p:cNvSpPr/>
          <p:nvPr/>
        </p:nvSpPr>
        <p:spPr>
          <a:xfrm>
            <a:off x="457200" y="2337435"/>
            <a:ext cx="409766" cy="409766"/>
          </a:xfrm>
          <a:prstGeom prst="ellipse">
            <a:avLst/>
          </a:prstGeom>
          <a:solidFill>
            <a:srgbClr val="121B2D"/>
          </a:solidFill>
          <a:ln w="15875">
            <a:solidFill>
              <a:srgbClr val="B07CFF"/>
            </a:solidFill>
            <a:prstDash val="solid"/>
          </a:ln>
        </p:spPr>
      </p:sp>
      <p:sp>
        <p:nvSpPr>
          <p:cNvPr id="13" name="Text 11"/>
          <p:cNvSpPr/>
          <p:nvPr/>
        </p:nvSpPr>
        <p:spPr>
          <a:xfrm>
            <a:off x="457200" y="2337435"/>
            <a:ext cx="409766" cy="409766"/>
          </a:xfrm>
          <a:prstGeom prst="rect">
            <a:avLst/>
          </a:prstGeom>
          <a:noFill/>
          <a:ln/>
        </p:spPr>
        <p:txBody>
          <a:bodyPr wrap="square" lIns="0" tIns="0" rIns="0" bIns="0" rtlCol="0" anchor="ctr"/>
          <a:lstStyle/>
          <a:p>
            <a:pPr algn="ctr" indent="0" marL="0">
              <a:buNone/>
            </a:pPr>
            <a:r>
              <a:rPr lang="en-US" sz="1618" b="1" dirty="0">
                <a:solidFill>
                  <a:srgbClr val="B07CFF"/>
                </a:solidFill>
                <a:latin typeface="Calibri" pitchFamily="34" charset="0"/>
                <a:ea typeface="Calibri" pitchFamily="34" charset="-122"/>
                <a:cs typeface="Calibri" pitchFamily="34" charset="-120"/>
              </a:rPr>
              <a:t>2</a:t>
            </a:r>
            <a:endParaRPr lang="en-US" sz="1618" dirty="0"/>
          </a:p>
        </p:txBody>
      </p:sp>
      <p:sp>
        <p:nvSpPr>
          <p:cNvPr id="14" name="Text 12"/>
          <p:cNvSpPr/>
          <p:nvPr/>
        </p:nvSpPr>
        <p:spPr>
          <a:xfrm>
            <a:off x="1013270" y="2282571"/>
            <a:ext cx="4899698" cy="206375"/>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Technical owner</a:t>
            </a:r>
            <a:endParaRPr lang="en-US" sz="1300" dirty="0"/>
          </a:p>
        </p:txBody>
      </p:sp>
      <p:sp>
        <p:nvSpPr>
          <p:cNvPr id="15" name="Text 13"/>
          <p:cNvSpPr/>
          <p:nvPr/>
        </p:nvSpPr>
        <p:spPr>
          <a:xfrm>
            <a:off x="1013270" y="2534666"/>
            <a:ext cx="4899698" cy="190500"/>
          </a:xfrm>
          <a:prstGeom prst="rect">
            <a:avLst/>
          </a:prstGeom>
          <a:noFill/>
          <a:ln/>
        </p:spPr>
        <p:txBody>
          <a:bodyPr wrap="square" lIns="0" tIns="0" rIns="0" bIns="0" rtlCol="0" anchor="t"/>
          <a:lstStyle/>
          <a:p>
            <a:pPr indent="0" marL="0">
              <a:lnSpc>
                <a:spcPct val="112000"/>
              </a:lnSpc>
              <a:buNone/>
            </a:pPr>
            <a:r>
              <a:rPr lang="en-US" sz="1200" dirty="0">
                <a:solidFill>
                  <a:srgbClr val="91A0B7"/>
                </a:solidFill>
                <a:latin typeface="Calibri" pitchFamily="34" charset="0"/>
                <a:ea typeface="Calibri" pitchFamily="34" charset="-122"/>
                <a:cs typeface="Calibri" pitchFamily="34" charset="-120"/>
              </a:rPr>
              <a:t>Deployment, model choice and system health.</a:t>
            </a:r>
            <a:endParaRPr lang="en-US" sz="1200" dirty="0"/>
          </a:p>
        </p:txBody>
      </p:sp>
      <p:sp>
        <p:nvSpPr>
          <p:cNvPr id="16" name="Text 14"/>
          <p:cNvSpPr/>
          <p:nvPr/>
        </p:nvSpPr>
        <p:spPr>
          <a:xfrm>
            <a:off x="1013270" y="2770886"/>
            <a:ext cx="4899698" cy="227076"/>
          </a:xfrm>
          <a:prstGeom prst="rect">
            <a:avLst/>
          </a:prstGeom>
          <a:noFill/>
          <a:ln/>
        </p:spPr>
        <p:txBody>
          <a:bodyPr wrap="square" lIns="0" tIns="0" rIns="0" bIns="0" rtlCol="0" anchor="t"/>
          <a:lstStyle/>
          <a:p>
            <a:pPr indent="0" marL="0">
              <a:lnSpc>
                <a:spcPct val="105000"/>
              </a:lnSpc>
              <a:buNone/>
            </a:pPr>
            <a:r>
              <a:rPr lang="en-US" sz="1200" i="1" dirty="0">
                <a:solidFill>
                  <a:srgbClr val="B07CFF"/>
                </a:solidFill>
                <a:latin typeface="Calibri" pitchFamily="34" charset="0"/>
                <a:ea typeface="Calibri" pitchFamily="34" charset="-122"/>
                <a:cs typeface="Calibri" pitchFamily="34" charset="-120"/>
              </a:rPr>
              <a:t>Tip: On call for the model, not just the pipeline.</a:t>
            </a:r>
            <a:endParaRPr lang="en-US" sz="1200" dirty="0"/>
          </a:p>
        </p:txBody>
      </p:sp>
      <p:sp>
        <p:nvSpPr>
          <p:cNvPr id="17" name="Shape 15"/>
          <p:cNvSpPr/>
          <p:nvPr/>
        </p:nvSpPr>
        <p:spPr>
          <a:xfrm>
            <a:off x="457200" y="3156966"/>
            <a:ext cx="409766" cy="409766"/>
          </a:xfrm>
          <a:prstGeom prst="ellipse">
            <a:avLst/>
          </a:prstGeom>
          <a:solidFill>
            <a:srgbClr val="121B2D"/>
          </a:solidFill>
          <a:ln w="15875">
            <a:solidFill>
              <a:srgbClr val="B07CFF"/>
            </a:solidFill>
            <a:prstDash val="solid"/>
          </a:ln>
        </p:spPr>
      </p:sp>
      <p:sp>
        <p:nvSpPr>
          <p:cNvPr id="18" name="Text 16"/>
          <p:cNvSpPr/>
          <p:nvPr/>
        </p:nvSpPr>
        <p:spPr>
          <a:xfrm>
            <a:off x="457200" y="3156966"/>
            <a:ext cx="409766" cy="409766"/>
          </a:xfrm>
          <a:prstGeom prst="rect">
            <a:avLst/>
          </a:prstGeom>
          <a:noFill/>
          <a:ln/>
        </p:spPr>
        <p:txBody>
          <a:bodyPr wrap="square" lIns="0" tIns="0" rIns="0" bIns="0" rtlCol="0" anchor="ctr"/>
          <a:lstStyle/>
          <a:p>
            <a:pPr algn="ctr" indent="0" marL="0">
              <a:buNone/>
            </a:pPr>
            <a:r>
              <a:rPr lang="en-US" sz="1618" b="1" dirty="0">
                <a:solidFill>
                  <a:srgbClr val="B07CFF"/>
                </a:solidFill>
                <a:latin typeface="Calibri" pitchFamily="34" charset="0"/>
                <a:ea typeface="Calibri" pitchFamily="34" charset="-122"/>
                <a:cs typeface="Calibri" pitchFamily="34" charset="-120"/>
              </a:rPr>
              <a:t>3</a:t>
            </a:r>
            <a:endParaRPr lang="en-US" sz="1618" dirty="0"/>
          </a:p>
        </p:txBody>
      </p:sp>
      <p:sp>
        <p:nvSpPr>
          <p:cNvPr id="19" name="Text 17"/>
          <p:cNvSpPr/>
          <p:nvPr/>
        </p:nvSpPr>
        <p:spPr>
          <a:xfrm>
            <a:off x="1013270" y="3102102"/>
            <a:ext cx="4899698" cy="206375"/>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Budget</a:t>
            </a:r>
            <a:endParaRPr lang="en-US" sz="1300" dirty="0"/>
          </a:p>
        </p:txBody>
      </p:sp>
      <p:sp>
        <p:nvSpPr>
          <p:cNvPr id="20" name="Text 18"/>
          <p:cNvSpPr/>
          <p:nvPr/>
        </p:nvSpPr>
        <p:spPr>
          <a:xfrm>
            <a:off x="1013270" y="3354197"/>
            <a:ext cx="4899698" cy="190500"/>
          </a:xfrm>
          <a:prstGeom prst="rect">
            <a:avLst/>
          </a:prstGeom>
          <a:noFill/>
          <a:ln/>
        </p:spPr>
        <p:txBody>
          <a:bodyPr wrap="square" lIns="0" tIns="0" rIns="0" bIns="0" rtlCol="0" anchor="t"/>
          <a:lstStyle/>
          <a:p>
            <a:pPr indent="0" marL="0">
              <a:lnSpc>
                <a:spcPct val="112000"/>
              </a:lnSpc>
              <a:buNone/>
            </a:pPr>
            <a:r>
              <a:rPr lang="en-US" sz="1200" dirty="0">
                <a:solidFill>
                  <a:srgbClr val="91A0B7"/>
                </a:solidFill>
                <a:latin typeface="Calibri" pitchFamily="34" charset="0"/>
                <a:ea typeface="Calibri" pitchFamily="34" charset="-122"/>
                <a:cs typeface="Calibri" pitchFamily="34" charset="-120"/>
              </a:rPr>
              <a:t>Maximum financial exposure, set before anything runs.</a:t>
            </a:r>
            <a:endParaRPr lang="en-US" sz="1200" dirty="0"/>
          </a:p>
        </p:txBody>
      </p:sp>
      <p:sp>
        <p:nvSpPr>
          <p:cNvPr id="21" name="Text 19"/>
          <p:cNvSpPr/>
          <p:nvPr/>
        </p:nvSpPr>
        <p:spPr>
          <a:xfrm>
            <a:off x="1013270" y="3590417"/>
            <a:ext cx="4899698" cy="227076"/>
          </a:xfrm>
          <a:prstGeom prst="rect">
            <a:avLst/>
          </a:prstGeom>
          <a:noFill/>
          <a:ln/>
        </p:spPr>
        <p:txBody>
          <a:bodyPr wrap="square" lIns="0" tIns="0" rIns="0" bIns="0" rtlCol="0" anchor="t"/>
          <a:lstStyle/>
          <a:p>
            <a:pPr indent="0" marL="0">
              <a:lnSpc>
                <a:spcPct val="105000"/>
              </a:lnSpc>
              <a:buNone/>
            </a:pPr>
            <a:r>
              <a:rPr lang="en-US" sz="1200" i="1" dirty="0">
                <a:solidFill>
                  <a:srgbClr val="B07CFF"/>
                </a:solidFill>
                <a:latin typeface="Calibri" pitchFamily="34" charset="0"/>
                <a:ea typeface="Calibri" pitchFamily="34" charset="-122"/>
                <a:cs typeface="Calibri" pitchFamily="34" charset="-120"/>
              </a:rPr>
              <a:t>Tip: Set the hard quota at 75-85% of budget.</a:t>
            </a:r>
            <a:endParaRPr lang="en-US" sz="1200" dirty="0"/>
          </a:p>
        </p:txBody>
      </p:sp>
      <p:sp>
        <p:nvSpPr>
          <p:cNvPr id="22" name="Shape 20"/>
          <p:cNvSpPr/>
          <p:nvPr/>
        </p:nvSpPr>
        <p:spPr>
          <a:xfrm>
            <a:off x="457200" y="3976497"/>
            <a:ext cx="409766" cy="409766"/>
          </a:xfrm>
          <a:prstGeom prst="ellipse">
            <a:avLst/>
          </a:prstGeom>
          <a:solidFill>
            <a:srgbClr val="121B2D"/>
          </a:solidFill>
          <a:ln w="15875">
            <a:solidFill>
              <a:srgbClr val="B07CFF"/>
            </a:solidFill>
            <a:prstDash val="solid"/>
          </a:ln>
        </p:spPr>
      </p:sp>
      <p:sp>
        <p:nvSpPr>
          <p:cNvPr id="23" name="Text 21"/>
          <p:cNvSpPr/>
          <p:nvPr/>
        </p:nvSpPr>
        <p:spPr>
          <a:xfrm>
            <a:off x="457200" y="3976497"/>
            <a:ext cx="409766" cy="409766"/>
          </a:xfrm>
          <a:prstGeom prst="rect">
            <a:avLst/>
          </a:prstGeom>
          <a:noFill/>
          <a:ln/>
        </p:spPr>
        <p:txBody>
          <a:bodyPr wrap="square" lIns="0" tIns="0" rIns="0" bIns="0" rtlCol="0" anchor="ctr"/>
          <a:lstStyle/>
          <a:p>
            <a:pPr algn="ctr" indent="0" marL="0">
              <a:buNone/>
            </a:pPr>
            <a:r>
              <a:rPr lang="en-US" sz="1618" b="1" dirty="0">
                <a:solidFill>
                  <a:srgbClr val="B07CFF"/>
                </a:solidFill>
                <a:latin typeface="Calibri" pitchFamily="34" charset="0"/>
                <a:ea typeface="Calibri" pitchFamily="34" charset="-122"/>
                <a:cs typeface="Calibri" pitchFamily="34" charset="-120"/>
              </a:rPr>
              <a:t>4</a:t>
            </a:r>
            <a:endParaRPr lang="en-US" sz="1618" dirty="0"/>
          </a:p>
        </p:txBody>
      </p:sp>
      <p:sp>
        <p:nvSpPr>
          <p:cNvPr id="24" name="Text 22"/>
          <p:cNvSpPr/>
          <p:nvPr/>
        </p:nvSpPr>
        <p:spPr>
          <a:xfrm>
            <a:off x="1013270" y="3921633"/>
            <a:ext cx="4899698" cy="206375"/>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Rate limit</a:t>
            </a:r>
            <a:endParaRPr lang="en-US" sz="1300" dirty="0"/>
          </a:p>
        </p:txBody>
      </p:sp>
      <p:sp>
        <p:nvSpPr>
          <p:cNvPr id="25" name="Text 23"/>
          <p:cNvSpPr/>
          <p:nvPr/>
        </p:nvSpPr>
        <p:spPr>
          <a:xfrm>
            <a:off x="1013270" y="4173728"/>
            <a:ext cx="4899698" cy="190500"/>
          </a:xfrm>
          <a:prstGeom prst="rect">
            <a:avLst/>
          </a:prstGeom>
          <a:noFill/>
          <a:ln/>
        </p:spPr>
        <p:txBody>
          <a:bodyPr wrap="square" lIns="0" tIns="0" rIns="0" bIns="0" rtlCol="0" anchor="t"/>
          <a:lstStyle/>
          <a:p>
            <a:pPr indent="0" marL="0">
              <a:lnSpc>
                <a:spcPct val="112000"/>
              </a:lnSpc>
              <a:buNone/>
            </a:pPr>
            <a:r>
              <a:rPr lang="en-US" sz="1200" dirty="0">
                <a:solidFill>
                  <a:srgbClr val="91A0B7"/>
                </a:solidFill>
                <a:latin typeface="Calibri" pitchFamily="34" charset="0"/>
                <a:ea typeface="Calibri" pitchFamily="34" charset="-122"/>
                <a:cs typeface="Calibri" pitchFamily="34" charset="-120"/>
              </a:rPr>
              <a:t>Prevents API spam, runaway loops and overload.</a:t>
            </a:r>
            <a:endParaRPr lang="en-US" sz="1200" dirty="0"/>
          </a:p>
        </p:txBody>
      </p:sp>
      <p:sp>
        <p:nvSpPr>
          <p:cNvPr id="26" name="Text 24"/>
          <p:cNvSpPr/>
          <p:nvPr/>
        </p:nvSpPr>
        <p:spPr>
          <a:xfrm>
            <a:off x="1013270" y="4409948"/>
            <a:ext cx="4899698" cy="227076"/>
          </a:xfrm>
          <a:prstGeom prst="rect">
            <a:avLst/>
          </a:prstGeom>
          <a:noFill/>
          <a:ln/>
        </p:spPr>
        <p:txBody>
          <a:bodyPr wrap="square" lIns="0" tIns="0" rIns="0" bIns="0" rtlCol="0" anchor="t"/>
          <a:lstStyle/>
          <a:p>
            <a:pPr indent="0" marL="0">
              <a:lnSpc>
                <a:spcPct val="105000"/>
              </a:lnSpc>
              <a:buNone/>
            </a:pPr>
            <a:r>
              <a:rPr lang="en-US" sz="1200" i="1" dirty="0">
                <a:solidFill>
                  <a:srgbClr val="B07CFF"/>
                </a:solidFill>
                <a:latin typeface="Calibri" pitchFamily="34" charset="0"/>
                <a:ea typeface="Calibri" pitchFamily="34" charset="-122"/>
                <a:cs typeface="Calibri" pitchFamily="34" charset="-120"/>
              </a:rPr>
              <a:t>Tip: One key per application, never shared.</a:t>
            </a:r>
            <a:endParaRPr lang="en-US" sz="1200" dirty="0"/>
          </a:p>
        </p:txBody>
      </p:sp>
      <p:sp>
        <p:nvSpPr>
          <p:cNvPr id="27" name="Shape 25"/>
          <p:cNvSpPr/>
          <p:nvPr/>
        </p:nvSpPr>
        <p:spPr>
          <a:xfrm>
            <a:off x="6278728" y="1517904"/>
            <a:ext cx="409766" cy="409766"/>
          </a:xfrm>
          <a:prstGeom prst="ellipse">
            <a:avLst/>
          </a:prstGeom>
          <a:solidFill>
            <a:srgbClr val="121B2D"/>
          </a:solidFill>
          <a:ln w="15875">
            <a:solidFill>
              <a:srgbClr val="B07CFF"/>
            </a:solidFill>
            <a:prstDash val="solid"/>
          </a:ln>
        </p:spPr>
      </p:sp>
      <p:sp>
        <p:nvSpPr>
          <p:cNvPr id="28" name="Text 26"/>
          <p:cNvSpPr/>
          <p:nvPr/>
        </p:nvSpPr>
        <p:spPr>
          <a:xfrm>
            <a:off x="6278728" y="1517904"/>
            <a:ext cx="409766" cy="409766"/>
          </a:xfrm>
          <a:prstGeom prst="rect">
            <a:avLst/>
          </a:prstGeom>
          <a:noFill/>
          <a:ln/>
        </p:spPr>
        <p:txBody>
          <a:bodyPr wrap="square" lIns="0" tIns="0" rIns="0" bIns="0" rtlCol="0" anchor="ctr"/>
          <a:lstStyle/>
          <a:p>
            <a:pPr algn="ctr" indent="0" marL="0">
              <a:buNone/>
            </a:pPr>
            <a:r>
              <a:rPr lang="en-US" sz="1618" b="1" dirty="0">
                <a:solidFill>
                  <a:srgbClr val="B07CFF"/>
                </a:solidFill>
                <a:latin typeface="Calibri" pitchFamily="34" charset="0"/>
                <a:ea typeface="Calibri" pitchFamily="34" charset="-122"/>
                <a:cs typeface="Calibri" pitchFamily="34" charset="-120"/>
              </a:rPr>
              <a:t>5</a:t>
            </a:r>
            <a:endParaRPr lang="en-US" sz="1618" dirty="0"/>
          </a:p>
        </p:txBody>
      </p:sp>
      <p:sp>
        <p:nvSpPr>
          <p:cNvPr id="29" name="Text 27"/>
          <p:cNvSpPr/>
          <p:nvPr/>
        </p:nvSpPr>
        <p:spPr>
          <a:xfrm>
            <a:off x="6834797" y="1463040"/>
            <a:ext cx="4899698" cy="206375"/>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Token quota</a:t>
            </a:r>
            <a:endParaRPr lang="en-US" sz="1300" dirty="0"/>
          </a:p>
        </p:txBody>
      </p:sp>
      <p:sp>
        <p:nvSpPr>
          <p:cNvPr id="30" name="Text 28"/>
          <p:cNvSpPr/>
          <p:nvPr/>
        </p:nvSpPr>
        <p:spPr>
          <a:xfrm>
            <a:off x="6834797" y="1715135"/>
            <a:ext cx="4899698" cy="190500"/>
          </a:xfrm>
          <a:prstGeom prst="rect">
            <a:avLst/>
          </a:prstGeom>
          <a:noFill/>
          <a:ln/>
        </p:spPr>
        <p:txBody>
          <a:bodyPr wrap="square" lIns="0" tIns="0" rIns="0" bIns="0" rtlCol="0" anchor="t"/>
          <a:lstStyle/>
          <a:p>
            <a:pPr indent="0" marL="0">
              <a:lnSpc>
                <a:spcPct val="112000"/>
              </a:lnSpc>
              <a:buNone/>
            </a:pPr>
            <a:r>
              <a:rPr lang="en-US" sz="1200" dirty="0">
                <a:solidFill>
                  <a:srgbClr val="91A0B7"/>
                </a:solidFill>
                <a:latin typeface="Calibri" pitchFamily="34" charset="0"/>
                <a:ea typeface="Calibri" pitchFamily="34" charset="-122"/>
                <a:cs typeface="Calibri" pitchFamily="34" charset="-120"/>
              </a:rPr>
              <a:t>Caps consumption per consumer, independent of budget.</a:t>
            </a:r>
            <a:endParaRPr lang="en-US" sz="1200" dirty="0"/>
          </a:p>
        </p:txBody>
      </p:sp>
      <p:sp>
        <p:nvSpPr>
          <p:cNvPr id="31" name="Text 29"/>
          <p:cNvSpPr/>
          <p:nvPr/>
        </p:nvSpPr>
        <p:spPr>
          <a:xfrm>
            <a:off x="6834797" y="1951355"/>
            <a:ext cx="4899698" cy="227076"/>
          </a:xfrm>
          <a:prstGeom prst="rect">
            <a:avLst/>
          </a:prstGeom>
          <a:noFill/>
          <a:ln/>
        </p:spPr>
        <p:txBody>
          <a:bodyPr wrap="square" lIns="0" tIns="0" rIns="0" bIns="0" rtlCol="0" anchor="t"/>
          <a:lstStyle/>
          <a:p>
            <a:pPr indent="0" marL="0">
              <a:lnSpc>
                <a:spcPct val="105000"/>
              </a:lnSpc>
              <a:buNone/>
            </a:pPr>
            <a:r>
              <a:rPr lang="en-US" sz="1200" i="1" dirty="0">
                <a:solidFill>
                  <a:srgbClr val="B07CFF"/>
                </a:solidFill>
                <a:latin typeface="Calibri" pitchFamily="34" charset="0"/>
                <a:ea typeface="Calibri" pitchFamily="34" charset="-122"/>
                <a:cs typeface="Calibri" pitchFamily="34" charset="-120"/>
              </a:rPr>
              <a:t>Tip: Split it by region; each APIM gateway counts alone.</a:t>
            </a:r>
            <a:endParaRPr lang="en-US" sz="1200" dirty="0"/>
          </a:p>
        </p:txBody>
      </p:sp>
      <p:sp>
        <p:nvSpPr>
          <p:cNvPr id="32" name="Shape 30"/>
          <p:cNvSpPr/>
          <p:nvPr/>
        </p:nvSpPr>
        <p:spPr>
          <a:xfrm>
            <a:off x="6278728" y="2337435"/>
            <a:ext cx="409766" cy="409766"/>
          </a:xfrm>
          <a:prstGeom prst="ellipse">
            <a:avLst/>
          </a:prstGeom>
          <a:solidFill>
            <a:srgbClr val="121B2D"/>
          </a:solidFill>
          <a:ln w="15875">
            <a:solidFill>
              <a:srgbClr val="B07CFF"/>
            </a:solidFill>
            <a:prstDash val="solid"/>
          </a:ln>
        </p:spPr>
      </p:sp>
      <p:sp>
        <p:nvSpPr>
          <p:cNvPr id="33" name="Text 31"/>
          <p:cNvSpPr/>
          <p:nvPr/>
        </p:nvSpPr>
        <p:spPr>
          <a:xfrm>
            <a:off x="6278728" y="2337435"/>
            <a:ext cx="409766" cy="409766"/>
          </a:xfrm>
          <a:prstGeom prst="rect">
            <a:avLst/>
          </a:prstGeom>
          <a:noFill/>
          <a:ln/>
        </p:spPr>
        <p:txBody>
          <a:bodyPr wrap="square" lIns="0" tIns="0" rIns="0" bIns="0" rtlCol="0" anchor="ctr"/>
          <a:lstStyle/>
          <a:p>
            <a:pPr algn="ctr" indent="0" marL="0">
              <a:buNone/>
            </a:pPr>
            <a:r>
              <a:rPr lang="en-US" sz="1618" b="1" dirty="0">
                <a:solidFill>
                  <a:srgbClr val="B07CFF"/>
                </a:solidFill>
                <a:latin typeface="Calibri" pitchFamily="34" charset="0"/>
                <a:ea typeface="Calibri" pitchFamily="34" charset="-122"/>
                <a:cs typeface="Calibri" pitchFamily="34" charset="-120"/>
              </a:rPr>
              <a:t>6</a:t>
            </a:r>
            <a:endParaRPr lang="en-US" sz="1618" dirty="0"/>
          </a:p>
        </p:txBody>
      </p:sp>
      <p:sp>
        <p:nvSpPr>
          <p:cNvPr id="34" name="Text 32"/>
          <p:cNvSpPr/>
          <p:nvPr/>
        </p:nvSpPr>
        <p:spPr>
          <a:xfrm>
            <a:off x="6834797" y="2282571"/>
            <a:ext cx="4899698" cy="206375"/>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Cost centre</a:t>
            </a:r>
            <a:endParaRPr lang="en-US" sz="1300" dirty="0"/>
          </a:p>
        </p:txBody>
      </p:sp>
      <p:sp>
        <p:nvSpPr>
          <p:cNvPr id="35" name="Text 33"/>
          <p:cNvSpPr/>
          <p:nvPr/>
        </p:nvSpPr>
        <p:spPr>
          <a:xfrm>
            <a:off x="6834797" y="2534666"/>
            <a:ext cx="4899698" cy="190500"/>
          </a:xfrm>
          <a:prstGeom prst="rect">
            <a:avLst/>
          </a:prstGeom>
          <a:noFill/>
          <a:ln/>
        </p:spPr>
        <p:txBody>
          <a:bodyPr wrap="square" lIns="0" tIns="0" rIns="0" bIns="0" rtlCol="0" anchor="t"/>
          <a:lstStyle/>
          <a:p>
            <a:pPr indent="0" marL="0">
              <a:lnSpc>
                <a:spcPct val="112000"/>
              </a:lnSpc>
              <a:buNone/>
            </a:pPr>
            <a:r>
              <a:rPr lang="en-US" sz="1200" dirty="0">
                <a:solidFill>
                  <a:srgbClr val="91A0B7"/>
                </a:solidFill>
                <a:latin typeface="Calibri" pitchFamily="34" charset="0"/>
                <a:ea typeface="Calibri" pitchFamily="34" charset="-122"/>
                <a:cs typeface="Calibri" pitchFamily="34" charset="-120"/>
              </a:rPr>
              <a:t>Makes chargeback possible at month end.</a:t>
            </a:r>
            <a:endParaRPr lang="en-US" sz="1200" dirty="0"/>
          </a:p>
        </p:txBody>
      </p:sp>
      <p:sp>
        <p:nvSpPr>
          <p:cNvPr id="36" name="Text 34"/>
          <p:cNvSpPr/>
          <p:nvPr/>
        </p:nvSpPr>
        <p:spPr>
          <a:xfrm>
            <a:off x="6834797" y="2770886"/>
            <a:ext cx="4899698" cy="227076"/>
          </a:xfrm>
          <a:prstGeom prst="rect">
            <a:avLst/>
          </a:prstGeom>
          <a:noFill/>
          <a:ln/>
        </p:spPr>
        <p:txBody>
          <a:bodyPr wrap="square" lIns="0" tIns="0" rIns="0" bIns="0" rtlCol="0" anchor="t"/>
          <a:lstStyle/>
          <a:p>
            <a:pPr indent="0" marL="0">
              <a:lnSpc>
                <a:spcPct val="105000"/>
              </a:lnSpc>
              <a:buNone/>
            </a:pPr>
            <a:r>
              <a:rPr lang="en-US" sz="1200" i="1" dirty="0">
                <a:solidFill>
                  <a:srgbClr val="B07CFF"/>
                </a:solidFill>
                <a:latin typeface="Calibri" pitchFamily="34" charset="0"/>
                <a:ea typeface="Calibri" pitchFamily="34" charset="-122"/>
                <a:cs typeface="Calibri" pitchFamily="34" charset="-120"/>
              </a:rPr>
              <a:t>Tip: Tag the request at the gateway, not just the resource.</a:t>
            </a:r>
            <a:endParaRPr lang="en-US" sz="1200" dirty="0"/>
          </a:p>
        </p:txBody>
      </p:sp>
      <p:sp>
        <p:nvSpPr>
          <p:cNvPr id="37" name="Shape 35"/>
          <p:cNvSpPr/>
          <p:nvPr/>
        </p:nvSpPr>
        <p:spPr>
          <a:xfrm>
            <a:off x="6278728" y="3156966"/>
            <a:ext cx="409766" cy="409766"/>
          </a:xfrm>
          <a:prstGeom prst="ellipse">
            <a:avLst/>
          </a:prstGeom>
          <a:solidFill>
            <a:srgbClr val="121B2D"/>
          </a:solidFill>
          <a:ln w="15875">
            <a:solidFill>
              <a:srgbClr val="B07CFF"/>
            </a:solidFill>
            <a:prstDash val="solid"/>
          </a:ln>
        </p:spPr>
      </p:sp>
      <p:sp>
        <p:nvSpPr>
          <p:cNvPr id="38" name="Text 36"/>
          <p:cNvSpPr/>
          <p:nvPr/>
        </p:nvSpPr>
        <p:spPr>
          <a:xfrm>
            <a:off x="6278728" y="3156966"/>
            <a:ext cx="409766" cy="409766"/>
          </a:xfrm>
          <a:prstGeom prst="rect">
            <a:avLst/>
          </a:prstGeom>
          <a:noFill/>
          <a:ln/>
        </p:spPr>
        <p:txBody>
          <a:bodyPr wrap="square" lIns="0" tIns="0" rIns="0" bIns="0" rtlCol="0" anchor="ctr"/>
          <a:lstStyle/>
          <a:p>
            <a:pPr algn="ctr" indent="0" marL="0">
              <a:buNone/>
            </a:pPr>
            <a:r>
              <a:rPr lang="en-US" sz="1618" b="1" dirty="0">
                <a:solidFill>
                  <a:srgbClr val="B07CFF"/>
                </a:solidFill>
                <a:latin typeface="Calibri" pitchFamily="34" charset="0"/>
                <a:ea typeface="Calibri" pitchFamily="34" charset="-122"/>
                <a:cs typeface="Calibri" pitchFamily="34" charset="-120"/>
              </a:rPr>
              <a:t>7</a:t>
            </a:r>
            <a:endParaRPr lang="en-US" sz="1618" dirty="0"/>
          </a:p>
        </p:txBody>
      </p:sp>
      <p:sp>
        <p:nvSpPr>
          <p:cNvPr id="39" name="Text 37"/>
          <p:cNvSpPr/>
          <p:nvPr/>
        </p:nvSpPr>
        <p:spPr>
          <a:xfrm>
            <a:off x="6834797" y="3102102"/>
            <a:ext cx="4899698" cy="206375"/>
          </a:xfrm>
          <a:prstGeom prst="rect">
            <a:avLst/>
          </a:prstGeom>
          <a:noFill/>
          <a:ln/>
        </p:spPr>
        <p:txBody>
          <a:bodyPr wrap="square" lIns="0" tIns="0" rIns="0" bIns="0" rtlCol="0" anchor="ctr"/>
          <a:lstStyle/>
          <a:p>
            <a:pPr indent="0" marL="0">
              <a:buNone/>
            </a:pPr>
            <a:r>
              <a:rPr lang="en-US" sz="1300" b="1" dirty="0">
                <a:solidFill>
                  <a:srgbClr val="F4F7FB"/>
                </a:solidFill>
                <a:latin typeface="Calibri" pitchFamily="34" charset="0"/>
                <a:ea typeface="Calibri" pitchFamily="34" charset="-122"/>
                <a:cs typeface="Calibri" pitchFamily="34" charset="-120"/>
              </a:rPr>
              <a:t>Executive approval</a:t>
            </a:r>
            <a:endParaRPr lang="en-US" sz="1300" dirty="0"/>
          </a:p>
        </p:txBody>
      </p:sp>
      <p:sp>
        <p:nvSpPr>
          <p:cNvPr id="40" name="Text 38"/>
          <p:cNvSpPr/>
          <p:nvPr/>
        </p:nvSpPr>
        <p:spPr>
          <a:xfrm>
            <a:off x="6834797" y="3354197"/>
            <a:ext cx="4899698" cy="190500"/>
          </a:xfrm>
          <a:prstGeom prst="rect">
            <a:avLst/>
          </a:prstGeom>
          <a:noFill/>
          <a:ln/>
        </p:spPr>
        <p:txBody>
          <a:bodyPr wrap="square" lIns="0" tIns="0" rIns="0" bIns="0" rtlCol="0" anchor="t"/>
          <a:lstStyle/>
          <a:p>
            <a:pPr indent="0" marL="0">
              <a:lnSpc>
                <a:spcPct val="112000"/>
              </a:lnSpc>
              <a:buNone/>
            </a:pPr>
            <a:r>
              <a:rPr lang="en-US" sz="1200" dirty="0">
                <a:solidFill>
                  <a:srgbClr val="91A0B7"/>
                </a:solidFill>
                <a:latin typeface="Calibri" pitchFamily="34" charset="0"/>
                <a:ea typeface="Calibri" pitchFamily="34" charset="-122"/>
                <a:cs typeface="Calibri" pitchFamily="34" charset="-120"/>
              </a:rPr>
              <a:t>Sign-off before launch, not after the first invoice.</a:t>
            </a:r>
            <a:endParaRPr lang="en-US" sz="1200" dirty="0"/>
          </a:p>
        </p:txBody>
      </p:sp>
      <p:sp>
        <p:nvSpPr>
          <p:cNvPr id="41" name="Text 39"/>
          <p:cNvSpPr/>
          <p:nvPr/>
        </p:nvSpPr>
        <p:spPr>
          <a:xfrm>
            <a:off x="6834797" y="3590417"/>
            <a:ext cx="4899698" cy="227076"/>
          </a:xfrm>
          <a:prstGeom prst="rect">
            <a:avLst/>
          </a:prstGeom>
          <a:noFill/>
          <a:ln/>
        </p:spPr>
        <p:txBody>
          <a:bodyPr wrap="square" lIns="0" tIns="0" rIns="0" bIns="0" rtlCol="0" anchor="t"/>
          <a:lstStyle/>
          <a:p>
            <a:pPr indent="0" marL="0">
              <a:lnSpc>
                <a:spcPct val="105000"/>
              </a:lnSpc>
              <a:buNone/>
            </a:pPr>
            <a:r>
              <a:rPr lang="en-US" sz="1200" i="1" dirty="0">
                <a:solidFill>
                  <a:srgbClr val="B07CFF"/>
                </a:solidFill>
                <a:latin typeface="Calibri" pitchFamily="34" charset="0"/>
                <a:ea typeface="Calibri" pitchFamily="34" charset="-122"/>
                <a:cs typeface="Calibri" pitchFamily="34" charset="-120"/>
              </a:rPr>
              <a:t>Tip: Re-approve at every model-tier change.</a:t>
            </a:r>
            <a:endParaRPr lang="en-US" sz="1200" dirty="0"/>
          </a:p>
        </p:txBody>
      </p:sp>
      <p:sp>
        <p:nvSpPr>
          <p:cNvPr id="42" name="Shape 40"/>
          <p:cNvSpPr/>
          <p:nvPr/>
        </p:nvSpPr>
        <p:spPr>
          <a:xfrm>
            <a:off x="457200" y="5015484"/>
            <a:ext cx="11277295" cy="1248156"/>
          </a:xfrm>
          <a:prstGeom prst="roundRect">
            <a:avLst>
              <a:gd name="adj" fmla="val 4396"/>
            </a:avLst>
          </a:prstGeom>
          <a:solidFill>
            <a:srgbClr val="121B2D"/>
          </a:solidFill>
          <a:ln w="12700">
            <a:solidFill>
              <a:srgbClr val="B07CFF"/>
            </a:solidFill>
            <a:prstDash val="solid"/>
          </a:ln>
        </p:spPr>
      </p:sp>
      <p:sp>
        <p:nvSpPr>
          <p:cNvPr id="43" name="Text 41"/>
          <p:cNvSpPr/>
          <p:nvPr/>
        </p:nvSpPr>
        <p:spPr>
          <a:xfrm>
            <a:off x="713232" y="5161788"/>
            <a:ext cx="10765231" cy="389329"/>
          </a:xfrm>
          <a:prstGeom prst="rect">
            <a:avLst/>
          </a:prstGeom>
          <a:noFill/>
          <a:ln/>
        </p:spPr>
        <p:txBody>
          <a:bodyPr wrap="square" lIns="0" tIns="0" rIns="0" bIns="0" rtlCol="0" anchor="ctr"/>
          <a:lstStyle/>
          <a:p>
            <a:pPr indent="0" marL="0">
              <a:buNone/>
            </a:pPr>
            <a:r>
              <a:rPr lang="en-US" sz="1992" b="1" dirty="0">
                <a:solidFill>
                  <a:srgbClr val="F4F7FB"/>
                </a:solidFill>
                <a:latin typeface="Calibri" pitchFamily="34" charset="0"/>
                <a:ea typeface="Calibri" pitchFamily="34" charset="-122"/>
                <a:cs typeface="Calibri" pitchFamily="34" charset="-120"/>
              </a:rPr>
              <a:t>This is what makes shadow AI structurally impossible</a:t>
            </a:r>
            <a:endParaRPr lang="en-US" sz="1992" dirty="0"/>
          </a:p>
        </p:txBody>
      </p:sp>
      <p:sp>
        <p:nvSpPr>
          <p:cNvPr id="44" name="Text 42"/>
          <p:cNvSpPr/>
          <p:nvPr/>
        </p:nvSpPr>
        <p:spPr>
          <a:xfrm>
            <a:off x="713232" y="5551117"/>
            <a:ext cx="10765231" cy="566219"/>
          </a:xfrm>
          <a:prstGeom prst="rect">
            <a:avLst/>
          </a:prstGeom>
          <a:noFill/>
          <a:ln/>
        </p:spPr>
        <p:txBody>
          <a:bodyPr wrap="square" lIns="0" tIns="0" rIns="0" bIns="0" rtlCol="0" anchor="t"/>
          <a:lstStyle/>
          <a:p>
            <a:pPr indent="0" marL="0">
              <a:lnSpc>
                <a:spcPct val="118000"/>
              </a:lnSpc>
              <a:buNone/>
            </a:pPr>
            <a:r>
              <a:rPr lang="en-US" sz="1556" dirty="0">
                <a:solidFill>
                  <a:srgbClr val="91A0B7"/>
                </a:solidFill>
                <a:latin typeface="Calibri" pitchFamily="34" charset="0"/>
                <a:ea typeface="Calibri" pitchFamily="34" charset="-122"/>
                <a:cs typeface="Calibri" pitchFamily="34" charset="-120"/>
              </a:rPr>
              <a:t>Applied at the gateway, these criteria mean an unowned or unfunded workload cannot obtain a key, so it never reaches a provider inside the enterprise network.</a:t>
            </a:r>
            <a:endParaRPr lang="en-US" sz="1556"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9F43"/>
                </a:solidFill>
                <a:latin typeface="Calibri" pitchFamily="34" charset="0"/>
                <a:ea typeface="Calibri" pitchFamily="34" charset="-122"/>
                <a:cs typeface="Calibri" pitchFamily="34" charset="-120"/>
              </a:rPr>
              <a:t>LIFECYCLE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333" b="1" dirty="0">
                <a:solidFill>
                  <a:srgbClr val="F4F7FB"/>
                </a:solidFill>
                <a:latin typeface="Calibri" pitchFamily="34" charset="0"/>
                <a:ea typeface="Calibri" pitchFamily="34" charset="-122"/>
                <a:cs typeface="Calibri" pitchFamily="34" charset="-120"/>
              </a:rPr>
              <a:t>A gated path from proposal to report</a:t>
            </a:r>
            <a:endParaRPr lang="en-US" sz="2333"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Four hard checkpoints sit before deployment. A request that cannot clear them does not reach a provider at all.</a:t>
            </a:r>
            <a:endParaRPr lang="en-US" sz="1200" dirty="0"/>
          </a:p>
        </p:txBody>
      </p:sp>
      <p:sp>
        <p:nvSpPr>
          <p:cNvPr id="7" name="Text 5"/>
          <p:cNvSpPr/>
          <p:nvPr/>
        </p:nvSpPr>
        <p:spPr>
          <a:xfrm>
            <a:off x="457200" y="6355080"/>
            <a:ext cx="11277295" cy="228600"/>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Steps 02 to 05 are the gates. Everything after them is observation, not permission.</a:t>
            </a:r>
            <a:endParaRPr lang="en-US" sz="1200" dirty="0"/>
          </a:p>
        </p:txBody>
      </p:sp>
      <p:sp>
        <p:nvSpPr>
          <p:cNvPr id="8" name="Shape 6"/>
          <p:cNvSpPr/>
          <p:nvPr/>
        </p:nvSpPr>
        <p:spPr>
          <a:xfrm>
            <a:off x="457200" y="1508760"/>
            <a:ext cx="2627300" cy="1874520"/>
          </a:xfrm>
          <a:prstGeom prst="roundRect">
            <a:avLst>
              <a:gd name="adj" fmla="val 2927"/>
            </a:avLst>
          </a:prstGeom>
          <a:solidFill>
            <a:srgbClr val="121B2D"/>
          </a:solidFill>
          <a:ln w="12700">
            <a:solidFill>
              <a:srgbClr val="23304A"/>
            </a:solidFill>
            <a:prstDash val="solid"/>
          </a:ln>
        </p:spPr>
      </p:sp>
      <p:sp>
        <p:nvSpPr>
          <p:cNvPr id="9" name="Text 7"/>
          <p:cNvSpPr/>
          <p:nvPr/>
        </p:nvSpPr>
        <p:spPr>
          <a:xfrm>
            <a:off x="658368" y="1655064"/>
            <a:ext cx="822960" cy="329184"/>
          </a:xfrm>
          <a:prstGeom prst="rect">
            <a:avLst/>
          </a:prstGeom>
          <a:noFill/>
          <a:ln/>
        </p:spPr>
        <p:txBody>
          <a:bodyPr wrap="square" lIns="0" tIns="0" rIns="0" bIns="0" rtlCol="0" anchor="ctr"/>
          <a:lstStyle/>
          <a:p>
            <a:pPr indent="0" marL="0">
              <a:buNone/>
            </a:pPr>
            <a:r>
              <a:rPr lang="en-US" sz="2100" b="1" dirty="0">
                <a:solidFill>
                  <a:srgbClr val="536078"/>
                </a:solidFill>
                <a:latin typeface="Calibri" pitchFamily="34" charset="0"/>
                <a:ea typeface="Calibri" pitchFamily="34" charset="-122"/>
                <a:cs typeface="Calibri" pitchFamily="34" charset="-120"/>
              </a:rPr>
              <a:t>01</a:t>
            </a:r>
            <a:endParaRPr lang="en-US" sz="2100" dirty="0"/>
          </a:p>
        </p:txBody>
      </p:sp>
      <p:sp>
        <p:nvSpPr>
          <p:cNvPr id="10" name="Text 8"/>
          <p:cNvSpPr/>
          <p:nvPr/>
        </p:nvSpPr>
        <p:spPr>
          <a:xfrm>
            <a:off x="658368" y="2039112"/>
            <a:ext cx="2224964"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Request</a:t>
            </a:r>
            <a:endParaRPr lang="en-US" sz="1400" dirty="0"/>
          </a:p>
        </p:txBody>
      </p:sp>
      <p:sp>
        <p:nvSpPr>
          <p:cNvPr id="11" name="Text 9"/>
          <p:cNvSpPr/>
          <p:nvPr/>
        </p:nvSpPr>
        <p:spPr>
          <a:xfrm>
            <a:off x="658368" y="2606040"/>
            <a:ext cx="2224964" cy="64922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Use case, expected volume and business justification submitted.</a:t>
            </a:r>
            <a:endParaRPr lang="en-US" sz="1200" dirty="0"/>
          </a:p>
        </p:txBody>
      </p:sp>
      <p:sp>
        <p:nvSpPr>
          <p:cNvPr id="12" name="Shape 10"/>
          <p:cNvSpPr/>
          <p:nvPr/>
        </p:nvSpPr>
        <p:spPr>
          <a:xfrm>
            <a:off x="3340532" y="1508760"/>
            <a:ext cx="2627300" cy="1874520"/>
          </a:xfrm>
          <a:prstGeom prst="roundRect">
            <a:avLst>
              <a:gd name="adj" fmla="val 2927"/>
            </a:avLst>
          </a:prstGeom>
          <a:solidFill>
            <a:srgbClr val="121B2D"/>
          </a:solidFill>
          <a:ln w="12700">
            <a:solidFill>
              <a:srgbClr val="23304A"/>
            </a:solidFill>
            <a:prstDash val="solid"/>
          </a:ln>
        </p:spPr>
      </p:sp>
      <p:sp>
        <p:nvSpPr>
          <p:cNvPr id="13" name="Text 11"/>
          <p:cNvSpPr/>
          <p:nvPr/>
        </p:nvSpPr>
        <p:spPr>
          <a:xfrm>
            <a:off x="3541700" y="1655064"/>
            <a:ext cx="822960" cy="329184"/>
          </a:xfrm>
          <a:prstGeom prst="rect">
            <a:avLst/>
          </a:prstGeom>
          <a:noFill/>
          <a:ln/>
        </p:spPr>
        <p:txBody>
          <a:bodyPr wrap="square" lIns="0" tIns="0" rIns="0" bIns="0" rtlCol="0" anchor="ctr"/>
          <a:lstStyle/>
          <a:p>
            <a:pPr indent="0" marL="0">
              <a:buNone/>
            </a:pPr>
            <a:r>
              <a:rPr lang="en-US" sz="2100" b="1" dirty="0">
                <a:solidFill>
                  <a:srgbClr val="FF9F43"/>
                </a:solidFill>
                <a:latin typeface="Calibri" pitchFamily="34" charset="0"/>
                <a:ea typeface="Calibri" pitchFamily="34" charset="-122"/>
                <a:cs typeface="Calibri" pitchFamily="34" charset="-120"/>
              </a:rPr>
              <a:t>02</a:t>
            </a:r>
            <a:endParaRPr lang="en-US" sz="2100" dirty="0"/>
          </a:p>
        </p:txBody>
      </p:sp>
      <p:sp>
        <p:nvSpPr>
          <p:cNvPr id="14" name="Shape 12"/>
          <p:cNvSpPr/>
          <p:nvPr/>
        </p:nvSpPr>
        <p:spPr>
          <a:xfrm>
            <a:off x="5126584" y="1691640"/>
            <a:ext cx="640080" cy="237744"/>
          </a:xfrm>
          <a:prstGeom prst="roundRect">
            <a:avLst>
              <a:gd name="adj" fmla="val 50000"/>
            </a:avLst>
          </a:prstGeom>
          <a:solidFill>
            <a:srgbClr val="3D2B0C"/>
          </a:solidFill>
          <a:ln w="9525">
            <a:solidFill>
              <a:srgbClr val="FF9F43"/>
            </a:solidFill>
            <a:prstDash val="solid"/>
          </a:ln>
        </p:spPr>
      </p:sp>
      <p:sp>
        <p:nvSpPr>
          <p:cNvPr id="15" name="Text 13"/>
          <p:cNvSpPr/>
          <p:nvPr/>
        </p:nvSpPr>
        <p:spPr>
          <a:xfrm>
            <a:off x="5126584" y="1691640"/>
            <a:ext cx="640080" cy="237744"/>
          </a:xfrm>
          <a:prstGeom prst="rect">
            <a:avLst/>
          </a:prstGeom>
          <a:noFill/>
          <a:ln/>
        </p:spPr>
        <p:txBody>
          <a:bodyPr wrap="square" lIns="0" tIns="0" rIns="0" bIns="0" rtlCol="0" anchor="ctr"/>
          <a:lstStyle/>
          <a:p>
            <a:pPr algn="ctr" indent="0" marL="0">
              <a:buNone/>
            </a:pPr>
            <a:r>
              <a:rPr lang="en-US" sz="1200" b="1" spc="80" kern="0" dirty="0">
                <a:solidFill>
                  <a:srgbClr val="FF9F43"/>
                </a:solidFill>
                <a:latin typeface="Calibri" pitchFamily="34" charset="0"/>
                <a:ea typeface="Calibri" pitchFamily="34" charset="-122"/>
                <a:cs typeface="Calibri" pitchFamily="34" charset="-120"/>
              </a:rPr>
              <a:t>GATE</a:t>
            </a:r>
            <a:endParaRPr lang="en-US" sz="1200" dirty="0"/>
          </a:p>
        </p:txBody>
      </p:sp>
      <p:sp>
        <p:nvSpPr>
          <p:cNvPr id="16" name="Text 14"/>
          <p:cNvSpPr/>
          <p:nvPr/>
        </p:nvSpPr>
        <p:spPr>
          <a:xfrm>
            <a:off x="3541700" y="2039112"/>
            <a:ext cx="2224964"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Business approval</a:t>
            </a:r>
            <a:endParaRPr lang="en-US" sz="1400" dirty="0"/>
          </a:p>
        </p:txBody>
      </p:sp>
      <p:sp>
        <p:nvSpPr>
          <p:cNvPr id="17" name="Text 15"/>
          <p:cNvSpPr/>
          <p:nvPr/>
        </p:nvSpPr>
        <p:spPr>
          <a:xfrm>
            <a:off x="3541700" y="2606040"/>
            <a:ext cx="2224964" cy="64922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Named business owner accepts the outcome and the cost.</a:t>
            </a:r>
            <a:endParaRPr lang="en-US" sz="1200" dirty="0"/>
          </a:p>
        </p:txBody>
      </p:sp>
      <p:sp>
        <p:nvSpPr>
          <p:cNvPr id="18" name="Shape 16"/>
          <p:cNvSpPr/>
          <p:nvPr/>
        </p:nvSpPr>
        <p:spPr>
          <a:xfrm>
            <a:off x="6223864" y="1508760"/>
            <a:ext cx="2627300" cy="1874520"/>
          </a:xfrm>
          <a:prstGeom prst="roundRect">
            <a:avLst>
              <a:gd name="adj" fmla="val 2927"/>
            </a:avLst>
          </a:prstGeom>
          <a:solidFill>
            <a:srgbClr val="121B2D"/>
          </a:solidFill>
          <a:ln w="12700">
            <a:solidFill>
              <a:srgbClr val="23304A"/>
            </a:solidFill>
            <a:prstDash val="solid"/>
          </a:ln>
        </p:spPr>
      </p:sp>
      <p:sp>
        <p:nvSpPr>
          <p:cNvPr id="19" name="Text 17"/>
          <p:cNvSpPr/>
          <p:nvPr/>
        </p:nvSpPr>
        <p:spPr>
          <a:xfrm>
            <a:off x="6425032" y="1655064"/>
            <a:ext cx="822960" cy="329184"/>
          </a:xfrm>
          <a:prstGeom prst="rect">
            <a:avLst/>
          </a:prstGeom>
          <a:noFill/>
          <a:ln/>
        </p:spPr>
        <p:txBody>
          <a:bodyPr wrap="square" lIns="0" tIns="0" rIns="0" bIns="0" rtlCol="0" anchor="ctr"/>
          <a:lstStyle/>
          <a:p>
            <a:pPr indent="0" marL="0">
              <a:buNone/>
            </a:pPr>
            <a:r>
              <a:rPr lang="en-US" sz="2100" b="1" dirty="0">
                <a:solidFill>
                  <a:srgbClr val="FF9F43"/>
                </a:solidFill>
                <a:latin typeface="Calibri" pitchFamily="34" charset="0"/>
                <a:ea typeface="Calibri" pitchFamily="34" charset="-122"/>
                <a:cs typeface="Calibri" pitchFamily="34" charset="-120"/>
              </a:rPr>
              <a:t>03</a:t>
            </a:r>
            <a:endParaRPr lang="en-US" sz="2100" dirty="0"/>
          </a:p>
        </p:txBody>
      </p:sp>
      <p:sp>
        <p:nvSpPr>
          <p:cNvPr id="20" name="Shape 18"/>
          <p:cNvSpPr/>
          <p:nvPr/>
        </p:nvSpPr>
        <p:spPr>
          <a:xfrm>
            <a:off x="8009915" y="1691640"/>
            <a:ext cx="640080" cy="237744"/>
          </a:xfrm>
          <a:prstGeom prst="roundRect">
            <a:avLst>
              <a:gd name="adj" fmla="val 50000"/>
            </a:avLst>
          </a:prstGeom>
          <a:solidFill>
            <a:srgbClr val="3D2B0C"/>
          </a:solidFill>
          <a:ln w="9525">
            <a:solidFill>
              <a:srgbClr val="FF9F43"/>
            </a:solidFill>
            <a:prstDash val="solid"/>
          </a:ln>
        </p:spPr>
      </p:sp>
      <p:sp>
        <p:nvSpPr>
          <p:cNvPr id="21" name="Text 19"/>
          <p:cNvSpPr/>
          <p:nvPr/>
        </p:nvSpPr>
        <p:spPr>
          <a:xfrm>
            <a:off x="8009915" y="1691640"/>
            <a:ext cx="640080" cy="237744"/>
          </a:xfrm>
          <a:prstGeom prst="rect">
            <a:avLst/>
          </a:prstGeom>
          <a:noFill/>
          <a:ln/>
        </p:spPr>
        <p:txBody>
          <a:bodyPr wrap="square" lIns="0" tIns="0" rIns="0" bIns="0" rtlCol="0" anchor="ctr"/>
          <a:lstStyle/>
          <a:p>
            <a:pPr algn="ctr" indent="0" marL="0">
              <a:buNone/>
            </a:pPr>
            <a:r>
              <a:rPr lang="en-US" sz="1200" b="1" spc="80" kern="0" dirty="0">
                <a:solidFill>
                  <a:srgbClr val="FF9F43"/>
                </a:solidFill>
                <a:latin typeface="Calibri" pitchFamily="34" charset="0"/>
                <a:ea typeface="Calibri" pitchFamily="34" charset="-122"/>
                <a:cs typeface="Calibri" pitchFamily="34" charset="-120"/>
              </a:rPr>
              <a:t>GATE</a:t>
            </a:r>
            <a:endParaRPr lang="en-US" sz="1200" dirty="0"/>
          </a:p>
        </p:txBody>
      </p:sp>
      <p:sp>
        <p:nvSpPr>
          <p:cNvPr id="22" name="Text 20"/>
          <p:cNvSpPr/>
          <p:nvPr/>
        </p:nvSpPr>
        <p:spPr>
          <a:xfrm>
            <a:off x="6425032" y="2039112"/>
            <a:ext cx="2224964"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Budget allocation</a:t>
            </a:r>
            <a:endParaRPr lang="en-US" sz="1400" dirty="0"/>
          </a:p>
        </p:txBody>
      </p:sp>
      <p:sp>
        <p:nvSpPr>
          <p:cNvPr id="23" name="Text 21"/>
          <p:cNvSpPr/>
          <p:nvPr/>
        </p:nvSpPr>
        <p:spPr>
          <a:xfrm>
            <a:off x="6425032" y="2606040"/>
            <a:ext cx="2224964" cy="64922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Monthly envelope assigned against a cost centre.</a:t>
            </a:r>
            <a:endParaRPr lang="en-US" sz="1200" dirty="0"/>
          </a:p>
        </p:txBody>
      </p:sp>
      <p:sp>
        <p:nvSpPr>
          <p:cNvPr id="24" name="Shape 22"/>
          <p:cNvSpPr/>
          <p:nvPr/>
        </p:nvSpPr>
        <p:spPr>
          <a:xfrm>
            <a:off x="9107195" y="1508760"/>
            <a:ext cx="2627300" cy="1874520"/>
          </a:xfrm>
          <a:prstGeom prst="roundRect">
            <a:avLst>
              <a:gd name="adj" fmla="val 2927"/>
            </a:avLst>
          </a:prstGeom>
          <a:solidFill>
            <a:srgbClr val="121B2D"/>
          </a:solidFill>
          <a:ln w="12700">
            <a:solidFill>
              <a:srgbClr val="23304A"/>
            </a:solidFill>
            <a:prstDash val="solid"/>
          </a:ln>
        </p:spPr>
      </p:sp>
      <p:sp>
        <p:nvSpPr>
          <p:cNvPr id="25" name="Text 23"/>
          <p:cNvSpPr/>
          <p:nvPr/>
        </p:nvSpPr>
        <p:spPr>
          <a:xfrm>
            <a:off x="9308363" y="1655064"/>
            <a:ext cx="822960" cy="329184"/>
          </a:xfrm>
          <a:prstGeom prst="rect">
            <a:avLst/>
          </a:prstGeom>
          <a:noFill/>
          <a:ln/>
        </p:spPr>
        <p:txBody>
          <a:bodyPr wrap="square" lIns="0" tIns="0" rIns="0" bIns="0" rtlCol="0" anchor="ctr"/>
          <a:lstStyle/>
          <a:p>
            <a:pPr indent="0" marL="0">
              <a:buNone/>
            </a:pPr>
            <a:r>
              <a:rPr lang="en-US" sz="2100" b="1" dirty="0">
                <a:solidFill>
                  <a:srgbClr val="FF9F43"/>
                </a:solidFill>
                <a:latin typeface="Calibri" pitchFamily="34" charset="0"/>
                <a:ea typeface="Calibri" pitchFamily="34" charset="-122"/>
                <a:cs typeface="Calibri" pitchFamily="34" charset="-120"/>
              </a:rPr>
              <a:t>04</a:t>
            </a:r>
            <a:endParaRPr lang="en-US" sz="2100" dirty="0"/>
          </a:p>
        </p:txBody>
      </p:sp>
      <p:sp>
        <p:nvSpPr>
          <p:cNvPr id="26" name="Shape 24"/>
          <p:cNvSpPr/>
          <p:nvPr/>
        </p:nvSpPr>
        <p:spPr>
          <a:xfrm>
            <a:off x="10893247" y="1691640"/>
            <a:ext cx="640080" cy="237744"/>
          </a:xfrm>
          <a:prstGeom prst="roundRect">
            <a:avLst>
              <a:gd name="adj" fmla="val 50000"/>
            </a:avLst>
          </a:prstGeom>
          <a:solidFill>
            <a:srgbClr val="3D2B0C"/>
          </a:solidFill>
          <a:ln w="9525">
            <a:solidFill>
              <a:srgbClr val="FF9F43"/>
            </a:solidFill>
            <a:prstDash val="solid"/>
          </a:ln>
        </p:spPr>
      </p:sp>
      <p:sp>
        <p:nvSpPr>
          <p:cNvPr id="27" name="Text 25"/>
          <p:cNvSpPr/>
          <p:nvPr/>
        </p:nvSpPr>
        <p:spPr>
          <a:xfrm>
            <a:off x="10893247" y="1691640"/>
            <a:ext cx="640080" cy="237744"/>
          </a:xfrm>
          <a:prstGeom prst="rect">
            <a:avLst/>
          </a:prstGeom>
          <a:noFill/>
          <a:ln/>
        </p:spPr>
        <p:txBody>
          <a:bodyPr wrap="square" lIns="0" tIns="0" rIns="0" bIns="0" rtlCol="0" anchor="ctr"/>
          <a:lstStyle/>
          <a:p>
            <a:pPr algn="ctr" indent="0" marL="0">
              <a:buNone/>
            </a:pPr>
            <a:r>
              <a:rPr lang="en-US" sz="1200" b="1" spc="80" kern="0" dirty="0">
                <a:solidFill>
                  <a:srgbClr val="FF9F43"/>
                </a:solidFill>
                <a:latin typeface="Calibri" pitchFamily="34" charset="0"/>
                <a:ea typeface="Calibri" pitchFamily="34" charset="-122"/>
                <a:cs typeface="Calibri" pitchFamily="34" charset="-120"/>
              </a:rPr>
              <a:t>GATE</a:t>
            </a:r>
            <a:endParaRPr lang="en-US" sz="1200" dirty="0"/>
          </a:p>
        </p:txBody>
      </p:sp>
      <p:sp>
        <p:nvSpPr>
          <p:cNvPr id="28" name="Text 26"/>
          <p:cNvSpPr/>
          <p:nvPr/>
        </p:nvSpPr>
        <p:spPr>
          <a:xfrm>
            <a:off x="9308363" y="2039112"/>
            <a:ext cx="2224964"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Quota assignment</a:t>
            </a:r>
            <a:endParaRPr lang="en-US" sz="1400" dirty="0"/>
          </a:p>
        </p:txBody>
      </p:sp>
      <p:sp>
        <p:nvSpPr>
          <p:cNvPr id="29" name="Text 27"/>
          <p:cNvSpPr/>
          <p:nvPr/>
        </p:nvSpPr>
        <p:spPr>
          <a:xfrm>
            <a:off x="9308363" y="2606040"/>
            <a:ext cx="2224964" cy="64922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Token quota and rate limit set per consumer.</a:t>
            </a:r>
            <a:endParaRPr lang="en-US" sz="1200" dirty="0"/>
          </a:p>
        </p:txBody>
      </p:sp>
      <p:sp>
        <p:nvSpPr>
          <p:cNvPr id="30" name="Shape 28"/>
          <p:cNvSpPr/>
          <p:nvPr/>
        </p:nvSpPr>
        <p:spPr>
          <a:xfrm>
            <a:off x="457200" y="3639312"/>
            <a:ext cx="2627300" cy="1874520"/>
          </a:xfrm>
          <a:prstGeom prst="roundRect">
            <a:avLst>
              <a:gd name="adj" fmla="val 2927"/>
            </a:avLst>
          </a:prstGeom>
          <a:solidFill>
            <a:srgbClr val="121B2D"/>
          </a:solidFill>
          <a:ln w="12700">
            <a:solidFill>
              <a:srgbClr val="23304A"/>
            </a:solidFill>
            <a:prstDash val="solid"/>
          </a:ln>
        </p:spPr>
      </p:sp>
      <p:sp>
        <p:nvSpPr>
          <p:cNvPr id="31" name="Text 29"/>
          <p:cNvSpPr/>
          <p:nvPr/>
        </p:nvSpPr>
        <p:spPr>
          <a:xfrm>
            <a:off x="658368" y="3785616"/>
            <a:ext cx="822960" cy="329184"/>
          </a:xfrm>
          <a:prstGeom prst="rect">
            <a:avLst/>
          </a:prstGeom>
          <a:noFill/>
          <a:ln/>
        </p:spPr>
        <p:txBody>
          <a:bodyPr wrap="square" lIns="0" tIns="0" rIns="0" bIns="0" rtlCol="0" anchor="ctr"/>
          <a:lstStyle/>
          <a:p>
            <a:pPr indent="0" marL="0">
              <a:buNone/>
            </a:pPr>
            <a:r>
              <a:rPr lang="en-US" sz="2100" b="1" dirty="0">
                <a:solidFill>
                  <a:srgbClr val="FF9F43"/>
                </a:solidFill>
                <a:latin typeface="Calibri" pitchFamily="34" charset="0"/>
                <a:ea typeface="Calibri" pitchFamily="34" charset="-122"/>
                <a:cs typeface="Calibri" pitchFamily="34" charset="-120"/>
              </a:rPr>
              <a:t>05</a:t>
            </a:r>
            <a:endParaRPr lang="en-US" sz="2100" dirty="0"/>
          </a:p>
        </p:txBody>
      </p:sp>
      <p:sp>
        <p:nvSpPr>
          <p:cNvPr id="32" name="Shape 30"/>
          <p:cNvSpPr/>
          <p:nvPr/>
        </p:nvSpPr>
        <p:spPr>
          <a:xfrm>
            <a:off x="2243252" y="3822192"/>
            <a:ext cx="640080" cy="237744"/>
          </a:xfrm>
          <a:prstGeom prst="roundRect">
            <a:avLst>
              <a:gd name="adj" fmla="val 50000"/>
            </a:avLst>
          </a:prstGeom>
          <a:solidFill>
            <a:srgbClr val="3D2B0C"/>
          </a:solidFill>
          <a:ln w="9525">
            <a:solidFill>
              <a:srgbClr val="FF9F43"/>
            </a:solidFill>
            <a:prstDash val="solid"/>
          </a:ln>
        </p:spPr>
      </p:sp>
      <p:sp>
        <p:nvSpPr>
          <p:cNvPr id="33" name="Text 31"/>
          <p:cNvSpPr/>
          <p:nvPr/>
        </p:nvSpPr>
        <p:spPr>
          <a:xfrm>
            <a:off x="2243252" y="3822192"/>
            <a:ext cx="640080" cy="237744"/>
          </a:xfrm>
          <a:prstGeom prst="rect">
            <a:avLst/>
          </a:prstGeom>
          <a:noFill/>
          <a:ln/>
        </p:spPr>
        <p:txBody>
          <a:bodyPr wrap="square" lIns="0" tIns="0" rIns="0" bIns="0" rtlCol="0" anchor="ctr"/>
          <a:lstStyle/>
          <a:p>
            <a:pPr algn="ctr" indent="0" marL="0">
              <a:buNone/>
            </a:pPr>
            <a:r>
              <a:rPr lang="en-US" sz="1200" b="1" spc="80" kern="0" dirty="0">
                <a:solidFill>
                  <a:srgbClr val="FF9F43"/>
                </a:solidFill>
                <a:latin typeface="Calibri" pitchFamily="34" charset="0"/>
                <a:ea typeface="Calibri" pitchFamily="34" charset="-122"/>
                <a:cs typeface="Calibri" pitchFamily="34" charset="-120"/>
              </a:rPr>
              <a:t>GATE</a:t>
            </a:r>
            <a:endParaRPr lang="en-US" sz="1200" dirty="0"/>
          </a:p>
        </p:txBody>
      </p:sp>
      <p:sp>
        <p:nvSpPr>
          <p:cNvPr id="34" name="Text 32"/>
          <p:cNvSpPr/>
          <p:nvPr/>
        </p:nvSpPr>
        <p:spPr>
          <a:xfrm>
            <a:off x="658368" y="4169664"/>
            <a:ext cx="2224964"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Gateway policy</a:t>
            </a:r>
            <a:endParaRPr lang="en-US" sz="1400" dirty="0"/>
          </a:p>
        </p:txBody>
      </p:sp>
      <p:sp>
        <p:nvSpPr>
          <p:cNvPr id="35" name="Text 33"/>
          <p:cNvSpPr/>
          <p:nvPr/>
        </p:nvSpPr>
        <p:spPr>
          <a:xfrm>
            <a:off x="658368" y="4736592"/>
            <a:ext cx="2224964" cy="64922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Key issued, model tier pinned, policy applied.</a:t>
            </a:r>
            <a:endParaRPr lang="en-US" sz="1200" dirty="0"/>
          </a:p>
        </p:txBody>
      </p:sp>
      <p:sp>
        <p:nvSpPr>
          <p:cNvPr id="36" name="Shape 34"/>
          <p:cNvSpPr/>
          <p:nvPr/>
        </p:nvSpPr>
        <p:spPr>
          <a:xfrm>
            <a:off x="3340532" y="3639312"/>
            <a:ext cx="2627300" cy="1874520"/>
          </a:xfrm>
          <a:prstGeom prst="roundRect">
            <a:avLst>
              <a:gd name="adj" fmla="val 2927"/>
            </a:avLst>
          </a:prstGeom>
          <a:solidFill>
            <a:srgbClr val="121B2D"/>
          </a:solidFill>
          <a:ln w="12700">
            <a:solidFill>
              <a:srgbClr val="23304A"/>
            </a:solidFill>
            <a:prstDash val="solid"/>
          </a:ln>
        </p:spPr>
      </p:sp>
      <p:sp>
        <p:nvSpPr>
          <p:cNvPr id="37" name="Text 35"/>
          <p:cNvSpPr/>
          <p:nvPr/>
        </p:nvSpPr>
        <p:spPr>
          <a:xfrm>
            <a:off x="3541700" y="3785616"/>
            <a:ext cx="822960" cy="329184"/>
          </a:xfrm>
          <a:prstGeom prst="rect">
            <a:avLst/>
          </a:prstGeom>
          <a:noFill/>
          <a:ln/>
        </p:spPr>
        <p:txBody>
          <a:bodyPr wrap="square" lIns="0" tIns="0" rIns="0" bIns="0" rtlCol="0" anchor="ctr"/>
          <a:lstStyle/>
          <a:p>
            <a:pPr indent="0" marL="0">
              <a:buNone/>
            </a:pPr>
            <a:r>
              <a:rPr lang="en-US" sz="2100" b="1" dirty="0">
                <a:solidFill>
                  <a:srgbClr val="536078"/>
                </a:solidFill>
                <a:latin typeface="Calibri" pitchFamily="34" charset="0"/>
                <a:ea typeface="Calibri" pitchFamily="34" charset="-122"/>
                <a:cs typeface="Calibri" pitchFamily="34" charset="-120"/>
              </a:rPr>
              <a:t>06</a:t>
            </a:r>
            <a:endParaRPr lang="en-US" sz="2100" dirty="0"/>
          </a:p>
        </p:txBody>
      </p:sp>
      <p:sp>
        <p:nvSpPr>
          <p:cNvPr id="38" name="Text 36"/>
          <p:cNvSpPr/>
          <p:nvPr/>
        </p:nvSpPr>
        <p:spPr>
          <a:xfrm>
            <a:off x="3541700" y="4169664"/>
            <a:ext cx="2224964"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Deployment</a:t>
            </a:r>
            <a:endParaRPr lang="en-US" sz="1400" dirty="0"/>
          </a:p>
        </p:txBody>
      </p:sp>
      <p:sp>
        <p:nvSpPr>
          <p:cNvPr id="39" name="Text 37"/>
          <p:cNvSpPr/>
          <p:nvPr/>
        </p:nvSpPr>
        <p:spPr>
          <a:xfrm>
            <a:off x="3541700" y="4736592"/>
            <a:ext cx="2224964" cy="64922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Workload goes live through the gateway, never around it.</a:t>
            </a:r>
            <a:endParaRPr lang="en-US" sz="1200" dirty="0"/>
          </a:p>
        </p:txBody>
      </p:sp>
      <p:sp>
        <p:nvSpPr>
          <p:cNvPr id="40" name="Shape 38"/>
          <p:cNvSpPr/>
          <p:nvPr/>
        </p:nvSpPr>
        <p:spPr>
          <a:xfrm>
            <a:off x="6223864" y="3639312"/>
            <a:ext cx="2627300" cy="1874520"/>
          </a:xfrm>
          <a:prstGeom prst="roundRect">
            <a:avLst>
              <a:gd name="adj" fmla="val 2927"/>
            </a:avLst>
          </a:prstGeom>
          <a:solidFill>
            <a:srgbClr val="121B2D"/>
          </a:solidFill>
          <a:ln w="12700">
            <a:solidFill>
              <a:srgbClr val="23304A"/>
            </a:solidFill>
            <a:prstDash val="solid"/>
          </a:ln>
        </p:spPr>
      </p:sp>
      <p:sp>
        <p:nvSpPr>
          <p:cNvPr id="41" name="Text 39"/>
          <p:cNvSpPr/>
          <p:nvPr/>
        </p:nvSpPr>
        <p:spPr>
          <a:xfrm>
            <a:off x="6425032" y="3785616"/>
            <a:ext cx="822960" cy="329184"/>
          </a:xfrm>
          <a:prstGeom prst="rect">
            <a:avLst/>
          </a:prstGeom>
          <a:noFill/>
          <a:ln/>
        </p:spPr>
        <p:txBody>
          <a:bodyPr wrap="square" lIns="0" tIns="0" rIns="0" bIns="0" rtlCol="0" anchor="ctr"/>
          <a:lstStyle/>
          <a:p>
            <a:pPr indent="0" marL="0">
              <a:buNone/>
            </a:pPr>
            <a:r>
              <a:rPr lang="en-US" sz="2100" b="1" dirty="0">
                <a:solidFill>
                  <a:srgbClr val="536078"/>
                </a:solidFill>
                <a:latin typeface="Calibri" pitchFamily="34" charset="0"/>
                <a:ea typeface="Calibri" pitchFamily="34" charset="-122"/>
                <a:cs typeface="Calibri" pitchFamily="34" charset="-120"/>
              </a:rPr>
              <a:t>07</a:t>
            </a:r>
            <a:endParaRPr lang="en-US" sz="2100" dirty="0"/>
          </a:p>
        </p:txBody>
      </p:sp>
      <p:sp>
        <p:nvSpPr>
          <p:cNvPr id="42" name="Text 40"/>
          <p:cNvSpPr/>
          <p:nvPr/>
        </p:nvSpPr>
        <p:spPr>
          <a:xfrm>
            <a:off x="6425032" y="4169664"/>
            <a:ext cx="2224964"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Monitoring</a:t>
            </a:r>
            <a:endParaRPr lang="en-US" sz="1400" dirty="0"/>
          </a:p>
        </p:txBody>
      </p:sp>
      <p:sp>
        <p:nvSpPr>
          <p:cNvPr id="43" name="Text 41"/>
          <p:cNvSpPr/>
          <p:nvPr/>
        </p:nvSpPr>
        <p:spPr>
          <a:xfrm>
            <a:off x="6425032" y="4736592"/>
            <a:ext cx="2224964" cy="64922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Usage, anomalies and unit cost tracked continuously.</a:t>
            </a:r>
            <a:endParaRPr lang="en-US" sz="1200" dirty="0"/>
          </a:p>
        </p:txBody>
      </p:sp>
      <p:sp>
        <p:nvSpPr>
          <p:cNvPr id="44" name="Shape 42"/>
          <p:cNvSpPr/>
          <p:nvPr/>
        </p:nvSpPr>
        <p:spPr>
          <a:xfrm>
            <a:off x="9107195" y="3639312"/>
            <a:ext cx="2627300" cy="1874520"/>
          </a:xfrm>
          <a:prstGeom prst="roundRect">
            <a:avLst>
              <a:gd name="adj" fmla="val 2927"/>
            </a:avLst>
          </a:prstGeom>
          <a:solidFill>
            <a:srgbClr val="121B2D"/>
          </a:solidFill>
          <a:ln w="12700">
            <a:solidFill>
              <a:srgbClr val="23304A"/>
            </a:solidFill>
            <a:prstDash val="solid"/>
          </a:ln>
        </p:spPr>
      </p:sp>
      <p:sp>
        <p:nvSpPr>
          <p:cNvPr id="45" name="Text 43"/>
          <p:cNvSpPr/>
          <p:nvPr/>
        </p:nvSpPr>
        <p:spPr>
          <a:xfrm>
            <a:off x="9308363" y="3785616"/>
            <a:ext cx="822960" cy="329184"/>
          </a:xfrm>
          <a:prstGeom prst="rect">
            <a:avLst/>
          </a:prstGeom>
          <a:noFill/>
          <a:ln/>
        </p:spPr>
        <p:txBody>
          <a:bodyPr wrap="square" lIns="0" tIns="0" rIns="0" bIns="0" rtlCol="0" anchor="ctr"/>
          <a:lstStyle/>
          <a:p>
            <a:pPr indent="0" marL="0">
              <a:buNone/>
            </a:pPr>
            <a:r>
              <a:rPr lang="en-US" sz="2100" b="1" dirty="0">
                <a:solidFill>
                  <a:srgbClr val="536078"/>
                </a:solidFill>
                <a:latin typeface="Calibri" pitchFamily="34" charset="0"/>
                <a:ea typeface="Calibri" pitchFamily="34" charset="-122"/>
                <a:cs typeface="Calibri" pitchFamily="34" charset="-120"/>
              </a:rPr>
              <a:t>08</a:t>
            </a:r>
            <a:endParaRPr lang="en-US" sz="2100" dirty="0"/>
          </a:p>
        </p:txBody>
      </p:sp>
      <p:sp>
        <p:nvSpPr>
          <p:cNvPr id="46" name="Text 44"/>
          <p:cNvSpPr/>
          <p:nvPr/>
        </p:nvSpPr>
        <p:spPr>
          <a:xfrm>
            <a:off x="9308363" y="4169664"/>
            <a:ext cx="2224964"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Executive report</a:t>
            </a:r>
            <a:endParaRPr lang="en-US" sz="1400" dirty="0"/>
          </a:p>
        </p:txBody>
      </p:sp>
      <p:sp>
        <p:nvSpPr>
          <p:cNvPr id="47" name="Text 45"/>
          <p:cNvSpPr/>
          <p:nvPr/>
        </p:nvSpPr>
        <p:spPr>
          <a:xfrm>
            <a:off x="9308363" y="4736592"/>
            <a:ext cx="2224964" cy="64922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Consumption, variance and value reported monthly.</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MODEL POLICY</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333" b="1" dirty="0">
                <a:solidFill>
                  <a:srgbClr val="F4F7FB"/>
                </a:solidFill>
                <a:latin typeface="Calibri" pitchFamily="34" charset="0"/>
                <a:ea typeface="Calibri" pitchFamily="34" charset="-122"/>
                <a:cs typeface="Calibri" pitchFamily="34" charset="-120"/>
              </a:rPr>
              <a:t>Sonnet by default, Opus by exception</a:t>
            </a:r>
            <a:endParaRPr lang="en-US" sz="2333"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GitHub Copilot model selection is the one AI lever that needs no new platform, only a policy.</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The same policy applies to Bedrock: 82% of AWS AI spend is Opus-class, and the model mix changes month to month: Opus 4.8 ran and stopped, Opus 5 appeared in July. That is a policy gap, not a usage pattern.</a:t>
            </a:r>
            <a:endParaRPr lang="en-US" sz="1200" dirty="0"/>
          </a:p>
        </p:txBody>
      </p:sp>
      <p:sp>
        <p:nvSpPr>
          <p:cNvPr id="8" name="Text 6"/>
          <p:cNvSpPr/>
          <p:nvPr/>
        </p:nvSpPr>
        <p:spPr>
          <a:xfrm>
            <a:off x="457200" y="1234440"/>
            <a:ext cx="768096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Model pricing and intended use</a:t>
            </a:r>
            <a:endParaRPr lang="en-US" sz="1500" dirty="0"/>
          </a:p>
        </p:txBody>
      </p:sp>
      <p:sp>
        <p:nvSpPr>
          <p:cNvPr id="9" name="Text 7"/>
          <p:cNvSpPr/>
          <p:nvPr/>
        </p:nvSpPr>
        <p:spPr>
          <a:xfrm>
            <a:off x="457200" y="1508760"/>
            <a:ext cx="7680960" cy="219456"/>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Promotional pricing, valid through 31 August 2026</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764792"/>
          <a:ext cx="7680960" cy="914400"/>
        </p:xfrm>
        <a:graphic>
          <a:graphicData uri="http://schemas.openxmlformats.org/drawingml/2006/table">
            <a:tbl>
              <a:tblPr/>
              <a:tblGrid>
                <a:gridCol w="1920240"/>
                <a:gridCol w="1051560"/>
                <a:gridCol w="1143000"/>
                <a:gridCol w="1188720"/>
                <a:gridCol w="237744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Input / 1M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Output / 1M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Relative cost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Recommended usage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Claude Sonnet 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Default model: routine coding, SQL, debugging, documentation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Claude Opus 4.8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E0A030"/>
                          </a:solidFill>
                          <a:latin typeface="Calibri" pitchFamily="34" charset="0"/>
                          <a:ea typeface="Calibri" pitchFamily="34" charset="-122"/>
                          <a:cs typeface="Calibri" pitchFamily="34" charset="-120"/>
                        </a:rPr>
                        <a:t>~2.5x</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Complex tasks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Claude Opus 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E0A030"/>
                          </a:solidFill>
                          <a:latin typeface="Calibri" pitchFamily="34" charset="0"/>
                          <a:ea typeface="Calibri" pitchFamily="34" charset="-122"/>
                          <a:cs typeface="Calibri" pitchFamily="34" charset="-120"/>
                        </a:rPr>
                        <a:t>~2.5x</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Advanced reasoning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4F7FB"/>
                          </a:solidFill>
                          <a:latin typeface="Calibri" pitchFamily="34" charset="0"/>
                          <a:ea typeface="Calibri" pitchFamily="34" charset="-122"/>
                          <a:cs typeface="Calibri" pitchFamily="34" charset="-120"/>
                        </a:rPr>
                        <a:t>Opus 4.8 Fast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4F7FB"/>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FF6B7A"/>
                          </a:solidFill>
                          <a:latin typeface="Calibri" pitchFamily="34" charset="0"/>
                          <a:ea typeface="Calibri" pitchFamily="34" charset="-122"/>
                          <a:cs typeface="Calibri" pitchFamily="34" charset="-120"/>
                        </a:rPr>
                        <a:t>~5x</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Exception only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bl>
          </a:graphicData>
        </a:graphic>
      </p:graphicFrame>
      <p:sp>
        <p:nvSpPr>
          <p:cNvPr id="11" name="Shape 8"/>
          <p:cNvSpPr/>
          <p:nvPr/>
        </p:nvSpPr>
        <p:spPr>
          <a:xfrm>
            <a:off x="8503920" y="1234440"/>
            <a:ext cx="3230575" cy="1097280"/>
          </a:xfrm>
          <a:prstGeom prst="roundRect">
            <a:avLst>
              <a:gd name="adj" fmla="val 5000"/>
            </a:avLst>
          </a:prstGeom>
          <a:solidFill>
            <a:srgbClr val="121B2D"/>
          </a:solidFill>
          <a:ln w="12700">
            <a:solidFill>
              <a:srgbClr val="23304A"/>
            </a:solidFill>
            <a:prstDash val="solid"/>
          </a:ln>
        </p:spPr>
      </p:sp>
      <p:sp>
        <p:nvSpPr>
          <p:cNvPr id="12" name="Text 9"/>
          <p:cNvSpPr/>
          <p:nvPr/>
        </p:nvSpPr>
        <p:spPr>
          <a:xfrm>
            <a:off x="8705088" y="1325880"/>
            <a:ext cx="282823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AVAILABLE SAVING</a:t>
            </a:r>
            <a:endParaRPr lang="en-US" sz="1200" dirty="0"/>
          </a:p>
        </p:txBody>
      </p:sp>
      <p:sp>
        <p:nvSpPr>
          <p:cNvPr id="13" name="Text 10"/>
          <p:cNvSpPr/>
          <p:nvPr/>
        </p:nvSpPr>
        <p:spPr>
          <a:xfrm>
            <a:off x="8705088" y="1527048"/>
            <a:ext cx="282823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~60%</a:t>
            </a:r>
            <a:endParaRPr lang="en-US" sz="2800" dirty="0"/>
          </a:p>
        </p:txBody>
      </p:sp>
      <p:sp>
        <p:nvSpPr>
          <p:cNvPr id="14" name="Text 11"/>
          <p:cNvSpPr/>
          <p:nvPr/>
        </p:nvSpPr>
        <p:spPr>
          <a:xfrm>
            <a:off x="8705088" y="1929384"/>
            <a:ext cx="282823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on model token cost, routine work Opus to Sonnet</a:t>
            </a:r>
            <a:endParaRPr lang="en-US" sz="1200" dirty="0"/>
          </a:p>
        </p:txBody>
      </p:sp>
      <p:sp>
        <p:nvSpPr>
          <p:cNvPr id="15" name="Shape 12"/>
          <p:cNvSpPr/>
          <p:nvPr/>
        </p:nvSpPr>
        <p:spPr>
          <a:xfrm>
            <a:off x="8503920" y="2459736"/>
            <a:ext cx="3230575" cy="1097280"/>
          </a:xfrm>
          <a:prstGeom prst="roundRect">
            <a:avLst>
              <a:gd name="adj" fmla="val 5000"/>
            </a:avLst>
          </a:prstGeom>
          <a:solidFill>
            <a:srgbClr val="121B2D"/>
          </a:solidFill>
          <a:ln w="12700">
            <a:solidFill>
              <a:srgbClr val="23304A"/>
            </a:solidFill>
            <a:prstDash val="solid"/>
          </a:ln>
        </p:spPr>
      </p:sp>
      <p:sp>
        <p:nvSpPr>
          <p:cNvPr id="16" name="Text 13"/>
          <p:cNvSpPr/>
          <p:nvPr/>
        </p:nvSpPr>
        <p:spPr>
          <a:xfrm>
            <a:off x="8705088" y="2551176"/>
            <a:ext cx="282823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GITHUB COPILOT SPEND</a:t>
            </a:r>
            <a:endParaRPr lang="en-US" sz="1200" dirty="0"/>
          </a:p>
        </p:txBody>
      </p:sp>
      <p:sp>
        <p:nvSpPr>
          <p:cNvPr id="17" name="Text 14"/>
          <p:cNvSpPr/>
          <p:nvPr/>
        </p:nvSpPr>
        <p:spPr>
          <a:xfrm>
            <a:off x="8705088" y="2752344"/>
            <a:ext cx="282823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$57,177</a:t>
            </a:r>
            <a:endParaRPr lang="en-US" sz="2800" dirty="0"/>
          </a:p>
        </p:txBody>
      </p:sp>
      <p:sp>
        <p:nvSpPr>
          <p:cNvPr id="18" name="Text 15"/>
          <p:cNvSpPr/>
          <p:nvPr/>
        </p:nvSpPr>
        <p:spPr>
          <a:xfrm>
            <a:off x="8705088" y="3154680"/>
            <a:ext cx="282823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Jan-Jul, +593% Jan to Jul</a:t>
            </a:r>
            <a:endParaRPr lang="en-US" sz="1200" dirty="0"/>
          </a:p>
        </p:txBody>
      </p:sp>
      <p:sp>
        <p:nvSpPr>
          <p:cNvPr id="19" name="Shape 16"/>
          <p:cNvSpPr/>
          <p:nvPr/>
        </p:nvSpPr>
        <p:spPr>
          <a:xfrm>
            <a:off x="8503920" y="3685032"/>
            <a:ext cx="3230575" cy="1097280"/>
          </a:xfrm>
          <a:prstGeom prst="roundRect">
            <a:avLst>
              <a:gd name="adj" fmla="val 5000"/>
            </a:avLst>
          </a:prstGeom>
          <a:solidFill>
            <a:srgbClr val="121B2D"/>
          </a:solidFill>
          <a:ln w="12700">
            <a:solidFill>
              <a:srgbClr val="23304A"/>
            </a:solidFill>
            <a:prstDash val="solid"/>
          </a:ln>
        </p:spPr>
      </p:sp>
      <p:sp>
        <p:nvSpPr>
          <p:cNvPr id="20" name="Text 17"/>
          <p:cNvSpPr/>
          <p:nvPr/>
        </p:nvSpPr>
        <p:spPr>
          <a:xfrm>
            <a:off x="8705088" y="3776472"/>
            <a:ext cx="2828239" cy="237744"/>
          </a:xfrm>
          <a:prstGeom prst="rect">
            <a:avLst/>
          </a:prstGeom>
          <a:noFill/>
          <a:ln/>
        </p:spPr>
        <p:txBody>
          <a:bodyPr wrap="square" lIns="0" tIns="0" rIns="0" bIns="0" rtlCol="0" anchor="ctr"/>
          <a:lstStyle/>
          <a:p>
            <a:pPr indent="0" marL="0">
              <a:buNone/>
            </a:pPr>
            <a:r>
              <a:rPr lang="en-US" sz="1183" b="1" spc="120" kern="0" dirty="0">
                <a:solidFill>
                  <a:srgbClr val="91A0B7"/>
                </a:solidFill>
                <a:latin typeface="Calibri" pitchFamily="34" charset="0"/>
                <a:ea typeface="Calibri" pitchFamily="34" charset="-122"/>
                <a:cs typeface="Calibri" pitchFamily="34" charset="-120"/>
              </a:rPr>
              <a:t>AWS BEDROCK, OPUS SHARE</a:t>
            </a:r>
            <a:endParaRPr lang="en-US" sz="1183" dirty="0"/>
          </a:p>
        </p:txBody>
      </p:sp>
      <p:sp>
        <p:nvSpPr>
          <p:cNvPr id="21" name="Text 18"/>
          <p:cNvSpPr/>
          <p:nvPr/>
        </p:nvSpPr>
        <p:spPr>
          <a:xfrm>
            <a:off x="8705088" y="3977640"/>
            <a:ext cx="282823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82.1%</a:t>
            </a:r>
            <a:endParaRPr lang="en-US" sz="2800" dirty="0"/>
          </a:p>
        </p:txBody>
      </p:sp>
      <p:sp>
        <p:nvSpPr>
          <p:cNvPr id="22" name="Text 19"/>
          <p:cNvSpPr/>
          <p:nvPr/>
        </p:nvSpPr>
        <p:spPr>
          <a:xfrm>
            <a:off x="8705088" y="4379976"/>
            <a:ext cx="2828239" cy="356616"/>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of AWS AI spend is Opus-class</a:t>
            </a:r>
            <a:endParaRPr lang="en-US" sz="1200" dirty="0"/>
          </a:p>
        </p:txBody>
      </p:sp>
      <p:sp>
        <p:nvSpPr>
          <p:cNvPr id="23" name="Shape 20"/>
          <p:cNvSpPr/>
          <p:nvPr/>
        </p:nvSpPr>
        <p:spPr>
          <a:xfrm>
            <a:off x="8503920" y="4910328"/>
            <a:ext cx="3230575" cy="1097280"/>
          </a:xfrm>
          <a:prstGeom prst="roundRect">
            <a:avLst>
              <a:gd name="adj" fmla="val 5000"/>
            </a:avLst>
          </a:prstGeom>
          <a:solidFill>
            <a:srgbClr val="121B2D"/>
          </a:solidFill>
          <a:ln w="12700">
            <a:solidFill>
              <a:srgbClr val="23304A"/>
            </a:solidFill>
            <a:prstDash val="solid"/>
          </a:ln>
        </p:spPr>
      </p:sp>
      <p:sp>
        <p:nvSpPr>
          <p:cNvPr id="24" name="Text 21"/>
          <p:cNvSpPr/>
          <p:nvPr/>
        </p:nvSpPr>
        <p:spPr>
          <a:xfrm>
            <a:off x="8705088" y="5001768"/>
            <a:ext cx="282823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PROMO PRICING ENDS</a:t>
            </a:r>
            <a:endParaRPr lang="en-US" sz="1200" dirty="0"/>
          </a:p>
        </p:txBody>
      </p:sp>
      <p:sp>
        <p:nvSpPr>
          <p:cNvPr id="25" name="Text 22"/>
          <p:cNvSpPr/>
          <p:nvPr/>
        </p:nvSpPr>
        <p:spPr>
          <a:xfrm>
            <a:off x="8705088" y="5202936"/>
            <a:ext cx="282823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31 Aug 2026</a:t>
            </a:r>
            <a:endParaRPr lang="en-US" sz="2800" dirty="0"/>
          </a:p>
        </p:txBody>
      </p:sp>
      <p:sp>
        <p:nvSpPr>
          <p:cNvPr id="26" name="Text 23"/>
          <p:cNvSpPr/>
          <p:nvPr/>
        </p:nvSpPr>
        <p:spPr>
          <a:xfrm>
            <a:off x="8705088" y="5605272"/>
            <a:ext cx="2828239" cy="356616"/>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reassess before the date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NEXT STEPS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What we are asking for</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Open items, owners and status</a:t>
            </a:r>
            <a:endParaRPr lang="en-US" sz="1200" dirty="0"/>
          </a:p>
        </p:txBody>
      </p:sp>
      <p:sp>
        <p:nvSpPr>
          <p:cNvPr id="7" name="Text 5"/>
          <p:cNvSpPr/>
          <p:nvPr/>
        </p:nvSpPr>
        <p:spPr>
          <a:xfrm>
            <a:off x="457200" y="1234440"/>
            <a:ext cx="1097280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Open items</a:t>
            </a:r>
            <a:endParaRPr lang="en-US" sz="15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0972800" cy="914400"/>
        </p:xfrm>
        <a:graphic>
          <a:graphicData uri="http://schemas.openxmlformats.org/drawingml/2006/table">
            <a:tbl>
              <a:tblPr/>
              <a:tblGrid>
                <a:gridCol w="411480"/>
                <a:gridCol w="2651760"/>
                <a:gridCol w="5303520"/>
                <a:gridCol w="1051560"/>
                <a:gridCol w="1554480"/>
              </a:tblGrid>
              <a:tr h="475488">
                <a:tc>
                  <a:txBody>
                    <a:bodyPr/>
                    <a:lstStyle/>
                    <a:p>
                      <a:pPr algn="ctr" indent="0" marL="0">
                        <a:buNone/>
                      </a:pPr>
                      <a:r>
                        <a:rPr lang="en-US" sz="1200" b="1" spc="80" kern="0" dirty="0">
                          <a:solidFill>
                            <a:srgbClr val="91A0B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Detail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ctr" indent="0" marL="0">
                        <a:buNone/>
                      </a:pPr>
                      <a:r>
                        <a:rPr lang="en-US" sz="1200" b="1" spc="80" kern="0" dirty="0">
                          <a:solidFill>
                            <a:srgbClr val="91A0B7"/>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475488">
                <a:tc>
                  <a:txBody>
                    <a:bodyPr/>
                    <a:lstStyle/>
                    <a:p>
                      <a:pPr algn="ctr" indent="0" marL="0">
                        <a:buNone/>
                      </a:pPr>
                      <a:r>
                        <a:rPr lang="en-US" sz="1200" b="1" dirty="0">
                          <a:solidFill>
                            <a:srgbClr val="F4F7F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Savings and efficiency programme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Deliver the Cloud FinOps savings plan: right-sizing, auto-shutdown, reserved instances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ctr" indent="0" marL="0">
                        <a:buNone/>
                      </a:pPr>
                      <a:r>
                        <a:rPr lang="en-US" sz="1200" dirty="0">
                          <a:solidFill>
                            <a:srgbClr val="E0A030"/>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Infrastructure Division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475488">
                <a:tc>
                  <a:txBody>
                    <a:bodyPr/>
                    <a:lstStyle/>
                    <a:p>
                      <a:pPr algn="ctr" indent="0" marL="0">
                        <a:buNone/>
                      </a:pPr>
                      <a:r>
                        <a:rPr lang="en-US" sz="1200" b="1" dirty="0">
                          <a:solidFill>
                            <a:srgbClr val="F4F7F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WIV.AI rollout (free tier)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Deploy the WIV.AI platform for governance, cost and usage monitoring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ctr" indent="0" marL="0">
                        <a:buNone/>
                      </a:pPr>
                      <a:r>
                        <a:rPr lang="en-US" sz="1200" dirty="0">
                          <a:solidFill>
                            <a:srgbClr val="E0A030"/>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Ariel Oral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475488">
                <a:tc>
                  <a:txBody>
                    <a:bodyPr/>
                    <a:lstStyle/>
                    <a:p>
                      <a:pPr algn="ctr" indent="0" marL="0">
                        <a:buNone/>
                      </a:pPr>
                      <a:r>
                        <a:rPr lang="en-US" sz="1200" b="1" dirty="0">
                          <a:solidFill>
                            <a:srgbClr val="F4F7F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Two-layer tagging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Resource tags (Service, Application, Cost Center, Environment) for chargeback, plus per-request metadata (use case, agent, model, provider) injected at the AI gateway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ctr" indent="0" marL="0">
                        <a:buNone/>
                      </a:pPr>
                      <a:r>
                        <a:rPr lang="en-US" sz="1200" dirty="0">
                          <a:solidFill>
                            <a:srgbClr val="3DD9EB"/>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Ariel Oral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475488">
                <a:tc>
                  <a:txBody>
                    <a:bodyPr/>
                    <a:lstStyle/>
                    <a:p>
                      <a:pPr algn="ctr" indent="0" marL="0">
                        <a:buNone/>
                      </a:pPr>
                      <a:r>
                        <a:rPr lang="en-US" sz="1200" b="1" dirty="0">
                          <a:solidFill>
                            <a:srgbClr val="F4F7F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AWS FinOps agent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Automated cost analysis, savings recommendations and AWS service optimisation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ctr" indent="0" marL="0">
                        <a:buNone/>
                      </a:pPr>
                      <a:r>
                        <a:rPr lang="en-US" sz="1200" dirty="0">
                          <a:solidFill>
                            <a:srgbClr val="E0A030"/>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Ariel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475488">
                <a:tc>
                  <a:txBody>
                    <a:bodyPr/>
                    <a:lstStyle/>
                    <a:p>
                      <a:pPr algn="ctr" indent="0" marL="0">
                        <a:buNone/>
                      </a:pPr>
                      <a:r>
                        <a:rPr lang="en-US" sz="1200" b="1" dirty="0">
                          <a:solidFill>
                            <a:srgbClr val="F4F7F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Databricks commitment optimisation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Raise DBU commitment utilisation from 18%, track it monthly, and tune Classic vs Serverless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ctr" indent="0" marL="0">
                        <a:buNone/>
                      </a:pPr>
                      <a:r>
                        <a:rPr lang="en-US" sz="1200" dirty="0">
                          <a:solidFill>
                            <a:srgbClr val="91A0B7"/>
                          </a:solidFill>
                          <a:latin typeface="Calibri" pitchFamily="34" charset="0"/>
                          <a:ea typeface="Calibri" pitchFamily="34" charset="-122"/>
                          <a:cs typeface="Calibri" pitchFamily="34" charset="-120"/>
                        </a:rPr>
                        <a:t>To scope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bl>
          </a:graphicData>
        </a:graphic>
      </p:graphicFrame>
      <p:sp>
        <p:nvSpPr>
          <p:cNvPr id="9" name="Shape 6"/>
          <p:cNvSpPr/>
          <p:nvPr/>
        </p:nvSpPr>
        <p:spPr>
          <a:xfrm>
            <a:off x="457200" y="5100041"/>
            <a:ext cx="3606698" cy="1078992"/>
          </a:xfrm>
          <a:prstGeom prst="roundRect">
            <a:avLst>
              <a:gd name="adj" fmla="val 5085"/>
            </a:avLst>
          </a:prstGeom>
          <a:solidFill>
            <a:srgbClr val="121B2D"/>
          </a:solidFill>
          <a:ln w="12700">
            <a:solidFill>
              <a:srgbClr val="23304A"/>
            </a:solidFill>
            <a:prstDash val="solid"/>
          </a:ln>
        </p:spPr>
      </p:sp>
      <p:sp>
        <p:nvSpPr>
          <p:cNvPr id="10" name="Text 7"/>
          <p:cNvSpPr/>
          <p:nvPr/>
        </p:nvSpPr>
        <p:spPr>
          <a:xfrm>
            <a:off x="658368" y="5191481"/>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DECISION NEEDED</a:t>
            </a:r>
            <a:endParaRPr lang="en-US" sz="1200" dirty="0"/>
          </a:p>
        </p:txBody>
      </p:sp>
      <p:sp>
        <p:nvSpPr>
          <p:cNvPr id="11" name="Text 8"/>
          <p:cNvSpPr/>
          <p:nvPr/>
        </p:nvSpPr>
        <p:spPr>
          <a:xfrm>
            <a:off x="658368" y="5392649"/>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4 items</a:t>
            </a:r>
            <a:endParaRPr lang="en-US" sz="2800" dirty="0"/>
          </a:p>
        </p:txBody>
      </p:sp>
      <p:sp>
        <p:nvSpPr>
          <p:cNvPr id="12" name="Text 9"/>
          <p:cNvSpPr/>
          <p:nvPr/>
        </p:nvSpPr>
        <p:spPr>
          <a:xfrm>
            <a:off x="658368" y="5794985"/>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the $193K recommendation list</a:t>
            </a:r>
            <a:endParaRPr lang="en-US" sz="1200" dirty="0"/>
          </a:p>
        </p:txBody>
      </p:sp>
      <p:sp>
        <p:nvSpPr>
          <p:cNvPr id="13" name="Shape 10"/>
          <p:cNvSpPr/>
          <p:nvPr/>
        </p:nvSpPr>
        <p:spPr>
          <a:xfrm>
            <a:off x="4292498" y="5100041"/>
            <a:ext cx="3606698" cy="1078992"/>
          </a:xfrm>
          <a:prstGeom prst="roundRect">
            <a:avLst>
              <a:gd name="adj" fmla="val 5085"/>
            </a:avLst>
          </a:prstGeom>
          <a:solidFill>
            <a:srgbClr val="121B2D"/>
          </a:solidFill>
          <a:ln w="12700">
            <a:solidFill>
              <a:srgbClr val="23304A"/>
            </a:solidFill>
            <a:prstDash val="solid"/>
          </a:ln>
        </p:spPr>
      </p:sp>
      <p:sp>
        <p:nvSpPr>
          <p:cNvPr id="14" name="Text 11"/>
          <p:cNvSpPr/>
          <p:nvPr/>
        </p:nvSpPr>
        <p:spPr>
          <a:xfrm>
            <a:off x="4493666" y="5191481"/>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DEPENDENCY</a:t>
            </a:r>
            <a:endParaRPr lang="en-US" sz="1200" dirty="0"/>
          </a:p>
        </p:txBody>
      </p:sp>
      <p:sp>
        <p:nvSpPr>
          <p:cNvPr id="15" name="Text 12"/>
          <p:cNvSpPr/>
          <p:nvPr/>
        </p:nvSpPr>
        <p:spPr>
          <a:xfrm>
            <a:off x="4493666" y="5392649"/>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Tagging</a:t>
            </a:r>
            <a:endParaRPr lang="en-US" sz="2800" dirty="0"/>
          </a:p>
        </p:txBody>
      </p:sp>
      <p:sp>
        <p:nvSpPr>
          <p:cNvPr id="16" name="Text 13"/>
          <p:cNvSpPr/>
          <p:nvPr/>
        </p:nvSpPr>
        <p:spPr>
          <a:xfrm>
            <a:off x="4493666" y="5794985"/>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item 3 blocks chargeback</a:t>
            </a:r>
            <a:endParaRPr lang="en-US" sz="1200" dirty="0"/>
          </a:p>
        </p:txBody>
      </p:sp>
      <p:sp>
        <p:nvSpPr>
          <p:cNvPr id="17" name="Shape 14"/>
          <p:cNvSpPr/>
          <p:nvPr/>
        </p:nvSpPr>
        <p:spPr>
          <a:xfrm>
            <a:off x="8127797" y="5100041"/>
            <a:ext cx="3606698" cy="1078992"/>
          </a:xfrm>
          <a:prstGeom prst="roundRect">
            <a:avLst>
              <a:gd name="adj" fmla="val 5085"/>
            </a:avLst>
          </a:prstGeom>
          <a:solidFill>
            <a:srgbClr val="121B2D"/>
          </a:solidFill>
          <a:ln w="12700">
            <a:solidFill>
              <a:srgbClr val="23304A"/>
            </a:solidFill>
            <a:prstDash val="solid"/>
          </a:ln>
        </p:spPr>
      </p:sp>
      <p:sp>
        <p:nvSpPr>
          <p:cNvPr id="18" name="Text 15"/>
          <p:cNvSpPr/>
          <p:nvPr/>
        </p:nvSpPr>
        <p:spPr>
          <a:xfrm>
            <a:off x="8328965" y="5191481"/>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 CONFIRM</a:t>
            </a:r>
            <a:endParaRPr lang="en-US" sz="1200" dirty="0"/>
          </a:p>
        </p:txBody>
      </p:sp>
      <p:sp>
        <p:nvSpPr>
          <p:cNvPr id="19" name="Text 16"/>
          <p:cNvSpPr/>
          <p:nvPr/>
        </p:nvSpPr>
        <p:spPr>
          <a:xfrm>
            <a:off x="8328965" y="5392649"/>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$16,100</a:t>
            </a:r>
            <a:endParaRPr lang="en-US" sz="2800" dirty="0"/>
          </a:p>
        </p:txBody>
      </p:sp>
      <p:sp>
        <p:nvSpPr>
          <p:cNvPr id="20" name="Text 17"/>
          <p:cNvSpPr/>
          <p:nvPr/>
        </p:nvSpPr>
        <p:spPr>
          <a:xfrm>
            <a:off x="8328965" y="5794985"/>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FF9F43"/>
                </a:solidFill>
                <a:latin typeface="Calibri" pitchFamily="34" charset="0"/>
                <a:ea typeface="Calibri" pitchFamily="34" charset="-122"/>
                <a:cs typeface="Calibri" pitchFamily="34" charset="-120"/>
              </a:rPr>
              <a:t>MAP credit, with Comm-IT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91A0B7">
              <a:alpha val="8000"/>
            </a:srgbClr>
          </a:solidFill>
          <a:ln w="12700">
            <a:solidFill>
              <a:srgbClr val="91A0B7">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457200" y="2342896"/>
            <a:ext cx="8229600" cy="274320"/>
          </a:xfrm>
          <a:prstGeom prst="rect">
            <a:avLst/>
          </a:prstGeom>
          <a:noFill/>
          <a:ln/>
        </p:spPr>
        <p:txBody>
          <a:bodyPr wrap="square" lIns="0" tIns="0" rIns="0" bIns="0" rtlCol="0" anchor="ctr"/>
          <a:lstStyle/>
          <a:p>
            <a:pPr indent="0" marL="0">
              <a:buNone/>
            </a:pPr>
            <a:r>
              <a:rPr lang="en-US" sz="1300" b="1" spc="300" kern="0" dirty="0">
                <a:solidFill>
                  <a:srgbClr val="91A0B7"/>
                </a:solidFill>
                <a:latin typeface="Calibri" pitchFamily="34" charset="0"/>
                <a:ea typeface="Calibri" pitchFamily="34" charset="-122"/>
                <a:cs typeface="Calibri" pitchFamily="34" charset="-120"/>
              </a:rPr>
              <a:t>APPENDIX</a:t>
            </a:r>
            <a:endParaRPr lang="en-US" sz="1300" dirty="0"/>
          </a:p>
        </p:txBody>
      </p:sp>
      <p:sp>
        <p:nvSpPr>
          <p:cNvPr id="6" name="Text 4"/>
          <p:cNvSpPr/>
          <p:nvPr/>
        </p:nvSpPr>
        <p:spPr>
          <a:xfrm>
            <a:off x="457200" y="2690368"/>
            <a:ext cx="8412480" cy="1239520"/>
          </a:xfrm>
          <a:prstGeom prst="rect">
            <a:avLst/>
          </a:prstGeom>
          <a:noFill/>
          <a:ln/>
        </p:spPr>
        <p:txBody>
          <a:bodyPr wrap="square" lIns="0" tIns="0" rIns="0" bIns="0" rtlCol="0" anchor="ctr"/>
          <a:lstStyle/>
          <a:p>
            <a:pPr indent="0" marL="0">
              <a:buNone/>
            </a:pPr>
            <a:r>
              <a:rPr lang="en-US" sz="4000" b="1" dirty="0">
                <a:solidFill>
                  <a:srgbClr val="F4F7FB"/>
                </a:solidFill>
                <a:latin typeface="Calibri" pitchFamily="34" charset="0"/>
                <a:ea typeface="Calibri" pitchFamily="34" charset="-122"/>
                <a:cs typeface="Calibri" pitchFamily="34" charset="-120"/>
              </a:rPr>
              <a:t>The operational detail</a:t>
            </a:r>
            <a:endParaRPr lang="en-US" sz="4000" dirty="0"/>
          </a:p>
        </p:txBody>
      </p:sp>
      <p:sp>
        <p:nvSpPr>
          <p:cNvPr id="7" name="Text 5"/>
          <p:cNvSpPr/>
          <p:nvPr/>
        </p:nvSpPr>
        <p:spPr>
          <a:xfrm>
            <a:off x="457200" y="4057904"/>
            <a:ext cx="7863840" cy="457200"/>
          </a:xfrm>
          <a:prstGeom prst="rect">
            <a:avLst/>
          </a:prstGeom>
          <a:noFill/>
          <a:ln/>
        </p:spPr>
        <p:txBody>
          <a:bodyPr wrap="square" lIns="0" tIns="0" rIns="0" bIns="0" rtlCol="0" anchor="t"/>
          <a:lstStyle/>
          <a:p>
            <a:pPr indent="0" marL="0">
              <a:buNone/>
            </a:pPr>
            <a:r>
              <a:rPr lang="en-US" sz="1500" dirty="0">
                <a:solidFill>
                  <a:srgbClr val="91A0B7"/>
                </a:solidFill>
                <a:latin typeface="Calibri" pitchFamily="34" charset="0"/>
                <a:ea typeface="Calibri" pitchFamily="34" charset="-122"/>
                <a:cs typeface="Calibri" pitchFamily="34" charset="-120"/>
              </a:rPr>
              <a:t>Cost centre and project breakdowns, January to July 2026</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9F43"/>
                </a:solidFill>
                <a:latin typeface="Calibri" pitchFamily="34" charset="0"/>
                <a:ea typeface="Calibri" pitchFamily="34" charset="-122"/>
                <a:cs typeface="Calibri" pitchFamily="34" charset="-120"/>
              </a:rPr>
              <a:t>AWS / ACCOUNTS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Consumption by account name</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Two payers sit under AWS. Charges exclude Marketplace purchases, which are shown separately.</a:t>
            </a:r>
            <a:endParaRPr lang="en-US" sz="1200" dirty="0"/>
          </a:p>
        </p:txBody>
      </p:sp>
      <p:sp>
        <p:nvSpPr>
          <p:cNvPr id="7" name="Text 5"/>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Monthly spend by linked account</a:t>
            </a:r>
            <a:endParaRPr lang="en-US" sz="1500" dirty="0"/>
          </a:p>
        </p:txBody>
      </p:sp>
      <p:graphicFrame>
        <p:nvGraphicFramePr>
          <p:cNvPr id="8"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0" name="Text 7"/>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1" name="Text 8"/>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$584K</a:t>
            </a:r>
            <a:endParaRPr lang="en-US" sz="2800" dirty="0"/>
          </a:p>
        </p:txBody>
      </p:sp>
      <p:sp>
        <p:nvSpPr>
          <p:cNvPr id="12" name="Text 9"/>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9F43"/>
                </a:solidFill>
                <a:latin typeface="Calibri" pitchFamily="34" charset="0"/>
                <a:ea typeface="Calibri" pitchFamily="34" charset="-122"/>
                <a:cs typeface="Calibri" pitchFamily="34" charset="-120"/>
              </a:rPr>
              <a:t>flat Jan to Jul</a:t>
            </a:r>
            <a:endParaRPr lang="en-US" sz="1200" dirty="0"/>
          </a:p>
        </p:txBody>
      </p:sp>
      <p:sp>
        <p:nvSpPr>
          <p:cNvPr id="13" name="Shape 10"/>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4" name="Text 11"/>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JULY</a:t>
            </a:r>
            <a:endParaRPr lang="en-US" sz="1200" dirty="0"/>
          </a:p>
        </p:txBody>
      </p:sp>
      <p:sp>
        <p:nvSpPr>
          <p:cNvPr id="15" name="Text 12"/>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$77K</a:t>
            </a:r>
            <a:endParaRPr lang="en-US" sz="2800" dirty="0"/>
          </a:p>
        </p:txBody>
      </p:sp>
      <p:sp>
        <p:nvSpPr>
          <p:cNvPr id="16" name="Text 13"/>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after MAP credit</a:t>
            </a:r>
            <a:endParaRPr lang="en-US" sz="1200" dirty="0"/>
          </a:p>
        </p:txBody>
      </p:sp>
      <p:sp>
        <p:nvSpPr>
          <p:cNvPr id="17" name="Text 14"/>
          <p:cNvSpPr/>
          <p:nvPr/>
        </p:nvSpPr>
        <p:spPr>
          <a:xfrm>
            <a:off x="8110728" y="3822192"/>
            <a:ext cx="3605479" cy="219456"/>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WHAT MOVED</a:t>
            </a:r>
            <a:endParaRPr lang="en-US" sz="1200" dirty="0"/>
          </a:p>
        </p:txBody>
      </p:sp>
      <p:sp>
        <p:nvSpPr>
          <p:cNvPr id="18" name="Shape 15"/>
          <p:cNvSpPr/>
          <p:nvPr/>
        </p:nvSpPr>
        <p:spPr>
          <a:xfrm>
            <a:off x="8110728" y="4197096"/>
            <a:ext cx="64008" cy="64008"/>
          </a:xfrm>
          <a:prstGeom prst="rect">
            <a:avLst/>
          </a:prstGeom>
          <a:solidFill>
            <a:srgbClr val="FF9F43"/>
          </a:solidFill>
          <a:ln w="12700">
            <a:solidFill>
              <a:srgbClr val="FF9F43"/>
            </a:solidFill>
            <a:prstDash val="solid"/>
          </a:ln>
        </p:spPr>
      </p:sp>
      <p:sp>
        <p:nvSpPr>
          <p:cNvPr id="19" name="Text 16"/>
          <p:cNvSpPr/>
          <p:nvPr/>
        </p:nvSpPr>
        <p:spPr>
          <a:xfrm>
            <a:off x="8284464" y="4114800"/>
            <a:ext cx="3431743"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customers3-prod and horizon-prod both stepped up</a:t>
            </a:r>
            <a:endParaRPr lang="en-US" sz="1250" dirty="0"/>
          </a:p>
        </p:txBody>
      </p:sp>
      <p:sp>
        <p:nvSpPr>
          <p:cNvPr id="20" name="Shape 17"/>
          <p:cNvSpPr/>
          <p:nvPr/>
        </p:nvSpPr>
        <p:spPr>
          <a:xfrm>
            <a:off x="8110728" y="4764024"/>
            <a:ext cx="64008" cy="64008"/>
          </a:xfrm>
          <a:prstGeom prst="rect">
            <a:avLst/>
          </a:prstGeom>
          <a:solidFill>
            <a:srgbClr val="FF9F43"/>
          </a:solidFill>
          <a:ln w="12700">
            <a:solidFill>
              <a:srgbClr val="FF9F43"/>
            </a:solidFill>
            <a:prstDash val="solid"/>
          </a:ln>
        </p:spPr>
      </p:sp>
      <p:sp>
        <p:nvSpPr>
          <p:cNvPr id="21" name="Text 18"/>
          <p:cNvSpPr/>
          <p:nvPr/>
        </p:nvSpPr>
        <p:spPr>
          <a:xfrm>
            <a:off x="8284464" y="4681728"/>
            <a:ext cx="3431743"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harel-org-02-root and aws-devTest-digital grew on EC2 and S3</a:t>
            </a:r>
            <a:endParaRPr lang="en-US" sz="1250" dirty="0"/>
          </a:p>
        </p:txBody>
      </p:sp>
      <p:sp>
        <p:nvSpPr>
          <p:cNvPr id="22" name="Shape 19"/>
          <p:cNvSpPr/>
          <p:nvPr/>
        </p:nvSpPr>
        <p:spPr>
          <a:xfrm>
            <a:off x="8110728" y="5330952"/>
            <a:ext cx="64008" cy="64008"/>
          </a:xfrm>
          <a:prstGeom prst="rect">
            <a:avLst/>
          </a:prstGeom>
          <a:solidFill>
            <a:srgbClr val="FF9F43"/>
          </a:solidFill>
          <a:ln w="12700">
            <a:solidFill>
              <a:srgbClr val="FF9F43"/>
            </a:solidFill>
            <a:prstDash val="solid"/>
          </a:ln>
        </p:spPr>
      </p:sp>
      <p:sp>
        <p:nvSpPr>
          <p:cNvPr id="23" name="Text 20"/>
          <p:cNvSpPr/>
          <p:nvPr/>
        </p:nvSpPr>
        <p:spPr>
          <a:xfrm>
            <a:off x="8284464" y="5248656"/>
            <a:ext cx="3431743"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ai-factory-dev carries a MAP contract credit, which is why July nets down</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9F43"/>
                </a:solidFill>
                <a:latin typeface="Calibri" pitchFamily="34" charset="0"/>
                <a:ea typeface="Calibri" pitchFamily="34" charset="-122"/>
                <a:cs typeface="Calibri" pitchFamily="34" charset="-120"/>
              </a:rPr>
              <a:t>AWS / SERVICES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Consumption by service name</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Same total, cut by service. Charges exclude Marketplace purchases.</a:t>
            </a:r>
            <a:endParaRPr lang="en-US" sz="1200" dirty="0"/>
          </a:p>
        </p:txBody>
      </p:sp>
      <p:sp>
        <p:nvSpPr>
          <p:cNvPr id="7" name="Text 5"/>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Monthly spend by service</a:t>
            </a:r>
            <a:endParaRPr lang="en-US" sz="1500" dirty="0"/>
          </a:p>
        </p:txBody>
      </p:sp>
      <p:graphicFrame>
        <p:nvGraphicFramePr>
          <p:cNvPr id="8"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0" name="Text 7"/>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1" name="Text 8"/>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$584K</a:t>
            </a:r>
            <a:endParaRPr lang="en-US" sz="2800" dirty="0"/>
          </a:p>
        </p:txBody>
      </p:sp>
      <p:sp>
        <p:nvSpPr>
          <p:cNvPr id="12" name="Text 9"/>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9F43"/>
                </a:solidFill>
                <a:latin typeface="Calibri" pitchFamily="34" charset="0"/>
                <a:ea typeface="Calibri" pitchFamily="34" charset="-122"/>
                <a:cs typeface="Calibri" pitchFamily="34" charset="-120"/>
              </a:rPr>
              <a:t>flat Jan to Jul</a:t>
            </a:r>
            <a:endParaRPr lang="en-US" sz="1200" dirty="0"/>
          </a:p>
        </p:txBody>
      </p:sp>
      <p:sp>
        <p:nvSpPr>
          <p:cNvPr id="13" name="Shape 10"/>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4" name="Text 11"/>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5" name="Text 12"/>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EC2 - Compute</a:t>
            </a:r>
            <a:endParaRPr lang="en-US" sz="2800" dirty="0"/>
          </a:p>
        </p:txBody>
      </p:sp>
      <p:sp>
        <p:nvSpPr>
          <p:cNvPr id="16" name="Text 13"/>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39% of the total</a:t>
            </a:r>
            <a:endParaRPr lang="en-US" sz="1200" dirty="0"/>
          </a:p>
        </p:txBody>
      </p:sp>
      <p:sp>
        <p:nvSpPr>
          <p:cNvPr id="17" name="Text 14"/>
          <p:cNvSpPr/>
          <p:nvPr/>
        </p:nvSpPr>
        <p:spPr>
          <a:xfrm>
            <a:off x="8110728" y="3822192"/>
            <a:ext cx="3605479" cy="219456"/>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WHAT MOVED</a:t>
            </a:r>
            <a:endParaRPr lang="en-US" sz="1200" dirty="0"/>
          </a:p>
        </p:txBody>
      </p:sp>
      <p:sp>
        <p:nvSpPr>
          <p:cNvPr id="18" name="Shape 15"/>
          <p:cNvSpPr/>
          <p:nvPr/>
        </p:nvSpPr>
        <p:spPr>
          <a:xfrm>
            <a:off x="8110728" y="4197096"/>
            <a:ext cx="64008" cy="64008"/>
          </a:xfrm>
          <a:prstGeom prst="rect">
            <a:avLst/>
          </a:prstGeom>
          <a:solidFill>
            <a:srgbClr val="FF9F43"/>
          </a:solidFill>
          <a:ln w="12700">
            <a:solidFill>
              <a:srgbClr val="FF9F43"/>
            </a:solidFill>
            <a:prstDash val="solid"/>
          </a:ln>
        </p:spPr>
      </p:sp>
      <p:sp>
        <p:nvSpPr>
          <p:cNvPr id="19" name="Text 16"/>
          <p:cNvSpPr/>
          <p:nvPr/>
        </p:nvSpPr>
        <p:spPr>
          <a:xfrm>
            <a:off x="8284464" y="4114800"/>
            <a:ext cx="3431743" cy="18288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EC2 compute keeps rising month over month</a:t>
            </a:r>
            <a:endParaRPr lang="en-US" sz="1250" dirty="0"/>
          </a:p>
        </p:txBody>
      </p:sp>
      <p:sp>
        <p:nvSpPr>
          <p:cNvPr id="20" name="Shape 17"/>
          <p:cNvSpPr/>
          <p:nvPr/>
        </p:nvSpPr>
        <p:spPr>
          <a:xfrm>
            <a:off x="8110728" y="4544568"/>
            <a:ext cx="64008" cy="64008"/>
          </a:xfrm>
          <a:prstGeom prst="rect">
            <a:avLst/>
          </a:prstGeom>
          <a:solidFill>
            <a:srgbClr val="FF9F43"/>
          </a:solidFill>
          <a:ln w="12700">
            <a:solidFill>
              <a:srgbClr val="FF9F43"/>
            </a:solidFill>
            <a:prstDash val="solid"/>
          </a:ln>
        </p:spPr>
      </p:sp>
      <p:sp>
        <p:nvSpPr>
          <p:cNvPr id="21" name="Text 18"/>
          <p:cNvSpPr/>
          <p:nvPr/>
        </p:nvSpPr>
        <p:spPr>
          <a:xfrm>
            <a:off x="8284464" y="4462272"/>
            <a:ext cx="3431743"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S3 storage and Glacier Deep Archive both up sharply</a:t>
            </a:r>
            <a:endParaRPr lang="en-US" sz="1250" dirty="0"/>
          </a:p>
        </p:txBody>
      </p:sp>
      <p:sp>
        <p:nvSpPr>
          <p:cNvPr id="22" name="Shape 19"/>
          <p:cNvSpPr/>
          <p:nvPr/>
        </p:nvSpPr>
        <p:spPr>
          <a:xfrm>
            <a:off x="8110728" y="5111496"/>
            <a:ext cx="64008" cy="64008"/>
          </a:xfrm>
          <a:prstGeom prst="rect">
            <a:avLst/>
          </a:prstGeom>
          <a:solidFill>
            <a:srgbClr val="FF9F43"/>
          </a:solidFill>
          <a:ln w="12700">
            <a:solidFill>
              <a:srgbClr val="FF9F43"/>
            </a:solidFill>
            <a:prstDash val="solid"/>
          </a:ln>
        </p:spPr>
      </p:sp>
      <p:sp>
        <p:nvSpPr>
          <p:cNvPr id="23" name="Text 20"/>
          <p:cNvSpPr/>
          <p:nvPr/>
        </p:nvSpPr>
        <p:spPr>
          <a:xfrm>
            <a:off x="8284464" y="5029200"/>
            <a:ext cx="3431743"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The July dip in 'Other' is the MAP credit, not a usage change</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2F8CFF"/>
                </a:solidFill>
                <a:latin typeface="Calibri" pitchFamily="34" charset="0"/>
                <a:ea typeface="Calibri" pitchFamily="34" charset="-122"/>
                <a:cs typeface="Calibri" pitchFamily="34" charset="-120"/>
              </a:rPr>
              <a:t>AZURE / COST CENTRES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Consumption by cost centre</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From the CostCenter tag. Charges exclude Marketplace purchases.</a:t>
            </a:r>
            <a:endParaRPr lang="en-US" sz="1200" dirty="0"/>
          </a:p>
        </p:txBody>
      </p:sp>
      <p:sp>
        <p:nvSpPr>
          <p:cNvPr id="7" name="Text 5"/>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Monthly spend by cost centre</a:t>
            </a:r>
            <a:endParaRPr lang="en-US" sz="1500" dirty="0"/>
          </a:p>
        </p:txBody>
      </p:sp>
      <p:graphicFrame>
        <p:nvGraphicFramePr>
          <p:cNvPr id="8"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0" name="Text 7"/>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1" name="Text 8"/>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$1.12M</a:t>
            </a:r>
            <a:endParaRPr lang="en-US" sz="2800" dirty="0"/>
          </a:p>
        </p:txBody>
      </p:sp>
      <p:sp>
        <p:nvSpPr>
          <p:cNvPr id="12" name="Text 9"/>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2F8CFF"/>
                </a:solidFill>
                <a:latin typeface="Calibri" pitchFamily="34" charset="0"/>
                <a:ea typeface="Calibri" pitchFamily="34" charset="-122"/>
                <a:cs typeface="Calibri" pitchFamily="34" charset="-120"/>
              </a:rPr>
              <a:t>+19% Jan to Jul</a:t>
            </a:r>
            <a:endParaRPr lang="en-US" sz="1200" dirty="0"/>
          </a:p>
        </p:txBody>
      </p:sp>
      <p:sp>
        <p:nvSpPr>
          <p:cNvPr id="13" name="Shape 10"/>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4" name="Text 11"/>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COST CENTRE</a:t>
            </a:r>
            <a:endParaRPr lang="en-US" sz="1200" dirty="0"/>
          </a:p>
        </p:txBody>
      </p:sp>
      <p:sp>
        <p:nvSpPr>
          <p:cNvPr id="15" name="Text 12"/>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datacloud</a:t>
            </a:r>
            <a:endParaRPr lang="en-US" sz="2800" dirty="0"/>
          </a:p>
        </p:txBody>
      </p:sp>
      <p:sp>
        <p:nvSpPr>
          <p:cNvPr id="16" name="Text 13"/>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30% of the total</a:t>
            </a:r>
            <a:endParaRPr lang="en-US" sz="1200" dirty="0"/>
          </a:p>
        </p:txBody>
      </p:sp>
      <p:sp>
        <p:nvSpPr>
          <p:cNvPr id="17" name="Text 14"/>
          <p:cNvSpPr/>
          <p:nvPr/>
        </p:nvSpPr>
        <p:spPr>
          <a:xfrm>
            <a:off x="8110728" y="3822192"/>
            <a:ext cx="3605479" cy="219456"/>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WHAT MOVED</a:t>
            </a:r>
            <a:endParaRPr lang="en-US" sz="1200" dirty="0"/>
          </a:p>
        </p:txBody>
      </p:sp>
      <p:sp>
        <p:nvSpPr>
          <p:cNvPr id="18" name="Shape 15"/>
          <p:cNvSpPr/>
          <p:nvPr/>
        </p:nvSpPr>
        <p:spPr>
          <a:xfrm>
            <a:off x="8110728" y="4197096"/>
            <a:ext cx="64008" cy="64008"/>
          </a:xfrm>
          <a:prstGeom prst="rect">
            <a:avLst/>
          </a:prstGeom>
          <a:solidFill>
            <a:srgbClr val="2F8CFF"/>
          </a:solidFill>
          <a:ln w="12700">
            <a:solidFill>
              <a:srgbClr val="2F8CFF"/>
            </a:solidFill>
            <a:prstDash val="solid"/>
          </a:ln>
        </p:spPr>
      </p:sp>
      <p:sp>
        <p:nvSpPr>
          <p:cNvPr id="19" name="Text 16"/>
          <p:cNvSpPr/>
          <p:nvPr/>
        </p:nvSpPr>
        <p:spPr>
          <a:xfrm>
            <a:off x="8284464" y="4114800"/>
            <a:ext cx="3431743" cy="18288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cloudops, datacloud and cloudit all up</a:t>
            </a:r>
            <a:endParaRPr lang="en-US" sz="1250" dirty="0"/>
          </a:p>
        </p:txBody>
      </p:sp>
      <p:sp>
        <p:nvSpPr>
          <p:cNvPr id="20" name="Shape 17"/>
          <p:cNvSpPr/>
          <p:nvPr/>
        </p:nvSpPr>
        <p:spPr>
          <a:xfrm>
            <a:off x="8110728" y="4544568"/>
            <a:ext cx="64008" cy="64008"/>
          </a:xfrm>
          <a:prstGeom prst="rect">
            <a:avLst/>
          </a:prstGeom>
          <a:solidFill>
            <a:srgbClr val="2F8CFF"/>
          </a:solidFill>
          <a:ln w="12700">
            <a:solidFill>
              <a:srgbClr val="2F8CFF"/>
            </a:solidFill>
            <a:prstDash val="solid"/>
          </a:ln>
        </p:spPr>
      </p:sp>
      <p:sp>
        <p:nvSpPr>
          <p:cNvPr id="21" name="Text 18"/>
          <p:cNvSpPr/>
          <p:nvPr/>
        </p:nvSpPr>
        <p:spPr>
          <a:xfrm>
            <a:off x="8284464" y="4462272"/>
            <a:ext cx="3431743"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AI Factory is the fastest-growing centre in the period</a:t>
            </a:r>
            <a:endParaRPr lang="en-US" sz="1250" dirty="0"/>
          </a:p>
        </p:txBody>
      </p:sp>
      <p:sp>
        <p:nvSpPr>
          <p:cNvPr id="22" name="Shape 19"/>
          <p:cNvSpPr/>
          <p:nvPr/>
        </p:nvSpPr>
        <p:spPr>
          <a:xfrm>
            <a:off x="8110728" y="5111496"/>
            <a:ext cx="64008" cy="64008"/>
          </a:xfrm>
          <a:prstGeom prst="rect">
            <a:avLst/>
          </a:prstGeom>
          <a:solidFill>
            <a:srgbClr val="2F8CFF"/>
          </a:solidFill>
          <a:ln w="12700">
            <a:solidFill>
              <a:srgbClr val="2F8CFF"/>
            </a:solidFill>
            <a:prstDash val="solid"/>
          </a:ln>
        </p:spPr>
      </p:sp>
      <p:sp>
        <p:nvSpPr>
          <p:cNvPr id="23" name="Text 20"/>
          <p:cNvSpPr/>
          <p:nvPr/>
        </p:nvSpPr>
        <p:spPr>
          <a:xfrm>
            <a:off x="8284464" y="5029200"/>
            <a:ext cx="3431743"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Risk Agility and Actuary fell back after Q1</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2F8CFF"/>
                </a:solidFill>
                <a:latin typeface="Calibri" pitchFamily="34" charset="0"/>
                <a:ea typeface="Calibri" pitchFamily="34" charset="-122"/>
                <a:cs typeface="Calibri" pitchFamily="34" charset="-120"/>
              </a:rPr>
              <a:t>AZURE / SERVICES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Consumption by service name</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Same total, cut by service. Charges exclude Marketplace purchases.</a:t>
            </a:r>
            <a:endParaRPr lang="en-US" sz="1200" dirty="0"/>
          </a:p>
        </p:txBody>
      </p:sp>
      <p:sp>
        <p:nvSpPr>
          <p:cNvPr id="7" name="Text 5"/>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Monthly spend by service</a:t>
            </a:r>
            <a:endParaRPr lang="en-US" sz="1500" dirty="0"/>
          </a:p>
        </p:txBody>
      </p:sp>
      <p:graphicFrame>
        <p:nvGraphicFramePr>
          <p:cNvPr id="8"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0" name="Text 7"/>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1" name="Text 8"/>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$1.12M</a:t>
            </a:r>
            <a:endParaRPr lang="en-US" sz="2800" dirty="0"/>
          </a:p>
        </p:txBody>
      </p:sp>
      <p:sp>
        <p:nvSpPr>
          <p:cNvPr id="12" name="Text 9"/>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2F8CFF"/>
                </a:solidFill>
                <a:latin typeface="Calibri" pitchFamily="34" charset="0"/>
                <a:ea typeface="Calibri" pitchFamily="34" charset="-122"/>
                <a:cs typeface="Calibri" pitchFamily="34" charset="-120"/>
              </a:rPr>
              <a:t>+19% Jan to Jul</a:t>
            </a:r>
            <a:endParaRPr lang="en-US" sz="1200" dirty="0"/>
          </a:p>
        </p:txBody>
      </p:sp>
      <p:sp>
        <p:nvSpPr>
          <p:cNvPr id="13" name="Shape 10"/>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4" name="Text 11"/>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5" name="Text 12"/>
          <p:cNvSpPr/>
          <p:nvPr/>
        </p:nvSpPr>
        <p:spPr>
          <a:xfrm>
            <a:off x="8293608" y="2752344"/>
            <a:ext cx="3239719" cy="438912"/>
          </a:xfrm>
          <a:prstGeom prst="rect">
            <a:avLst/>
          </a:prstGeom>
          <a:noFill/>
          <a:ln/>
        </p:spPr>
        <p:txBody>
          <a:bodyPr wrap="square" lIns="0" tIns="0" rIns="0" bIns="0" rtlCol="0" anchor="ctr"/>
          <a:lstStyle/>
          <a:p>
            <a:pPr indent="0" marL="0">
              <a:buNone/>
            </a:pPr>
            <a:r>
              <a:rPr lang="en-US" sz="2613" b="1" dirty="0">
                <a:solidFill>
                  <a:srgbClr val="F4F7FB"/>
                </a:solidFill>
                <a:latin typeface="Calibri" pitchFamily="34" charset="0"/>
                <a:ea typeface="Calibri" pitchFamily="34" charset="-122"/>
                <a:cs typeface="Calibri" pitchFamily="34" charset="-120"/>
              </a:rPr>
              <a:t>Virtual Machines</a:t>
            </a:r>
            <a:endParaRPr lang="en-US" sz="2613" dirty="0"/>
          </a:p>
        </p:txBody>
      </p:sp>
      <p:sp>
        <p:nvSpPr>
          <p:cNvPr id="16" name="Text 13"/>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33% of the total</a:t>
            </a:r>
            <a:endParaRPr lang="en-US" sz="1200" dirty="0"/>
          </a:p>
        </p:txBody>
      </p:sp>
      <p:sp>
        <p:nvSpPr>
          <p:cNvPr id="17" name="Text 14"/>
          <p:cNvSpPr/>
          <p:nvPr/>
        </p:nvSpPr>
        <p:spPr>
          <a:xfrm>
            <a:off x="8110728" y="3822192"/>
            <a:ext cx="3605479" cy="219456"/>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WHAT MOVED</a:t>
            </a:r>
            <a:endParaRPr lang="en-US" sz="1200" dirty="0"/>
          </a:p>
        </p:txBody>
      </p:sp>
      <p:sp>
        <p:nvSpPr>
          <p:cNvPr id="18" name="Shape 15"/>
          <p:cNvSpPr/>
          <p:nvPr/>
        </p:nvSpPr>
        <p:spPr>
          <a:xfrm>
            <a:off x="8110728" y="4197096"/>
            <a:ext cx="64008" cy="64008"/>
          </a:xfrm>
          <a:prstGeom prst="rect">
            <a:avLst/>
          </a:prstGeom>
          <a:solidFill>
            <a:srgbClr val="2F8CFF"/>
          </a:solidFill>
          <a:ln w="12700">
            <a:solidFill>
              <a:srgbClr val="2F8CFF"/>
            </a:solidFill>
            <a:prstDash val="solid"/>
          </a:ln>
        </p:spPr>
      </p:sp>
      <p:sp>
        <p:nvSpPr>
          <p:cNvPr id="19" name="Text 16"/>
          <p:cNvSpPr/>
          <p:nvPr/>
        </p:nvSpPr>
        <p:spPr>
          <a:xfrm>
            <a:off x="8284464" y="4114800"/>
            <a:ext cx="3431743"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GitHub and Cowork drive most of the July step-up</a:t>
            </a:r>
            <a:endParaRPr lang="en-US" sz="1250" dirty="0"/>
          </a:p>
        </p:txBody>
      </p:sp>
      <p:sp>
        <p:nvSpPr>
          <p:cNvPr id="20" name="Shape 17"/>
          <p:cNvSpPr/>
          <p:nvPr/>
        </p:nvSpPr>
        <p:spPr>
          <a:xfrm>
            <a:off x="8110728" y="4764024"/>
            <a:ext cx="64008" cy="64008"/>
          </a:xfrm>
          <a:prstGeom prst="rect">
            <a:avLst/>
          </a:prstGeom>
          <a:solidFill>
            <a:srgbClr val="2F8CFF"/>
          </a:solidFill>
          <a:ln w="12700">
            <a:solidFill>
              <a:srgbClr val="2F8CFF"/>
            </a:solidFill>
            <a:prstDash val="solid"/>
          </a:ln>
        </p:spPr>
      </p:sp>
      <p:sp>
        <p:nvSpPr>
          <p:cNvPr id="21" name="Text 18"/>
          <p:cNvSpPr/>
          <p:nvPr/>
        </p:nvSpPr>
        <p:spPr>
          <a:xfrm>
            <a:off x="8284464" y="4681728"/>
            <a:ext cx="3431743"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Foundry Models and Foundry Tools rise every month from April</a:t>
            </a:r>
            <a:endParaRPr lang="en-US" sz="1250" dirty="0"/>
          </a:p>
        </p:txBody>
      </p:sp>
      <p:sp>
        <p:nvSpPr>
          <p:cNvPr id="22" name="Shape 19"/>
          <p:cNvSpPr/>
          <p:nvPr/>
        </p:nvSpPr>
        <p:spPr>
          <a:xfrm>
            <a:off x="8110728" y="5330952"/>
            <a:ext cx="64008" cy="64008"/>
          </a:xfrm>
          <a:prstGeom prst="rect">
            <a:avLst/>
          </a:prstGeom>
          <a:solidFill>
            <a:srgbClr val="2F8CFF"/>
          </a:solidFill>
          <a:ln w="12700">
            <a:solidFill>
              <a:srgbClr val="2F8CFF"/>
            </a:solidFill>
            <a:prstDash val="solid"/>
          </a:ln>
        </p:spPr>
      </p:sp>
      <p:sp>
        <p:nvSpPr>
          <p:cNvPr id="23" name="Text 20"/>
          <p:cNvSpPr/>
          <p:nvPr/>
        </p:nvSpPr>
        <p:spPr>
          <a:xfrm>
            <a:off x="8284464" y="5248656"/>
            <a:ext cx="3431743"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Virtual Network, Log Analytics and Sentinel add to the base</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2F8CFF"/>
                </a:solidFill>
                <a:latin typeface="Calibri" pitchFamily="34" charset="0"/>
                <a:ea typeface="Calibri" pitchFamily="34" charset="-122"/>
                <a:cs typeface="Calibri" pitchFamily="34" charset="-120"/>
              </a:rPr>
              <a:t>AZURE / DATACLOUD</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Cost centre: DataCloud</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The largest Azure cost centre, by service and by subscription.</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Databricks drops to zero from May. That is the reserved capacity purchase taking over, not a workload stopping. Foundry Models and Foundry Tools take its place as the growth line.</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sp>
      <p:sp>
        <p:nvSpPr>
          <p:cNvPr id="9" name="Text 7"/>
          <p:cNvSpPr/>
          <p:nvPr/>
        </p:nvSpPr>
        <p:spPr>
          <a:xfrm>
            <a:off x="658368"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$339K</a:t>
            </a:r>
            <a:endParaRPr lang="en-US" sz="2800" dirty="0"/>
          </a:p>
        </p:txBody>
      </p:sp>
      <p:sp>
        <p:nvSpPr>
          <p:cNvPr id="11" name="Text 9"/>
          <p:cNvSpPr/>
          <p:nvPr/>
        </p:nvSpPr>
        <p:spPr>
          <a:xfrm>
            <a:off x="658368"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2F8CFF"/>
                </a:solidFill>
                <a:latin typeface="Calibri" pitchFamily="34" charset="0"/>
                <a:ea typeface="Calibri" pitchFamily="34" charset="-122"/>
                <a:cs typeface="Calibri" pitchFamily="34" charset="-120"/>
              </a:rPr>
              <a:t>+3% Jan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sp>
      <p:sp>
        <p:nvSpPr>
          <p:cNvPr id="13" name="Text 11"/>
          <p:cNvSpPr/>
          <p:nvPr/>
        </p:nvSpPr>
        <p:spPr>
          <a:xfrm>
            <a:off x="4493666"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SUBSCRIPTION</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DataCloud prod</a:t>
            </a:r>
            <a:endParaRPr lang="en-US" sz="2800" dirty="0"/>
          </a:p>
        </p:txBody>
      </p:sp>
      <p:sp>
        <p:nvSpPr>
          <p:cNvPr id="15" name="Text 13"/>
          <p:cNvSpPr/>
          <p:nvPr/>
        </p:nvSpPr>
        <p:spPr>
          <a:xfrm>
            <a:off x="4493666"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80% of the total</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sp>
      <p:sp>
        <p:nvSpPr>
          <p:cNvPr id="17" name="Text 15"/>
          <p:cNvSpPr/>
          <p:nvPr/>
        </p:nvSpPr>
        <p:spPr>
          <a:xfrm>
            <a:off x="8328965"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indent="0" marL="0">
              <a:buNone/>
            </a:pPr>
            <a:r>
              <a:rPr lang="en-US" sz="2584" b="1" dirty="0">
                <a:solidFill>
                  <a:srgbClr val="F4F7FB"/>
                </a:solidFill>
                <a:latin typeface="Calibri" pitchFamily="34" charset="0"/>
                <a:ea typeface="Calibri" pitchFamily="34" charset="-122"/>
                <a:cs typeface="Calibri" pitchFamily="34" charset="-120"/>
              </a:rPr>
              <a:t>Virtual Machines</a:t>
            </a:r>
            <a:endParaRPr lang="en-US" sz="2584" dirty="0"/>
          </a:p>
        </p:txBody>
      </p:sp>
      <p:sp>
        <p:nvSpPr>
          <p:cNvPr id="19" name="Text 17"/>
          <p:cNvSpPr/>
          <p:nvPr/>
        </p:nvSpPr>
        <p:spPr>
          <a:xfrm>
            <a:off x="8328965"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20% of the total</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By service</a:t>
            </a:r>
            <a:endParaRPr lang="en-US" sz="1500" dirty="0"/>
          </a:p>
        </p:txBody>
      </p:sp>
      <p:graphicFrame>
        <p:nvGraphicFramePr>
          <p:cNvPr id="21" name="Chart 0" descr=""/>
          <p:cNvGraphicFramePr/>
          <p:nvPr/>
        </p:nvGraphicFramePr>
        <p:xfrm>
          <a:off x="411480" y="2697480"/>
          <a:ext cx="5478628" cy="333756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By subscription</a:t>
            </a:r>
            <a:endParaRPr lang="en-US" sz="1500" dirty="0"/>
          </a:p>
        </p:txBody>
      </p:sp>
      <p:graphicFrame>
        <p:nvGraphicFramePr>
          <p:cNvPr id="23" name="Chart 1" descr=""/>
          <p:cNvGraphicFramePr/>
          <p:nvPr/>
        </p:nvGraphicFramePr>
        <p:xfrm>
          <a:off x="6210148" y="2697480"/>
          <a:ext cx="5478628" cy="333756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2F8CFF"/>
                </a:solidFill>
                <a:latin typeface="Calibri" pitchFamily="34" charset="0"/>
                <a:ea typeface="Calibri" pitchFamily="34" charset="-122"/>
                <a:cs typeface="Calibri" pitchFamily="34" charset="-120"/>
              </a:rPr>
              <a:t>AZURE / SAP</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Cost centre: SAP</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The most stable large workload in the estate, and the best candidate for reservations.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Dev/Test costs more than Production every month of the period. Virtual machines are roughly three quarters of the bill and barely vary, a flat and reservable profile.</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sp>
      <p:sp>
        <p:nvSpPr>
          <p:cNvPr id="9" name="Text 7"/>
          <p:cNvSpPr/>
          <p:nvPr/>
        </p:nvSpPr>
        <p:spPr>
          <a:xfrm>
            <a:off x="658368"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$294K</a:t>
            </a:r>
            <a:endParaRPr lang="en-US" sz="2800" dirty="0"/>
          </a:p>
        </p:txBody>
      </p:sp>
      <p:sp>
        <p:nvSpPr>
          <p:cNvPr id="11" name="Text 9"/>
          <p:cNvSpPr/>
          <p:nvPr/>
        </p:nvSpPr>
        <p:spPr>
          <a:xfrm>
            <a:off x="658368"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2F8CFF"/>
                </a:solidFill>
                <a:latin typeface="Calibri" pitchFamily="34" charset="0"/>
                <a:ea typeface="Calibri" pitchFamily="34" charset="-122"/>
                <a:cs typeface="Calibri" pitchFamily="34" charset="-120"/>
              </a:rPr>
              <a:t>-3% Jan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sp>
      <p:sp>
        <p:nvSpPr>
          <p:cNvPr id="13" name="Text 11"/>
          <p:cNvSpPr/>
          <p:nvPr/>
        </p:nvSpPr>
        <p:spPr>
          <a:xfrm>
            <a:off x="4493666"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SUBSCRIPTION</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SAP Dev/Test</a:t>
            </a:r>
            <a:endParaRPr lang="en-US" sz="2800" dirty="0"/>
          </a:p>
        </p:txBody>
      </p:sp>
      <p:sp>
        <p:nvSpPr>
          <p:cNvPr id="15" name="Text 13"/>
          <p:cNvSpPr/>
          <p:nvPr/>
        </p:nvSpPr>
        <p:spPr>
          <a:xfrm>
            <a:off x="4493666"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57% of the total</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sp>
      <p:sp>
        <p:nvSpPr>
          <p:cNvPr id="17" name="Text 15"/>
          <p:cNvSpPr/>
          <p:nvPr/>
        </p:nvSpPr>
        <p:spPr>
          <a:xfrm>
            <a:off x="8328965"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indent="0" marL="0">
              <a:buNone/>
            </a:pPr>
            <a:r>
              <a:rPr lang="en-US" sz="2584" b="1" dirty="0">
                <a:solidFill>
                  <a:srgbClr val="F4F7FB"/>
                </a:solidFill>
                <a:latin typeface="Calibri" pitchFamily="34" charset="0"/>
                <a:ea typeface="Calibri" pitchFamily="34" charset="-122"/>
                <a:cs typeface="Calibri" pitchFamily="34" charset="-120"/>
              </a:rPr>
              <a:t>Virtual Machines</a:t>
            </a:r>
            <a:endParaRPr lang="en-US" sz="2584" dirty="0"/>
          </a:p>
        </p:txBody>
      </p:sp>
      <p:sp>
        <p:nvSpPr>
          <p:cNvPr id="19" name="Text 17"/>
          <p:cNvSpPr/>
          <p:nvPr/>
        </p:nvSpPr>
        <p:spPr>
          <a:xfrm>
            <a:off x="8328965"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74% of the total</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By service</a:t>
            </a:r>
            <a:endParaRPr lang="en-US" sz="1500" dirty="0"/>
          </a:p>
        </p:txBody>
      </p:sp>
      <p:graphicFrame>
        <p:nvGraphicFramePr>
          <p:cNvPr id="21" name="Chart 0" descr=""/>
          <p:cNvGraphicFramePr/>
          <p:nvPr/>
        </p:nvGraphicFramePr>
        <p:xfrm>
          <a:off x="411480" y="2697480"/>
          <a:ext cx="5478628" cy="333756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By subscription</a:t>
            </a:r>
            <a:endParaRPr lang="en-US" sz="1500" dirty="0"/>
          </a:p>
        </p:txBody>
      </p:sp>
      <p:graphicFrame>
        <p:nvGraphicFramePr>
          <p:cNvPr id="23" name="Chart 1" descr=""/>
          <p:cNvGraphicFramePr/>
          <p:nvPr/>
        </p:nvGraphicFramePr>
        <p:xfrm>
          <a:off x="6210148" y="2697480"/>
          <a:ext cx="5478628" cy="333756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2F8CFF"/>
                </a:solidFill>
                <a:latin typeface="Calibri" pitchFamily="34" charset="0"/>
                <a:ea typeface="Calibri" pitchFamily="34" charset="-122"/>
                <a:cs typeface="Calibri" pitchFamily="34" charset="-120"/>
              </a:rPr>
              <a:t>AZURE / CLOUD IT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Cost centre: Cloud IT</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Shared platform services: network, monitoring and security for everyone else.</a:t>
            </a:r>
            <a:endParaRPr lang="en-US" sz="1200" dirty="0"/>
          </a:p>
        </p:txBody>
      </p:sp>
      <p:sp>
        <p:nvSpPr>
          <p:cNvPr id="7" name="Text 5"/>
          <p:cNvSpPr/>
          <p:nvPr/>
        </p:nvSpPr>
        <p:spPr>
          <a:xfrm>
            <a:off x="457200" y="6355080"/>
            <a:ext cx="11277295" cy="228600"/>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Log Analytics and Sentinel drive the March spike; virtual network and storage carry the underlying growth.</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sp>
      <p:sp>
        <p:nvSpPr>
          <p:cNvPr id="9" name="Text 7"/>
          <p:cNvSpPr/>
          <p:nvPr/>
        </p:nvSpPr>
        <p:spPr>
          <a:xfrm>
            <a:off x="658368"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$216K</a:t>
            </a:r>
            <a:endParaRPr lang="en-US" sz="2800" dirty="0"/>
          </a:p>
        </p:txBody>
      </p:sp>
      <p:sp>
        <p:nvSpPr>
          <p:cNvPr id="11" name="Text 9"/>
          <p:cNvSpPr/>
          <p:nvPr/>
        </p:nvSpPr>
        <p:spPr>
          <a:xfrm>
            <a:off x="658368"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2F8CFF"/>
                </a:solidFill>
                <a:latin typeface="Calibri" pitchFamily="34" charset="0"/>
                <a:ea typeface="Calibri" pitchFamily="34" charset="-122"/>
                <a:cs typeface="Calibri" pitchFamily="34" charset="-120"/>
              </a:rPr>
              <a:t>+8% Jan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sp>
      <p:sp>
        <p:nvSpPr>
          <p:cNvPr id="13" name="Text 11"/>
          <p:cNvSpPr/>
          <p:nvPr/>
        </p:nvSpPr>
        <p:spPr>
          <a:xfrm>
            <a:off x="4493666"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SUBSCRIPTION</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indent="0" marL="0">
              <a:buNone/>
            </a:pPr>
            <a:r>
              <a:rPr lang="en-US" sz="2584" b="1" dirty="0">
                <a:solidFill>
                  <a:srgbClr val="F4F7FB"/>
                </a:solidFill>
                <a:latin typeface="Calibri" pitchFamily="34" charset="0"/>
                <a:ea typeface="Calibri" pitchFamily="34" charset="-122"/>
                <a:cs typeface="Calibri" pitchFamily="34" charset="-120"/>
              </a:rPr>
              <a:t>Shared Resources</a:t>
            </a:r>
            <a:endParaRPr lang="en-US" sz="2584" dirty="0"/>
          </a:p>
        </p:txBody>
      </p:sp>
      <p:sp>
        <p:nvSpPr>
          <p:cNvPr id="15" name="Text 13"/>
          <p:cNvSpPr/>
          <p:nvPr/>
        </p:nvSpPr>
        <p:spPr>
          <a:xfrm>
            <a:off x="4493666"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48% of the total</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sp>
      <p:sp>
        <p:nvSpPr>
          <p:cNvPr id="17" name="Text 15"/>
          <p:cNvSpPr/>
          <p:nvPr/>
        </p:nvSpPr>
        <p:spPr>
          <a:xfrm>
            <a:off x="8328965"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indent="0" marL="0">
              <a:buNone/>
            </a:pPr>
            <a:r>
              <a:rPr lang="en-US" sz="2757" b="1" dirty="0">
                <a:solidFill>
                  <a:srgbClr val="F4F7FB"/>
                </a:solidFill>
                <a:latin typeface="Calibri" pitchFamily="34" charset="0"/>
                <a:ea typeface="Calibri" pitchFamily="34" charset="-122"/>
                <a:cs typeface="Calibri" pitchFamily="34" charset="-120"/>
              </a:rPr>
              <a:t>Virtual Network</a:t>
            </a:r>
            <a:endParaRPr lang="en-US" sz="2757" dirty="0"/>
          </a:p>
        </p:txBody>
      </p:sp>
      <p:sp>
        <p:nvSpPr>
          <p:cNvPr id="19" name="Text 17"/>
          <p:cNvSpPr/>
          <p:nvPr/>
        </p:nvSpPr>
        <p:spPr>
          <a:xfrm>
            <a:off x="8328965"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24% of the total</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By service</a:t>
            </a:r>
            <a:endParaRPr lang="en-US" sz="1500" dirty="0"/>
          </a:p>
        </p:txBody>
      </p:sp>
      <p:graphicFrame>
        <p:nvGraphicFramePr>
          <p:cNvPr id="21" name="Chart 0" descr=""/>
          <p:cNvGraphicFramePr/>
          <p:nvPr/>
        </p:nvGraphicFramePr>
        <p:xfrm>
          <a:off x="411480" y="2697480"/>
          <a:ext cx="5478628" cy="333756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By subscription</a:t>
            </a:r>
            <a:endParaRPr lang="en-US" sz="1500" dirty="0"/>
          </a:p>
        </p:txBody>
      </p:sp>
      <p:graphicFrame>
        <p:nvGraphicFramePr>
          <p:cNvPr id="23" name="Chart 1" descr=""/>
          <p:cNvGraphicFramePr/>
          <p:nvPr/>
        </p:nvGraphicFramePr>
        <p:xfrm>
          <a:off x="6210148" y="2697480"/>
          <a:ext cx="5478628" cy="333756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AI FACTORY / PROJECTS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Consumption by project</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Four projects make up the AI Factory programme. AIFactory itself is more than half of it.</a:t>
            </a:r>
            <a:endParaRPr lang="en-US" sz="1200" dirty="0"/>
          </a:p>
        </p:txBody>
      </p:sp>
      <p:sp>
        <p:nvSpPr>
          <p:cNvPr id="7" name="Text 5"/>
          <p:cNvSpPr/>
          <p:nvPr/>
        </p:nvSpPr>
        <p:spPr>
          <a:xfrm>
            <a:off x="457200" y="6355080"/>
            <a:ext cx="11277295" cy="228600"/>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Spend roughly quadruples between January and July. June and July are flat against each other, the first month the programme has not grown.</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Monthly spend by project</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$166K</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+489% Jan to Jul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PROJECT</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Aifactory</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56% of the total</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AI FACTORY / CORE PROJECT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AI Factory project</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The tag covers far more than models. API Management and VMs are the two largest lines.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Most of what is tagged AI Factory is infrastructure rather than inference. That is not automatically wrong, since models need somewhere to run, but it is the part right-sizing can move.</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sp>
      <p:sp>
        <p:nvSpPr>
          <p:cNvPr id="9" name="Text 7"/>
          <p:cNvSpPr/>
          <p:nvPr/>
        </p:nvSpPr>
        <p:spPr>
          <a:xfrm>
            <a:off x="658368"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$92K</a:t>
            </a:r>
            <a:endParaRPr lang="en-US" sz="2800" dirty="0"/>
          </a:p>
        </p:txBody>
      </p:sp>
      <p:sp>
        <p:nvSpPr>
          <p:cNvPr id="11" name="Text 9"/>
          <p:cNvSpPr/>
          <p:nvPr/>
        </p:nvSpPr>
        <p:spPr>
          <a:xfrm>
            <a:off x="658368"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+2664% Jan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sp>
      <p:sp>
        <p:nvSpPr>
          <p:cNvPr id="13" name="Text 11"/>
          <p:cNvSpPr/>
          <p:nvPr/>
        </p:nvSpPr>
        <p:spPr>
          <a:xfrm>
            <a:off x="4493666"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API Management</a:t>
            </a:r>
            <a:endParaRPr lang="en-US" sz="2800" dirty="0"/>
          </a:p>
        </p:txBody>
      </p:sp>
      <p:sp>
        <p:nvSpPr>
          <p:cNvPr id="15" name="Text 13"/>
          <p:cNvSpPr/>
          <p:nvPr/>
        </p:nvSpPr>
        <p:spPr>
          <a:xfrm>
            <a:off x="4493666"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26% of the total</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sp>
      <p:sp>
        <p:nvSpPr>
          <p:cNvPr id="17" name="Text 15"/>
          <p:cNvSpPr/>
          <p:nvPr/>
        </p:nvSpPr>
        <p:spPr>
          <a:xfrm>
            <a:off x="8328965"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FOUNDRY MODELS</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$24K</a:t>
            </a:r>
            <a:endParaRPr lang="en-US" sz="2800" dirty="0"/>
          </a:p>
        </p:txBody>
      </p:sp>
      <p:sp>
        <p:nvSpPr>
          <p:cNvPr id="19" name="Text 17"/>
          <p:cNvSpPr/>
          <p:nvPr/>
        </p:nvSpPr>
        <p:spPr>
          <a:xfrm>
            <a:off x="8328965"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the actual model spend</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By service</a:t>
            </a:r>
            <a:endParaRPr lang="en-US" sz="1500" dirty="0"/>
          </a:p>
        </p:txBody>
      </p:sp>
      <p:graphicFrame>
        <p:nvGraphicFramePr>
          <p:cNvPr id="21" name="Chart 0" descr=""/>
          <p:cNvGraphicFramePr/>
          <p:nvPr/>
        </p:nvGraphicFramePr>
        <p:xfrm>
          <a:off x="411480" y="2697480"/>
          <a:ext cx="5478628" cy="333756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By subscription</a:t>
            </a:r>
            <a:endParaRPr lang="en-US" sz="1500" dirty="0"/>
          </a:p>
        </p:txBody>
      </p:sp>
      <p:graphicFrame>
        <p:nvGraphicFramePr>
          <p:cNvPr id="23" name="Chart 1" descr=""/>
          <p:cNvGraphicFramePr/>
          <p:nvPr/>
        </p:nvGraphicFramePr>
        <p:xfrm>
          <a:off x="6210148" y="2697480"/>
          <a:ext cx="5478628" cy="333756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AI FACTORY / MODELS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Foundry models and tools</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Consumption by model and meter. This is the closest view of what the models themselves cost.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GPT-5.4 input and output become the dominant meters from June. Document intelligence page meters (S0 Custom / Pre-built / Add-on) are the steady base underneath them.</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Monthly spend by model and meter</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$87K</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+240% Jan to Jul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METER</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787" b="1" dirty="0">
                <a:solidFill>
                  <a:srgbClr val="F4F7FB"/>
                </a:solidFill>
                <a:latin typeface="Calibri" pitchFamily="34" charset="0"/>
                <a:ea typeface="Calibri" pitchFamily="34" charset="-122"/>
                <a:cs typeface="Calibri" pitchFamily="34" charset="-120"/>
              </a:rPr>
              <a:t>S0 Custom Pages</a:t>
            </a:r>
            <a:endParaRPr lang="en-US" sz="2787"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22% of the total</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9F43"/>
                </a:solidFill>
                <a:latin typeface="Calibri" pitchFamily="34" charset="0"/>
                <a:ea typeface="Calibri" pitchFamily="34" charset="-122"/>
                <a:cs typeface="Calibri" pitchFamily="34" charset="-120"/>
              </a:rPr>
              <a:t>AWS / BEDROCK</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Consumption by Bedrock service</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Claude models consumed through Bedrock by the engineering teams, billed as Marketplace lines.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Opus-class models are the overwhelming majority of Bedrock spend. Model mix changes month to month, with Opus 5 appearing in July, which is exactly what a model policy is for.</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Monthly spend by model</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MAR-JUL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$42K</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9F43"/>
                </a:solidFill>
                <a:latin typeface="Calibri" pitchFamily="34" charset="0"/>
                <a:ea typeface="Calibri" pitchFamily="34" charset="-122"/>
                <a:cs typeface="Calibri" pitchFamily="34" charset="-120"/>
              </a:rPr>
              <a:t>+2907% Mar to Jul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MODEL</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787" b="1" dirty="0">
                <a:solidFill>
                  <a:srgbClr val="F4F7FB"/>
                </a:solidFill>
                <a:latin typeface="Calibri" pitchFamily="34" charset="0"/>
                <a:ea typeface="Calibri" pitchFamily="34" charset="-122"/>
                <a:cs typeface="Calibri" pitchFamily="34" charset="-120"/>
              </a:rPr>
              <a:t>Claude Opus 4.6</a:t>
            </a:r>
            <a:endParaRPr lang="en-US" sz="2787"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42% of the total</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AZURE / DEVELOPER AI</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GitHub and Copilot</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Developer-facing AI, billed through the Shared Resources subscription.</a:t>
            </a:r>
            <a:endParaRPr lang="en-US" sz="1200" dirty="0"/>
          </a:p>
        </p:txBody>
      </p:sp>
      <p:sp>
        <p:nvSpPr>
          <p:cNvPr id="7" name="Text 5"/>
          <p:cNvSpPr/>
          <p:nvPr/>
        </p:nvSpPr>
        <p:spPr>
          <a:xfrm>
            <a:off x="457200" y="6355080"/>
            <a:ext cx="11277295" cy="228600"/>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GitHub triples between May and July. Cowork credits appear for the first time in July at $8,919, no credit applied, billed in full.</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sp>
      <p:sp>
        <p:nvSpPr>
          <p:cNvPr id="9" name="Text 7"/>
          <p:cNvSpPr/>
          <p:nvPr/>
        </p:nvSpPr>
        <p:spPr>
          <a:xfrm>
            <a:off x="658368"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GITHUB, MAY-JUL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$42K</a:t>
            </a:r>
            <a:endParaRPr lang="en-US" sz="2800" dirty="0"/>
          </a:p>
        </p:txBody>
      </p:sp>
      <p:sp>
        <p:nvSpPr>
          <p:cNvPr id="11" name="Text 9"/>
          <p:cNvSpPr/>
          <p:nvPr/>
        </p:nvSpPr>
        <p:spPr>
          <a:xfrm>
            <a:off x="658368"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+198% May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sp>
      <p:sp>
        <p:nvSpPr>
          <p:cNvPr id="13" name="Text 11"/>
          <p:cNvSpPr/>
          <p:nvPr/>
        </p:nvSpPr>
        <p:spPr>
          <a:xfrm>
            <a:off x="4493666"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COWORK, JULY</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$8,919</a:t>
            </a:r>
            <a:endParaRPr lang="en-US" sz="2800" dirty="0"/>
          </a:p>
        </p:txBody>
      </p:sp>
      <p:sp>
        <p:nvSpPr>
          <p:cNvPr id="15" name="Text 13"/>
          <p:cNvSpPr/>
          <p:nvPr/>
        </p:nvSpPr>
        <p:spPr>
          <a:xfrm>
            <a:off x="4493666"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first full month billed</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sp>
      <p:sp>
        <p:nvSpPr>
          <p:cNvPr id="17" name="Text 15"/>
          <p:cNvSpPr/>
          <p:nvPr/>
        </p:nvSpPr>
        <p:spPr>
          <a:xfrm>
            <a:off x="8328965" y="128016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COMBINED</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$51K</a:t>
            </a:r>
            <a:endParaRPr lang="en-US" sz="2800" dirty="0"/>
          </a:p>
        </p:txBody>
      </p:sp>
      <p:sp>
        <p:nvSpPr>
          <p:cNvPr id="19" name="Text 17"/>
          <p:cNvSpPr/>
          <p:nvPr/>
        </p:nvSpPr>
        <p:spPr>
          <a:xfrm>
            <a:off x="8328965" y="188366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developer AI, three months</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GitHub, by subscription</a:t>
            </a:r>
            <a:endParaRPr lang="en-US" sz="1500" dirty="0"/>
          </a:p>
        </p:txBody>
      </p:sp>
      <p:graphicFrame>
        <p:nvGraphicFramePr>
          <p:cNvPr id="21" name="Chart 0" descr=""/>
          <p:cNvGraphicFramePr/>
          <p:nvPr/>
        </p:nvGraphicFramePr>
        <p:xfrm>
          <a:off x="411480" y="2697480"/>
          <a:ext cx="5478628" cy="333756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Cowork, by subscription</a:t>
            </a:r>
            <a:endParaRPr lang="en-US" sz="1500" dirty="0"/>
          </a:p>
        </p:txBody>
      </p:sp>
      <p:graphicFrame>
        <p:nvGraphicFramePr>
          <p:cNvPr id="23" name="Chart 1" descr=""/>
          <p:cNvGraphicFramePr/>
          <p:nvPr/>
        </p:nvGraphicFramePr>
        <p:xfrm>
          <a:off x="6210148" y="2697480"/>
          <a:ext cx="5478628" cy="333756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0" y="2514600"/>
            <a:ext cx="12191695" cy="1828800"/>
          </a:xfrm>
          <a:prstGeom prst="rect">
            <a:avLst/>
          </a:prstGeom>
          <a:noFill/>
          <a:ln/>
        </p:spPr>
        <p:txBody>
          <a:bodyPr wrap="square" lIns="0" tIns="0" rIns="0" bIns="0" rtlCol="0" anchor="ctr"/>
          <a:lstStyle/>
          <a:p>
            <a:pPr algn="ctr" indent="0" marL="0">
              <a:buNone/>
            </a:pPr>
            <a:r>
              <a:rPr lang="en-US" sz="11000" b="1" dirty="0">
                <a:solidFill>
                  <a:srgbClr val="3DD9EB"/>
                </a:solidFill>
                <a:latin typeface="Calibri" pitchFamily="34" charset="0"/>
                <a:ea typeface="Calibri" pitchFamily="34" charset="-122"/>
                <a:cs typeface="Calibri" pitchFamily="34" charset="-120"/>
              </a:rPr>
              <a:t>Thank you</a:t>
            </a:r>
            <a:endParaRPr lang="en-US" sz="1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Harel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Harel Cloud Cost — CIO briefing, v34</dc:title>
  <dc:subject>PptxGenJS Presentation</dc:subject>
  <dc:creator>Cloud Infrastructure, DevOps &amp; Databases</dc:creator>
  <cp:lastModifiedBy>Cloud Infrastructure, DevOps &amp; Databases</cp:lastModifiedBy>
  <cp:revision>1</cp:revision>
  <dcterms:created xsi:type="dcterms:W3CDTF">2026-09-22T16:58:58Z</dcterms:created>
  <dcterms:modified xsi:type="dcterms:W3CDTF">2026-09-22T16:58:58Z</dcterms:modified>
</cp:coreProperties>
</file>