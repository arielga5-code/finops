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8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0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4F7FB"/>
            </a:solidFill>
            <a:ln w="31750" cap="flat">
              <a:solidFill>
                <a:srgbClr val="F4F7F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4F7FB"/>
              </a:solidFill>
              <a:ln w="9525" cap="flat">
                <a:solidFill>
                  <a:srgbClr val="F4F7F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229908</c:v>
                </c:pt>
                <c:pt idx="1">
                  <c:v>257413</c:v>
                </c:pt>
                <c:pt idx="2">
                  <c:v>283322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— May–Jul rates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314660</c:v>
                </c:pt>
                <c:pt idx="4">
                  <c:v>349617</c:v>
                </c:pt>
                <c:pt idx="5">
                  <c:v>388652</c:v>
                </c:pt>
                <c:pt idx="6">
                  <c:v>432284</c:v>
                </c:pt>
                <c:pt idx="7">
                  <c:v>481097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— Jan–Jul rates</c:v>
                </c:pt>
              </c:strCache>
            </c:strRef>
          </c:tx>
          <c:spPr>
            <a:solidFill>
              <a:srgbClr val="E0A030"/>
            </a:solidFill>
            <a:ln w="31750" cap="flat">
              <a:solidFill>
                <a:srgbClr val="E0A0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A030"/>
              </a:solidFill>
              <a:ln w="9525" cap="flat">
                <a:solidFill>
                  <a:srgbClr val="E0A0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292400</c:v>
                </c:pt>
                <c:pt idx="4">
                  <c:v>301800</c:v>
                </c:pt>
                <c:pt idx="5">
                  <c:v>311500</c:v>
                </c:pt>
                <c:pt idx="6">
                  <c:v>321500</c:v>
                </c:pt>
                <c:pt idx="7">
                  <c:v>333900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145254</c:v>
                </c:pt>
                <c:pt idx="1">
                  <c:v>168421</c:v>
                </c:pt>
                <c:pt idx="2">
                  <c:v>186541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156990</c:v>
                </c:pt>
                <c:pt idx="1">
                  <c:v>135742</c:v>
                </c:pt>
                <c:pt idx="2">
                  <c:v>165199</c:v>
                </c:pt>
                <c:pt idx="3">
                  <c:v>152577</c:v>
                </c:pt>
                <c:pt idx="4">
                  <c:v>152263</c:v>
                </c:pt>
                <c:pt idx="5">
                  <c:v>167406</c:v>
                </c:pt>
                <c:pt idx="6">
                  <c:v>186917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77126</c:v>
                </c:pt>
                <c:pt idx="1">
                  <c:v>82582</c:v>
                </c:pt>
                <c:pt idx="2">
                  <c:v>95860</c:v>
                </c:pt>
                <c:pt idx="3">
                  <c:v>81929</c:v>
                </c:pt>
                <c:pt idx="4">
                  <c:v>83062</c:v>
                </c:pt>
                <c:pt idx="5">
                  <c:v>86581</c:v>
                </c:pt>
                <c:pt idx="6">
                  <c:v>92930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GCP</c:v>
                </c:pt>
              </c:strCache>
            </c:strRef>
          </c:tx>
          <c:spPr>
            <a:solidFill>
              <a:srgbClr val="3DDC97"/>
            </a:solidFill>
            <a:ln w="31750" cap="flat">
              <a:solidFill>
                <a:srgbClr val="3DDC9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DDC97"/>
              </a:solidFill>
              <a:ln w="9525" cap="flat">
                <a:solidFill>
                  <a:srgbClr val="3DDC9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396</c:v>
                </c:pt>
                <c:pt idx="3">
                  <c:v>440</c:v>
                </c:pt>
                <c:pt idx="4">
                  <c:v>1449</c:v>
                </c:pt>
                <c:pt idx="5">
                  <c:v>2220</c:v>
                </c:pt>
                <c:pt idx="6">
                  <c:v>3707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AI Services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16933</c:v>
                </c:pt>
                <c:pt idx="1">
                  <c:v>25370</c:v>
                </c:pt>
                <c:pt idx="2">
                  <c:v>23301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GitHub Copilot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4760</c:v>
                </c:pt>
                <c:pt idx="1">
                  <c:v>11445</c:v>
                </c:pt>
                <c:pt idx="2">
                  <c:v>13460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Copilot Studio (Cowork)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8920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Vertex AI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366</c:v>
                </c:pt>
                <c:pt idx="1">
                  <c:v>958</c:v>
                </c:pt>
                <c:pt idx="2">
                  <c:v>1069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F5 Distributed Cloud Bot Defense</c:v>
                  </c:pt>
                  <c:pt idx="1">
                    <c:v>Fortinet Cloud Security Platform</c:v>
                  </c:pt>
                  <c:pt idx="2">
                    <c:v>Trellix_Private Offer Only</c:v>
                  </c:pt>
                  <c:pt idx="3">
                    <c:v>All other</c:v>
                  </c:pt>
                  <c:pt idx="4">
                    <c:v>(Private) Cortex</c:v>
                  </c:pt>
                  <c:pt idx="5">
                    <c:v>MongoDB Atlas on AWS - Contract …</c:v>
                  </c:pt>
                  <c:pt idx="6">
                    <c:v>F5 Distributed Cloud Services</c:v>
                  </c:pt>
                  <c:pt idx="7">
                    <c:v>CrowdStrike Falcon Identity Prot…</c:v>
                  </c:pt>
                  <c:pt idx="8">
                    <c:v>TrendAI Enterprise Security Solu…</c:v>
                  </c:pt>
                  <c:pt idx="9">
                    <c:v>Splunk Private Offer Session 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43307.51</c:v>
                </c:pt>
                <c:pt idx="1">
                  <c:v>61998.34</c:v>
                </c:pt>
                <c:pt idx="2">
                  <c:v>70680</c:v>
                </c:pt>
                <c:pt idx="3">
                  <c:v>101662.59</c:v>
                </c:pt>
                <c:pt idx="4">
                  <c:v>142960.14</c:v>
                </c:pt>
                <c:pt idx="5">
                  <c:v>163240.16999999998</c:v>
                </c:pt>
                <c:pt idx="6">
                  <c:v>166293</c:v>
                </c:pt>
                <c:pt idx="7">
                  <c:v>171303</c:v>
                </c:pt>
                <c:pt idx="8">
                  <c:v>257323</c:v>
                </c:pt>
                <c:pt idx="9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spend, the AI shift,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we have taken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May–July 2026 run-rate, against seven months of consumption · CIO briefing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run-rate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annualised, all three clouds. A pace, not a budget.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only — Marketplace purchases are excluded here and reported separately. AWS is shown gross of the $16,100 July credit, which is explained later in this deck.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$3.4M</a:t>
            </a:r>
            <a:endParaRPr lang="en-US" sz="960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run-rate today  ·  July consumption × 12, across Azure, AWS and GCP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4564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$641K in three months  ·  +23.2%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92240" y="155448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3408" y="168249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9340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$186,541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11336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 of the bill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260604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93408" y="273405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1336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bill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365760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378561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9340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$3,850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11336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bill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0690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IN THREE MONTHS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443984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361688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added $41,287 a month — AI and data platforms are two thirds of that increase.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928616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" y="4846320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added $9,868 a month of usage, before Marketplace, which is reported separately.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30952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is a rounding error in absolute terms and the fastest-growing line in percentage terms.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is between $3.4M and $5.8M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honest readings of the same data. Which one lands depends on whether May–July was a trend or a rebound.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$5.8M figure annualises Azure growing 13.3% a month, measured May to July. Over the full seven months Azure has grown 3.0% a month — May was a local low, so the short window reads a rebound as a trend. Aug and Sep will tell us which it is. Planning against the middle case is the defensible position.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to December, on each basis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MAY–JUL REPEATS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$5.78M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+70% on today — the v33 projection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SEVEN-MONTH TREND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$4.01M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 on today — Azure at 3.0%/mo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JULY SIMPLY REPEATS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$3.40M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— no growth at all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money is doing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sits, where it grew, and one number that did not add up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THE ESTATE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9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 climbing, and AI is climbing faster</a:t>
            </a:r>
            <a:endParaRPr lang="en-US" sz="1909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totals from Azure Cost Management, Commvault annual prepayment excluded so the trend reads as run-rate.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growing at more than twice the rate of everything else. That is the shift this briefing is about — not the absolute number, but the mix moving underneath it.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invoiced spend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$500,216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+28.4% over the three months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DATA PLATFORMS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$192,935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+62.5% — twice the pace of the bill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SHARE OF CONSUMPTION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32.1%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26.4% in May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SEVEN MONTHS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estate, over seven months</a:t>
            </a:r>
            <a:endParaRPr lang="en-US" sz="2471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review covers January onwards. It changes how the last three months read.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was already $261K a month. July is $284K. The three-month view starts at April–May, the softest point of the year, which is why it reads so steep. Both are true; only one is a trend.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consumption by cloud, Jan–Jul 2026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$1.71M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$2.9M annualised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TO 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+8.5%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months, barely moved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TO JULY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+19.7%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v33 projects from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PROVIDERS · AI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sits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platforms, three clouds, bought separately. Stacked to total AI spend per month.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is not in the chart because it is not split by month on the Azure enrollment. Its July figure is shown here at the gross $25,288 — see the reconciliation two slides 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spend by month — Azure and GCP platforms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SERVICES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$65,604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 May to 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 May to Jul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— CLAUDE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$25,288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alone, gross of MAP credit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092440" y="4663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93608" y="4773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293608" y="4956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$9,000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93608" y="5376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in July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AI DEEP DIVE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AI bill is not models</a:t>
            </a:r>
            <a:endParaRPr lang="en-US" sz="2545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$152,402 of AI meter spend across tagged projects. Each project's split between models and the infrastructure billed under the same tag.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automatically wrong — inference needs somewhere to run — but it is the part of the AI bill that right-sizing can actually move, and it is the part nobody is looking at.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 by project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totals, with the infrastructure share of each tag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772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188720"/>
                <a:gridCol w="3291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meter spend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driver inside the tag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$43,840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47.3%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$28,358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69.3%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Solugen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$23,855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Models 61.1%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AIFactory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64.8%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55.3%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55.8%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595360" y="1234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96528" y="1344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TOP SIX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796528" y="1527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50%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796528" y="1947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more on infrastructure than on models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595360" y="2377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96528" y="2487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 TAG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796528" y="2670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$63,609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796528" y="3090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64.8% is infrastructure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595360" y="3520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96528" y="3630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796528" y="3813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$17,311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796528" y="4233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 — ahead of Foundry Models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THE $16,100 QUESTION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undocumented credit, identified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v33 flagged a $16,100.27 charge on ai-factory-dev that was reversed and never itemised. Cross-referencing the operational data identifies it exactly.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reversed charge is Claude Opus 4.8 in full plus part of Opus 4.6, on ai-factory-dev — and the operational deck names the reason: a MAP contract credit. v33 concluded it was 'not a discount on Claude consumption'; the line-level match says otherwise. Worth confirming with Comm-IT before it is treated as settled, but it is no longer an open mystery.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AWS USAGE, JULY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8368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usage as metered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3938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5106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APPLIED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85106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85106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contract credit, ai-factory-dev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81018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310677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11845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BY COMM-IT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11845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$76,830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511845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paid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07757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57200" y="283464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$16,100.27 sits — July Bedrock consumption, two sources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45536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03120"/>
                <a:gridCol w="1920240"/>
                <a:gridCol w="1554480"/>
                <a:gridCol w="2770632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model, July 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data (gross)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v33 CIO deck (net)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$9,873.22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$5,134.81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$4,738.41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the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4.7 · Opus 5 · Sonnet 4.6 · Haiku 4.5 · Sonnet 4.5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in both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$25,288.33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$9,188.06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$16,100.27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credit to the cent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57200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$16,100.27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58368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4.8 in full, plus part of Opus 4.6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92498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493666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493666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4493666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88.6% of all July AWS credits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127797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8965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8328965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2600" dirty="0"/>
          </a:p>
        </p:txBody>
      </p:sp>
      <p:sp>
        <p:nvSpPr>
          <p:cNvPr id="34" name="Text 31"/>
          <p:cNvSpPr/>
          <p:nvPr/>
        </p:nvSpPr>
        <p:spPr>
          <a:xfrm>
            <a:off x="8328965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with Comm-IT, then close the v33 item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dwarfs the usage underneath it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year.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Q1; TrendAI and Fortinet in June and gone by July; Cortex replaces them. Treating Marketplace as part of the cloud bill makes the trend unreadable — it belongs on its own line in the budget.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 purchases by product, Jan–Jul total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MARKETPLACE, JAN–JUL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the Databricks prepayment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OF ALL OF IT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~$14K/mo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and the small tools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and entirely AI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 All three statements reconcile to their invoices exactly.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Every dollar of GCP growth this year is AI — which makes it the cleanest illustration of the shift happening more expensively elsewhere.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GCP, JULY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$3,707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total cloud bill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networking and DNS unchanged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E0A030">
              <a:alpha val="8000"/>
            </a:srgbClr>
          </a:solidFill>
          <a:ln w="12700">
            <a:solidFill>
              <a:srgbClr val="E0A03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waiting costs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that are already priced, and already being paid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buys 59% at a discount — AWS buys 93%</a:t>
            </a:r>
            <a:endParaRPr lang="en-US" sz="195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purchased — the single biggest lever on unit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is the obvious first candidate: it is the largest Azure workload, it has not moved more than a few percent in seven months, and it is almost entirely virtual machines — the flattest, most reservable profile in the estate.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at list price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AZURE MATCHED AWS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~$7,600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saving at 93% coverage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~$91,000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compute alone, nothing switched off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 paid in April. 18% of it used.</a:t>
            </a:r>
            <a:endParaRPr lang="en-US" sz="2154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three-year, 600,000 DBU-hour pre-purchase made on 28 April 2026.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58368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P3 pre-purchase, 28 Apr 2026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3674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4842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34842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34842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0148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1316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TO JULY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11316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$88,666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1316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not new cash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86621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87789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UNDERNEATH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287789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$63,501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287789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 — this part still bills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600" dirty="0"/>
          </a:p>
        </p:txBody>
      </p:sp>
      <p:sp>
        <p:nvSpPr>
          <p:cNvPr id="24" name="Text 22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utilisation of the Databricks commitment as at July. Databricks compute bills at $0 because it draws against a balance already paid — so it disappears from every consumption report while the money is already gone.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current pace the commitment finishes its three-year term substantially unused — the choice is to drive utilisation up or to renegotiate.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VMs, networking and storage that Databricks runs on are not covered by the pre-purchase and cost $63,501 across May to July alone.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5120640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" y="5038344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invisible in a consumption-only view, which is exactly why it belongs in a CIO briefing rather than an operations report.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the bill has no owner</a:t>
            </a:r>
            <a:endParaRPr lang="en-US" sz="2471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Project tag on each resource, Azure enrollment.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UNTAGGED, JULY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58368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8.4% in May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92498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93666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AI SPEND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3666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$51,381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3666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$96,843 untagged in total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27797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8965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FIELD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328965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28965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line of the enrollment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July's Azure spend carries no project tag — up from 8.4% in May. Nearly a quarter of the bill cannot be attributed to a team, which means it cannot be charged back, questioned, or defended.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untagged share tripled in three months — it is getting worse, not better, and it is worst in exactly the AI workloads that are growing fastest.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 everything else: no chargeback, no per-consumer budget, and no gateway quota can be enforced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already taken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banked, $193,000 identified and waiting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of annual saving, already actioned</a:t>
            </a:r>
            <a:endParaRPr lang="en-US" sz="195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during 2026.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half of the story the previous briefing did not tell: the bill grew 23% in three months, and it would have grown considerably more without these.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savings, by type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ANNUALISED SPEND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~$2.9M consumption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 — $5,871/mo removed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$193,000 more, costed and waiting on a decision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not yet implemented.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changes what runs — it changes how it is bought and how long it stays on. The ask is a decision on the top four items, which are 66% of the value.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34924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COVERAGE GAP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~$91K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 at AWS's discount rate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PLUS IDENTIFIED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$563K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19% of annualised consumption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it recurring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is a one-off. Governance is what stops the next $600K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for every AI request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enforcement point, not a reporting layer bolted on afterwards — its logs are the financial record.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business unit buys AI separately, on shared keys, with no owner per consumer — which is why 23.4% of the bill has no name against it.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DEVELOPERS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applications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Copilots and assistants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SaaS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71255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ESTATE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71255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54135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71255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54135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1255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54135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671255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541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71255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54135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OpenAI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40480" y="1463040"/>
            <a:ext cx="4510735" cy="3182112"/>
          </a:xfrm>
          <a:prstGeom prst="roundRect">
            <a:avLst>
              <a:gd name="adj" fmla="val 1724"/>
            </a:avLst>
          </a:prstGeom>
          <a:solidFill>
            <a:srgbClr val="1D2D42"/>
          </a:solidFill>
          <a:ln w="15875">
            <a:solidFill>
              <a:srgbClr val="B07C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0" y="1627632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Command Center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023360" y="1956816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 point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023360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23360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187288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87288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per unit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023360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23360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87288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87288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023360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23360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87288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7288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023360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23360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187288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87288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023360" y="4078224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or over-budget requests are filtered out. Governed, cost-allocated requests pass through.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production unowned</a:t>
            </a:r>
            <a:endParaRPr lang="en-US" sz="2471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workload goes live without explicit business ownership and financial allocation.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owner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for the use case and its return.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owner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model choice and system health.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14400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financial exposure, set before anything runs.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511296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3456432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14400" y="3712464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API spam, runaway loops and overload.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78728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8728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35928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735928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consumption per consumer, independent of budget.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78728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35928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735928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chargeback possible at month end.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78728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78728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35928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approval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735928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before launch, not after the first invoice.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279392"/>
            <a:ext cx="1127729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40740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shadow AI structurally impossible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4700016"/>
            <a:ext cx="108200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at the gateway, these criteria mean an unowned or unfunded workload cannot obtain a key — so it never reaches a provider inside the enterprise network.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gated path from proposal to report</a:t>
            </a:r>
            <a:endParaRPr lang="en-US" sz="233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checkpoints sit before deployment. A request that cannot clear them does not reach a provider at all.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02 to 05 are the gates. Everything after them is observation, not permission.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expected volume and business justification submitted.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40532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126584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6584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541700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approval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41700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business owner accepts the outcome and the cost.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23864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5032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8009915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9915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425032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allocation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25032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envelope assigned against a cost centre.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107195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08363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0893247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93247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308363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assignment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308363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 and rate limit set per consumer.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2243252" y="3822192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43252" y="38221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58368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policy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8368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issued, model tier pinned, policy applied.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340532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417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3541700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541700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goes live through the gateway, never around it.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23864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5032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900" dirty="0"/>
          </a:p>
        </p:txBody>
      </p:sp>
      <p:sp>
        <p:nvSpPr>
          <p:cNvPr id="41" name="Text 39"/>
          <p:cNvSpPr/>
          <p:nvPr/>
        </p:nvSpPr>
        <p:spPr>
          <a:xfrm>
            <a:off x="6425032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25032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anomalies and unit cost tracked continuously.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9107195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308363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900" dirty="0"/>
          </a:p>
        </p:txBody>
      </p:sp>
      <p:sp>
        <p:nvSpPr>
          <p:cNvPr id="45" name="Text 43"/>
          <p:cNvSpPr/>
          <p:nvPr/>
        </p:nvSpPr>
        <p:spPr>
          <a:xfrm>
            <a:off x="9308363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report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308363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variance and value reported monthly.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POLICY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by default, Opus by exception</a:t>
            </a:r>
            <a:endParaRPr lang="en-US" sz="233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model selection is the one AI lever that needs no new platform — only a policy.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policy applies to Bedrock: 82% of AWS AI spend is Opus-class, and the model mix changes month to month — Opus 4.8 ran and stopped, Opus 5 appeared in July. That is a policy gap, not a usage pattern.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pricing and intended use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pricing, valid through 31 August 2026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143000"/>
                <a:gridCol w="1188720"/>
                <a:gridCol w="23774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usage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Sonnet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model — routine coding, SQL, debugging, documentation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tasks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reasoning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4.8 Fast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503920" y="1234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05088" y="1344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SAVING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705088" y="1527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705088" y="1947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model token cost, routine work Opus → Sonnet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503920" y="2377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05088" y="2487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SPEND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705088" y="2670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705088" y="3090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May–Jul, growing 183%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503920" y="3520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05088" y="3630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BEDROCK, OPUS SHARE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705088" y="3813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705088" y="4233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AWS AI spend is Opus-class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503920" y="4663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05088" y="4773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 ENDS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705088" y="4956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 2026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8705088" y="5376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before the date, not after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items, owners and status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651760"/>
                <a:gridCol w="5303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and efficiency programme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the Cloud FinOps savings plan — right-sizing, auto-shutdown, reserved instances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Division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WIV.AI rollout (free tier)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the WIV.AI platform for governance, cost and usage monitoring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Tagging by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resource tagging by Service, Application, Cost Center and Environment for chargeback and showback, including AI Gateway and AWS Bedrock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FinOps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cost analysis, savings recommendations and AWS service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DBU commitment utilisation from 18%, track it monthly, and tune Classic vs Serverless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scope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58368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items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58368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$193K recommendation list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92498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93666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93666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493666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3 blocks chargeback and gateway quotas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127797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8965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28965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8965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credit, with Comm-IT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91A0B7">
              <a:alpha val="8000"/>
            </a:srgbClr>
          </a:solidFill>
          <a:ln w="12700">
            <a:solidFill>
              <a:srgbClr val="91A0B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detail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and project breakdowns,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286000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Harel Cloud Cost — CIO briefing, v34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2026-08-16T15:43:47Z</dcterms:created>
  <dcterms:modified xsi:type="dcterms:W3CDTF">2026-08-16T15:43:47Z</dcterms:modified>
</cp:coreProperties>
</file>