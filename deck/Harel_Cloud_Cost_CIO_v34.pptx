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0.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0.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1.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IT, IN ONE SENTENCE: every block is money. Wide column, big
team. Tall band, big application. The colour is who we paid.
  $79,448 over 50 days, 1,290,499 calls,
  about $48,331 a month at this rate.
THE COLUMNS
  insait        $20,864   26.3% of the bill
  ai-factory    $14,443   18.2% of the bill
  solugen       $11,852   14.9% of the bill
  No owner      $30,125   37.9% of the bill
DO NOT EXPLAIN THE CHART. Point at the right-hand column and say: that one
is bigger than any team we have, and it belongs to nobody. Everything else
on the slide is there to make that comparison fair.
THE NO-OWNER COLUMN IS ORANGE FOR A REASON. Orange is Bedrock everywhere in
this deck, and that is exactly what this money is: $28,370 of Bedrock
model spend with no application tag, plus $1,754 of guardrail fees.
57% of our Bedrock bill has no application on it.
THE RED BANDS INSIDE THE TEAMS are the same defect one level down: rows
whose application name is the word 'unknown' or '(unlabeled)'.
  unknown       Claude  insait       $2,849    31,457 calls
  (unlabeled)   Azure   insait       $2,260    23,227 calls
  (unlabeled)   Azure   solugen        $309    17,502 calls
  (unlabeled)   GCP     unknown         $38     1,341 calls
  (unlabeled)   Azure   unknown         $26     1,053 calls
  (unlabeled)   Azure   ai-factory       $3       128 calls
  (unlabeled)   GCP     ai-factory       $2        64 calls
Together with the untagged column that is $35,612, 45% of the bill with
no application name on it.
IF ASKED ABOUT THE TEAMS
  insait      one application, agent, is two thirds of it
  ai-factory  the only team using all three providers, three different jobs
  solugen     one application, half our call volume, cheapest per call
IF ASKED WHY 13 TEAMS ARE MISSING: they are $1,461 between them, 1.8%.
At true scale that column is a fifth of an inch. Drawing it wide enough to
label would make it look five times its real size, and on a chart where
area is money that is not a rounding choice, it is a false statement. The
figure is in the footnote.
IF ASKED WHETHER IT RECONCILES: the bands add to their column and the
columns add to the bill, and the build fails if they stop doing so.
The workbook's own two tables differ by 1.5% on dollars and agree
exactly on calls.
THE ASK: put an application tag on the Bedrock calls. Gateway
configuration, not a project. Then the right-hand column disappears into
the teams where it belongs, and this becomes a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IT, IN ONE SENTENCE: every block is money. Wide column, big
team. Tall band, big application. The colour is who we paid.
  $34,370 over 19 days, 691,367 calls,
  about $55,022 a month at this rate.
THE COLUMNS
  insait        $10,773   31.3% of the bill
  ai-factory     $7,743   22.5% of the bill
  solugen        $5,803   16.9% of the bill
  No owner       $9,850   28.7% of the bill
DO NOT EXPLAIN THE CHART. Point at the right-hand column and say: that one
is bigger than any team we have, and it belongs to nobody. Everything else
on the slide is there to make that comparison fair.
THE NO-OWNER COLUMN IS ORANGE FOR A REASON. Orange is Bedrock everywhere in
this deck, and that is exactly what this money is: $9,184 of Bedrock
model spend with no application tag, plus $666 of guardrail fees.
46% of our Bedrock bill has no application on it.
THE RED BANDS INSIDE THE TEAMS are the same defect one level down: rows
whose application name is the word 'unknown' or '(unlabeled)'.
  unknown       Claude  insait       $2,849    30,396 calls
  (unlabeled)   Azure   insait       $2,251    22,100 calls
Together with the untagged column that is $14,950, 43% of the bill with
no application name on it.
IF ASKED ABOUT THE TEAMS
  insait      agent and the copilots, and half of it has no application name
  ai-factory  the only team using all three providers, three different jobs
  solugen     one application, insureGen, and nothing else worth a band
IF ASKED WHY 9 TEAMS ARE MISSING: they are $202 between them, 0.6%.
At true scale that column is a fifth of an inch. Drawing it wide enough to
label would make it look five times its real size, and on a chart where
area is money that is not a rounding choice, it is a false statement. The
figure is in the footnote.
IF ASKED WHETHER IT RECONCILES: the bands add to their column and the
columns add to the bill, and the build fails if they stop doing so.
This export has a single table, so there is no inter-sheet difference.
THE ASK: put an application tag on the Bedrock calls. Gateway
configuration, not a project. Then the right-hand column disappears into
the teams where it belongs, and this becomes a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The whole AI bill, drawn to scale</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over 50 days. Every block is money: how much, whose, and who was paid.</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Column width is the team, band height is the application, block width is the provider, so every area is a dollar figure. Red outline and red type mean no application name. The four columns are 97% of the bill; the rest is 13 teams too small to draw at true scale, $1,461 between them, and $704 of difference between the report's two tables.</a:t>
            </a:r>
            <a:endParaRPr lang="en-US" sz="1200" dirty="0"/>
          </a:p>
        </p:txBody>
      </p:sp>
      <p:sp>
        <p:nvSpPr>
          <p:cNvPr id="8" name="Shape 6"/>
          <p:cNvSpPr/>
          <p:nvPr/>
        </p:nvSpPr>
        <p:spPr>
          <a:xfrm>
            <a:off x="457200" y="2011680"/>
            <a:ext cx="2985229" cy="45720"/>
          </a:xfrm>
          <a:prstGeom prst="rect">
            <a:avLst/>
          </a:prstGeom>
          <a:solidFill>
            <a:srgbClr val="3DD9EB"/>
          </a:solidFill>
          <a:ln w="12700">
            <a:solidFill>
              <a:srgbClr val="3DD9EB"/>
            </a:solidFill>
            <a:prstDash val="solid"/>
          </a:ln>
        </p:spPr>
      </p:sp>
      <p:sp>
        <p:nvSpPr>
          <p:cNvPr id="9" name="Text 7"/>
          <p:cNvSpPr/>
          <p:nvPr/>
        </p:nvSpPr>
        <p:spPr>
          <a:xfrm>
            <a:off x="457200" y="1234440"/>
            <a:ext cx="2985229" cy="219456"/>
          </a:xfrm>
          <a:prstGeom prst="rect">
            <a:avLst/>
          </a:prstGeom>
          <a:noFill/>
          <a:ln/>
        </p:spPr>
        <p:txBody>
          <a:bodyPr wrap="square" lIns="0" tIns="0" rIns="0" bIns="0" rtlCol="0" anchor="ctr"/>
          <a:lstStyle/>
          <a:p>
            <a:pPr indent="0" marL="0">
              <a:buNone/>
            </a:pPr>
            <a:r>
              <a:rPr lang="en-US" sz="1200" b="1" spc="110" kern="0" dirty="0">
                <a:solidFill>
                  <a:srgbClr val="3DD9EB"/>
                </a:solidFill>
                <a:latin typeface="Calibri" pitchFamily="34" charset="0"/>
                <a:ea typeface="Calibri" pitchFamily="34" charset="-122"/>
                <a:cs typeface="Calibri" pitchFamily="34" charset="-120"/>
              </a:rPr>
              <a:t>INSAIT</a:t>
            </a:r>
            <a:endParaRPr lang="en-US" sz="1200" dirty="0"/>
          </a:p>
        </p:txBody>
      </p:sp>
      <p:sp>
        <p:nvSpPr>
          <p:cNvPr id="10" name="Text 8"/>
          <p:cNvSpPr/>
          <p:nvPr/>
        </p:nvSpPr>
        <p:spPr>
          <a:xfrm>
            <a:off x="457200" y="1453896"/>
            <a:ext cx="2985229"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$20,864</a:t>
            </a:r>
            <a:endParaRPr lang="en-US" sz="2600" dirty="0"/>
          </a:p>
        </p:txBody>
      </p:sp>
      <p:sp>
        <p:nvSpPr>
          <p:cNvPr id="11" name="Text 9"/>
          <p:cNvSpPr/>
          <p:nvPr/>
        </p:nvSpPr>
        <p:spPr>
          <a:xfrm>
            <a:off x="457200" y="1810512"/>
            <a:ext cx="2985229" cy="201168"/>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188,069 calls, $112/1K</a:t>
            </a:r>
            <a:endParaRPr lang="en-US" sz="1200" dirty="0"/>
          </a:p>
        </p:txBody>
      </p:sp>
      <p:sp>
        <p:nvSpPr>
          <p:cNvPr id="12" name="Shape 10"/>
          <p:cNvSpPr/>
          <p:nvPr/>
        </p:nvSpPr>
        <p:spPr>
          <a:xfrm>
            <a:off x="457200" y="2057400"/>
            <a:ext cx="2850043" cy="2106303"/>
          </a:xfrm>
          <a:prstGeom prst="rect">
            <a:avLst/>
          </a:prstGeom>
          <a:solidFill>
            <a:srgbClr val="FF9F43"/>
          </a:solidFill>
          <a:ln w="9525">
            <a:solidFill>
              <a:srgbClr val="070A12"/>
            </a:solidFill>
            <a:prstDash val="solid"/>
          </a:ln>
        </p:spPr>
      </p:sp>
      <p:sp>
        <p:nvSpPr>
          <p:cNvPr id="13" name="Shape 11"/>
          <p:cNvSpPr/>
          <p:nvPr/>
        </p:nvSpPr>
        <p:spPr>
          <a:xfrm>
            <a:off x="3307243" y="2057400"/>
            <a:ext cx="135186" cy="2106303"/>
          </a:xfrm>
          <a:prstGeom prst="rect">
            <a:avLst/>
          </a:prstGeom>
          <a:solidFill>
            <a:srgbClr val="2F8CFF"/>
          </a:solidFill>
          <a:ln w="9525">
            <a:solidFill>
              <a:srgbClr val="070A12"/>
            </a:solidFill>
            <a:prstDash val="solid"/>
          </a:ln>
        </p:spPr>
      </p:sp>
      <p:sp>
        <p:nvSpPr>
          <p:cNvPr id="14" name="Text 12"/>
          <p:cNvSpPr/>
          <p:nvPr/>
        </p:nvSpPr>
        <p:spPr>
          <a:xfrm>
            <a:off x="548640" y="2066544"/>
            <a:ext cx="2802349"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agent</a:t>
            </a:r>
            <a:endParaRPr lang="en-US" sz="1200" dirty="0"/>
          </a:p>
        </p:txBody>
      </p:sp>
      <p:sp>
        <p:nvSpPr>
          <p:cNvPr id="15" name="Text 13"/>
          <p:cNvSpPr/>
          <p:nvPr/>
        </p:nvSpPr>
        <p:spPr>
          <a:xfrm>
            <a:off x="548640" y="2258568"/>
            <a:ext cx="2802349"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$13,870</a:t>
            </a:r>
            <a:endParaRPr lang="en-US" sz="1400" dirty="0"/>
          </a:p>
        </p:txBody>
      </p:sp>
      <p:sp>
        <p:nvSpPr>
          <p:cNvPr id="16" name="Shape 14"/>
          <p:cNvSpPr/>
          <p:nvPr/>
        </p:nvSpPr>
        <p:spPr>
          <a:xfrm>
            <a:off x="457200" y="4186563"/>
            <a:ext cx="2985229" cy="432679"/>
          </a:xfrm>
          <a:prstGeom prst="rect">
            <a:avLst/>
          </a:prstGeom>
          <a:solidFill>
            <a:srgbClr val="FF9F43"/>
          </a:solidFill>
          <a:ln w="9525">
            <a:solidFill>
              <a:srgbClr val="070A12"/>
            </a:solidFill>
            <a:prstDash val="solid"/>
          </a:ln>
        </p:spPr>
      </p:sp>
      <p:sp>
        <p:nvSpPr>
          <p:cNvPr id="17" name="Text 15"/>
          <p:cNvSpPr/>
          <p:nvPr/>
        </p:nvSpPr>
        <p:spPr>
          <a:xfrm>
            <a:off x="548640" y="4195707"/>
            <a:ext cx="2802349"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unknown</a:t>
            </a:r>
            <a:endParaRPr lang="en-US" sz="1200" dirty="0"/>
          </a:p>
        </p:txBody>
      </p:sp>
      <p:sp>
        <p:nvSpPr>
          <p:cNvPr id="18" name="Text 16"/>
          <p:cNvSpPr/>
          <p:nvPr/>
        </p:nvSpPr>
        <p:spPr>
          <a:xfrm>
            <a:off x="548640" y="4387731"/>
            <a:ext cx="2802349"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$2,849</a:t>
            </a:r>
            <a:endParaRPr lang="en-US" sz="1400" dirty="0"/>
          </a:p>
        </p:txBody>
      </p:sp>
      <p:sp>
        <p:nvSpPr>
          <p:cNvPr id="19" name="Shape 17"/>
          <p:cNvSpPr/>
          <p:nvPr/>
        </p:nvSpPr>
        <p:spPr>
          <a:xfrm>
            <a:off x="457200" y="4642102"/>
            <a:ext cx="2985229" cy="343206"/>
          </a:xfrm>
          <a:prstGeom prst="rect">
            <a:avLst/>
          </a:prstGeom>
          <a:solidFill>
            <a:srgbClr val="2F8CFF"/>
          </a:solidFill>
          <a:ln w="9525">
            <a:solidFill>
              <a:srgbClr val="070A12"/>
            </a:solidFill>
            <a:prstDash val="solid"/>
          </a:ln>
        </p:spPr>
      </p:sp>
      <p:sp>
        <p:nvSpPr>
          <p:cNvPr id="20" name="Text 18"/>
          <p:cNvSpPr/>
          <p:nvPr/>
        </p:nvSpPr>
        <p:spPr>
          <a:xfrm>
            <a:off x="548640" y="4642102"/>
            <a:ext cx="1887949" cy="23774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(unlabeled)</a:t>
            </a:r>
            <a:endParaRPr lang="en-US" sz="1200" dirty="0"/>
          </a:p>
        </p:txBody>
      </p:sp>
      <p:sp>
        <p:nvSpPr>
          <p:cNvPr id="21" name="Text 19"/>
          <p:cNvSpPr/>
          <p:nvPr/>
        </p:nvSpPr>
        <p:spPr>
          <a:xfrm>
            <a:off x="2436589" y="4642102"/>
            <a:ext cx="914400" cy="237744"/>
          </a:xfrm>
          <a:prstGeom prst="rect">
            <a:avLst/>
          </a:prstGeom>
          <a:noFill/>
          <a:ln/>
        </p:spPr>
        <p:txBody>
          <a:bodyPr wrap="square" lIns="0" tIns="0" rIns="0" bIns="0" rtlCol="0" anchor="ctr"/>
          <a:lstStyle/>
          <a:p>
            <a:pPr algn="r" indent="0" marL="0">
              <a:buNone/>
            </a:pPr>
            <a:r>
              <a:rPr lang="en-US" sz="1200" b="1" dirty="0">
                <a:solidFill>
                  <a:srgbClr val="070A12"/>
                </a:solidFill>
                <a:latin typeface="Calibri" pitchFamily="34" charset="0"/>
                <a:ea typeface="Calibri" pitchFamily="34" charset="-122"/>
                <a:cs typeface="Calibri" pitchFamily="34" charset="-120"/>
              </a:rPr>
              <a:t>$2,260</a:t>
            </a:r>
            <a:endParaRPr lang="en-US" sz="1200" dirty="0"/>
          </a:p>
        </p:txBody>
      </p:sp>
      <p:sp>
        <p:nvSpPr>
          <p:cNvPr id="22" name="Shape 20"/>
          <p:cNvSpPr/>
          <p:nvPr/>
        </p:nvSpPr>
        <p:spPr>
          <a:xfrm>
            <a:off x="457200" y="5008168"/>
            <a:ext cx="2054551" cy="286208"/>
          </a:xfrm>
          <a:prstGeom prst="rect">
            <a:avLst/>
          </a:prstGeom>
          <a:solidFill>
            <a:srgbClr val="1D2D42"/>
          </a:solidFill>
          <a:ln w="9525">
            <a:solidFill>
              <a:srgbClr val="070A12"/>
            </a:solidFill>
            <a:prstDash val="solid"/>
          </a:ln>
        </p:spPr>
      </p:sp>
      <p:sp>
        <p:nvSpPr>
          <p:cNvPr id="23" name="Shape 21"/>
          <p:cNvSpPr/>
          <p:nvPr/>
        </p:nvSpPr>
        <p:spPr>
          <a:xfrm>
            <a:off x="2511751" y="5008168"/>
            <a:ext cx="930677" cy="286208"/>
          </a:xfrm>
          <a:prstGeom prst="rect">
            <a:avLst/>
          </a:prstGeom>
          <a:solidFill>
            <a:srgbClr val="1D2D42"/>
          </a:solidFill>
          <a:ln w="9525">
            <a:solidFill>
              <a:srgbClr val="070A12"/>
            </a:solidFill>
            <a:prstDash val="solid"/>
          </a:ln>
        </p:spPr>
      </p:sp>
      <p:sp>
        <p:nvSpPr>
          <p:cNvPr id="24" name="Text 22"/>
          <p:cNvSpPr/>
          <p:nvPr/>
        </p:nvSpPr>
        <p:spPr>
          <a:xfrm>
            <a:off x="548640" y="5008168"/>
            <a:ext cx="1887949" cy="237744"/>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28 more applications</a:t>
            </a:r>
            <a:endParaRPr lang="en-US" sz="1200" dirty="0"/>
          </a:p>
        </p:txBody>
      </p:sp>
      <p:sp>
        <p:nvSpPr>
          <p:cNvPr id="25" name="Text 23"/>
          <p:cNvSpPr/>
          <p:nvPr/>
        </p:nvSpPr>
        <p:spPr>
          <a:xfrm>
            <a:off x="2436589" y="5008168"/>
            <a:ext cx="914400" cy="23774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$1,885</a:t>
            </a:r>
            <a:endParaRPr lang="en-US" sz="1200" dirty="0"/>
          </a:p>
        </p:txBody>
      </p:sp>
      <p:sp>
        <p:nvSpPr>
          <p:cNvPr id="26" name="Shape 24"/>
          <p:cNvSpPr/>
          <p:nvPr/>
        </p:nvSpPr>
        <p:spPr>
          <a:xfrm>
            <a:off x="457200" y="2057400"/>
            <a:ext cx="2985229" cy="3236976"/>
          </a:xfrm>
          <a:prstGeom prst="rect">
            <a:avLst/>
          </a:prstGeom>
          <a:ln w="9525">
            <a:solidFill>
              <a:srgbClr val="23304A"/>
            </a:solidFill>
            <a:prstDash val="solid"/>
          </a:ln>
        </p:spPr>
      </p:sp>
      <p:sp>
        <p:nvSpPr>
          <p:cNvPr id="27" name="Shape 25"/>
          <p:cNvSpPr/>
          <p:nvPr/>
        </p:nvSpPr>
        <p:spPr>
          <a:xfrm>
            <a:off x="3515581" y="2011680"/>
            <a:ext cx="2066508" cy="45720"/>
          </a:xfrm>
          <a:prstGeom prst="rect">
            <a:avLst/>
          </a:prstGeom>
          <a:solidFill>
            <a:srgbClr val="B07CFF"/>
          </a:solidFill>
          <a:ln w="12700">
            <a:solidFill>
              <a:srgbClr val="B07CFF"/>
            </a:solidFill>
            <a:prstDash val="solid"/>
          </a:ln>
        </p:spPr>
      </p:sp>
      <p:sp>
        <p:nvSpPr>
          <p:cNvPr id="28" name="Text 26"/>
          <p:cNvSpPr/>
          <p:nvPr/>
        </p:nvSpPr>
        <p:spPr>
          <a:xfrm>
            <a:off x="3515581" y="1234440"/>
            <a:ext cx="2066508" cy="219456"/>
          </a:xfrm>
          <a:prstGeom prst="rect">
            <a:avLst/>
          </a:prstGeom>
          <a:noFill/>
          <a:ln/>
        </p:spPr>
        <p:txBody>
          <a:bodyPr wrap="square" lIns="0" tIns="0" rIns="0" bIns="0" rtlCol="0" anchor="ctr"/>
          <a:lstStyle/>
          <a:p>
            <a:pPr indent="0" marL="0">
              <a:buNone/>
            </a:pPr>
            <a:r>
              <a:rPr lang="en-US" sz="1200" b="1" spc="110" kern="0" dirty="0">
                <a:solidFill>
                  <a:srgbClr val="B07CFF"/>
                </a:solidFill>
                <a:latin typeface="Calibri" pitchFamily="34" charset="0"/>
                <a:ea typeface="Calibri" pitchFamily="34" charset="-122"/>
                <a:cs typeface="Calibri" pitchFamily="34" charset="-120"/>
              </a:rPr>
              <a:t>AI-FACTORY</a:t>
            </a:r>
            <a:endParaRPr lang="en-US" sz="1200" dirty="0"/>
          </a:p>
        </p:txBody>
      </p:sp>
      <p:sp>
        <p:nvSpPr>
          <p:cNvPr id="29" name="Text 27"/>
          <p:cNvSpPr/>
          <p:nvPr/>
        </p:nvSpPr>
        <p:spPr>
          <a:xfrm>
            <a:off x="3515581" y="1453896"/>
            <a:ext cx="2066508"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$14,443</a:t>
            </a:r>
            <a:endParaRPr lang="en-US" sz="2600" dirty="0"/>
          </a:p>
        </p:txBody>
      </p:sp>
      <p:sp>
        <p:nvSpPr>
          <p:cNvPr id="30" name="Text 28"/>
          <p:cNvSpPr/>
          <p:nvPr/>
        </p:nvSpPr>
        <p:spPr>
          <a:xfrm>
            <a:off x="3515581" y="1810512"/>
            <a:ext cx="2066508" cy="201168"/>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408,859 calls, $36/1K</a:t>
            </a:r>
            <a:endParaRPr lang="en-US" sz="1200" dirty="0"/>
          </a:p>
        </p:txBody>
      </p:sp>
      <p:sp>
        <p:nvSpPr>
          <p:cNvPr id="31" name="Shape 29"/>
          <p:cNvSpPr/>
          <p:nvPr/>
        </p:nvSpPr>
        <p:spPr>
          <a:xfrm>
            <a:off x="3515581" y="2057400"/>
            <a:ext cx="2066508" cy="1155714"/>
          </a:xfrm>
          <a:prstGeom prst="rect">
            <a:avLst/>
          </a:prstGeom>
          <a:solidFill>
            <a:srgbClr val="2F8CFF"/>
          </a:solidFill>
          <a:ln w="9525">
            <a:solidFill>
              <a:srgbClr val="070A12"/>
            </a:solidFill>
            <a:prstDash val="solid"/>
          </a:ln>
        </p:spPr>
      </p:sp>
      <p:sp>
        <p:nvSpPr>
          <p:cNvPr id="32" name="Text 30"/>
          <p:cNvSpPr/>
          <p:nvPr/>
        </p:nvSpPr>
        <p:spPr>
          <a:xfrm>
            <a:off x="3607021" y="2066544"/>
            <a:ext cx="1883628"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claims-copilot</a:t>
            </a:r>
            <a:endParaRPr lang="en-US" sz="1200" dirty="0"/>
          </a:p>
        </p:txBody>
      </p:sp>
      <p:sp>
        <p:nvSpPr>
          <p:cNvPr id="33" name="Text 31"/>
          <p:cNvSpPr/>
          <p:nvPr/>
        </p:nvSpPr>
        <p:spPr>
          <a:xfrm>
            <a:off x="3607021" y="2258568"/>
            <a:ext cx="1883628"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$5,345</a:t>
            </a:r>
            <a:endParaRPr lang="en-US" sz="1400" dirty="0"/>
          </a:p>
        </p:txBody>
      </p:sp>
      <p:sp>
        <p:nvSpPr>
          <p:cNvPr id="34" name="Shape 32"/>
          <p:cNvSpPr/>
          <p:nvPr/>
        </p:nvSpPr>
        <p:spPr>
          <a:xfrm>
            <a:off x="3515581" y="3235974"/>
            <a:ext cx="2066508" cy="943772"/>
          </a:xfrm>
          <a:prstGeom prst="rect">
            <a:avLst/>
          </a:prstGeom>
          <a:solidFill>
            <a:srgbClr val="FF9F43"/>
          </a:solidFill>
          <a:ln w="9525">
            <a:solidFill>
              <a:srgbClr val="070A12"/>
            </a:solidFill>
            <a:prstDash val="solid"/>
          </a:ln>
        </p:spPr>
      </p:sp>
      <p:sp>
        <p:nvSpPr>
          <p:cNvPr id="35" name="Text 33"/>
          <p:cNvSpPr/>
          <p:nvPr/>
        </p:nvSpPr>
        <p:spPr>
          <a:xfrm>
            <a:off x="3607021" y="3245118"/>
            <a:ext cx="1883628"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cli</a:t>
            </a:r>
            <a:endParaRPr lang="en-US" sz="1200" dirty="0"/>
          </a:p>
        </p:txBody>
      </p:sp>
      <p:sp>
        <p:nvSpPr>
          <p:cNvPr id="36" name="Text 34"/>
          <p:cNvSpPr/>
          <p:nvPr/>
        </p:nvSpPr>
        <p:spPr>
          <a:xfrm>
            <a:off x="3607021" y="3437142"/>
            <a:ext cx="1883628"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$4,365</a:t>
            </a:r>
            <a:endParaRPr lang="en-US" sz="1400" dirty="0"/>
          </a:p>
        </p:txBody>
      </p:sp>
      <p:sp>
        <p:nvSpPr>
          <p:cNvPr id="37" name="Shape 35"/>
          <p:cNvSpPr/>
          <p:nvPr/>
        </p:nvSpPr>
        <p:spPr>
          <a:xfrm>
            <a:off x="3515581" y="4202605"/>
            <a:ext cx="2066508" cy="517715"/>
          </a:xfrm>
          <a:prstGeom prst="rect">
            <a:avLst/>
          </a:prstGeom>
          <a:solidFill>
            <a:srgbClr val="3DDC97"/>
          </a:solidFill>
          <a:ln w="9525">
            <a:solidFill>
              <a:srgbClr val="070A12"/>
            </a:solidFill>
            <a:prstDash val="solid"/>
          </a:ln>
        </p:spPr>
      </p:sp>
      <p:sp>
        <p:nvSpPr>
          <p:cNvPr id="38" name="Text 36"/>
          <p:cNvSpPr/>
          <p:nvPr/>
        </p:nvSpPr>
        <p:spPr>
          <a:xfrm>
            <a:off x="3607021" y="4211749"/>
            <a:ext cx="1883628"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ai-factory-idp-ocr...</a:t>
            </a:r>
            <a:endParaRPr lang="en-US" sz="1200" dirty="0"/>
          </a:p>
        </p:txBody>
      </p:sp>
      <p:sp>
        <p:nvSpPr>
          <p:cNvPr id="39" name="Text 37"/>
          <p:cNvSpPr/>
          <p:nvPr/>
        </p:nvSpPr>
        <p:spPr>
          <a:xfrm>
            <a:off x="3607021" y="4403773"/>
            <a:ext cx="1883628"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$2,394</a:t>
            </a:r>
            <a:endParaRPr lang="en-US" sz="1400" dirty="0"/>
          </a:p>
        </p:txBody>
      </p:sp>
      <p:sp>
        <p:nvSpPr>
          <p:cNvPr id="40" name="Shape 38"/>
          <p:cNvSpPr/>
          <p:nvPr/>
        </p:nvSpPr>
        <p:spPr>
          <a:xfrm>
            <a:off x="3515581" y="4743181"/>
            <a:ext cx="260" cy="430154"/>
          </a:xfrm>
          <a:prstGeom prst="rect">
            <a:avLst/>
          </a:prstGeom>
          <a:solidFill>
            <a:srgbClr val="2F8CFF"/>
          </a:solidFill>
          <a:ln w="9525">
            <a:solidFill>
              <a:srgbClr val="070A12"/>
            </a:solidFill>
            <a:prstDash val="solid"/>
          </a:ln>
        </p:spPr>
      </p:sp>
      <p:sp>
        <p:nvSpPr>
          <p:cNvPr id="41" name="Shape 39"/>
          <p:cNvSpPr/>
          <p:nvPr/>
        </p:nvSpPr>
        <p:spPr>
          <a:xfrm>
            <a:off x="3515841" y="4743181"/>
            <a:ext cx="2066248" cy="430154"/>
          </a:xfrm>
          <a:prstGeom prst="rect">
            <a:avLst/>
          </a:prstGeom>
          <a:solidFill>
            <a:srgbClr val="3DDC97"/>
          </a:solidFill>
          <a:ln w="9525">
            <a:solidFill>
              <a:srgbClr val="070A12"/>
            </a:solidFill>
            <a:prstDash val="solid"/>
          </a:ln>
        </p:spPr>
      </p:sp>
      <p:sp>
        <p:nvSpPr>
          <p:cNvPr id="42" name="Text 40"/>
          <p:cNvSpPr/>
          <p:nvPr/>
        </p:nvSpPr>
        <p:spPr>
          <a:xfrm>
            <a:off x="3607021" y="4752325"/>
            <a:ext cx="1883628"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idp-ocr-hybrid</a:t>
            </a:r>
            <a:endParaRPr lang="en-US" sz="1200" dirty="0"/>
          </a:p>
        </p:txBody>
      </p:sp>
      <p:sp>
        <p:nvSpPr>
          <p:cNvPr id="43" name="Text 41"/>
          <p:cNvSpPr/>
          <p:nvPr/>
        </p:nvSpPr>
        <p:spPr>
          <a:xfrm>
            <a:off x="3607021" y="4944349"/>
            <a:ext cx="1883628"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$1,990</a:t>
            </a:r>
            <a:endParaRPr lang="en-US" sz="1400" dirty="0"/>
          </a:p>
        </p:txBody>
      </p:sp>
      <p:sp>
        <p:nvSpPr>
          <p:cNvPr id="44" name="Shape 42"/>
          <p:cNvSpPr/>
          <p:nvPr/>
        </p:nvSpPr>
        <p:spPr>
          <a:xfrm>
            <a:off x="3515581" y="5196194"/>
            <a:ext cx="1089161" cy="1079"/>
          </a:xfrm>
          <a:prstGeom prst="rect">
            <a:avLst/>
          </a:prstGeom>
          <a:solidFill>
            <a:srgbClr val="2F8CFF"/>
          </a:solidFill>
          <a:ln w="9525">
            <a:solidFill>
              <a:srgbClr val="070A12"/>
            </a:solidFill>
            <a:prstDash val="solid"/>
          </a:ln>
        </p:spPr>
      </p:sp>
      <p:sp>
        <p:nvSpPr>
          <p:cNvPr id="45" name="Shape 43"/>
          <p:cNvSpPr/>
          <p:nvPr/>
        </p:nvSpPr>
        <p:spPr>
          <a:xfrm>
            <a:off x="4604742" y="5196194"/>
            <a:ext cx="977346" cy="1079"/>
          </a:xfrm>
          <a:prstGeom prst="rect">
            <a:avLst/>
          </a:prstGeom>
          <a:solidFill>
            <a:srgbClr val="3DDC97"/>
          </a:solidFill>
          <a:ln w="9525">
            <a:solidFill>
              <a:srgbClr val="070A12"/>
            </a:solidFill>
            <a:prstDash val="solid"/>
          </a:ln>
        </p:spPr>
      </p:sp>
      <p:sp>
        <p:nvSpPr>
          <p:cNvPr id="46" name="Shape 44"/>
          <p:cNvSpPr/>
          <p:nvPr/>
        </p:nvSpPr>
        <p:spPr>
          <a:xfrm>
            <a:off x="3515581" y="5220133"/>
            <a:ext cx="173142" cy="74243"/>
          </a:xfrm>
          <a:prstGeom prst="rect">
            <a:avLst/>
          </a:prstGeom>
          <a:solidFill>
            <a:srgbClr val="1D2D42"/>
          </a:solidFill>
          <a:ln w="9525">
            <a:solidFill>
              <a:srgbClr val="070A12"/>
            </a:solidFill>
            <a:prstDash val="solid"/>
          </a:ln>
        </p:spPr>
      </p:sp>
      <p:sp>
        <p:nvSpPr>
          <p:cNvPr id="47" name="Shape 45"/>
          <p:cNvSpPr/>
          <p:nvPr/>
        </p:nvSpPr>
        <p:spPr>
          <a:xfrm>
            <a:off x="3688723" y="5220133"/>
            <a:ext cx="1195804" cy="74243"/>
          </a:xfrm>
          <a:prstGeom prst="rect">
            <a:avLst/>
          </a:prstGeom>
          <a:solidFill>
            <a:srgbClr val="1D2D42"/>
          </a:solidFill>
          <a:ln w="9525">
            <a:solidFill>
              <a:srgbClr val="070A12"/>
            </a:solidFill>
            <a:prstDash val="solid"/>
          </a:ln>
        </p:spPr>
      </p:sp>
      <p:sp>
        <p:nvSpPr>
          <p:cNvPr id="48" name="Shape 46"/>
          <p:cNvSpPr/>
          <p:nvPr/>
        </p:nvSpPr>
        <p:spPr>
          <a:xfrm>
            <a:off x="4884526" y="5220133"/>
            <a:ext cx="697562" cy="74243"/>
          </a:xfrm>
          <a:prstGeom prst="rect">
            <a:avLst/>
          </a:prstGeom>
          <a:solidFill>
            <a:srgbClr val="1D2D42"/>
          </a:solidFill>
          <a:ln w="9525">
            <a:solidFill>
              <a:srgbClr val="070A12"/>
            </a:solidFill>
            <a:prstDash val="solid"/>
          </a:ln>
        </p:spPr>
      </p:sp>
      <p:sp>
        <p:nvSpPr>
          <p:cNvPr id="49" name="Shape 47"/>
          <p:cNvSpPr/>
          <p:nvPr/>
        </p:nvSpPr>
        <p:spPr>
          <a:xfrm>
            <a:off x="3515581" y="2057400"/>
            <a:ext cx="2066508" cy="3236976"/>
          </a:xfrm>
          <a:prstGeom prst="rect">
            <a:avLst/>
          </a:prstGeom>
          <a:ln w="9525">
            <a:solidFill>
              <a:srgbClr val="23304A"/>
            </a:solidFill>
            <a:prstDash val="solid"/>
          </a:ln>
        </p:spPr>
      </p:sp>
      <p:sp>
        <p:nvSpPr>
          <p:cNvPr id="50" name="Shape 48"/>
          <p:cNvSpPr/>
          <p:nvPr/>
        </p:nvSpPr>
        <p:spPr>
          <a:xfrm>
            <a:off x="5655241" y="2011680"/>
            <a:ext cx="1695768" cy="45720"/>
          </a:xfrm>
          <a:prstGeom prst="rect">
            <a:avLst/>
          </a:prstGeom>
          <a:solidFill>
            <a:srgbClr val="E0A030"/>
          </a:solidFill>
          <a:ln w="12700">
            <a:solidFill>
              <a:srgbClr val="E0A030"/>
            </a:solidFill>
            <a:prstDash val="solid"/>
          </a:ln>
        </p:spPr>
      </p:sp>
      <p:sp>
        <p:nvSpPr>
          <p:cNvPr id="51" name="Text 49"/>
          <p:cNvSpPr/>
          <p:nvPr/>
        </p:nvSpPr>
        <p:spPr>
          <a:xfrm>
            <a:off x="5655241" y="1234440"/>
            <a:ext cx="1695768" cy="219456"/>
          </a:xfrm>
          <a:prstGeom prst="rect">
            <a:avLst/>
          </a:prstGeom>
          <a:noFill/>
          <a:ln/>
        </p:spPr>
        <p:txBody>
          <a:bodyPr wrap="square" lIns="0" tIns="0" rIns="0" bIns="0" rtlCol="0" anchor="ctr"/>
          <a:lstStyle/>
          <a:p>
            <a:pPr indent="0" marL="0">
              <a:buNone/>
            </a:pPr>
            <a:r>
              <a:rPr lang="en-US" sz="1200" b="1" spc="110" kern="0" dirty="0">
                <a:solidFill>
                  <a:srgbClr val="E0A030"/>
                </a:solidFill>
                <a:latin typeface="Calibri" pitchFamily="34" charset="0"/>
                <a:ea typeface="Calibri" pitchFamily="34" charset="-122"/>
                <a:cs typeface="Calibri" pitchFamily="34" charset="-120"/>
              </a:rPr>
              <a:t>SOLUGEN</a:t>
            </a:r>
            <a:endParaRPr lang="en-US" sz="1200" dirty="0"/>
          </a:p>
        </p:txBody>
      </p:sp>
      <p:sp>
        <p:nvSpPr>
          <p:cNvPr id="52" name="Text 50"/>
          <p:cNvSpPr/>
          <p:nvPr/>
        </p:nvSpPr>
        <p:spPr>
          <a:xfrm>
            <a:off x="5655241" y="1453896"/>
            <a:ext cx="1695768"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$11,852</a:t>
            </a:r>
            <a:endParaRPr lang="en-US" sz="2600" dirty="0"/>
          </a:p>
        </p:txBody>
      </p:sp>
      <p:sp>
        <p:nvSpPr>
          <p:cNvPr id="53" name="Text 51"/>
          <p:cNvSpPr/>
          <p:nvPr/>
        </p:nvSpPr>
        <p:spPr>
          <a:xfrm>
            <a:off x="5655241" y="1810512"/>
            <a:ext cx="1695768" cy="201168"/>
          </a:xfrm>
          <a:prstGeom prst="rect">
            <a:avLst/>
          </a:prstGeom>
          <a:noFill/>
          <a:ln/>
        </p:spPr>
        <p:txBody>
          <a:bodyPr wrap="square" lIns="0" tIns="0" rIns="0" bIns="0" rtlCol="0" anchor="ctr"/>
          <a:lstStyle/>
          <a:p>
            <a:pPr indent="0" marL="0">
              <a:buNone/>
            </a:pPr>
            <a:r>
              <a:rPr lang="en-US" sz="1200" b="1" dirty="0">
                <a:solidFill>
                  <a:srgbClr val="FF6B7A"/>
                </a:solidFill>
                <a:latin typeface="Calibri" pitchFamily="34" charset="0"/>
                <a:ea typeface="Calibri" pitchFamily="34" charset="-122"/>
                <a:cs typeface="Calibri" pitchFamily="34" charset="-120"/>
              </a:rPr>
              <a:t>incl. $309 unnamed</a:t>
            </a:r>
            <a:endParaRPr lang="en-US" sz="1200" dirty="0"/>
          </a:p>
        </p:txBody>
      </p:sp>
      <p:sp>
        <p:nvSpPr>
          <p:cNvPr id="54" name="Shape 52"/>
          <p:cNvSpPr/>
          <p:nvPr/>
        </p:nvSpPr>
        <p:spPr>
          <a:xfrm>
            <a:off x="5655241" y="2057400"/>
            <a:ext cx="1695768" cy="3106566"/>
          </a:xfrm>
          <a:prstGeom prst="rect">
            <a:avLst/>
          </a:prstGeom>
          <a:solidFill>
            <a:srgbClr val="2F8CFF"/>
          </a:solidFill>
          <a:ln w="9525">
            <a:solidFill>
              <a:srgbClr val="070A12"/>
            </a:solidFill>
            <a:prstDash val="solid"/>
          </a:ln>
        </p:spPr>
      </p:sp>
      <p:sp>
        <p:nvSpPr>
          <p:cNvPr id="55" name="Text 53"/>
          <p:cNvSpPr/>
          <p:nvPr/>
        </p:nvSpPr>
        <p:spPr>
          <a:xfrm>
            <a:off x="5746681" y="2066544"/>
            <a:ext cx="1512888"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insureGen</a:t>
            </a:r>
            <a:endParaRPr lang="en-US" sz="1200" dirty="0"/>
          </a:p>
        </p:txBody>
      </p:sp>
      <p:sp>
        <p:nvSpPr>
          <p:cNvPr id="56" name="Text 54"/>
          <p:cNvSpPr/>
          <p:nvPr/>
        </p:nvSpPr>
        <p:spPr>
          <a:xfrm>
            <a:off x="5746681" y="2258568"/>
            <a:ext cx="1512888"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$11,537</a:t>
            </a:r>
            <a:endParaRPr lang="en-US" sz="1400" dirty="0"/>
          </a:p>
        </p:txBody>
      </p:sp>
      <p:sp>
        <p:nvSpPr>
          <p:cNvPr id="57" name="Shape 55"/>
          <p:cNvSpPr/>
          <p:nvPr/>
        </p:nvSpPr>
        <p:spPr>
          <a:xfrm>
            <a:off x="5655241" y="5186826"/>
            <a:ext cx="1695768" cy="83266"/>
          </a:xfrm>
          <a:prstGeom prst="rect">
            <a:avLst/>
          </a:prstGeom>
          <a:solidFill>
            <a:srgbClr val="2F8CFF"/>
          </a:solidFill>
          <a:ln w="9525">
            <a:solidFill>
              <a:srgbClr val="070A12"/>
            </a:solidFill>
            <a:prstDash val="solid"/>
          </a:ln>
        </p:spPr>
      </p:sp>
      <p:sp>
        <p:nvSpPr>
          <p:cNvPr id="58" name="Shape 56"/>
          <p:cNvSpPr/>
          <p:nvPr/>
        </p:nvSpPr>
        <p:spPr>
          <a:xfrm>
            <a:off x="5655241" y="5292952"/>
            <a:ext cx="3206" cy="1424"/>
          </a:xfrm>
          <a:prstGeom prst="rect">
            <a:avLst/>
          </a:prstGeom>
          <a:solidFill>
            <a:srgbClr val="1D2D42"/>
          </a:solidFill>
          <a:ln w="9525">
            <a:solidFill>
              <a:srgbClr val="070A12"/>
            </a:solidFill>
            <a:prstDash val="solid"/>
          </a:ln>
        </p:spPr>
      </p:sp>
      <p:sp>
        <p:nvSpPr>
          <p:cNvPr id="59" name="Shape 57"/>
          <p:cNvSpPr/>
          <p:nvPr/>
        </p:nvSpPr>
        <p:spPr>
          <a:xfrm>
            <a:off x="5658446" y="5292952"/>
            <a:ext cx="1692562" cy="1424"/>
          </a:xfrm>
          <a:prstGeom prst="rect">
            <a:avLst/>
          </a:prstGeom>
          <a:solidFill>
            <a:srgbClr val="1D2D42"/>
          </a:solidFill>
          <a:ln w="9525">
            <a:solidFill>
              <a:srgbClr val="070A12"/>
            </a:solidFill>
            <a:prstDash val="solid"/>
          </a:ln>
        </p:spPr>
      </p:sp>
      <p:sp>
        <p:nvSpPr>
          <p:cNvPr id="60" name="Shape 58"/>
          <p:cNvSpPr/>
          <p:nvPr/>
        </p:nvSpPr>
        <p:spPr>
          <a:xfrm>
            <a:off x="5655241" y="2057400"/>
            <a:ext cx="1695768" cy="3236976"/>
          </a:xfrm>
          <a:prstGeom prst="rect">
            <a:avLst/>
          </a:prstGeom>
          <a:ln w="9525">
            <a:solidFill>
              <a:srgbClr val="23304A"/>
            </a:solidFill>
            <a:prstDash val="solid"/>
          </a:ln>
        </p:spPr>
      </p:sp>
      <p:sp>
        <p:nvSpPr>
          <p:cNvPr id="61" name="Shape 59"/>
          <p:cNvSpPr/>
          <p:nvPr/>
        </p:nvSpPr>
        <p:spPr>
          <a:xfrm>
            <a:off x="7424161" y="2011680"/>
            <a:ext cx="4310335" cy="45720"/>
          </a:xfrm>
          <a:prstGeom prst="rect">
            <a:avLst/>
          </a:prstGeom>
          <a:solidFill>
            <a:srgbClr val="FF6B7A"/>
          </a:solidFill>
          <a:ln w="12700">
            <a:solidFill>
              <a:srgbClr val="FF6B7A"/>
            </a:solidFill>
            <a:prstDash val="solid"/>
          </a:ln>
        </p:spPr>
      </p:sp>
      <p:sp>
        <p:nvSpPr>
          <p:cNvPr id="62" name="Text 60"/>
          <p:cNvSpPr/>
          <p:nvPr/>
        </p:nvSpPr>
        <p:spPr>
          <a:xfrm>
            <a:off x="7424161" y="1234440"/>
            <a:ext cx="4310335" cy="219456"/>
          </a:xfrm>
          <a:prstGeom prst="rect">
            <a:avLst/>
          </a:prstGeom>
          <a:noFill/>
          <a:ln/>
        </p:spPr>
        <p:txBody>
          <a:bodyPr wrap="square" lIns="0" tIns="0" rIns="0" bIns="0" rtlCol="0" anchor="ctr"/>
          <a:lstStyle/>
          <a:p>
            <a:pPr indent="0" marL="0">
              <a:buNone/>
            </a:pPr>
            <a:r>
              <a:rPr lang="en-US" sz="1200" b="1" spc="110" kern="0" dirty="0">
                <a:solidFill>
                  <a:srgbClr val="FF6B7A"/>
                </a:solidFill>
                <a:latin typeface="Calibri" pitchFamily="34" charset="0"/>
                <a:ea typeface="Calibri" pitchFamily="34" charset="-122"/>
                <a:cs typeface="Calibri" pitchFamily="34" charset="-120"/>
              </a:rPr>
              <a:t>NO OWNER</a:t>
            </a:r>
            <a:endParaRPr lang="en-US" sz="1200" dirty="0"/>
          </a:p>
        </p:txBody>
      </p:sp>
      <p:sp>
        <p:nvSpPr>
          <p:cNvPr id="63" name="Text 61"/>
          <p:cNvSpPr/>
          <p:nvPr/>
        </p:nvSpPr>
        <p:spPr>
          <a:xfrm>
            <a:off x="7424161" y="1453896"/>
            <a:ext cx="4310335"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$30,125</a:t>
            </a:r>
            <a:endParaRPr lang="en-US" sz="2600" dirty="0"/>
          </a:p>
        </p:txBody>
      </p:sp>
      <p:sp>
        <p:nvSpPr>
          <p:cNvPr id="64" name="Text 62"/>
          <p:cNvSpPr/>
          <p:nvPr/>
        </p:nvSpPr>
        <p:spPr>
          <a:xfrm>
            <a:off x="7424161" y="1810512"/>
            <a:ext cx="4310335" cy="201168"/>
          </a:xfrm>
          <a:prstGeom prst="rect">
            <a:avLst/>
          </a:prstGeom>
          <a:noFill/>
          <a:ln/>
        </p:spPr>
        <p:txBody>
          <a:bodyPr wrap="square" lIns="0" tIns="0" rIns="0" bIns="0" rtlCol="0" anchor="ctr"/>
          <a:lstStyle/>
          <a:p>
            <a:pPr indent="0" marL="0">
              <a:buNone/>
            </a:pPr>
            <a:r>
              <a:rPr lang="en-US" sz="1200" b="1" dirty="0">
                <a:solidFill>
                  <a:srgbClr val="FF6B7A"/>
                </a:solidFill>
                <a:latin typeface="Calibri" pitchFamily="34" charset="0"/>
                <a:ea typeface="Calibri" pitchFamily="34" charset="-122"/>
                <a:cs typeface="Calibri" pitchFamily="34" charset="-120"/>
              </a:rPr>
              <a:t>no application, no team, no calls reported</a:t>
            </a:r>
            <a:endParaRPr lang="en-US" sz="1200" dirty="0"/>
          </a:p>
        </p:txBody>
      </p:sp>
      <p:sp>
        <p:nvSpPr>
          <p:cNvPr id="65" name="Shape 63"/>
          <p:cNvSpPr/>
          <p:nvPr/>
        </p:nvSpPr>
        <p:spPr>
          <a:xfrm>
            <a:off x="7424161" y="2057400"/>
            <a:ext cx="4310335" cy="3026950"/>
          </a:xfrm>
          <a:prstGeom prst="rect">
            <a:avLst/>
          </a:prstGeom>
          <a:solidFill>
            <a:srgbClr val="FF9F43"/>
          </a:solidFill>
          <a:ln w="9525">
            <a:solidFill>
              <a:srgbClr val="070A12"/>
            </a:solidFill>
            <a:prstDash val="solid"/>
          </a:ln>
        </p:spPr>
      </p:sp>
      <p:sp>
        <p:nvSpPr>
          <p:cNvPr id="66" name="Text 64"/>
          <p:cNvSpPr/>
          <p:nvPr/>
        </p:nvSpPr>
        <p:spPr>
          <a:xfrm>
            <a:off x="7515601" y="2066544"/>
            <a:ext cx="4127455"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Untagged Bedrock spend</a:t>
            </a:r>
            <a:endParaRPr lang="en-US" sz="1200" dirty="0"/>
          </a:p>
        </p:txBody>
      </p:sp>
      <p:sp>
        <p:nvSpPr>
          <p:cNvPr id="67" name="Text 65"/>
          <p:cNvSpPr/>
          <p:nvPr/>
        </p:nvSpPr>
        <p:spPr>
          <a:xfrm>
            <a:off x="7515601" y="2258568"/>
            <a:ext cx="4127455"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$28,370</a:t>
            </a:r>
            <a:endParaRPr lang="en-US" sz="1400" dirty="0"/>
          </a:p>
        </p:txBody>
      </p:sp>
      <p:sp>
        <p:nvSpPr>
          <p:cNvPr id="68" name="Shape 66"/>
          <p:cNvSpPr/>
          <p:nvPr/>
        </p:nvSpPr>
        <p:spPr>
          <a:xfrm>
            <a:off x="7424161" y="5107210"/>
            <a:ext cx="4310335" cy="187166"/>
          </a:xfrm>
          <a:prstGeom prst="rect">
            <a:avLst/>
          </a:prstGeom>
          <a:solidFill>
            <a:srgbClr val="FF9F43"/>
          </a:solidFill>
          <a:ln w="9525">
            <a:solidFill>
              <a:srgbClr val="070A12"/>
            </a:solidFill>
            <a:prstDash val="solid"/>
          </a:ln>
        </p:spPr>
      </p:sp>
      <p:sp>
        <p:nvSpPr>
          <p:cNvPr id="69" name="Shape 67"/>
          <p:cNvSpPr/>
          <p:nvPr/>
        </p:nvSpPr>
        <p:spPr>
          <a:xfrm>
            <a:off x="7424161" y="2057400"/>
            <a:ext cx="4310335" cy="3236976"/>
          </a:xfrm>
          <a:prstGeom prst="rect">
            <a:avLst/>
          </a:prstGeom>
          <a:ln w="19050">
            <a:solidFill>
              <a:srgbClr val="FF6B7A"/>
            </a:solidFill>
            <a:prstDash val="solid"/>
          </a:ln>
        </p:spPr>
      </p:sp>
      <p:sp>
        <p:nvSpPr>
          <p:cNvPr id="70" name="Text 68"/>
          <p:cNvSpPr/>
          <p:nvPr/>
        </p:nvSpPr>
        <p:spPr>
          <a:xfrm>
            <a:off x="457200" y="5458968"/>
            <a:ext cx="11277295"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WHERE THE MONEY ACTUALLY WENT</a:t>
            </a:r>
            <a:endParaRPr lang="en-US" sz="1200" dirty="0"/>
          </a:p>
        </p:txBody>
      </p:sp>
      <p:sp>
        <p:nvSpPr>
          <p:cNvPr id="71" name="Shape 69"/>
          <p:cNvSpPr/>
          <p:nvPr/>
        </p:nvSpPr>
        <p:spPr>
          <a:xfrm>
            <a:off x="457200" y="5678424"/>
            <a:ext cx="7630880" cy="310896"/>
          </a:xfrm>
          <a:prstGeom prst="rect">
            <a:avLst/>
          </a:prstGeom>
          <a:solidFill>
            <a:srgbClr val="FF9F43"/>
          </a:solidFill>
          <a:ln w="9525">
            <a:solidFill>
              <a:srgbClr val="070A12"/>
            </a:solidFill>
            <a:prstDash val="solid"/>
          </a:ln>
        </p:spPr>
      </p:sp>
      <p:sp>
        <p:nvSpPr>
          <p:cNvPr id="72" name="Text 70"/>
          <p:cNvSpPr/>
          <p:nvPr/>
        </p:nvSpPr>
        <p:spPr>
          <a:xfrm>
            <a:off x="548640" y="5678424"/>
            <a:ext cx="7448000" cy="310896"/>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Claude / Bedrock   $53,250   68%</a:t>
            </a:r>
            <a:endParaRPr lang="en-US" sz="1200" dirty="0"/>
          </a:p>
        </p:txBody>
      </p:sp>
      <p:sp>
        <p:nvSpPr>
          <p:cNvPr id="73" name="Shape 71"/>
          <p:cNvSpPr/>
          <p:nvPr/>
        </p:nvSpPr>
        <p:spPr>
          <a:xfrm>
            <a:off x="8088080" y="5678424"/>
            <a:ext cx="2995818" cy="310896"/>
          </a:xfrm>
          <a:prstGeom prst="rect">
            <a:avLst/>
          </a:prstGeom>
          <a:solidFill>
            <a:srgbClr val="2F8CFF"/>
          </a:solidFill>
          <a:ln w="9525">
            <a:solidFill>
              <a:srgbClr val="070A12"/>
            </a:solidFill>
            <a:prstDash val="solid"/>
          </a:ln>
        </p:spPr>
      </p:sp>
      <p:sp>
        <p:nvSpPr>
          <p:cNvPr id="74" name="Text 72"/>
          <p:cNvSpPr/>
          <p:nvPr/>
        </p:nvSpPr>
        <p:spPr>
          <a:xfrm>
            <a:off x="8179520" y="5678424"/>
            <a:ext cx="2812938" cy="310896"/>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Azure OpenAI   $20,905   27%</a:t>
            </a:r>
            <a:endParaRPr lang="en-US" sz="1200" dirty="0"/>
          </a:p>
        </p:txBody>
      </p:sp>
      <p:sp>
        <p:nvSpPr>
          <p:cNvPr id="75" name="Shape 73"/>
          <p:cNvSpPr/>
          <p:nvPr/>
        </p:nvSpPr>
        <p:spPr>
          <a:xfrm>
            <a:off x="11083899" y="5678424"/>
            <a:ext cx="650597" cy="310896"/>
          </a:xfrm>
          <a:prstGeom prst="rect">
            <a:avLst/>
          </a:prstGeom>
          <a:solidFill>
            <a:srgbClr val="3DDC97"/>
          </a:solidFill>
          <a:ln w="9525">
            <a:solidFill>
              <a:srgbClr val="070A12"/>
            </a:solidFill>
            <a:prstDash val="solid"/>
          </a:ln>
        </p:spPr>
      </p:sp>
      <p:sp>
        <p:nvSpPr>
          <p:cNvPr id="76" name="Text 74"/>
          <p:cNvSpPr/>
          <p:nvPr/>
        </p:nvSpPr>
        <p:spPr>
          <a:xfrm>
            <a:off x="9539935" y="5440680"/>
            <a:ext cx="2194560" cy="219456"/>
          </a:xfrm>
          <a:prstGeom prst="rect">
            <a:avLst/>
          </a:prstGeom>
          <a:noFill/>
          <a:ln/>
        </p:spPr>
        <p:txBody>
          <a:bodyPr wrap="square" lIns="0" tIns="0" rIns="0" bIns="0" rtlCol="0" anchor="ctr"/>
          <a:lstStyle/>
          <a:p>
            <a:pPr algn="r" indent="0" marL="0">
              <a:buNone/>
            </a:pPr>
            <a:r>
              <a:rPr lang="en-US" sz="1200" b="1" dirty="0">
                <a:solidFill>
                  <a:srgbClr val="3DDC97"/>
                </a:solidFill>
                <a:latin typeface="Calibri" pitchFamily="34" charset="0"/>
                <a:ea typeface="Calibri" pitchFamily="34" charset="-122"/>
                <a:cs typeface="Calibri" pitchFamily="34" charset="-120"/>
              </a:rPr>
              <a:t>GCP  $4,540  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August on its own, at the same scale</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$34,370 over 19 days. Every block is money: how much, whose, and who was paid.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Column width is the team, band height is the application, block width is the provider, so every area is a dollar figure. Red outline and red type mean no application name. The four columns are 99% of the bill; the rest is 9 teams too small to draw at true scale, $202 between them.</a:t>
            </a:r>
            <a:endParaRPr lang="en-US" sz="1200" dirty="0"/>
          </a:p>
        </p:txBody>
      </p:sp>
      <p:sp>
        <p:nvSpPr>
          <p:cNvPr id="8" name="Shape 6"/>
          <p:cNvSpPr/>
          <p:nvPr/>
        </p:nvSpPr>
        <p:spPr>
          <a:xfrm>
            <a:off x="457200" y="2011680"/>
            <a:ext cx="3486492" cy="45720"/>
          </a:xfrm>
          <a:prstGeom prst="rect">
            <a:avLst/>
          </a:prstGeom>
          <a:solidFill>
            <a:srgbClr val="3DD9EB"/>
          </a:solidFill>
          <a:ln w="12700">
            <a:solidFill>
              <a:srgbClr val="3DD9EB"/>
            </a:solidFill>
            <a:prstDash val="solid"/>
          </a:ln>
        </p:spPr>
      </p:sp>
      <p:sp>
        <p:nvSpPr>
          <p:cNvPr id="9" name="Text 7"/>
          <p:cNvSpPr/>
          <p:nvPr/>
        </p:nvSpPr>
        <p:spPr>
          <a:xfrm>
            <a:off x="457200" y="1234440"/>
            <a:ext cx="3486492" cy="219456"/>
          </a:xfrm>
          <a:prstGeom prst="rect">
            <a:avLst/>
          </a:prstGeom>
          <a:noFill/>
          <a:ln/>
        </p:spPr>
        <p:txBody>
          <a:bodyPr wrap="square" lIns="0" tIns="0" rIns="0" bIns="0" rtlCol="0" anchor="ctr"/>
          <a:lstStyle/>
          <a:p>
            <a:pPr indent="0" marL="0">
              <a:buNone/>
            </a:pPr>
            <a:r>
              <a:rPr lang="en-US" sz="1200" b="1" spc="110" kern="0" dirty="0">
                <a:solidFill>
                  <a:srgbClr val="3DD9EB"/>
                </a:solidFill>
                <a:latin typeface="Calibri" pitchFamily="34" charset="0"/>
                <a:ea typeface="Calibri" pitchFamily="34" charset="-122"/>
                <a:cs typeface="Calibri" pitchFamily="34" charset="-120"/>
              </a:rPr>
              <a:t>INSAIT</a:t>
            </a:r>
            <a:endParaRPr lang="en-US" sz="1200" dirty="0"/>
          </a:p>
        </p:txBody>
      </p:sp>
      <p:sp>
        <p:nvSpPr>
          <p:cNvPr id="10" name="Text 8"/>
          <p:cNvSpPr/>
          <p:nvPr/>
        </p:nvSpPr>
        <p:spPr>
          <a:xfrm>
            <a:off x="457200" y="1453896"/>
            <a:ext cx="3486492"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$10,773</a:t>
            </a:r>
            <a:endParaRPr lang="en-US" sz="2600" dirty="0"/>
          </a:p>
        </p:txBody>
      </p:sp>
      <p:sp>
        <p:nvSpPr>
          <p:cNvPr id="11" name="Text 9"/>
          <p:cNvSpPr/>
          <p:nvPr/>
        </p:nvSpPr>
        <p:spPr>
          <a:xfrm>
            <a:off x="457200" y="1810512"/>
            <a:ext cx="3486492" cy="201168"/>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115,299 calls, $93/1K</a:t>
            </a:r>
            <a:endParaRPr lang="en-US" sz="1200" dirty="0"/>
          </a:p>
        </p:txBody>
      </p:sp>
      <p:sp>
        <p:nvSpPr>
          <p:cNvPr id="12" name="Shape 10"/>
          <p:cNvSpPr/>
          <p:nvPr/>
        </p:nvSpPr>
        <p:spPr>
          <a:xfrm>
            <a:off x="457200" y="2057400"/>
            <a:ext cx="2955009" cy="1236054"/>
          </a:xfrm>
          <a:prstGeom prst="rect">
            <a:avLst/>
          </a:prstGeom>
          <a:solidFill>
            <a:srgbClr val="FF9F43"/>
          </a:solidFill>
          <a:ln w="9525">
            <a:solidFill>
              <a:srgbClr val="070A12"/>
            </a:solidFill>
            <a:prstDash val="solid"/>
          </a:ln>
        </p:spPr>
      </p:sp>
      <p:sp>
        <p:nvSpPr>
          <p:cNvPr id="13" name="Shape 11"/>
          <p:cNvSpPr/>
          <p:nvPr/>
        </p:nvSpPr>
        <p:spPr>
          <a:xfrm>
            <a:off x="3412209" y="2057400"/>
            <a:ext cx="531482" cy="1236054"/>
          </a:xfrm>
          <a:prstGeom prst="rect">
            <a:avLst/>
          </a:prstGeom>
          <a:solidFill>
            <a:srgbClr val="2F8CFF"/>
          </a:solidFill>
          <a:ln w="9525">
            <a:solidFill>
              <a:srgbClr val="070A12"/>
            </a:solidFill>
            <a:prstDash val="solid"/>
          </a:ln>
        </p:spPr>
      </p:sp>
      <p:sp>
        <p:nvSpPr>
          <p:cNvPr id="14" name="Text 12"/>
          <p:cNvSpPr/>
          <p:nvPr/>
        </p:nvSpPr>
        <p:spPr>
          <a:xfrm>
            <a:off x="548640" y="2066544"/>
            <a:ext cx="3303612"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agent</a:t>
            </a:r>
            <a:endParaRPr lang="en-US" sz="1200" dirty="0"/>
          </a:p>
        </p:txBody>
      </p:sp>
      <p:sp>
        <p:nvSpPr>
          <p:cNvPr id="15" name="Text 13"/>
          <p:cNvSpPr/>
          <p:nvPr/>
        </p:nvSpPr>
        <p:spPr>
          <a:xfrm>
            <a:off x="548640" y="2258568"/>
            <a:ext cx="3303612"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$4,012</a:t>
            </a:r>
            <a:endParaRPr lang="en-US" sz="1400" dirty="0"/>
          </a:p>
        </p:txBody>
      </p:sp>
      <p:sp>
        <p:nvSpPr>
          <p:cNvPr id="16" name="Shape 14"/>
          <p:cNvSpPr/>
          <p:nvPr/>
        </p:nvSpPr>
        <p:spPr>
          <a:xfrm>
            <a:off x="457200" y="3316314"/>
            <a:ext cx="3486492" cy="877848"/>
          </a:xfrm>
          <a:prstGeom prst="rect">
            <a:avLst/>
          </a:prstGeom>
          <a:solidFill>
            <a:srgbClr val="FF9F43"/>
          </a:solidFill>
          <a:ln w="9525">
            <a:solidFill>
              <a:srgbClr val="070A12"/>
            </a:solidFill>
            <a:prstDash val="solid"/>
          </a:ln>
        </p:spPr>
      </p:sp>
      <p:sp>
        <p:nvSpPr>
          <p:cNvPr id="17" name="Text 15"/>
          <p:cNvSpPr/>
          <p:nvPr/>
        </p:nvSpPr>
        <p:spPr>
          <a:xfrm>
            <a:off x="548640" y="3325458"/>
            <a:ext cx="3303612"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unknown</a:t>
            </a:r>
            <a:endParaRPr lang="en-US" sz="1200" dirty="0"/>
          </a:p>
        </p:txBody>
      </p:sp>
      <p:sp>
        <p:nvSpPr>
          <p:cNvPr id="18" name="Text 16"/>
          <p:cNvSpPr/>
          <p:nvPr/>
        </p:nvSpPr>
        <p:spPr>
          <a:xfrm>
            <a:off x="548640" y="3517482"/>
            <a:ext cx="3303612"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$2,849</a:t>
            </a:r>
            <a:endParaRPr lang="en-US" sz="1400" dirty="0"/>
          </a:p>
        </p:txBody>
      </p:sp>
      <p:sp>
        <p:nvSpPr>
          <p:cNvPr id="19" name="Shape 17"/>
          <p:cNvSpPr/>
          <p:nvPr/>
        </p:nvSpPr>
        <p:spPr>
          <a:xfrm>
            <a:off x="457200" y="4217023"/>
            <a:ext cx="3486492" cy="693657"/>
          </a:xfrm>
          <a:prstGeom prst="rect">
            <a:avLst/>
          </a:prstGeom>
          <a:solidFill>
            <a:srgbClr val="2F8CFF"/>
          </a:solidFill>
          <a:ln w="9525">
            <a:solidFill>
              <a:srgbClr val="070A12"/>
            </a:solidFill>
            <a:prstDash val="solid"/>
          </a:ln>
        </p:spPr>
      </p:sp>
      <p:sp>
        <p:nvSpPr>
          <p:cNvPr id="20" name="Text 18"/>
          <p:cNvSpPr/>
          <p:nvPr/>
        </p:nvSpPr>
        <p:spPr>
          <a:xfrm>
            <a:off x="548640" y="4226167"/>
            <a:ext cx="3303612"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(unlabeled)</a:t>
            </a:r>
            <a:endParaRPr lang="en-US" sz="1200" dirty="0"/>
          </a:p>
        </p:txBody>
      </p:sp>
      <p:sp>
        <p:nvSpPr>
          <p:cNvPr id="21" name="Text 19"/>
          <p:cNvSpPr/>
          <p:nvPr/>
        </p:nvSpPr>
        <p:spPr>
          <a:xfrm>
            <a:off x="548640" y="4418191"/>
            <a:ext cx="3303612"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$2,251</a:t>
            </a:r>
            <a:endParaRPr lang="en-US" sz="1400" dirty="0"/>
          </a:p>
        </p:txBody>
      </p:sp>
      <p:sp>
        <p:nvSpPr>
          <p:cNvPr id="22" name="Shape 20"/>
          <p:cNvSpPr/>
          <p:nvPr/>
        </p:nvSpPr>
        <p:spPr>
          <a:xfrm>
            <a:off x="457200" y="4933540"/>
            <a:ext cx="3486492" cy="354675"/>
          </a:xfrm>
          <a:prstGeom prst="rect">
            <a:avLst/>
          </a:prstGeom>
          <a:solidFill>
            <a:srgbClr val="FF9F43"/>
          </a:solidFill>
          <a:ln w="9525">
            <a:solidFill>
              <a:srgbClr val="070A12"/>
            </a:solidFill>
            <a:prstDash val="solid"/>
          </a:ln>
        </p:spPr>
      </p:sp>
      <p:sp>
        <p:nvSpPr>
          <p:cNvPr id="23" name="Text 21"/>
          <p:cNvSpPr/>
          <p:nvPr/>
        </p:nvSpPr>
        <p:spPr>
          <a:xfrm>
            <a:off x="548640" y="4933540"/>
            <a:ext cx="2389212" cy="23774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jeff---pension-copilot</a:t>
            </a:r>
            <a:endParaRPr lang="en-US" sz="1200" dirty="0"/>
          </a:p>
        </p:txBody>
      </p:sp>
      <p:sp>
        <p:nvSpPr>
          <p:cNvPr id="24" name="Text 22"/>
          <p:cNvSpPr/>
          <p:nvPr/>
        </p:nvSpPr>
        <p:spPr>
          <a:xfrm>
            <a:off x="2937852" y="4933540"/>
            <a:ext cx="914400" cy="237744"/>
          </a:xfrm>
          <a:prstGeom prst="rect">
            <a:avLst/>
          </a:prstGeom>
          <a:noFill/>
          <a:ln/>
        </p:spPr>
        <p:txBody>
          <a:bodyPr wrap="square" lIns="0" tIns="0" rIns="0" bIns="0" rtlCol="0" anchor="ctr"/>
          <a:lstStyle/>
          <a:p>
            <a:pPr algn="r" indent="0" marL="0">
              <a:buNone/>
            </a:pPr>
            <a:r>
              <a:rPr lang="en-US" sz="1200" b="1" dirty="0">
                <a:solidFill>
                  <a:srgbClr val="070A12"/>
                </a:solidFill>
                <a:latin typeface="Calibri" pitchFamily="34" charset="0"/>
                <a:ea typeface="Calibri" pitchFamily="34" charset="-122"/>
                <a:cs typeface="Calibri" pitchFamily="34" charset="-120"/>
              </a:rPr>
              <a:t>$1,151</a:t>
            </a:r>
            <a:endParaRPr lang="en-US" sz="1200" dirty="0"/>
          </a:p>
        </p:txBody>
      </p:sp>
      <p:sp>
        <p:nvSpPr>
          <p:cNvPr id="25" name="Shape 23"/>
          <p:cNvSpPr/>
          <p:nvPr/>
        </p:nvSpPr>
        <p:spPr>
          <a:xfrm>
            <a:off x="457200" y="5311075"/>
            <a:ext cx="998173" cy="157037"/>
          </a:xfrm>
          <a:prstGeom prst="rect">
            <a:avLst/>
          </a:prstGeom>
          <a:solidFill>
            <a:srgbClr val="1D2D42"/>
          </a:solidFill>
          <a:ln w="9525">
            <a:solidFill>
              <a:srgbClr val="070A12"/>
            </a:solidFill>
            <a:prstDash val="solid"/>
          </a:ln>
        </p:spPr>
      </p:sp>
      <p:sp>
        <p:nvSpPr>
          <p:cNvPr id="26" name="Shape 24"/>
          <p:cNvSpPr/>
          <p:nvPr/>
        </p:nvSpPr>
        <p:spPr>
          <a:xfrm>
            <a:off x="1455373" y="5311075"/>
            <a:ext cx="2488319" cy="157037"/>
          </a:xfrm>
          <a:prstGeom prst="rect">
            <a:avLst/>
          </a:prstGeom>
          <a:solidFill>
            <a:srgbClr val="1D2D42"/>
          </a:solidFill>
          <a:ln w="9525">
            <a:solidFill>
              <a:srgbClr val="070A12"/>
            </a:solidFill>
            <a:prstDash val="solid"/>
          </a:ln>
        </p:spPr>
      </p:sp>
      <p:sp>
        <p:nvSpPr>
          <p:cNvPr id="27" name="Shape 25"/>
          <p:cNvSpPr/>
          <p:nvPr/>
        </p:nvSpPr>
        <p:spPr>
          <a:xfrm>
            <a:off x="457200" y="2057400"/>
            <a:ext cx="3486492" cy="3410712"/>
          </a:xfrm>
          <a:prstGeom prst="rect">
            <a:avLst/>
          </a:prstGeom>
          <a:ln w="9525">
            <a:solidFill>
              <a:srgbClr val="23304A"/>
            </a:solidFill>
            <a:prstDash val="solid"/>
          </a:ln>
        </p:spPr>
      </p:sp>
      <p:sp>
        <p:nvSpPr>
          <p:cNvPr id="28" name="Shape 26"/>
          <p:cNvSpPr/>
          <p:nvPr/>
        </p:nvSpPr>
        <p:spPr>
          <a:xfrm>
            <a:off x="4016844" y="2011680"/>
            <a:ext cx="2505760" cy="45720"/>
          </a:xfrm>
          <a:prstGeom prst="rect">
            <a:avLst/>
          </a:prstGeom>
          <a:solidFill>
            <a:srgbClr val="B07CFF"/>
          </a:solidFill>
          <a:ln w="12700">
            <a:solidFill>
              <a:srgbClr val="B07CFF"/>
            </a:solidFill>
            <a:prstDash val="solid"/>
          </a:ln>
        </p:spPr>
      </p:sp>
      <p:sp>
        <p:nvSpPr>
          <p:cNvPr id="29" name="Text 27"/>
          <p:cNvSpPr/>
          <p:nvPr/>
        </p:nvSpPr>
        <p:spPr>
          <a:xfrm>
            <a:off x="4016844" y="1234440"/>
            <a:ext cx="2505760" cy="219456"/>
          </a:xfrm>
          <a:prstGeom prst="rect">
            <a:avLst/>
          </a:prstGeom>
          <a:noFill/>
          <a:ln/>
        </p:spPr>
        <p:txBody>
          <a:bodyPr wrap="square" lIns="0" tIns="0" rIns="0" bIns="0" rtlCol="0" anchor="ctr"/>
          <a:lstStyle/>
          <a:p>
            <a:pPr indent="0" marL="0">
              <a:buNone/>
            </a:pPr>
            <a:r>
              <a:rPr lang="en-US" sz="1200" b="1" spc="110" kern="0" dirty="0">
                <a:solidFill>
                  <a:srgbClr val="B07CFF"/>
                </a:solidFill>
                <a:latin typeface="Calibri" pitchFamily="34" charset="0"/>
                <a:ea typeface="Calibri" pitchFamily="34" charset="-122"/>
                <a:cs typeface="Calibri" pitchFamily="34" charset="-120"/>
              </a:rPr>
              <a:t>AI-FACTORY</a:t>
            </a:r>
            <a:endParaRPr lang="en-US" sz="1200" dirty="0"/>
          </a:p>
        </p:txBody>
      </p:sp>
      <p:sp>
        <p:nvSpPr>
          <p:cNvPr id="30" name="Text 28"/>
          <p:cNvSpPr/>
          <p:nvPr/>
        </p:nvSpPr>
        <p:spPr>
          <a:xfrm>
            <a:off x="4016844" y="1453896"/>
            <a:ext cx="2505760"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$7,743</a:t>
            </a:r>
            <a:endParaRPr lang="en-US" sz="2600" dirty="0"/>
          </a:p>
        </p:txBody>
      </p:sp>
      <p:sp>
        <p:nvSpPr>
          <p:cNvPr id="31" name="Text 29"/>
          <p:cNvSpPr/>
          <p:nvPr/>
        </p:nvSpPr>
        <p:spPr>
          <a:xfrm>
            <a:off x="4016844" y="1810512"/>
            <a:ext cx="2505760" cy="201168"/>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248,437 calls, $31/1K</a:t>
            </a:r>
            <a:endParaRPr lang="en-US" sz="1200" dirty="0"/>
          </a:p>
        </p:txBody>
      </p:sp>
      <p:sp>
        <p:nvSpPr>
          <p:cNvPr id="32" name="Shape 30"/>
          <p:cNvSpPr/>
          <p:nvPr/>
        </p:nvSpPr>
        <p:spPr>
          <a:xfrm>
            <a:off x="4016844" y="2057400"/>
            <a:ext cx="2505760" cy="1626183"/>
          </a:xfrm>
          <a:prstGeom prst="rect">
            <a:avLst/>
          </a:prstGeom>
          <a:solidFill>
            <a:srgbClr val="FF9F43"/>
          </a:solidFill>
          <a:ln w="9525">
            <a:solidFill>
              <a:srgbClr val="070A12"/>
            </a:solidFill>
            <a:prstDash val="solid"/>
          </a:ln>
        </p:spPr>
      </p:sp>
      <p:sp>
        <p:nvSpPr>
          <p:cNvPr id="33" name="Text 31"/>
          <p:cNvSpPr/>
          <p:nvPr/>
        </p:nvSpPr>
        <p:spPr>
          <a:xfrm>
            <a:off x="4108284" y="2066544"/>
            <a:ext cx="2322880"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cli</a:t>
            </a:r>
            <a:endParaRPr lang="en-US" sz="1200" dirty="0"/>
          </a:p>
        </p:txBody>
      </p:sp>
      <p:sp>
        <p:nvSpPr>
          <p:cNvPr id="34" name="Text 32"/>
          <p:cNvSpPr/>
          <p:nvPr/>
        </p:nvSpPr>
        <p:spPr>
          <a:xfrm>
            <a:off x="4108284" y="2258568"/>
            <a:ext cx="2322880"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$3,767</a:t>
            </a:r>
            <a:endParaRPr lang="en-US" sz="1400" dirty="0"/>
          </a:p>
        </p:txBody>
      </p:sp>
      <p:sp>
        <p:nvSpPr>
          <p:cNvPr id="35" name="Shape 33"/>
          <p:cNvSpPr/>
          <p:nvPr/>
        </p:nvSpPr>
        <p:spPr>
          <a:xfrm>
            <a:off x="4016844" y="3706443"/>
            <a:ext cx="2505760" cy="1282470"/>
          </a:xfrm>
          <a:prstGeom prst="rect">
            <a:avLst/>
          </a:prstGeom>
          <a:solidFill>
            <a:srgbClr val="2F8CFF"/>
          </a:solidFill>
          <a:ln w="9525">
            <a:solidFill>
              <a:srgbClr val="070A12"/>
            </a:solidFill>
            <a:prstDash val="solid"/>
          </a:ln>
        </p:spPr>
      </p:sp>
      <p:sp>
        <p:nvSpPr>
          <p:cNvPr id="36" name="Text 34"/>
          <p:cNvSpPr/>
          <p:nvPr/>
        </p:nvSpPr>
        <p:spPr>
          <a:xfrm>
            <a:off x="4108284" y="3715587"/>
            <a:ext cx="2322880"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claims-copilot</a:t>
            </a:r>
            <a:endParaRPr lang="en-US" sz="1200" dirty="0"/>
          </a:p>
        </p:txBody>
      </p:sp>
      <p:sp>
        <p:nvSpPr>
          <p:cNvPr id="37" name="Text 35"/>
          <p:cNvSpPr/>
          <p:nvPr/>
        </p:nvSpPr>
        <p:spPr>
          <a:xfrm>
            <a:off x="4108284" y="3907611"/>
            <a:ext cx="2322880"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$2,971</a:t>
            </a:r>
            <a:endParaRPr lang="en-US" sz="1400" dirty="0"/>
          </a:p>
        </p:txBody>
      </p:sp>
      <p:sp>
        <p:nvSpPr>
          <p:cNvPr id="38" name="Shape 36"/>
          <p:cNvSpPr/>
          <p:nvPr/>
        </p:nvSpPr>
        <p:spPr>
          <a:xfrm>
            <a:off x="4016844" y="5011772"/>
            <a:ext cx="2505760" cy="385001"/>
          </a:xfrm>
          <a:prstGeom prst="rect">
            <a:avLst/>
          </a:prstGeom>
          <a:solidFill>
            <a:srgbClr val="3DDC97"/>
          </a:solidFill>
          <a:ln w="9525">
            <a:solidFill>
              <a:srgbClr val="070A12"/>
            </a:solidFill>
            <a:prstDash val="solid"/>
          </a:ln>
        </p:spPr>
      </p:sp>
      <p:sp>
        <p:nvSpPr>
          <p:cNvPr id="39" name="Text 37"/>
          <p:cNvSpPr/>
          <p:nvPr/>
        </p:nvSpPr>
        <p:spPr>
          <a:xfrm>
            <a:off x="4108284" y="5011772"/>
            <a:ext cx="2322880" cy="23774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ai-factory-idp-ocr-hybrid</a:t>
            </a:r>
            <a:endParaRPr lang="en-US" sz="1200" dirty="0"/>
          </a:p>
        </p:txBody>
      </p:sp>
      <p:sp>
        <p:nvSpPr>
          <p:cNvPr id="40" name="Shape 38"/>
          <p:cNvSpPr/>
          <p:nvPr/>
        </p:nvSpPr>
        <p:spPr>
          <a:xfrm>
            <a:off x="4016844" y="5419633"/>
            <a:ext cx="144576" cy="48479"/>
          </a:xfrm>
          <a:prstGeom prst="rect">
            <a:avLst/>
          </a:prstGeom>
          <a:solidFill>
            <a:srgbClr val="1D2D42"/>
          </a:solidFill>
          <a:ln w="9525">
            <a:solidFill>
              <a:srgbClr val="070A12"/>
            </a:solidFill>
            <a:prstDash val="solid"/>
          </a:ln>
        </p:spPr>
      </p:sp>
      <p:sp>
        <p:nvSpPr>
          <p:cNvPr id="41" name="Shape 39"/>
          <p:cNvSpPr/>
          <p:nvPr/>
        </p:nvSpPr>
        <p:spPr>
          <a:xfrm>
            <a:off x="4161420" y="5419633"/>
            <a:ext cx="1946421" cy="48479"/>
          </a:xfrm>
          <a:prstGeom prst="rect">
            <a:avLst/>
          </a:prstGeom>
          <a:solidFill>
            <a:srgbClr val="1D2D42"/>
          </a:solidFill>
          <a:ln w="9525">
            <a:solidFill>
              <a:srgbClr val="070A12"/>
            </a:solidFill>
            <a:prstDash val="solid"/>
          </a:ln>
        </p:spPr>
      </p:sp>
      <p:sp>
        <p:nvSpPr>
          <p:cNvPr id="42" name="Shape 40"/>
          <p:cNvSpPr/>
          <p:nvPr/>
        </p:nvSpPr>
        <p:spPr>
          <a:xfrm>
            <a:off x="6107841" y="5419633"/>
            <a:ext cx="414763" cy="48479"/>
          </a:xfrm>
          <a:prstGeom prst="rect">
            <a:avLst/>
          </a:prstGeom>
          <a:solidFill>
            <a:srgbClr val="1D2D42"/>
          </a:solidFill>
          <a:ln w="9525">
            <a:solidFill>
              <a:srgbClr val="070A12"/>
            </a:solidFill>
            <a:prstDash val="solid"/>
          </a:ln>
        </p:spPr>
      </p:sp>
      <p:sp>
        <p:nvSpPr>
          <p:cNvPr id="43" name="Shape 41"/>
          <p:cNvSpPr/>
          <p:nvPr/>
        </p:nvSpPr>
        <p:spPr>
          <a:xfrm>
            <a:off x="4016844" y="2057400"/>
            <a:ext cx="2505760" cy="3410712"/>
          </a:xfrm>
          <a:prstGeom prst="rect">
            <a:avLst/>
          </a:prstGeom>
          <a:ln w="9525">
            <a:solidFill>
              <a:srgbClr val="23304A"/>
            </a:solidFill>
            <a:prstDash val="solid"/>
          </a:ln>
        </p:spPr>
      </p:sp>
      <p:sp>
        <p:nvSpPr>
          <p:cNvPr id="44" name="Shape 42"/>
          <p:cNvSpPr/>
          <p:nvPr/>
        </p:nvSpPr>
        <p:spPr>
          <a:xfrm>
            <a:off x="6595756" y="2011680"/>
            <a:ext cx="1877927" cy="45720"/>
          </a:xfrm>
          <a:prstGeom prst="rect">
            <a:avLst/>
          </a:prstGeom>
          <a:solidFill>
            <a:srgbClr val="E0A030"/>
          </a:solidFill>
          <a:ln w="12700">
            <a:solidFill>
              <a:srgbClr val="E0A030"/>
            </a:solidFill>
            <a:prstDash val="solid"/>
          </a:ln>
        </p:spPr>
      </p:sp>
      <p:sp>
        <p:nvSpPr>
          <p:cNvPr id="45" name="Text 43"/>
          <p:cNvSpPr/>
          <p:nvPr/>
        </p:nvSpPr>
        <p:spPr>
          <a:xfrm>
            <a:off x="6595756" y="1234440"/>
            <a:ext cx="1877927" cy="219456"/>
          </a:xfrm>
          <a:prstGeom prst="rect">
            <a:avLst/>
          </a:prstGeom>
          <a:noFill/>
          <a:ln/>
        </p:spPr>
        <p:txBody>
          <a:bodyPr wrap="square" lIns="0" tIns="0" rIns="0" bIns="0" rtlCol="0" anchor="ctr"/>
          <a:lstStyle/>
          <a:p>
            <a:pPr indent="0" marL="0">
              <a:buNone/>
            </a:pPr>
            <a:r>
              <a:rPr lang="en-US" sz="1200" b="1" spc="110" kern="0" dirty="0">
                <a:solidFill>
                  <a:srgbClr val="E0A030"/>
                </a:solidFill>
                <a:latin typeface="Calibri" pitchFamily="34" charset="0"/>
                <a:ea typeface="Calibri" pitchFamily="34" charset="-122"/>
                <a:cs typeface="Calibri" pitchFamily="34" charset="-120"/>
              </a:rPr>
              <a:t>SOLUGEN</a:t>
            </a:r>
            <a:endParaRPr lang="en-US" sz="1200" dirty="0"/>
          </a:p>
        </p:txBody>
      </p:sp>
      <p:sp>
        <p:nvSpPr>
          <p:cNvPr id="46" name="Text 44"/>
          <p:cNvSpPr/>
          <p:nvPr/>
        </p:nvSpPr>
        <p:spPr>
          <a:xfrm>
            <a:off x="6595756" y="1453896"/>
            <a:ext cx="1877927"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$5,803</a:t>
            </a:r>
            <a:endParaRPr lang="en-US" sz="2600" dirty="0"/>
          </a:p>
        </p:txBody>
      </p:sp>
      <p:sp>
        <p:nvSpPr>
          <p:cNvPr id="47" name="Text 45"/>
          <p:cNvSpPr/>
          <p:nvPr/>
        </p:nvSpPr>
        <p:spPr>
          <a:xfrm>
            <a:off x="6595756" y="1810512"/>
            <a:ext cx="1877927" cy="201168"/>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321,521 calls, $18/1K</a:t>
            </a:r>
            <a:endParaRPr lang="en-US" sz="1200" dirty="0"/>
          </a:p>
        </p:txBody>
      </p:sp>
      <p:sp>
        <p:nvSpPr>
          <p:cNvPr id="48" name="Shape 46"/>
          <p:cNvSpPr/>
          <p:nvPr/>
        </p:nvSpPr>
        <p:spPr>
          <a:xfrm>
            <a:off x="6595756" y="2057400"/>
            <a:ext cx="1877927" cy="3410712"/>
          </a:xfrm>
          <a:prstGeom prst="rect">
            <a:avLst/>
          </a:prstGeom>
          <a:solidFill>
            <a:srgbClr val="2F8CFF"/>
          </a:solidFill>
          <a:ln w="9525">
            <a:solidFill>
              <a:srgbClr val="070A12"/>
            </a:solidFill>
            <a:prstDash val="solid"/>
          </a:ln>
        </p:spPr>
      </p:sp>
      <p:sp>
        <p:nvSpPr>
          <p:cNvPr id="49" name="Text 47"/>
          <p:cNvSpPr/>
          <p:nvPr/>
        </p:nvSpPr>
        <p:spPr>
          <a:xfrm>
            <a:off x="6687196" y="2066544"/>
            <a:ext cx="1695047"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insureGen</a:t>
            </a:r>
            <a:endParaRPr lang="en-US" sz="1200" dirty="0"/>
          </a:p>
        </p:txBody>
      </p:sp>
      <p:sp>
        <p:nvSpPr>
          <p:cNvPr id="50" name="Text 48"/>
          <p:cNvSpPr/>
          <p:nvPr/>
        </p:nvSpPr>
        <p:spPr>
          <a:xfrm>
            <a:off x="6687196" y="2258568"/>
            <a:ext cx="1695047"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$5,803</a:t>
            </a:r>
            <a:endParaRPr lang="en-US" sz="1400" dirty="0"/>
          </a:p>
        </p:txBody>
      </p:sp>
      <p:sp>
        <p:nvSpPr>
          <p:cNvPr id="51" name="Shape 49"/>
          <p:cNvSpPr/>
          <p:nvPr/>
        </p:nvSpPr>
        <p:spPr>
          <a:xfrm>
            <a:off x="6595756" y="2057400"/>
            <a:ext cx="1877927" cy="3410712"/>
          </a:xfrm>
          <a:prstGeom prst="rect">
            <a:avLst/>
          </a:prstGeom>
          <a:ln w="9525">
            <a:solidFill>
              <a:srgbClr val="23304A"/>
            </a:solidFill>
            <a:prstDash val="solid"/>
          </a:ln>
        </p:spPr>
      </p:sp>
      <p:sp>
        <p:nvSpPr>
          <p:cNvPr id="52" name="Shape 50"/>
          <p:cNvSpPr/>
          <p:nvPr/>
        </p:nvSpPr>
        <p:spPr>
          <a:xfrm>
            <a:off x="8546835" y="2011680"/>
            <a:ext cx="3187660" cy="45720"/>
          </a:xfrm>
          <a:prstGeom prst="rect">
            <a:avLst/>
          </a:prstGeom>
          <a:solidFill>
            <a:srgbClr val="FF6B7A"/>
          </a:solidFill>
          <a:ln w="12700">
            <a:solidFill>
              <a:srgbClr val="FF6B7A"/>
            </a:solidFill>
            <a:prstDash val="solid"/>
          </a:ln>
        </p:spPr>
      </p:sp>
      <p:sp>
        <p:nvSpPr>
          <p:cNvPr id="53" name="Text 51"/>
          <p:cNvSpPr/>
          <p:nvPr/>
        </p:nvSpPr>
        <p:spPr>
          <a:xfrm>
            <a:off x="8546835" y="1234440"/>
            <a:ext cx="3187660" cy="219456"/>
          </a:xfrm>
          <a:prstGeom prst="rect">
            <a:avLst/>
          </a:prstGeom>
          <a:noFill/>
          <a:ln/>
        </p:spPr>
        <p:txBody>
          <a:bodyPr wrap="square" lIns="0" tIns="0" rIns="0" bIns="0" rtlCol="0" anchor="ctr"/>
          <a:lstStyle/>
          <a:p>
            <a:pPr indent="0" marL="0">
              <a:buNone/>
            </a:pPr>
            <a:r>
              <a:rPr lang="en-US" sz="1200" b="1" spc="110" kern="0" dirty="0">
                <a:solidFill>
                  <a:srgbClr val="FF6B7A"/>
                </a:solidFill>
                <a:latin typeface="Calibri" pitchFamily="34" charset="0"/>
                <a:ea typeface="Calibri" pitchFamily="34" charset="-122"/>
                <a:cs typeface="Calibri" pitchFamily="34" charset="-120"/>
              </a:rPr>
              <a:t>NO OWNER</a:t>
            </a:r>
            <a:endParaRPr lang="en-US" sz="1200" dirty="0"/>
          </a:p>
        </p:txBody>
      </p:sp>
      <p:sp>
        <p:nvSpPr>
          <p:cNvPr id="54" name="Text 52"/>
          <p:cNvSpPr/>
          <p:nvPr/>
        </p:nvSpPr>
        <p:spPr>
          <a:xfrm>
            <a:off x="8546835" y="1453896"/>
            <a:ext cx="3187660" cy="36576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$9,850</a:t>
            </a:r>
            <a:endParaRPr lang="en-US" sz="2600" dirty="0"/>
          </a:p>
        </p:txBody>
      </p:sp>
      <p:sp>
        <p:nvSpPr>
          <p:cNvPr id="55" name="Text 53"/>
          <p:cNvSpPr/>
          <p:nvPr/>
        </p:nvSpPr>
        <p:spPr>
          <a:xfrm>
            <a:off x="8546835" y="1810512"/>
            <a:ext cx="3187660" cy="201168"/>
          </a:xfrm>
          <a:prstGeom prst="rect">
            <a:avLst/>
          </a:prstGeom>
          <a:noFill/>
          <a:ln/>
        </p:spPr>
        <p:txBody>
          <a:bodyPr wrap="square" lIns="0" tIns="0" rIns="0" bIns="0" rtlCol="0" anchor="ctr"/>
          <a:lstStyle/>
          <a:p>
            <a:pPr indent="0" marL="0">
              <a:buNone/>
            </a:pPr>
            <a:r>
              <a:rPr lang="en-US" sz="1200" b="1" dirty="0">
                <a:solidFill>
                  <a:srgbClr val="FF6B7A"/>
                </a:solidFill>
                <a:latin typeface="Calibri" pitchFamily="34" charset="0"/>
                <a:ea typeface="Calibri" pitchFamily="34" charset="-122"/>
                <a:cs typeface="Calibri" pitchFamily="34" charset="-120"/>
              </a:rPr>
              <a:t>no application, no team, no calls reported</a:t>
            </a:r>
            <a:endParaRPr lang="en-US" sz="1200" dirty="0"/>
          </a:p>
        </p:txBody>
      </p:sp>
      <p:sp>
        <p:nvSpPr>
          <p:cNvPr id="56" name="Shape 54"/>
          <p:cNvSpPr/>
          <p:nvPr/>
        </p:nvSpPr>
        <p:spPr>
          <a:xfrm>
            <a:off x="8546835" y="2057400"/>
            <a:ext cx="3187660" cy="3158894"/>
          </a:xfrm>
          <a:prstGeom prst="rect">
            <a:avLst/>
          </a:prstGeom>
          <a:solidFill>
            <a:srgbClr val="FF9F43"/>
          </a:solidFill>
          <a:ln w="9525">
            <a:solidFill>
              <a:srgbClr val="070A12"/>
            </a:solidFill>
            <a:prstDash val="solid"/>
          </a:ln>
        </p:spPr>
      </p:sp>
      <p:sp>
        <p:nvSpPr>
          <p:cNvPr id="57" name="Text 55"/>
          <p:cNvSpPr/>
          <p:nvPr/>
        </p:nvSpPr>
        <p:spPr>
          <a:xfrm>
            <a:off x="8638275" y="2066544"/>
            <a:ext cx="3004780" cy="192024"/>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Untagged Bedrock spend</a:t>
            </a:r>
            <a:endParaRPr lang="en-US" sz="1200" dirty="0"/>
          </a:p>
        </p:txBody>
      </p:sp>
      <p:sp>
        <p:nvSpPr>
          <p:cNvPr id="58" name="Text 56"/>
          <p:cNvSpPr/>
          <p:nvPr/>
        </p:nvSpPr>
        <p:spPr>
          <a:xfrm>
            <a:off x="8638275" y="2258568"/>
            <a:ext cx="3004780" cy="228600"/>
          </a:xfrm>
          <a:prstGeom prst="rect">
            <a:avLst/>
          </a:prstGeom>
          <a:noFill/>
          <a:ln/>
        </p:spPr>
        <p:txBody>
          <a:bodyPr wrap="square" lIns="0" tIns="0" rIns="0" bIns="0" rtlCol="0" anchor="ctr"/>
          <a:lstStyle/>
          <a:p>
            <a:pPr indent="0" marL="0">
              <a:buNone/>
            </a:pPr>
            <a:r>
              <a:rPr lang="en-US" sz="1400" b="1" dirty="0">
                <a:solidFill>
                  <a:srgbClr val="070A12"/>
                </a:solidFill>
                <a:latin typeface="Calibri" pitchFamily="34" charset="0"/>
                <a:ea typeface="Calibri" pitchFamily="34" charset="-122"/>
                <a:cs typeface="Calibri" pitchFamily="34" charset="-120"/>
              </a:rPr>
              <a:t>$9,184</a:t>
            </a:r>
            <a:endParaRPr lang="en-US" sz="1400" dirty="0"/>
          </a:p>
        </p:txBody>
      </p:sp>
      <p:sp>
        <p:nvSpPr>
          <p:cNvPr id="59" name="Shape 57"/>
          <p:cNvSpPr/>
          <p:nvPr/>
        </p:nvSpPr>
        <p:spPr>
          <a:xfrm>
            <a:off x="8546835" y="5239154"/>
            <a:ext cx="3187660" cy="228958"/>
          </a:xfrm>
          <a:prstGeom prst="rect">
            <a:avLst/>
          </a:prstGeom>
          <a:solidFill>
            <a:srgbClr val="FF9F43"/>
          </a:solidFill>
          <a:ln w="9525">
            <a:solidFill>
              <a:srgbClr val="070A12"/>
            </a:solidFill>
            <a:prstDash val="solid"/>
          </a:ln>
        </p:spPr>
      </p:sp>
      <p:sp>
        <p:nvSpPr>
          <p:cNvPr id="60" name="Shape 58"/>
          <p:cNvSpPr/>
          <p:nvPr/>
        </p:nvSpPr>
        <p:spPr>
          <a:xfrm>
            <a:off x="8546835" y="2057400"/>
            <a:ext cx="3187660" cy="3410712"/>
          </a:xfrm>
          <a:prstGeom prst="rect">
            <a:avLst/>
          </a:prstGeom>
          <a:ln w="19050">
            <a:solidFill>
              <a:srgbClr val="FF6B7A"/>
            </a:solidFill>
            <a:prstDash val="solid"/>
          </a:ln>
        </p:spPr>
      </p:sp>
      <p:sp>
        <p:nvSpPr>
          <p:cNvPr id="61" name="Text 59"/>
          <p:cNvSpPr/>
          <p:nvPr/>
        </p:nvSpPr>
        <p:spPr>
          <a:xfrm>
            <a:off x="457200" y="5632704"/>
            <a:ext cx="11277295"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WHERE THE MONEY ACTUALLY WENT</a:t>
            </a:r>
            <a:endParaRPr lang="en-US" sz="1200" dirty="0"/>
          </a:p>
        </p:txBody>
      </p:sp>
      <p:sp>
        <p:nvSpPr>
          <p:cNvPr id="62" name="Shape 60"/>
          <p:cNvSpPr/>
          <p:nvPr/>
        </p:nvSpPr>
        <p:spPr>
          <a:xfrm>
            <a:off x="457200" y="5852160"/>
            <a:ext cx="7010815" cy="310896"/>
          </a:xfrm>
          <a:prstGeom prst="rect">
            <a:avLst/>
          </a:prstGeom>
          <a:solidFill>
            <a:srgbClr val="FF9F43"/>
          </a:solidFill>
          <a:ln w="9525">
            <a:solidFill>
              <a:srgbClr val="070A12"/>
            </a:solidFill>
            <a:prstDash val="solid"/>
          </a:ln>
        </p:spPr>
      </p:sp>
      <p:sp>
        <p:nvSpPr>
          <p:cNvPr id="63" name="Text 61"/>
          <p:cNvSpPr/>
          <p:nvPr/>
        </p:nvSpPr>
        <p:spPr>
          <a:xfrm>
            <a:off x="548640" y="5852160"/>
            <a:ext cx="6827935" cy="310896"/>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Claude / Bedrock   $21,367   62%</a:t>
            </a:r>
            <a:endParaRPr lang="en-US" sz="1200" dirty="0"/>
          </a:p>
        </p:txBody>
      </p:sp>
      <p:sp>
        <p:nvSpPr>
          <p:cNvPr id="64" name="Shape 62"/>
          <p:cNvSpPr/>
          <p:nvPr/>
        </p:nvSpPr>
        <p:spPr>
          <a:xfrm>
            <a:off x="7468015" y="5852160"/>
            <a:ext cx="3967718" cy="310896"/>
          </a:xfrm>
          <a:prstGeom prst="rect">
            <a:avLst/>
          </a:prstGeom>
          <a:solidFill>
            <a:srgbClr val="2F8CFF"/>
          </a:solidFill>
          <a:ln w="9525">
            <a:solidFill>
              <a:srgbClr val="070A12"/>
            </a:solidFill>
            <a:prstDash val="solid"/>
          </a:ln>
        </p:spPr>
      </p:sp>
      <p:sp>
        <p:nvSpPr>
          <p:cNvPr id="65" name="Text 63"/>
          <p:cNvSpPr/>
          <p:nvPr/>
        </p:nvSpPr>
        <p:spPr>
          <a:xfrm>
            <a:off x="7559455" y="5852160"/>
            <a:ext cx="3784838" cy="310896"/>
          </a:xfrm>
          <a:prstGeom prst="rect">
            <a:avLst/>
          </a:prstGeom>
          <a:noFill/>
          <a:ln/>
        </p:spPr>
        <p:txBody>
          <a:bodyPr wrap="square" lIns="0" tIns="0" rIns="0" bIns="0" rtlCol="0" anchor="ctr"/>
          <a:lstStyle/>
          <a:p>
            <a:pPr indent="0" marL="0">
              <a:buNone/>
            </a:pPr>
            <a:r>
              <a:rPr lang="en-US" sz="1200" b="1" dirty="0">
                <a:solidFill>
                  <a:srgbClr val="070A12"/>
                </a:solidFill>
                <a:latin typeface="Calibri" pitchFamily="34" charset="0"/>
                <a:ea typeface="Calibri" pitchFamily="34" charset="-122"/>
                <a:cs typeface="Calibri" pitchFamily="34" charset="-120"/>
              </a:rPr>
              <a:t>Azure OpenAI   $12,092   35%</a:t>
            </a:r>
            <a:endParaRPr lang="en-US" sz="1200" dirty="0"/>
          </a:p>
        </p:txBody>
      </p:sp>
      <p:sp>
        <p:nvSpPr>
          <p:cNvPr id="66" name="Shape 64"/>
          <p:cNvSpPr/>
          <p:nvPr/>
        </p:nvSpPr>
        <p:spPr>
          <a:xfrm>
            <a:off x="11435734" y="5852160"/>
            <a:ext cx="298762" cy="310896"/>
          </a:xfrm>
          <a:prstGeom prst="rect">
            <a:avLst/>
          </a:prstGeom>
          <a:solidFill>
            <a:srgbClr val="3DDC97"/>
          </a:solidFill>
          <a:ln w="9525">
            <a:solidFill>
              <a:srgbClr val="070A12"/>
            </a:solidFill>
            <a:prstDash val="solid"/>
          </a:ln>
        </p:spPr>
      </p:sp>
      <p:sp>
        <p:nvSpPr>
          <p:cNvPr id="67" name="Text 65"/>
          <p:cNvSpPr/>
          <p:nvPr/>
        </p:nvSpPr>
        <p:spPr>
          <a:xfrm>
            <a:off x="9539935" y="5614416"/>
            <a:ext cx="2194560" cy="219456"/>
          </a:xfrm>
          <a:prstGeom prst="rect">
            <a:avLst/>
          </a:prstGeom>
          <a:noFill/>
          <a:ln/>
        </p:spPr>
        <p:txBody>
          <a:bodyPr wrap="square" lIns="0" tIns="0" rIns="0" bIns="0" rtlCol="0" anchor="ctr"/>
          <a:lstStyle/>
          <a:p>
            <a:pPr algn="r" indent="0" marL="0">
              <a:buNone/>
            </a:pPr>
            <a:r>
              <a:rPr lang="en-US" sz="1200" b="1" dirty="0">
                <a:solidFill>
                  <a:srgbClr val="3DDC97"/>
                </a:solidFill>
                <a:latin typeface="Calibri" pitchFamily="34" charset="0"/>
                <a:ea typeface="Calibri" pitchFamily="34" charset="-122"/>
                <a:cs typeface="Calibri" pitchFamily="34" charset="-120"/>
              </a:rPr>
              <a:t>GCP  $911  3%</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3938869"/>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3938869"/>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3938869"/>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84302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84302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84302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100041"/>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100041"/>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100041"/>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2026-09-22T17:12:11Z</dcterms:created>
  <dcterms:modified xsi:type="dcterms:W3CDTF">2026-09-22T17:12:11Z</dcterms:modified>
</cp:coreProperties>
</file>