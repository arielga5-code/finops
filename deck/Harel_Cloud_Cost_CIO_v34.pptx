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6.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7.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8.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9.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6.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9.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20.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Copilot Studio (Cowork)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850" u="none">
                    <a:solidFill>
                      <a:srgbClr val="F4F7FB"/>
                    </a:solidFill>
                    <a:latin typeface="Calibri"/>
                  </a:defRPr>
                </a:pPr>
              </a:p>
            </c:txPr>
            <c:showLegendKey val="0"/>
            <c:showVal val="1"/>
            <c:showCatName val="0"/>
            <c:showSerName val="0"/>
            <c:showPercent val="0"/>
            <c:showBubbleSize val="0"/>
            <c:showLeaderLines val="0"/>
          </c:dLbls>
          <c:dPt>
            <c:idx val="0"/>
            <c:invertIfNegative val="0"/>
            <c:bubble3D val="0"/>
            <c:spPr>
              <a:solidFill>
                <a:srgbClr val="2F8CFF"/>
              </a:solidFill>
              <a:effectLst/>
            </c:spPr>
          </c:dPt>
          <c:dPt>
            <c:idx val="1"/>
            <c:invertIfNegative val="0"/>
            <c:bubble3D val="0"/>
            <c:spPr>
              <a:solidFill>
                <a:srgbClr val="3DD9EB"/>
              </a:solidFill>
              <a:effectLst/>
            </c:spPr>
          </c:dPt>
          <c:dPt>
            <c:idx val="2"/>
            <c:invertIfNegative val="0"/>
            <c:bubble3D val="0"/>
            <c:spPr>
              <a:solidFill>
                <a:srgbClr val="FF9F43"/>
              </a:solidFill>
              <a:effectLst/>
            </c:spPr>
          </c:dPt>
          <c:dPt>
            <c:idx val="3"/>
            <c:invertIfNegative val="0"/>
            <c:bubble3D val="0"/>
            <c:spPr>
              <a:solidFill>
                <a:srgbClr val="B07CFF"/>
              </a:solidFill>
              <a:effectLst/>
            </c:spPr>
          </c:dPt>
          <c:dPt>
            <c:idx val="4"/>
            <c:invertIfNegative val="0"/>
            <c:bubble3D val="0"/>
            <c:spPr>
              <a:solidFill>
                <a:srgbClr val="3DDC97"/>
              </a:solidFill>
              <a:effectLst/>
            </c:spPr>
          </c:dPt>
          <c:dPt>
            <c:idx val="5"/>
            <c:invertIfNegative val="0"/>
            <c:bubble3D val="0"/>
            <c:spPr>
              <a:solidFill>
                <a:srgbClr val="FF6B7A"/>
              </a:solidFill>
              <a:effectLst/>
            </c:spPr>
          </c:dPt>
          <c:dPt>
            <c:idx val="6"/>
            <c:invertIfNegative val="0"/>
            <c:bubble3D val="0"/>
            <c:spPr>
              <a:solidFill>
                <a:srgbClr val="2AD38C"/>
              </a:solidFill>
              <a:effectLst/>
            </c:spPr>
          </c:dPt>
          <c:dPt>
            <c:idx val="7"/>
            <c:invertIfNegative val="0"/>
            <c:bubble3D val="0"/>
            <c:spPr>
              <a:solidFill>
                <a:srgbClr val="FFB84D"/>
              </a:solidFill>
              <a:effectLst/>
            </c:spPr>
          </c:dPt>
          <c:dPt>
            <c:idx val="8"/>
            <c:invertIfNegative val="0"/>
            <c:bubble3D val="0"/>
            <c:spPr>
              <a:solidFill>
                <a:srgbClr val="6C8CFF"/>
              </a:solidFill>
              <a:effectLst/>
            </c:spPr>
          </c:dPt>
          <c:dPt>
            <c:idx val="9"/>
            <c:invertIfNegative val="0"/>
            <c:bubble3D val="0"/>
            <c:spPr>
              <a:solidFill>
                <a:srgbClr val="8FD8E8"/>
              </a:solidFill>
              <a:effectLst/>
            </c:spPr>
          </c:dPt>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85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9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85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 Foundry Models, Foundry Tools, GitHub Copilot and
Copilot Studio.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Copilot Studio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050" b="1" spc="300" kern="0" dirty="0">
                <a:solidFill>
                  <a:srgbClr val="3DD9EB"/>
                </a:solidFill>
                <a:latin typeface="Calibri" pitchFamily="34" charset="0"/>
                <a:ea typeface="Calibri" pitchFamily="34" charset="-122"/>
                <a:cs typeface="Calibri" pitchFamily="34" charset="-120"/>
              </a:rPr>
              <a:t>HAREL INSURANCE · CLOUD FINOPS</a:t>
            </a:r>
            <a:endParaRPr lang="en-US" sz="105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300" dirty="0">
                <a:solidFill>
                  <a:srgbClr val="91A0B7"/>
                </a:solidFill>
                <a:latin typeface="Calibri" pitchFamily="34" charset="0"/>
                <a:ea typeface="Calibri" pitchFamily="34" charset="-122"/>
                <a:cs typeface="Calibri" pitchFamily="34" charset="-120"/>
              </a:rPr>
              <a:t>Seven months of consumption, January to July 2026 · CIO briefing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3DD9EB"/>
                </a:solidFill>
                <a:latin typeface="Calibri" pitchFamily="34" charset="0"/>
                <a:ea typeface="Calibri" pitchFamily="34" charset="-122"/>
                <a:cs typeface="Calibri" pitchFamily="34" charset="-120"/>
              </a:rPr>
              <a:t>WHERE WE ARE</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Today's run-rate</a:t>
            </a:r>
            <a:endParaRPr lang="en-US" sz="26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July annualised, all three clouds. A pace, not a budget.</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Consumption only — Marketplace purchases are excluded here and reported separately. AWS is shown gross of the $16,100 July credit, which is explained later in this deck.</a:t>
            </a:r>
            <a:endParaRPr lang="en-US" sz="9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300" dirty="0">
                <a:solidFill>
                  <a:srgbClr val="91A0B7"/>
                </a:solidFill>
                <a:latin typeface="Calibri" pitchFamily="34" charset="0"/>
                <a:ea typeface="Calibri" pitchFamily="34" charset="-122"/>
                <a:cs typeface="Calibri" pitchFamily="34" charset="-120"/>
              </a:rPr>
              <a:t>run-rate today  ·  July consumption × 12, across Azure, AWS and GCP</a:t>
            </a:r>
            <a:endParaRPr lang="en-US" sz="13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500" b="1" dirty="0">
                <a:solidFill>
                  <a:srgbClr val="FF6B7A"/>
                </a:solidFill>
                <a:latin typeface="Calibri" pitchFamily="34" charset="0"/>
                <a:ea typeface="Calibri" pitchFamily="34" charset="-122"/>
                <a:cs typeface="Calibri" pitchFamily="34" charset="-120"/>
              </a:rPr>
              <a:t>up $593K since January  ·  +21.1%</a:t>
            </a:r>
            <a:endParaRPr lang="en-US" sz="15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300" b="1" dirty="0">
                <a:solidFill>
                  <a:srgbClr val="2F8CFF"/>
                </a:solidFill>
                <a:latin typeface="Calibri" pitchFamily="34" charset="0"/>
                <a:ea typeface="Calibri" pitchFamily="34" charset="-122"/>
                <a:cs typeface="Calibri" pitchFamily="34" charset="-120"/>
              </a:rPr>
              <a:t>Azure</a:t>
            </a:r>
            <a:endParaRPr lang="en-US" sz="13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$186,917</a:t>
            </a:r>
            <a:endParaRPr lang="en-US" sz="20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000" dirty="0">
                <a:solidFill>
                  <a:srgbClr val="91A0B7"/>
                </a:solidFill>
                <a:latin typeface="Calibri" pitchFamily="34" charset="0"/>
                <a:ea typeface="Calibri" pitchFamily="34" charset="-122"/>
                <a:cs typeface="Calibri" pitchFamily="34" charset="-120"/>
              </a:rPr>
              <a:t>66% of the bill</a:t>
            </a:r>
            <a:endParaRPr lang="en-US" sz="10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300" b="1" dirty="0">
                <a:solidFill>
                  <a:srgbClr val="FF9F43"/>
                </a:solidFill>
                <a:latin typeface="Calibri" pitchFamily="34" charset="0"/>
                <a:ea typeface="Calibri" pitchFamily="34" charset="-122"/>
                <a:cs typeface="Calibri" pitchFamily="34" charset="-120"/>
              </a:rPr>
              <a:t>AWS</a:t>
            </a:r>
            <a:endParaRPr lang="en-US" sz="13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$92,930</a:t>
            </a:r>
            <a:endParaRPr lang="en-US" sz="20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000" dirty="0">
                <a:solidFill>
                  <a:srgbClr val="91A0B7"/>
                </a:solidFill>
                <a:latin typeface="Calibri" pitchFamily="34" charset="0"/>
                <a:ea typeface="Calibri" pitchFamily="34" charset="-122"/>
                <a:cs typeface="Calibri" pitchFamily="34" charset="-120"/>
              </a:rPr>
              <a:t>33% of the bill</a:t>
            </a:r>
            <a:endParaRPr lang="en-US" sz="10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300" b="1" dirty="0">
                <a:solidFill>
                  <a:srgbClr val="3DDC97"/>
                </a:solidFill>
                <a:latin typeface="Calibri" pitchFamily="34" charset="0"/>
                <a:ea typeface="Calibri" pitchFamily="34" charset="-122"/>
                <a:cs typeface="Calibri" pitchFamily="34" charset="-120"/>
              </a:rPr>
              <a:t>GCP</a:t>
            </a:r>
            <a:endParaRPr lang="en-US" sz="13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$3,707</a:t>
            </a:r>
            <a:endParaRPr lang="en-US" sz="20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000" dirty="0">
                <a:solidFill>
                  <a:srgbClr val="91A0B7"/>
                </a:solidFill>
                <a:latin typeface="Calibri" pitchFamily="34" charset="0"/>
                <a:ea typeface="Calibri" pitchFamily="34" charset="-122"/>
                <a:cs typeface="Calibri" pitchFamily="34" charset="-120"/>
              </a:rPr>
              <a:t>1.3% of the bill</a:t>
            </a:r>
            <a:endParaRPr lang="en-US" sz="10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WHAT MOVED SINCE JANUARY</a:t>
            </a:r>
            <a:endParaRPr lang="en-US" sz="10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Azure added $29,927 a month — billed AI accounts for more than the whole increase.</a:t>
            </a:r>
            <a:endParaRPr lang="en-US" sz="1050" dirty="0"/>
          </a:p>
        </p:txBody>
      </p:sp>
      <p:sp>
        <p:nvSpPr>
          <p:cNvPr id="26" name="Shape 24"/>
          <p:cNvSpPr/>
          <p:nvPr/>
        </p:nvSpPr>
        <p:spPr>
          <a:xfrm>
            <a:off x="457200" y="4928616"/>
            <a:ext cx="64008" cy="64008"/>
          </a:xfrm>
          <a:prstGeom prst="rect">
            <a:avLst/>
          </a:prstGeom>
          <a:solidFill>
            <a:srgbClr val="3DD9EB"/>
          </a:solidFill>
          <a:ln w="12700">
            <a:solidFill>
              <a:srgbClr val="3DD9EB"/>
            </a:solidFill>
            <a:prstDash val="solid"/>
          </a:ln>
        </p:spPr>
      </p:sp>
      <p:sp>
        <p:nvSpPr>
          <p:cNvPr id="27" name="Text 25"/>
          <p:cNvSpPr/>
          <p:nvPr/>
        </p:nvSpPr>
        <p:spPr>
          <a:xfrm>
            <a:off x="630936" y="4846320"/>
            <a:ext cx="5495544" cy="36576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050" dirty="0"/>
          </a:p>
        </p:txBody>
      </p:sp>
      <p:sp>
        <p:nvSpPr>
          <p:cNvPr id="28" name="Shape 26"/>
          <p:cNvSpPr/>
          <p:nvPr/>
        </p:nvSpPr>
        <p:spPr>
          <a:xfrm>
            <a:off x="457200" y="5413248"/>
            <a:ext cx="64008" cy="64008"/>
          </a:xfrm>
          <a:prstGeom prst="rect">
            <a:avLst/>
          </a:prstGeom>
          <a:solidFill>
            <a:srgbClr val="3DD9EB"/>
          </a:solidFill>
          <a:ln w="12700">
            <a:solidFill>
              <a:srgbClr val="3DD9EB"/>
            </a:solidFill>
            <a:prstDash val="solid"/>
          </a:ln>
        </p:spPr>
      </p:sp>
      <p:sp>
        <p:nvSpPr>
          <p:cNvPr id="29" name="Text 27"/>
          <p:cNvSpPr/>
          <p:nvPr/>
        </p:nvSpPr>
        <p:spPr>
          <a:xfrm>
            <a:off x="630936" y="5330952"/>
            <a:ext cx="5495544" cy="36576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E0A030"/>
                </a:solidFill>
                <a:latin typeface="Calibri" pitchFamily="34" charset="0"/>
                <a:ea typeface="Calibri" pitchFamily="34" charset="-122"/>
                <a:cs typeface="Calibri" pitchFamily="34" charset="-120"/>
              </a:rPr>
              <a:t>WHERE THIS GOES</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December is a $4.0M run-rate</a:t>
            </a:r>
            <a:endParaRPr lang="en-US" sz="26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The July briefing projected $5.8M by December. That number carried a 13.3% monthly rate measured across May–July alone, and May was the softest month of the year. Over the full seven months the pace is 3.2% a month, which puts December at $4.0M. Same estate, same data, longer window.</a:t>
            </a:r>
            <a:endParaRPr lang="en-US" sz="9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Monthly spend — actual January to July, projected to December</a:t>
            </a:r>
            <a:endParaRPr lang="en-US" sz="13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05840"/>
          </a:xfrm>
          <a:prstGeom prst="roundRect">
            <a:avLst>
              <a:gd name="adj" fmla="val 5455"/>
            </a:avLst>
          </a:prstGeom>
          <a:solidFill>
            <a:srgbClr val="121B2D"/>
          </a:solidFill>
          <a:ln w="12700">
            <a:solidFill>
              <a:srgbClr val="23304A"/>
            </a:solidFill>
            <a:prstDash val="solid"/>
          </a:ln>
        </p:spPr>
      </p:sp>
      <p:sp>
        <p:nvSpPr>
          <p:cNvPr id="11" name="Text 8"/>
          <p:cNvSpPr/>
          <p:nvPr/>
        </p:nvSpPr>
        <p:spPr>
          <a:xfrm>
            <a:off x="8293608" y="1344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DECEMBER RUN-RATE</a:t>
            </a:r>
            <a:endParaRPr lang="en-US" sz="1000" dirty="0"/>
          </a:p>
        </p:txBody>
      </p:sp>
      <p:sp>
        <p:nvSpPr>
          <p:cNvPr id="12" name="Text 9"/>
          <p:cNvSpPr/>
          <p:nvPr/>
        </p:nvSpPr>
        <p:spPr>
          <a:xfrm>
            <a:off x="8293608" y="1527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$4.01M</a:t>
            </a:r>
            <a:endParaRPr lang="en-US" sz="2600" dirty="0"/>
          </a:p>
        </p:txBody>
      </p:sp>
      <p:sp>
        <p:nvSpPr>
          <p:cNvPr id="13" name="Text 10"/>
          <p:cNvSpPr/>
          <p:nvPr/>
        </p:nvSpPr>
        <p:spPr>
          <a:xfrm>
            <a:off x="8293608" y="1947672"/>
            <a:ext cx="3239719" cy="219456"/>
          </a:xfrm>
          <a:prstGeom prst="rect">
            <a:avLst/>
          </a:prstGeom>
          <a:noFill/>
          <a:ln/>
        </p:spPr>
        <p:txBody>
          <a:bodyPr wrap="square" lIns="0" tIns="0" rIns="0" bIns="0" rtlCol="0" anchor="ctr"/>
          <a:lstStyle/>
          <a:p>
            <a:pPr indent="0" marL="0">
              <a:buNone/>
            </a:pPr>
            <a:r>
              <a:rPr lang="en-US" sz="950" b="1" dirty="0">
                <a:solidFill>
                  <a:srgbClr val="E0A030"/>
                </a:solidFill>
                <a:latin typeface="Calibri" pitchFamily="34" charset="0"/>
                <a:ea typeface="Calibri" pitchFamily="34" charset="-122"/>
                <a:cs typeface="Calibri" pitchFamily="34" charset="-120"/>
              </a:rPr>
              <a:t>+18% on today's $3.4M</a:t>
            </a:r>
            <a:endParaRPr lang="en-US" sz="950" dirty="0"/>
          </a:p>
        </p:txBody>
      </p:sp>
      <p:sp>
        <p:nvSpPr>
          <p:cNvPr id="14" name="Shape 11"/>
          <p:cNvSpPr/>
          <p:nvPr/>
        </p:nvSpPr>
        <p:spPr>
          <a:xfrm>
            <a:off x="8092440" y="2377440"/>
            <a:ext cx="3642055" cy="1005840"/>
          </a:xfrm>
          <a:prstGeom prst="roundRect">
            <a:avLst>
              <a:gd name="adj" fmla="val 5455"/>
            </a:avLst>
          </a:prstGeom>
          <a:solidFill>
            <a:srgbClr val="121B2D"/>
          </a:solidFill>
          <a:ln w="12700">
            <a:solidFill>
              <a:srgbClr val="23304A"/>
            </a:solidFill>
            <a:prstDash val="solid"/>
          </a:ln>
        </p:spPr>
      </p:sp>
      <p:sp>
        <p:nvSpPr>
          <p:cNvPr id="15" name="Text 12"/>
          <p:cNvSpPr/>
          <p:nvPr/>
        </p:nvSpPr>
        <p:spPr>
          <a:xfrm>
            <a:off x="8293608" y="2487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THE PACE BEING CARRIED</a:t>
            </a:r>
            <a:endParaRPr lang="en-US" sz="1000" dirty="0"/>
          </a:p>
        </p:txBody>
      </p:sp>
      <p:sp>
        <p:nvSpPr>
          <p:cNvPr id="16" name="Text 13"/>
          <p:cNvSpPr/>
          <p:nvPr/>
        </p:nvSpPr>
        <p:spPr>
          <a:xfrm>
            <a:off x="8293608" y="2670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+3.2%</a:t>
            </a:r>
            <a:endParaRPr lang="en-US" sz="2600" dirty="0"/>
          </a:p>
        </p:txBody>
      </p:sp>
      <p:sp>
        <p:nvSpPr>
          <p:cNvPr id="17" name="Text 14"/>
          <p:cNvSpPr/>
          <p:nvPr/>
        </p:nvSpPr>
        <p:spPr>
          <a:xfrm>
            <a:off x="8293608" y="3090672"/>
            <a:ext cx="3239719"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per month, measured Jan→Jul</a:t>
            </a:r>
            <a:endParaRPr lang="en-US" sz="950" dirty="0"/>
          </a:p>
        </p:txBody>
      </p:sp>
      <p:sp>
        <p:nvSpPr>
          <p:cNvPr id="18" name="Shape 15"/>
          <p:cNvSpPr/>
          <p:nvPr/>
        </p:nvSpPr>
        <p:spPr>
          <a:xfrm>
            <a:off x="8092440" y="3520440"/>
            <a:ext cx="3642055" cy="1005840"/>
          </a:xfrm>
          <a:prstGeom prst="roundRect">
            <a:avLst>
              <a:gd name="adj" fmla="val 5455"/>
            </a:avLst>
          </a:prstGeom>
          <a:solidFill>
            <a:srgbClr val="121B2D"/>
          </a:solidFill>
          <a:ln w="12700">
            <a:solidFill>
              <a:srgbClr val="23304A"/>
            </a:solidFill>
            <a:prstDash val="solid"/>
          </a:ln>
        </p:spPr>
      </p:sp>
      <p:sp>
        <p:nvSpPr>
          <p:cNvPr id="19" name="Text 16"/>
          <p:cNvSpPr/>
          <p:nvPr/>
        </p:nvSpPr>
        <p:spPr>
          <a:xfrm>
            <a:off x="8293608" y="3630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IF JULY SIMPLY REPEATS</a:t>
            </a:r>
            <a:endParaRPr lang="en-US" sz="1000" dirty="0"/>
          </a:p>
        </p:txBody>
      </p:sp>
      <p:sp>
        <p:nvSpPr>
          <p:cNvPr id="20" name="Text 17"/>
          <p:cNvSpPr/>
          <p:nvPr/>
        </p:nvSpPr>
        <p:spPr>
          <a:xfrm>
            <a:off x="8293608" y="3813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$3.40M</a:t>
            </a:r>
            <a:endParaRPr lang="en-US" sz="2600" dirty="0"/>
          </a:p>
        </p:txBody>
      </p:sp>
      <p:sp>
        <p:nvSpPr>
          <p:cNvPr id="21" name="Text 18"/>
          <p:cNvSpPr/>
          <p:nvPr/>
        </p:nvSpPr>
        <p:spPr>
          <a:xfrm>
            <a:off x="8293608" y="4233672"/>
            <a:ext cx="3239719" cy="219456"/>
          </a:xfrm>
          <a:prstGeom prst="rect">
            <a:avLst/>
          </a:prstGeom>
          <a:noFill/>
          <a:ln/>
        </p:spPr>
        <p:txBody>
          <a:bodyPr wrap="square" lIns="0" tIns="0" rIns="0" bIns="0" rtlCol="0" anchor="ctr"/>
          <a:lstStyle/>
          <a:p>
            <a:pPr indent="0" marL="0">
              <a:buNone/>
            </a:pPr>
            <a:r>
              <a:rPr lang="en-US" sz="950" b="1" dirty="0">
                <a:solidFill>
                  <a:srgbClr val="3DDC97"/>
                </a:solidFill>
                <a:latin typeface="Calibri" pitchFamily="34" charset="0"/>
                <a:ea typeface="Calibri" pitchFamily="34" charset="-122"/>
                <a:cs typeface="Calibri" pitchFamily="34" charset="-120"/>
              </a:rPr>
              <a:t>the floor — no growth at all</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050" b="1" spc="300" kern="0" dirty="0">
                <a:solidFill>
                  <a:srgbClr val="2F8CFF"/>
                </a:solidFill>
                <a:latin typeface="Calibri" pitchFamily="34" charset="0"/>
                <a:ea typeface="Calibri" pitchFamily="34" charset="-122"/>
                <a:cs typeface="Calibri" pitchFamily="34" charset="-120"/>
              </a:rPr>
              <a:t>PART ONE</a:t>
            </a:r>
            <a:endParaRPr lang="en-US" sz="105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3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2F8CFF"/>
                </a:solidFill>
                <a:latin typeface="Calibri" pitchFamily="34" charset="0"/>
                <a:ea typeface="Calibri" pitchFamily="34" charset="-122"/>
                <a:cs typeface="Calibri" pitchFamily="34" charset="-120"/>
              </a:rPr>
              <a:t>AZURE · THE ESTATE</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 the composition is.</a:t>
            </a:r>
            <a:endParaRPr lang="en-US" sz="9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Monthly Azure consumption, Jan–Jul 2026</a:t>
            </a:r>
            <a:endParaRPr lang="en-US" sz="13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05840"/>
          </a:xfrm>
          <a:prstGeom prst="roundRect">
            <a:avLst>
              <a:gd name="adj" fmla="val 5455"/>
            </a:avLst>
          </a:prstGeom>
          <a:solidFill>
            <a:srgbClr val="121B2D"/>
          </a:solidFill>
          <a:ln w="12700">
            <a:solidFill>
              <a:srgbClr val="23304A"/>
            </a:solidFill>
            <a:prstDash val="solid"/>
          </a:ln>
        </p:spPr>
      </p:sp>
      <p:sp>
        <p:nvSpPr>
          <p:cNvPr id="11" name="Text 8"/>
          <p:cNvSpPr/>
          <p:nvPr/>
        </p:nvSpPr>
        <p:spPr>
          <a:xfrm>
            <a:off x="8293608" y="1344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AZURE, JAN–JUL</a:t>
            </a:r>
            <a:endParaRPr lang="en-US" sz="1000" dirty="0"/>
          </a:p>
        </p:txBody>
      </p:sp>
      <p:sp>
        <p:nvSpPr>
          <p:cNvPr id="12" name="Text 9"/>
          <p:cNvSpPr/>
          <p:nvPr/>
        </p:nvSpPr>
        <p:spPr>
          <a:xfrm>
            <a:off x="8293608" y="1527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$1.12M</a:t>
            </a:r>
            <a:endParaRPr lang="en-US" sz="2600" dirty="0"/>
          </a:p>
        </p:txBody>
      </p:sp>
      <p:sp>
        <p:nvSpPr>
          <p:cNvPr id="13" name="Text 10"/>
          <p:cNvSpPr/>
          <p:nvPr/>
        </p:nvSpPr>
        <p:spPr>
          <a:xfrm>
            <a:off x="8293608" y="1947672"/>
            <a:ext cx="3239719" cy="219456"/>
          </a:xfrm>
          <a:prstGeom prst="rect">
            <a:avLst/>
          </a:prstGeom>
          <a:noFill/>
          <a:ln/>
        </p:spPr>
        <p:txBody>
          <a:bodyPr wrap="square" lIns="0" tIns="0" rIns="0" bIns="0" rtlCol="0" anchor="ctr"/>
          <a:lstStyle/>
          <a:p>
            <a:pPr indent="0" marL="0">
              <a:buNone/>
            </a:pPr>
            <a:r>
              <a:rPr lang="en-US" sz="950" b="1" dirty="0">
                <a:solidFill>
                  <a:srgbClr val="2F8CFF"/>
                </a:solidFill>
                <a:latin typeface="Calibri" pitchFamily="34" charset="0"/>
                <a:ea typeface="Calibri" pitchFamily="34" charset="-122"/>
                <a:cs typeface="Calibri" pitchFamily="34" charset="-120"/>
              </a:rPr>
              <a:t>+19% Jan→Jul</a:t>
            </a:r>
            <a:endParaRPr lang="en-US" sz="950" dirty="0"/>
          </a:p>
        </p:txBody>
      </p:sp>
      <p:sp>
        <p:nvSpPr>
          <p:cNvPr id="14" name="Shape 11"/>
          <p:cNvSpPr/>
          <p:nvPr/>
        </p:nvSpPr>
        <p:spPr>
          <a:xfrm>
            <a:off x="8092440" y="2377440"/>
            <a:ext cx="3642055" cy="1005840"/>
          </a:xfrm>
          <a:prstGeom prst="roundRect">
            <a:avLst>
              <a:gd name="adj" fmla="val 5455"/>
            </a:avLst>
          </a:prstGeom>
          <a:solidFill>
            <a:srgbClr val="121B2D"/>
          </a:solidFill>
          <a:ln w="12700">
            <a:solidFill>
              <a:srgbClr val="23304A"/>
            </a:solidFill>
            <a:prstDash val="solid"/>
          </a:ln>
        </p:spPr>
      </p:sp>
      <p:sp>
        <p:nvSpPr>
          <p:cNvPr id="15" name="Text 12"/>
          <p:cNvSpPr/>
          <p:nvPr/>
        </p:nvSpPr>
        <p:spPr>
          <a:xfrm>
            <a:off x="8293608" y="2487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BILLED AI, JAN–JUL</a:t>
            </a:r>
            <a:endParaRPr lang="en-US" sz="1000" dirty="0"/>
          </a:p>
        </p:txBody>
      </p:sp>
      <p:sp>
        <p:nvSpPr>
          <p:cNvPr id="16" name="Text 13"/>
          <p:cNvSpPr/>
          <p:nvPr/>
        </p:nvSpPr>
        <p:spPr>
          <a:xfrm>
            <a:off x="8293608" y="2670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$153,779</a:t>
            </a:r>
            <a:endParaRPr lang="en-US" sz="2600" dirty="0"/>
          </a:p>
        </p:txBody>
      </p:sp>
      <p:sp>
        <p:nvSpPr>
          <p:cNvPr id="17" name="Text 14"/>
          <p:cNvSpPr/>
          <p:nvPr/>
        </p:nvSpPr>
        <p:spPr>
          <a:xfrm>
            <a:off x="8293608" y="3090672"/>
            <a:ext cx="3239719" cy="219456"/>
          </a:xfrm>
          <a:prstGeom prst="rect">
            <a:avLst/>
          </a:prstGeom>
          <a:noFill/>
          <a:ln/>
        </p:spPr>
        <p:txBody>
          <a:bodyPr wrap="square" lIns="0" tIns="0" rIns="0" bIns="0" rtlCol="0" anchor="ctr"/>
          <a:lstStyle/>
          <a:p>
            <a:pPr indent="0" marL="0">
              <a:buNone/>
            </a:pPr>
            <a:r>
              <a:rPr lang="en-US" sz="950" b="1" dirty="0">
                <a:solidFill>
                  <a:srgbClr val="B07CFF"/>
                </a:solidFill>
                <a:latin typeface="Calibri" pitchFamily="34" charset="0"/>
                <a:ea typeface="Calibri" pitchFamily="34" charset="-122"/>
                <a:cs typeface="Calibri" pitchFamily="34" charset="-120"/>
              </a:rPr>
              <a:t>+453% Jan→Jul</a:t>
            </a:r>
            <a:endParaRPr lang="en-US" sz="950" dirty="0"/>
          </a:p>
        </p:txBody>
      </p:sp>
      <p:sp>
        <p:nvSpPr>
          <p:cNvPr id="18" name="Shape 15"/>
          <p:cNvSpPr/>
          <p:nvPr/>
        </p:nvSpPr>
        <p:spPr>
          <a:xfrm>
            <a:off x="8092440" y="3520440"/>
            <a:ext cx="3642055" cy="1005840"/>
          </a:xfrm>
          <a:prstGeom prst="roundRect">
            <a:avLst>
              <a:gd name="adj" fmla="val 5455"/>
            </a:avLst>
          </a:prstGeom>
          <a:solidFill>
            <a:srgbClr val="121B2D"/>
          </a:solidFill>
          <a:ln w="12700">
            <a:solidFill>
              <a:srgbClr val="23304A"/>
            </a:solidFill>
            <a:prstDash val="solid"/>
          </a:ln>
        </p:spPr>
      </p:sp>
      <p:sp>
        <p:nvSpPr>
          <p:cNvPr id="19" name="Text 16"/>
          <p:cNvSpPr/>
          <p:nvPr/>
        </p:nvSpPr>
        <p:spPr>
          <a:xfrm>
            <a:off x="8293608" y="3630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AI SHARE OF AZURE</a:t>
            </a:r>
            <a:endParaRPr lang="en-US" sz="1000" dirty="0"/>
          </a:p>
        </p:txBody>
      </p:sp>
      <p:sp>
        <p:nvSpPr>
          <p:cNvPr id="20" name="Text 17"/>
          <p:cNvSpPr/>
          <p:nvPr/>
        </p:nvSpPr>
        <p:spPr>
          <a:xfrm>
            <a:off x="8293608" y="3813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25.6%</a:t>
            </a:r>
            <a:endParaRPr lang="en-US" sz="2600" dirty="0"/>
          </a:p>
        </p:txBody>
      </p:sp>
      <p:sp>
        <p:nvSpPr>
          <p:cNvPr id="21" name="Text 18"/>
          <p:cNvSpPr/>
          <p:nvPr/>
        </p:nvSpPr>
        <p:spPr>
          <a:xfrm>
            <a:off x="8293608" y="4233672"/>
            <a:ext cx="3239719" cy="219456"/>
          </a:xfrm>
          <a:prstGeom prst="rect">
            <a:avLst/>
          </a:prstGeom>
          <a:noFill/>
          <a:ln/>
        </p:spPr>
        <p:txBody>
          <a:bodyPr wrap="square" lIns="0" tIns="0" rIns="0" bIns="0" rtlCol="0" anchor="ctr"/>
          <a:lstStyle/>
          <a:p>
            <a:pPr indent="0" marL="0">
              <a:buNone/>
            </a:pPr>
            <a:r>
              <a:rPr lang="en-US" sz="950" b="1" dirty="0">
                <a:solidFill>
                  <a:srgbClr val="FF6B7A"/>
                </a:solidFill>
                <a:latin typeface="Calibri" pitchFamily="34" charset="0"/>
                <a:ea typeface="Calibri" pitchFamily="34" charset="-122"/>
                <a:cs typeface="Calibri" pitchFamily="34" charset="-120"/>
              </a:rPr>
              <a:t>was 5.5% in January</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B07CFF"/>
                </a:solidFill>
                <a:latin typeface="Calibri" pitchFamily="34" charset="0"/>
                <a:ea typeface="Calibri" pitchFamily="34" charset="-122"/>
                <a:cs typeface="Calibri" pitchFamily="34" charset="-120"/>
              </a:rPr>
              <a:t>THE SHIFT</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 and today nothing sits between a team and a provider.</a:t>
            </a:r>
            <a:endParaRPr lang="en-US" sz="9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Billed AI spend by platform, Jan–Jul 2026</a:t>
            </a:r>
            <a:endParaRPr lang="en-US" sz="13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05840"/>
          </a:xfrm>
          <a:prstGeom prst="roundRect">
            <a:avLst>
              <a:gd name="adj" fmla="val 5455"/>
            </a:avLst>
          </a:prstGeom>
          <a:solidFill>
            <a:srgbClr val="121B2D"/>
          </a:solidFill>
          <a:ln w="12700">
            <a:solidFill>
              <a:srgbClr val="23304A"/>
            </a:solidFill>
            <a:prstDash val="solid"/>
          </a:ln>
        </p:spPr>
      </p:sp>
      <p:sp>
        <p:nvSpPr>
          <p:cNvPr id="11" name="Text 8"/>
          <p:cNvSpPr/>
          <p:nvPr/>
        </p:nvSpPr>
        <p:spPr>
          <a:xfrm>
            <a:off x="8293608" y="1344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BILLED AI, JULY</a:t>
            </a:r>
            <a:endParaRPr lang="en-US" sz="1000" dirty="0"/>
          </a:p>
        </p:txBody>
      </p:sp>
      <p:sp>
        <p:nvSpPr>
          <p:cNvPr id="12" name="Text 9"/>
          <p:cNvSpPr/>
          <p:nvPr/>
        </p:nvSpPr>
        <p:spPr>
          <a:xfrm>
            <a:off x="8293608" y="1527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$75,439</a:t>
            </a:r>
            <a:endParaRPr lang="en-US" sz="2600" dirty="0"/>
          </a:p>
        </p:txBody>
      </p:sp>
      <p:sp>
        <p:nvSpPr>
          <p:cNvPr id="13" name="Text 10"/>
          <p:cNvSpPr/>
          <p:nvPr/>
        </p:nvSpPr>
        <p:spPr>
          <a:xfrm>
            <a:off x="8293608" y="1947672"/>
            <a:ext cx="3239719" cy="219456"/>
          </a:xfrm>
          <a:prstGeom prst="rect">
            <a:avLst/>
          </a:prstGeom>
          <a:noFill/>
          <a:ln/>
        </p:spPr>
        <p:txBody>
          <a:bodyPr wrap="square" lIns="0" tIns="0" rIns="0" bIns="0" rtlCol="0" anchor="ctr"/>
          <a:lstStyle/>
          <a:p>
            <a:pPr indent="0" marL="0">
              <a:buNone/>
            </a:pPr>
            <a:r>
              <a:rPr lang="en-US" sz="950" b="1" dirty="0">
                <a:solidFill>
                  <a:srgbClr val="B07CFF"/>
                </a:solidFill>
                <a:latin typeface="Calibri" pitchFamily="34" charset="0"/>
                <a:ea typeface="Calibri" pitchFamily="34" charset="-122"/>
                <a:cs typeface="Calibri" pitchFamily="34" charset="-120"/>
              </a:rPr>
              <a:t>was $8,640 in January</a:t>
            </a:r>
            <a:endParaRPr lang="en-US" sz="950" dirty="0"/>
          </a:p>
        </p:txBody>
      </p:sp>
      <p:sp>
        <p:nvSpPr>
          <p:cNvPr id="14" name="Shape 11"/>
          <p:cNvSpPr/>
          <p:nvPr/>
        </p:nvSpPr>
        <p:spPr>
          <a:xfrm>
            <a:off x="8092440" y="2377440"/>
            <a:ext cx="3642055" cy="1005840"/>
          </a:xfrm>
          <a:prstGeom prst="roundRect">
            <a:avLst>
              <a:gd name="adj" fmla="val 5455"/>
            </a:avLst>
          </a:prstGeom>
          <a:solidFill>
            <a:srgbClr val="121B2D"/>
          </a:solidFill>
          <a:ln w="12700">
            <a:solidFill>
              <a:srgbClr val="23304A"/>
            </a:solidFill>
            <a:prstDash val="solid"/>
          </a:ln>
        </p:spPr>
      </p:sp>
      <p:sp>
        <p:nvSpPr>
          <p:cNvPr id="15" name="Text 12"/>
          <p:cNvSpPr/>
          <p:nvPr/>
        </p:nvSpPr>
        <p:spPr>
          <a:xfrm>
            <a:off x="8293608" y="2487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SHARE OF THE CLOUD BILL</a:t>
            </a:r>
            <a:endParaRPr lang="en-US" sz="1000" dirty="0"/>
          </a:p>
        </p:txBody>
      </p:sp>
      <p:sp>
        <p:nvSpPr>
          <p:cNvPr id="16" name="Text 13"/>
          <p:cNvSpPr/>
          <p:nvPr/>
        </p:nvSpPr>
        <p:spPr>
          <a:xfrm>
            <a:off x="8293608" y="2670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26.6%</a:t>
            </a:r>
            <a:endParaRPr lang="en-US" sz="2600" dirty="0"/>
          </a:p>
        </p:txBody>
      </p:sp>
      <p:sp>
        <p:nvSpPr>
          <p:cNvPr id="17" name="Text 14"/>
          <p:cNvSpPr/>
          <p:nvPr/>
        </p:nvSpPr>
        <p:spPr>
          <a:xfrm>
            <a:off x="8293608" y="3090672"/>
            <a:ext cx="3239719" cy="219456"/>
          </a:xfrm>
          <a:prstGeom prst="rect">
            <a:avLst/>
          </a:prstGeom>
          <a:noFill/>
          <a:ln/>
        </p:spPr>
        <p:txBody>
          <a:bodyPr wrap="square" lIns="0" tIns="0" rIns="0" bIns="0" rtlCol="0" anchor="ctr"/>
          <a:lstStyle/>
          <a:p>
            <a:pPr indent="0" marL="0">
              <a:buNone/>
            </a:pPr>
            <a:r>
              <a:rPr lang="en-US" sz="950" b="1" dirty="0">
                <a:solidFill>
                  <a:srgbClr val="FF6B7A"/>
                </a:solidFill>
                <a:latin typeface="Calibri" pitchFamily="34" charset="0"/>
                <a:ea typeface="Calibri" pitchFamily="34" charset="-122"/>
                <a:cs typeface="Calibri" pitchFamily="34" charset="-120"/>
              </a:rPr>
              <a:t>was 3.7% in January</a:t>
            </a:r>
            <a:endParaRPr lang="en-US" sz="950" dirty="0"/>
          </a:p>
        </p:txBody>
      </p:sp>
      <p:sp>
        <p:nvSpPr>
          <p:cNvPr id="18" name="Shape 15"/>
          <p:cNvSpPr/>
          <p:nvPr/>
        </p:nvSpPr>
        <p:spPr>
          <a:xfrm>
            <a:off x="8092440" y="3520440"/>
            <a:ext cx="3642055" cy="1005840"/>
          </a:xfrm>
          <a:prstGeom prst="roundRect">
            <a:avLst>
              <a:gd name="adj" fmla="val 5455"/>
            </a:avLst>
          </a:prstGeom>
          <a:solidFill>
            <a:srgbClr val="121B2D"/>
          </a:solidFill>
          <a:ln w="12700">
            <a:solidFill>
              <a:srgbClr val="23304A"/>
            </a:solidFill>
            <a:prstDash val="solid"/>
          </a:ln>
        </p:spPr>
      </p:sp>
      <p:sp>
        <p:nvSpPr>
          <p:cNvPr id="19" name="Text 16"/>
          <p:cNvSpPr/>
          <p:nvPr/>
        </p:nvSpPr>
        <p:spPr>
          <a:xfrm>
            <a:off x="8293608" y="3630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BILLED AI, JAN–JUL</a:t>
            </a:r>
            <a:endParaRPr lang="en-US" sz="1000" dirty="0"/>
          </a:p>
        </p:txBody>
      </p:sp>
      <p:sp>
        <p:nvSpPr>
          <p:cNvPr id="20" name="Text 17"/>
          <p:cNvSpPr/>
          <p:nvPr/>
        </p:nvSpPr>
        <p:spPr>
          <a:xfrm>
            <a:off x="8293608" y="3813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$199,531</a:t>
            </a:r>
            <a:endParaRPr lang="en-US" sz="2600" dirty="0"/>
          </a:p>
        </p:txBody>
      </p:sp>
      <p:sp>
        <p:nvSpPr>
          <p:cNvPr id="21" name="Text 18"/>
          <p:cNvSpPr/>
          <p:nvPr/>
        </p:nvSpPr>
        <p:spPr>
          <a:xfrm>
            <a:off x="8293608" y="4233672"/>
            <a:ext cx="3239719"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+773% Jan→Jul</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B07CFF"/>
                </a:solidFill>
                <a:latin typeface="Calibri" pitchFamily="34" charset="0"/>
                <a:ea typeface="Calibri" pitchFamily="34" charset="-122"/>
                <a:cs typeface="Calibri" pitchFamily="34" charset="-120"/>
              </a:rPr>
              <a:t>AZURE · AI DEEP DIVE</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May–Jul invoiced — the only window with project-level meter splits. $152,402 of AI meter spend across tagged projects.</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Not automatically wrong — inference needs somewhere to run — but it is the part of the AI bill that right-sizing can actually move, and it is the part nobody is looking at.</a:t>
            </a:r>
            <a:endParaRPr lang="en-US" sz="9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AI spend by project</a:t>
            </a:r>
            <a:endParaRPr lang="en-US" sz="13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95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14884">
                <a:tc>
                  <a:txBody>
                    <a:bodyPr/>
                    <a:lstStyle/>
                    <a:p>
                      <a:pPr algn="l" indent="0" marL="0">
                        <a:buNone/>
                      </a:pPr>
                      <a:r>
                        <a:rPr lang="en-US" sz="850" b="1" spc="80" kern="0" dirty="0">
                          <a:solidFill>
                            <a:srgbClr val="91A0B7"/>
                          </a:solidFill>
                          <a:latin typeface="Calibri" pitchFamily="34" charset="0"/>
                          <a:ea typeface="Calibri" pitchFamily="34" charset="-122"/>
                          <a:cs typeface="Calibri" pitchFamily="34" charset="-120"/>
                        </a:rPr>
                        <a:t>Project</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850" b="1" spc="80" kern="0" dirty="0">
                          <a:solidFill>
                            <a:srgbClr val="91A0B7"/>
                          </a:solidFill>
                          <a:latin typeface="Calibri" pitchFamily="34" charset="0"/>
                          <a:ea typeface="Calibri" pitchFamily="34" charset="-122"/>
                          <a:cs typeface="Calibri" pitchFamily="34" charset="-120"/>
                        </a:rPr>
                        <a:t>AI meter spend</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850" b="1" spc="80" kern="0" dirty="0">
                          <a:solidFill>
                            <a:srgbClr val="91A0B7"/>
                          </a:solidFill>
                          <a:latin typeface="Calibri" pitchFamily="34" charset="0"/>
                          <a:ea typeface="Calibri" pitchFamily="34" charset="-122"/>
                          <a:cs typeface="Calibri" pitchFamily="34" charset="-120"/>
                        </a:rPr>
                        <a:t>Share of AI</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850" b="1" spc="80" kern="0" dirty="0">
                          <a:solidFill>
                            <a:srgbClr val="91A0B7"/>
                          </a:solidFill>
                          <a:latin typeface="Calibri" pitchFamily="34" charset="0"/>
                          <a:ea typeface="Calibri" pitchFamily="34" charset="-122"/>
                          <a:cs typeface="Calibri" pitchFamily="34" charset="-120"/>
                        </a:rPr>
                        <a:t>Largest driver inside the tag</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DataCloud</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$43,840</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28.8%</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900" dirty="0">
                          <a:solidFill>
                            <a:srgbClr val="F4F7FB"/>
                          </a:solidFill>
                          <a:latin typeface="Calibri" pitchFamily="34" charset="0"/>
                          <a:ea typeface="Calibri" pitchFamily="34" charset="-122"/>
                          <a:cs typeface="Calibri" pitchFamily="34" charset="-120"/>
                        </a:rPr>
                        <a:t>Azure Databricks 47.3%</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BI</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$28,358</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18.6%</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900" dirty="0">
                          <a:solidFill>
                            <a:srgbClr val="FF6B7A"/>
                          </a:solidFill>
                          <a:latin typeface="Calibri" pitchFamily="34" charset="0"/>
                          <a:ea typeface="Calibri" pitchFamily="34" charset="-122"/>
                          <a:cs typeface="Calibri" pitchFamily="34" charset="-120"/>
                        </a:rPr>
                        <a:t>Infrastructure 69.3%</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Solugen</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$23,855</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15.7%</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900" dirty="0">
                          <a:solidFill>
                            <a:srgbClr val="F4F7FB"/>
                          </a:solidFill>
                          <a:latin typeface="Calibri" pitchFamily="34" charset="0"/>
                          <a:ea typeface="Calibri" pitchFamily="34" charset="-122"/>
                          <a:cs typeface="Calibri" pitchFamily="34" charset="-120"/>
                        </a:rPr>
                        <a:t>Foundry Models 61.1%</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AIFactory</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$22,374</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14.7%</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900" dirty="0">
                          <a:solidFill>
                            <a:srgbClr val="FF6B7A"/>
                          </a:solidFill>
                          <a:latin typeface="Calibri" pitchFamily="34" charset="0"/>
                          <a:ea typeface="Calibri" pitchFamily="34" charset="-122"/>
                          <a:cs typeface="Calibri" pitchFamily="34" charset="-120"/>
                        </a:rPr>
                        <a:t>Infrastructure 64.8%</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Actuary</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$13,887</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9.1%</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900" dirty="0">
                          <a:solidFill>
                            <a:srgbClr val="F4F7FB"/>
                          </a:solidFill>
                          <a:latin typeface="Calibri" pitchFamily="34" charset="0"/>
                          <a:ea typeface="Calibri" pitchFamily="34" charset="-122"/>
                          <a:cs typeface="Calibri" pitchFamily="34" charset="-120"/>
                        </a:rPr>
                        <a:t>Azure Databricks 55.3%</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Research</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$12,090</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7.9%</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900" dirty="0">
                          <a:solidFill>
                            <a:srgbClr val="FF6B7A"/>
                          </a:solidFill>
                          <a:latin typeface="Calibri" pitchFamily="34" charset="0"/>
                          <a:ea typeface="Calibri" pitchFamily="34" charset="-122"/>
                          <a:cs typeface="Calibri" pitchFamily="34" charset="-120"/>
                        </a:rPr>
                        <a:t>Infrastructure 55.8%</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05840"/>
          </a:xfrm>
          <a:prstGeom prst="roundRect">
            <a:avLst>
              <a:gd name="adj" fmla="val 5455"/>
            </a:avLst>
          </a:prstGeom>
          <a:solidFill>
            <a:srgbClr val="121B2D"/>
          </a:solidFill>
          <a:ln w="12700">
            <a:solidFill>
              <a:srgbClr val="23304A"/>
            </a:solidFill>
            <a:prstDash val="solid"/>
          </a:ln>
        </p:spPr>
      </p:sp>
      <p:sp>
        <p:nvSpPr>
          <p:cNvPr id="12" name="Text 9"/>
          <p:cNvSpPr/>
          <p:nvPr/>
        </p:nvSpPr>
        <p:spPr>
          <a:xfrm>
            <a:off x="8796528" y="1344168"/>
            <a:ext cx="273679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THREE OF THE TOP SIX</a:t>
            </a:r>
            <a:endParaRPr lang="en-US" sz="1000" dirty="0"/>
          </a:p>
        </p:txBody>
      </p:sp>
      <p:sp>
        <p:nvSpPr>
          <p:cNvPr id="13" name="Text 10"/>
          <p:cNvSpPr/>
          <p:nvPr/>
        </p:nvSpPr>
        <p:spPr>
          <a:xfrm>
            <a:off x="8796528" y="1527048"/>
            <a:ext cx="273679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&gt; 50%</a:t>
            </a:r>
            <a:endParaRPr lang="en-US" sz="2600" dirty="0"/>
          </a:p>
        </p:txBody>
      </p:sp>
      <p:sp>
        <p:nvSpPr>
          <p:cNvPr id="14" name="Text 11"/>
          <p:cNvSpPr/>
          <p:nvPr/>
        </p:nvSpPr>
        <p:spPr>
          <a:xfrm>
            <a:off x="8796528" y="1947672"/>
            <a:ext cx="2736799" cy="219456"/>
          </a:xfrm>
          <a:prstGeom prst="rect">
            <a:avLst/>
          </a:prstGeom>
          <a:noFill/>
          <a:ln/>
        </p:spPr>
        <p:txBody>
          <a:bodyPr wrap="square" lIns="0" tIns="0" rIns="0" bIns="0" rtlCol="0" anchor="ctr"/>
          <a:lstStyle/>
          <a:p>
            <a:pPr indent="0" marL="0">
              <a:buNone/>
            </a:pPr>
            <a:r>
              <a:rPr lang="en-US" sz="950" b="1" dirty="0">
                <a:solidFill>
                  <a:srgbClr val="FF6B7A"/>
                </a:solidFill>
                <a:latin typeface="Calibri" pitchFamily="34" charset="0"/>
                <a:ea typeface="Calibri" pitchFamily="34" charset="-122"/>
                <a:cs typeface="Calibri" pitchFamily="34" charset="-120"/>
              </a:rPr>
              <a:t>spend more on infrastructure than on models</a:t>
            </a:r>
            <a:endParaRPr lang="en-US" sz="950" dirty="0"/>
          </a:p>
        </p:txBody>
      </p:sp>
      <p:sp>
        <p:nvSpPr>
          <p:cNvPr id="15" name="Shape 12"/>
          <p:cNvSpPr/>
          <p:nvPr/>
        </p:nvSpPr>
        <p:spPr>
          <a:xfrm>
            <a:off x="8595360" y="2377440"/>
            <a:ext cx="3139135" cy="1005840"/>
          </a:xfrm>
          <a:prstGeom prst="roundRect">
            <a:avLst>
              <a:gd name="adj" fmla="val 5455"/>
            </a:avLst>
          </a:prstGeom>
          <a:solidFill>
            <a:srgbClr val="121B2D"/>
          </a:solidFill>
          <a:ln w="12700">
            <a:solidFill>
              <a:srgbClr val="23304A"/>
            </a:solidFill>
            <a:prstDash val="solid"/>
          </a:ln>
        </p:spPr>
      </p:sp>
      <p:sp>
        <p:nvSpPr>
          <p:cNvPr id="16" name="Text 13"/>
          <p:cNvSpPr/>
          <p:nvPr/>
        </p:nvSpPr>
        <p:spPr>
          <a:xfrm>
            <a:off x="8796528" y="2487168"/>
            <a:ext cx="273679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AIFACTORY TAG</a:t>
            </a:r>
            <a:endParaRPr lang="en-US" sz="1000" dirty="0"/>
          </a:p>
        </p:txBody>
      </p:sp>
      <p:sp>
        <p:nvSpPr>
          <p:cNvPr id="17" name="Text 14"/>
          <p:cNvSpPr/>
          <p:nvPr/>
        </p:nvSpPr>
        <p:spPr>
          <a:xfrm>
            <a:off x="8796528" y="2670048"/>
            <a:ext cx="273679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$63,609</a:t>
            </a:r>
            <a:endParaRPr lang="en-US" sz="2600" dirty="0"/>
          </a:p>
        </p:txBody>
      </p:sp>
      <p:sp>
        <p:nvSpPr>
          <p:cNvPr id="18" name="Text 15"/>
          <p:cNvSpPr/>
          <p:nvPr/>
        </p:nvSpPr>
        <p:spPr>
          <a:xfrm>
            <a:off x="8796528" y="3090672"/>
            <a:ext cx="2736799" cy="219456"/>
          </a:xfrm>
          <a:prstGeom prst="rect">
            <a:avLst/>
          </a:prstGeom>
          <a:noFill/>
          <a:ln/>
        </p:spPr>
        <p:txBody>
          <a:bodyPr wrap="square" lIns="0" tIns="0" rIns="0" bIns="0" rtlCol="0" anchor="ctr"/>
          <a:lstStyle/>
          <a:p>
            <a:pPr indent="0" marL="0">
              <a:buNone/>
            </a:pPr>
            <a:r>
              <a:rPr lang="en-US" sz="950" b="1" dirty="0">
                <a:solidFill>
                  <a:srgbClr val="E0A030"/>
                </a:solidFill>
                <a:latin typeface="Calibri" pitchFamily="34" charset="0"/>
                <a:ea typeface="Calibri" pitchFamily="34" charset="-122"/>
                <a:cs typeface="Calibri" pitchFamily="34" charset="-120"/>
              </a:rPr>
              <a:t>of which 64.8% is infrastructure</a:t>
            </a:r>
            <a:endParaRPr lang="en-US" sz="950" dirty="0"/>
          </a:p>
        </p:txBody>
      </p:sp>
      <p:sp>
        <p:nvSpPr>
          <p:cNvPr id="19" name="Shape 16"/>
          <p:cNvSpPr/>
          <p:nvPr/>
        </p:nvSpPr>
        <p:spPr>
          <a:xfrm>
            <a:off x="8595360" y="3520440"/>
            <a:ext cx="3139135" cy="1005840"/>
          </a:xfrm>
          <a:prstGeom prst="roundRect">
            <a:avLst>
              <a:gd name="adj" fmla="val 5455"/>
            </a:avLst>
          </a:prstGeom>
          <a:solidFill>
            <a:srgbClr val="121B2D"/>
          </a:solidFill>
          <a:ln w="12700">
            <a:solidFill>
              <a:srgbClr val="23304A"/>
            </a:solidFill>
            <a:prstDash val="solid"/>
          </a:ln>
        </p:spPr>
      </p:sp>
      <p:sp>
        <p:nvSpPr>
          <p:cNvPr id="20" name="Text 17"/>
          <p:cNvSpPr/>
          <p:nvPr/>
        </p:nvSpPr>
        <p:spPr>
          <a:xfrm>
            <a:off x="8796528" y="3630168"/>
            <a:ext cx="273679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LARGEST SINGLE LINE</a:t>
            </a:r>
            <a:endParaRPr lang="en-US" sz="1000" dirty="0"/>
          </a:p>
        </p:txBody>
      </p:sp>
      <p:sp>
        <p:nvSpPr>
          <p:cNvPr id="21" name="Text 18"/>
          <p:cNvSpPr/>
          <p:nvPr/>
        </p:nvSpPr>
        <p:spPr>
          <a:xfrm>
            <a:off x="8796528" y="3813048"/>
            <a:ext cx="273679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$17,311</a:t>
            </a:r>
            <a:endParaRPr lang="en-US" sz="2600" dirty="0"/>
          </a:p>
        </p:txBody>
      </p:sp>
      <p:sp>
        <p:nvSpPr>
          <p:cNvPr id="22" name="Text 19"/>
          <p:cNvSpPr/>
          <p:nvPr/>
        </p:nvSpPr>
        <p:spPr>
          <a:xfrm>
            <a:off x="8796528" y="4233672"/>
            <a:ext cx="2736799"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API Management — ahead of Foundry Models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FF9F43"/>
                </a:solidFill>
                <a:latin typeface="Calibri" pitchFamily="34" charset="0"/>
                <a:ea typeface="Calibri" pitchFamily="34" charset="-122"/>
                <a:cs typeface="Calibri" pitchFamily="34" charset="-120"/>
              </a:rPr>
              <a:t>AWS · THE $16,100 QUESTION</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The reversed charge is Claude Opus 4.8 in full plus part of Opus 4.6, on ai-factory-dev —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9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REGULAR AWS USAGE, JULY</a:t>
            </a:r>
            <a:endParaRPr lang="en-US" sz="10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$92,930</a:t>
            </a:r>
            <a:endParaRPr lang="en-US" sz="28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950" dirty="0">
                <a:solidFill>
                  <a:srgbClr val="91A0B7"/>
                </a:solidFill>
                <a:latin typeface="Calibri" pitchFamily="34" charset="0"/>
                <a:ea typeface="Calibri" pitchFamily="34" charset="-122"/>
                <a:cs typeface="Calibri" pitchFamily="34" charset="-120"/>
              </a:rPr>
              <a:t>service usage as metered</a:t>
            </a:r>
            <a:endParaRPr lang="en-US" sz="95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CREDIT APPLIED</a:t>
            </a:r>
            <a:endParaRPr lang="en-US" sz="10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2800" b="1" dirty="0">
                <a:solidFill>
                  <a:srgbClr val="FF9F43"/>
                </a:solidFill>
                <a:latin typeface="Calibri" pitchFamily="34" charset="0"/>
                <a:ea typeface="Calibri" pitchFamily="34" charset="-122"/>
                <a:cs typeface="Calibri" pitchFamily="34" charset="-120"/>
              </a:rPr>
              <a:t>$16,100</a:t>
            </a:r>
            <a:endParaRPr lang="en-US" sz="28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950" dirty="0">
                <a:solidFill>
                  <a:srgbClr val="91A0B7"/>
                </a:solidFill>
                <a:latin typeface="Calibri" pitchFamily="34" charset="0"/>
                <a:ea typeface="Calibri" pitchFamily="34" charset="-122"/>
                <a:cs typeface="Calibri" pitchFamily="34" charset="-120"/>
              </a:rPr>
              <a:t>MAP contract credit, ai-factory-dev</a:t>
            </a:r>
            <a:endParaRPr lang="en-US" sz="95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200" b="1" dirty="0">
                <a:solidFill>
                  <a:srgbClr val="91A0B7"/>
                </a:solidFill>
                <a:latin typeface="Calibri" pitchFamily="34" charset="0"/>
                <a:ea typeface="Calibri" pitchFamily="34" charset="-122"/>
                <a:cs typeface="Calibri" pitchFamily="34" charset="-120"/>
              </a:rPr>
              <a:t>−</a:t>
            </a:r>
            <a:endParaRPr lang="en-US" sz="22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INVOICED BY COMM-IT</a:t>
            </a:r>
            <a:endParaRPr lang="en-US" sz="10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2800" b="1" dirty="0">
                <a:solidFill>
                  <a:srgbClr val="3DDC97"/>
                </a:solidFill>
                <a:latin typeface="Calibri" pitchFamily="34" charset="0"/>
                <a:ea typeface="Calibri" pitchFamily="34" charset="-122"/>
                <a:cs typeface="Calibri" pitchFamily="34" charset="-120"/>
              </a:rPr>
              <a:t>$76,830</a:t>
            </a:r>
            <a:endParaRPr lang="en-US" sz="28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950" dirty="0">
                <a:solidFill>
                  <a:srgbClr val="91A0B7"/>
                </a:solidFill>
                <a:latin typeface="Calibri" pitchFamily="34" charset="0"/>
                <a:ea typeface="Calibri" pitchFamily="34" charset="-122"/>
                <a:cs typeface="Calibri" pitchFamily="34" charset="-120"/>
              </a:rPr>
              <a:t>what we actually paid</a:t>
            </a:r>
            <a:endParaRPr lang="en-US" sz="95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200" b="1" dirty="0">
                <a:solidFill>
                  <a:srgbClr val="91A0B7"/>
                </a:solidFill>
                <a:latin typeface="Calibri" pitchFamily="34" charset="0"/>
                <a:ea typeface="Calibri" pitchFamily="34" charset="-122"/>
                <a:cs typeface="Calibri" pitchFamily="34" charset="-120"/>
              </a:rPr>
              <a:t>=</a:t>
            </a:r>
            <a:endParaRPr lang="en-US" sz="22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Where the $16,100.27 sits — July Bedrock consumption, two sources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14884">
                <a:tc>
                  <a:txBody>
                    <a:bodyPr/>
                    <a:lstStyle/>
                    <a:p>
                      <a:pPr algn="l" indent="0" marL="0">
                        <a:buNone/>
                      </a:pPr>
                      <a:r>
                        <a:rPr lang="en-US" sz="850" b="1" spc="80" kern="0" dirty="0">
                          <a:solidFill>
                            <a:srgbClr val="91A0B7"/>
                          </a:solidFill>
                          <a:latin typeface="Calibri" pitchFamily="34" charset="0"/>
                          <a:ea typeface="Calibri" pitchFamily="34" charset="-122"/>
                          <a:cs typeface="Calibri" pitchFamily="34" charset="-120"/>
                        </a:rPr>
                        <a:t>Claude model, July 2026</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850" b="1" spc="80" kern="0" dirty="0">
                          <a:solidFill>
                            <a:srgbClr val="91A0B7"/>
                          </a:solidFill>
                          <a:latin typeface="Calibri" pitchFamily="34" charset="0"/>
                          <a:ea typeface="Calibri" pitchFamily="34" charset="-122"/>
                          <a:cs typeface="Calibri" pitchFamily="34" charset="-120"/>
                        </a:rPr>
                        <a:t>Operational data (gross)</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850" b="1" spc="80" kern="0" dirty="0">
                          <a:solidFill>
                            <a:srgbClr val="91A0B7"/>
                          </a:solidFill>
                          <a:latin typeface="Calibri" pitchFamily="34" charset="0"/>
                          <a:ea typeface="Calibri" pitchFamily="34" charset="-122"/>
                          <a:cs typeface="Calibri" pitchFamily="34" charset="-120"/>
                        </a:rPr>
                        <a:t>v33 CIO deck (net)</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850" b="1" spc="80" kern="0" dirty="0">
                          <a:solidFill>
                            <a:srgbClr val="91A0B7"/>
                          </a:solidFill>
                          <a:latin typeface="Calibri" pitchFamily="34" charset="0"/>
                          <a:ea typeface="Calibri" pitchFamily="34" charset="-122"/>
                          <a:cs typeface="Calibri" pitchFamily="34" charset="-120"/>
                        </a:rPr>
                        <a:t>Difference</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Claude Opus 4.8</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$11,361.86</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F9F43"/>
                          </a:solidFill>
                          <a:latin typeface="Calibri" pitchFamily="34" charset="0"/>
                          <a:ea typeface="Calibri" pitchFamily="34" charset="-122"/>
                          <a:cs typeface="Calibri" pitchFamily="34" charset="-120"/>
                        </a:rPr>
                        <a:t>$11,361.86</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900" dirty="0">
                          <a:solidFill>
                            <a:srgbClr val="F4F7FB"/>
                          </a:solidFill>
                          <a:latin typeface="Calibri" pitchFamily="34" charset="0"/>
                          <a:ea typeface="Calibri" pitchFamily="34" charset="-122"/>
                          <a:cs typeface="Calibri" pitchFamily="34" charset="-120"/>
                        </a:rPr>
                        <a:t>entire line reversed</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Claude Opus 4.6</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$9,873.22</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$5,134.81</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FF9F43"/>
                          </a:solidFill>
                          <a:latin typeface="Calibri" pitchFamily="34" charset="0"/>
                          <a:ea typeface="Calibri" pitchFamily="34" charset="-122"/>
                          <a:cs typeface="Calibri" pitchFamily="34" charset="-120"/>
                        </a:rPr>
                        <a:t>$4,738.41</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900" dirty="0">
                          <a:solidFill>
                            <a:srgbClr val="F4F7FB"/>
                          </a:solidFill>
                          <a:latin typeface="Calibri" pitchFamily="34" charset="0"/>
                          <a:ea typeface="Calibri" pitchFamily="34" charset="-122"/>
                          <a:cs typeface="Calibri" pitchFamily="34" charset="-120"/>
                        </a:rPr>
                        <a:t>part of the line reversed</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Opus 4.7 · Opus 5 · Sonnet 4.6 · Haiku 4.5 · Sonnet 4.5</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$3,362.97</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$3,362.97</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91A0B7"/>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900" dirty="0">
                          <a:solidFill>
                            <a:srgbClr val="F4F7FB"/>
                          </a:solidFill>
                          <a:latin typeface="Calibri" pitchFamily="34" charset="0"/>
                          <a:ea typeface="Calibri" pitchFamily="34" charset="-122"/>
                          <a:cs typeface="Calibri" pitchFamily="34" charset="-120"/>
                        </a:rPr>
                        <a:t>identical in both</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b="1" dirty="0">
                          <a:solidFill>
                            <a:srgbClr val="F4F7FB"/>
                          </a:solidFill>
                          <a:latin typeface="Calibri" pitchFamily="34" charset="0"/>
                          <a:ea typeface="Calibri" pitchFamily="34" charset="-122"/>
                          <a:cs typeface="Calibri" pitchFamily="34" charset="-120"/>
                        </a:rPr>
                        <a:t>$25,288.33</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b="1" dirty="0">
                          <a:solidFill>
                            <a:srgbClr val="F4F7FB"/>
                          </a:solidFill>
                          <a:latin typeface="Calibri" pitchFamily="34" charset="0"/>
                          <a:ea typeface="Calibri" pitchFamily="34" charset="-122"/>
                          <a:cs typeface="Calibri" pitchFamily="34" charset="-120"/>
                        </a:rPr>
                        <a:t>$9,188.06</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b="1" dirty="0">
                          <a:solidFill>
                            <a:srgbClr val="3DDC97"/>
                          </a:solidFill>
                          <a:latin typeface="Calibri" pitchFamily="34" charset="0"/>
                          <a:ea typeface="Calibri" pitchFamily="34" charset="-122"/>
                          <a:cs typeface="Calibri" pitchFamily="34" charset="-120"/>
                        </a:rPr>
                        <a:t>$16,100.27</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900" dirty="0">
                          <a:solidFill>
                            <a:srgbClr val="3DDC97"/>
                          </a:solidFill>
                          <a:latin typeface="Calibri" pitchFamily="34" charset="0"/>
                          <a:ea typeface="Calibri" pitchFamily="34" charset="-122"/>
                          <a:cs typeface="Calibri" pitchFamily="34" charset="-120"/>
                        </a:rPr>
                        <a:t>matches the credit to the cent</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4631436"/>
            <a:ext cx="3606698" cy="960120"/>
          </a:xfrm>
          <a:prstGeom prst="roundRect">
            <a:avLst>
              <a:gd name="adj" fmla="val 5714"/>
            </a:avLst>
          </a:prstGeom>
          <a:solidFill>
            <a:srgbClr val="121B2D"/>
          </a:solidFill>
          <a:ln w="12700">
            <a:solidFill>
              <a:srgbClr val="23304A"/>
            </a:solidFill>
            <a:prstDash val="solid"/>
          </a:ln>
        </p:spPr>
      </p:sp>
      <p:sp>
        <p:nvSpPr>
          <p:cNvPr id="25" name="Text 22"/>
          <p:cNvSpPr/>
          <p:nvPr/>
        </p:nvSpPr>
        <p:spPr>
          <a:xfrm>
            <a:off x="658368" y="4741164"/>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IDENTIFIED</a:t>
            </a:r>
            <a:endParaRPr lang="en-US" sz="1000" dirty="0"/>
          </a:p>
        </p:txBody>
      </p:sp>
      <p:sp>
        <p:nvSpPr>
          <p:cNvPr id="26" name="Text 23"/>
          <p:cNvSpPr/>
          <p:nvPr/>
        </p:nvSpPr>
        <p:spPr>
          <a:xfrm>
            <a:off x="658368" y="4924044"/>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$16,100.27</a:t>
            </a:r>
            <a:endParaRPr lang="en-US" sz="2600" dirty="0"/>
          </a:p>
        </p:txBody>
      </p:sp>
      <p:sp>
        <p:nvSpPr>
          <p:cNvPr id="27" name="Text 24"/>
          <p:cNvSpPr/>
          <p:nvPr/>
        </p:nvSpPr>
        <p:spPr>
          <a:xfrm>
            <a:off x="658368" y="5344668"/>
            <a:ext cx="3204362" cy="219456"/>
          </a:xfrm>
          <a:prstGeom prst="rect">
            <a:avLst/>
          </a:prstGeom>
          <a:noFill/>
          <a:ln/>
        </p:spPr>
        <p:txBody>
          <a:bodyPr wrap="square" lIns="0" tIns="0" rIns="0" bIns="0" rtlCol="0" anchor="ctr"/>
          <a:lstStyle/>
          <a:p>
            <a:pPr indent="0" marL="0">
              <a:buNone/>
            </a:pPr>
            <a:r>
              <a:rPr lang="en-US" sz="950" b="1" dirty="0">
                <a:solidFill>
                  <a:srgbClr val="3DDC97"/>
                </a:solidFill>
                <a:latin typeface="Calibri" pitchFamily="34" charset="0"/>
                <a:ea typeface="Calibri" pitchFamily="34" charset="-122"/>
                <a:cs typeface="Calibri" pitchFamily="34" charset="-120"/>
              </a:rPr>
              <a:t>Opus 4.8 in full, plus part of Opus 4.6</a:t>
            </a:r>
            <a:endParaRPr lang="en-US" sz="950" dirty="0"/>
          </a:p>
        </p:txBody>
      </p:sp>
      <p:sp>
        <p:nvSpPr>
          <p:cNvPr id="28" name="Shape 25"/>
          <p:cNvSpPr/>
          <p:nvPr/>
        </p:nvSpPr>
        <p:spPr>
          <a:xfrm>
            <a:off x="4292498" y="4631436"/>
            <a:ext cx="3606698" cy="960120"/>
          </a:xfrm>
          <a:prstGeom prst="roundRect">
            <a:avLst>
              <a:gd name="adj" fmla="val 5714"/>
            </a:avLst>
          </a:prstGeom>
          <a:solidFill>
            <a:srgbClr val="121B2D"/>
          </a:solidFill>
          <a:ln w="12700">
            <a:solidFill>
              <a:srgbClr val="23304A"/>
            </a:solidFill>
            <a:prstDash val="solid"/>
          </a:ln>
        </p:spPr>
      </p:sp>
      <p:sp>
        <p:nvSpPr>
          <p:cNvPr id="29" name="Text 26"/>
          <p:cNvSpPr/>
          <p:nvPr/>
        </p:nvSpPr>
        <p:spPr>
          <a:xfrm>
            <a:off x="4493666" y="4741164"/>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ATTRIBUTED TO</a:t>
            </a:r>
            <a:endParaRPr lang="en-US" sz="1000" dirty="0"/>
          </a:p>
        </p:txBody>
      </p:sp>
      <p:sp>
        <p:nvSpPr>
          <p:cNvPr id="30" name="Text 27"/>
          <p:cNvSpPr/>
          <p:nvPr/>
        </p:nvSpPr>
        <p:spPr>
          <a:xfrm>
            <a:off x="4493666" y="4924044"/>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ai-factory-dev</a:t>
            </a:r>
            <a:endParaRPr lang="en-US" sz="2600" dirty="0"/>
          </a:p>
        </p:txBody>
      </p:sp>
      <p:sp>
        <p:nvSpPr>
          <p:cNvPr id="31" name="Text 28"/>
          <p:cNvSpPr/>
          <p:nvPr/>
        </p:nvSpPr>
        <p:spPr>
          <a:xfrm>
            <a:off x="4493666" y="5344668"/>
            <a:ext cx="3204362" cy="219456"/>
          </a:xfrm>
          <a:prstGeom prst="rect">
            <a:avLst/>
          </a:prstGeom>
          <a:noFill/>
          <a:ln/>
        </p:spPr>
        <p:txBody>
          <a:bodyPr wrap="square" lIns="0" tIns="0" rIns="0" bIns="0" rtlCol="0" anchor="ctr"/>
          <a:lstStyle/>
          <a:p>
            <a:pPr indent="0" marL="0">
              <a:buNone/>
            </a:pPr>
            <a:r>
              <a:rPr lang="en-US" sz="950" b="1" dirty="0">
                <a:solidFill>
                  <a:srgbClr val="FF9F43"/>
                </a:solidFill>
                <a:latin typeface="Calibri" pitchFamily="34" charset="0"/>
                <a:ea typeface="Calibri" pitchFamily="34" charset="-122"/>
                <a:cs typeface="Calibri" pitchFamily="34" charset="-120"/>
              </a:rPr>
              <a:t>88.6% of all July AWS credits</a:t>
            </a:r>
            <a:endParaRPr lang="en-US" sz="950" dirty="0"/>
          </a:p>
        </p:txBody>
      </p:sp>
      <p:sp>
        <p:nvSpPr>
          <p:cNvPr id="32" name="Shape 29"/>
          <p:cNvSpPr/>
          <p:nvPr/>
        </p:nvSpPr>
        <p:spPr>
          <a:xfrm>
            <a:off x="8127797" y="4631436"/>
            <a:ext cx="3606698" cy="960120"/>
          </a:xfrm>
          <a:prstGeom prst="roundRect">
            <a:avLst>
              <a:gd name="adj" fmla="val 5714"/>
            </a:avLst>
          </a:prstGeom>
          <a:solidFill>
            <a:srgbClr val="121B2D"/>
          </a:solidFill>
          <a:ln w="12700">
            <a:solidFill>
              <a:srgbClr val="23304A"/>
            </a:solidFill>
            <a:prstDash val="solid"/>
          </a:ln>
        </p:spPr>
      </p:sp>
      <p:sp>
        <p:nvSpPr>
          <p:cNvPr id="33" name="Text 30"/>
          <p:cNvSpPr/>
          <p:nvPr/>
        </p:nvSpPr>
        <p:spPr>
          <a:xfrm>
            <a:off x="8328965" y="4741164"/>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ACTION</a:t>
            </a:r>
            <a:endParaRPr lang="en-US" sz="1000" dirty="0"/>
          </a:p>
        </p:txBody>
      </p:sp>
      <p:sp>
        <p:nvSpPr>
          <p:cNvPr id="34" name="Text 31"/>
          <p:cNvSpPr/>
          <p:nvPr/>
        </p:nvSpPr>
        <p:spPr>
          <a:xfrm>
            <a:off x="8328965" y="4924044"/>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Confirm</a:t>
            </a:r>
            <a:endParaRPr lang="en-US" sz="2600" dirty="0"/>
          </a:p>
        </p:txBody>
      </p:sp>
      <p:sp>
        <p:nvSpPr>
          <p:cNvPr id="35" name="Text 32"/>
          <p:cNvSpPr/>
          <p:nvPr/>
        </p:nvSpPr>
        <p:spPr>
          <a:xfrm>
            <a:off x="8328965" y="5344668"/>
            <a:ext cx="3204362"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raise with Comm-IT, then close the v33 item</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FF9F43"/>
                </a:solidFill>
                <a:latin typeface="Calibri" pitchFamily="34" charset="0"/>
                <a:ea typeface="Calibri" pitchFamily="34" charset="-122"/>
                <a:cs typeface="Calibri" pitchFamily="34" charset="-120"/>
              </a:rPr>
              <a:t>MARKETPLACE</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 it belongs on its own line in the budget.</a:t>
            </a:r>
            <a:endParaRPr lang="en-US" sz="9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AWS Marketplace purchases by product, Jan–Jul total</a:t>
            </a:r>
            <a:endParaRPr lang="en-US" sz="13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05840"/>
          </a:xfrm>
          <a:prstGeom prst="roundRect">
            <a:avLst>
              <a:gd name="adj" fmla="val 5455"/>
            </a:avLst>
          </a:prstGeom>
          <a:solidFill>
            <a:srgbClr val="121B2D"/>
          </a:solidFill>
          <a:ln w="12700">
            <a:solidFill>
              <a:srgbClr val="23304A"/>
            </a:solidFill>
            <a:prstDash val="solid"/>
          </a:ln>
        </p:spPr>
      </p:sp>
      <p:sp>
        <p:nvSpPr>
          <p:cNvPr id="11" name="Text 8"/>
          <p:cNvSpPr/>
          <p:nvPr/>
        </p:nvSpPr>
        <p:spPr>
          <a:xfrm>
            <a:off x="8293608" y="1344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AWS MARKETPLACE, JAN–JUL</a:t>
            </a:r>
            <a:endParaRPr lang="en-US" sz="1000" dirty="0"/>
          </a:p>
        </p:txBody>
      </p:sp>
      <p:sp>
        <p:nvSpPr>
          <p:cNvPr id="12" name="Text 9"/>
          <p:cNvSpPr/>
          <p:nvPr/>
        </p:nvSpPr>
        <p:spPr>
          <a:xfrm>
            <a:off x="8293608" y="1527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$1.54M</a:t>
            </a:r>
            <a:endParaRPr lang="en-US" sz="2600" dirty="0"/>
          </a:p>
        </p:txBody>
      </p:sp>
      <p:sp>
        <p:nvSpPr>
          <p:cNvPr id="13" name="Text 10"/>
          <p:cNvSpPr/>
          <p:nvPr/>
        </p:nvSpPr>
        <p:spPr>
          <a:xfrm>
            <a:off x="8293608" y="1947672"/>
            <a:ext cx="3239719" cy="219456"/>
          </a:xfrm>
          <a:prstGeom prst="rect">
            <a:avLst/>
          </a:prstGeom>
          <a:noFill/>
          <a:ln/>
        </p:spPr>
        <p:txBody>
          <a:bodyPr wrap="square" lIns="0" tIns="0" rIns="0" bIns="0" rtlCol="0" anchor="ctr"/>
          <a:lstStyle/>
          <a:p>
            <a:pPr indent="0" marL="0">
              <a:buNone/>
            </a:pPr>
            <a:r>
              <a:rPr lang="en-US" sz="950" b="1" dirty="0">
                <a:solidFill>
                  <a:srgbClr val="FF9F43"/>
                </a:solidFill>
                <a:latin typeface="Calibri" pitchFamily="34" charset="0"/>
                <a:ea typeface="Calibri" pitchFamily="34" charset="-122"/>
                <a:cs typeface="Calibri" pitchFamily="34" charset="-120"/>
              </a:rPr>
              <a:t>2.6× regular AWS usage</a:t>
            </a:r>
            <a:endParaRPr lang="en-US" sz="950" dirty="0"/>
          </a:p>
        </p:txBody>
      </p:sp>
      <p:sp>
        <p:nvSpPr>
          <p:cNvPr id="14" name="Shape 11"/>
          <p:cNvSpPr/>
          <p:nvPr/>
        </p:nvSpPr>
        <p:spPr>
          <a:xfrm>
            <a:off x="8092440" y="2377440"/>
            <a:ext cx="3642055" cy="1005840"/>
          </a:xfrm>
          <a:prstGeom prst="roundRect">
            <a:avLst>
              <a:gd name="adj" fmla="val 5455"/>
            </a:avLst>
          </a:prstGeom>
          <a:solidFill>
            <a:srgbClr val="121B2D"/>
          </a:solidFill>
          <a:ln w="12700">
            <a:solidFill>
              <a:srgbClr val="23304A"/>
            </a:solidFill>
            <a:prstDash val="solid"/>
          </a:ln>
        </p:spPr>
      </p:sp>
      <p:sp>
        <p:nvSpPr>
          <p:cNvPr id="15" name="Text 12"/>
          <p:cNvSpPr/>
          <p:nvPr/>
        </p:nvSpPr>
        <p:spPr>
          <a:xfrm>
            <a:off x="8293608" y="2487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AZURE MARKETPLACE, JAN–JUL</a:t>
            </a:r>
            <a:endParaRPr lang="en-US" sz="1000" dirty="0"/>
          </a:p>
        </p:txBody>
      </p:sp>
      <p:sp>
        <p:nvSpPr>
          <p:cNvPr id="16" name="Text 13"/>
          <p:cNvSpPr/>
          <p:nvPr/>
        </p:nvSpPr>
        <p:spPr>
          <a:xfrm>
            <a:off x="8293608" y="2670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$551K</a:t>
            </a:r>
            <a:endParaRPr lang="en-US" sz="2600" dirty="0"/>
          </a:p>
        </p:txBody>
      </p:sp>
      <p:sp>
        <p:nvSpPr>
          <p:cNvPr id="17" name="Text 14"/>
          <p:cNvSpPr/>
          <p:nvPr/>
        </p:nvSpPr>
        <p:spPr>
          <a:xfrm>
            <a:off x="8293608" y="3090672"/>
            <a:ext cx="3239719" cy="219456"/>
          </a:xfrm>
          <a:prstGeom prst="rect">
            <a:avLst/>
          </a:prstGeom>
          <a:noFill/>
          <a:ln/>
        </p:spPr>
        <p:txBody>
          <a:bodyPr wrap="square" lIns="0" tIns="0" rIns="0" bIns="0" rtlCol="0" anchor="ctr"/>
          <a:lstStyle/>
          <a:p>
            <a:pPr indent="0" marL="0">
              <a:buNone/>
            </a:pPr>
            <a:r>
              <a:rPr lang="en-US" sz="950" b="1" dirty="0">
                <a:solidFill>
                  <a:srgbClr val="2F8CFF"/>
                </a:solidFill>
                <a:latin typeface="Calibri" pitchFamily="34" charset="0"/>
                <a:ea typeface="Calibri" pitchFamily="34" charset="-122"/>
                <a:cs typeface="Calibri" pitchFamily="34" charset="-120"/>
              </a:rPr>
              <a:t>mostly the Databricks prepayment</a:t>
            </a:r>
            <a:endParaRPr lang="en-US" sz="950" dirty="0"/>
          </a:p>
        </p:txBody>
      </p:sp>
      <p:sp>
        <p:nvSpPr>
          <p:cNvPr id="18" name="Shape 15"/>
          <p:cNvSpPr/>
          <p:nvPr/>
        </p:nvSpPr>
        <p:spPr>
          <a:xfrm>
            <a:off x="8092440" y="3520440"/>
            <a:ext cx="3642055" cy="1005840"/>
          </a:xfrm>
          <a:prstGeom prst="roundRect">
            <a:avLst>
              <a:gd name="adj" fmla="val 5455"/>
            </a:avLst>
          </a:prstGeom>
          <a:solidFill>
            <a:srgbClr val="121B2D"/>
          </a:solidFill>
          <a:ln w="12700">
            <a:solidFill>
              <a:srgbClr val="23304A"/>
            </a:solidFill>
            <a:prstDash val="solid"/>
          </a:ln>
        </p:spPr>
      </p:sp>
      <p:sp>
        <p:nvSpPr>
          <p:cNvPr id="19" name="Text 16"/>
          <p:cNvSpPr/>
          <p:nvPr/>
        </p:nvSpPr>
        <p:spPr>
          <a:xfrm>
            <a:off x="8293608" y="3630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RECURRING, OF ALL OF IT</a:t>
            </a:r>
            <a:endParaRPr lang="en-US" sz="1000" dirty="0"/>
          </a:p>
        </p:txBody>
      </p:sp>
      <p:sp>
        <p:nvSpPr>
          <p:cNvPr id="20" name="Text 17"/>
          <p:cNvSpPr/>
          <p:nvPr/>
        </p:nvSpPr>
        <p:spPr>
          <a:xfrm>
            <a:off x="8293608" y="3813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~$14K/mo</a:t>
            </a:r>
            <a:endParaRPr lang="en-US" sz="2600" dirty="0"/>
          </a:p>
        </p:txBody>
      </p:sp>
      <p:sp>
        <p:nvSpPr>
          <p:cNvPr id="21" name="Text 18"/>
          <p:cNvSpPr/>
          <p:nvPr/>
        </p:nvSpPr>
        <p:spPr>
          <a:xfrm>
            <a:off x="8293608" y="4233672"/>
            <a:ext cx="3239719" cy="219456"/>
          </a:xfrm>
          <a:prstGeom prst="rect">
            <a:avLst/>
          </a:prstGeom>
          <a:noFill/>
          <a:ln/>
        </p:spPr>
        <p:txBody>
          <a:bodyPr wrap="square" lIns="0" tIns="0" rIns="0" bIns="0" rtlCol="0" anchor="ctr"/>
          <a:lstStyle/>
          <a:p>
            <a:pPr indent="0" marL="0">
              <a:buNone/>
            </a:pPr>
            <a:r>
              <a:rPr lang="en-US" sz="950" b="1" dirty="0">
                <a:solidFill>
                  <a:srgbClr val="3DDC97"/>
                </a:solidFill>
                <a:latin typeface="Calibri" pitchFamily="34" charset="0"/>
                <a:ea typeface="Calibri" pitchFamily="34" charset="-122"/>
                <a:cs typeface="Calibri" pitchFamily="34" charset="-120"/>
              </a:rPr>
              <a:t>MongoDB Atlas and the small tools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3DDC97"/>
                </a:solidFill>
                <a:latin typeface="Calibri" pitchFamily="34" charset="0"/>
                <a:ea typeface="Calibri" pitchFamily="34" charset="-122"/>
                <a:cs typeface="Calibri" pitchFamily="34" charset="-120"/>
              </a:rPr>
              <a:t>GCP</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Small, and entirely AI</a:t>
            </a:r>
            <a:endParaRPr lang="en-US" sz="26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Vertex AI passed Compute Engine in July. Every dollar of GCP growth this year is AI — which makes it the cleanest illustration of the shift happening more expensively elsewhere.</a:t>
            </a:r>
            <a:endParaRPr lang="en-US" sz="9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Monthly spend by service</a:t>
            </a:r>
            <a:endParaRPr lang="en-US" sz="13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05840"/>
          </a:xfrm>
          <a:prstGeom prst="roundRect">
            <a:avLst>
              <a:gd name="adj" fmla="val 5455"/>
            </a:avLst>
          </a:prstGeom>
          <a:solidFill>
            <a:srgbClr val="121B2D"/>
          </a:solidFill>
          <a:ln w="12700">
            <a:solidFill>
              <a:srgbClr val="23304A"/>
            </a:solidFill>
            <a:prstDash val="solid"/>
          </a:ln>
        </p:spPr>
      </p:sp>
      <p:sp>
        <p:nvSpPr>
          <p:cNvPr id="11" name="Text 8"/>
          <p:cNvSpPr/>
          <p:nvPr/>
        </p:nvSpPr>
        <p:spPr>
          <a:xfrm>
            <a:off x="8293608" y="1344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GCP, JULY</a:t>
            </a:r>
            <a:endParaRPr lang="en-US" sz="1000" dirty="0"/>
          </a:p>
        </p:txBody>
      </p:sp>
      <p:sp>
        <p:nvSpPr>
          <p:cNvPr id="12" name="Text 9"/>
          <p:cNvSpPr/>
          <p:nvPr/>
        </p:nvSpPr>
        <p:spPr>
          <a:xfrm>
            <a:off x="8293608" y="1527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$3,707</a:t>
            </a:r>
            <a:endParaRPr lang="en-US" sz="2600" dirty="0"/>
          </a:p>
        </p:txBody>
      </p:sp>
      <p:sp>
        <p:nvSpPr>
          <p:cNvPr id="13" name="Text 10"/>
          <p:cNvSpPr/>
          <p:nvPr/>
        </p:nvSpPr>
        <p:spPr>
          <a:xfrm>
            <a:off x="8293608" y="1947672"/>
            <a:ext cx="3239719" cy="219456"/>
          </a:xfrm>
          <a:prstGeom prst="rect">
            <a:avLst/>
          </a:prstGeom>
          <a:noFill/>
          <a:ln/>
        </p:spPr>
        <p:txBody>
          <a:bodyPr wrap="square" lIns="0" tIns="0" rIns="0" bIns="0" rtlCol="0" anchor="ctr"/>
          <a:lstStyle/>
          <a:p>
            <a:pPr indent="0" marL="0">
              <a:buNone/>
            </a:pPr>
            <a:r>
              <a:rPr lang="en-US" sz="950" b="1" dirty="0">
                <a:solidFill>
                  <a:srgbClr val="3DDC97"/>
                </a:solidFill>
                <a:latin typeface="Calibri" pitchFamily="34" charset="0"/>
                <a:ea typeface="Calibri" pitchFamily="34" charset="-122"/>
                <a:cs typeface="Calibri" pitchFamily="34" charset="-120"/>
              </a:rPr>
              <a:t>1.4% of the total cloud bill</a:t>
            </a:r>
            <a:endParaRPr lang="en-US" sz="950" dirty="0"/>
          </a:p>
        </p:txBody>
      </p:sp>
      <p:sp>
        <p:nvSpPr>
          <p:cNvPr id="14" name="Shape 11"/>
          <p:cNvSpPr/>
          <p:nvPr/>
        </p:nvSpPr>
        <p:spPr>
          <a:xfrm>
            <a:off x="8092440" y="2377440"/>
            <a:ext cx="3642055" cy="1005840"/>
          </a:xfrm>
          <a:prstGeom prst="roundRect">
            <a:avLst>
              <a:gd name="adj" fmla="val 5455"/>
            </a:avLst>
          </a:prstGeom>
          <a:solidFill>
            <a:srgbClr val="121B2D"/>
          </a:solidFill>
          <a:ln w="12700">
            <a:solidFill>
              <a:srgbClr val="23304A"/>
            </a:solidFill>
            <a:prstDash val="solid"/>
          </a:ln>
        </p:spPr>
      </p:sp>
      <p:sp>
        <p:nvSpPr>
          <p:cNvPr id="15" name="Text 12"/>
          <p:cNvSpPr/>
          <p:nvPr/>
        </p:nvSpPr>
        <p:spPr>
          <a:xfrm>
            <a:off x="8293608" y="2487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VERTEX AI, JULY</a:t>
            </a:r>
            <a:endParaRPr lang="en-US" sz="1000" dirty="0"/>
          </a:p>
        </p:txBody>
      </p:sp>
      <p:sp>
        <p:nvSpPr>
          <p:cNvPr id="16" name="Text 13"/>
          <p:cNvSpPr/>
          <p:nvPr/>
        </p:nvSpPr>
        <p:spPr>
          <a:xfrm>
            <a:off x="8293608" y="2670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$2,359</a:t>
            </a:r>
            <a:endParaRPr lang="en-US" sz="2600" dirty="0"/>
          </a:p>
        </p:txBody>
      </p:sp>
      <p:sp>
        <p:nvSpPr>
          <p:cNvPr id="17" name="Text 14"/>
          <p:cNvSpPr/>
          <p:nvPr/>
        </p:nvSpPr>
        <p:spPr>
          <a:xfrm>
            <a:off x="8293608" y="3090672"/>
            <a:ext cx="3239719" cy="219456"/>
          </a:xfrm>
          <a:prstGeom prst="rect">
            <a:avLst/>
          </a:prstGeom>
          <a:noFill/>
          <a:ln/>
        </p:spPr>
        <p:txBody>
          <a:bodyPr wrap="square" lIns="0" tIns="0" rIns="0" bIns="0" rtlCol="0" anchor="ctr"/>
          <a:lstStyle/>
          <a:p>
            <a:pPr indent="0" marL="0">
              <a:buNone/>
            </a:pPr>
            <a:r>
              <a:rPr lang="en-US" sz="950" b="1" dirty="0">
                <a:solidFill>
                  <a:srgbClr val="B07CFF"/>
                </a:solidFill>
                <a:latin typeface="Calibri" pitchFamily="34" charset="0"/>
                <a:ea typeface="Calibri" pitchFamily="34" charset="-122"/>
                <a:cs typeface="Calibri" pitchFamily="34" charset="-120"/>
              </a:rPr>
              <a:t>now the largest GCP service</a:t>
            </a:r>
            <a:endParaRPr lang="en-US" sz="950" dirty="0"/>
          </a:p>
        </p:txBody>
      </p:sp>
      <p:sp>
        <p:nvSpPr>
          <p:cNvPr id="18" name="Shape 15"/>
          <p:cNvSpPr/>
          <p:nvPr/>
        </p:nvSpPr>
        <p:spPr>
          <a:xfrm>
            <a:off x="8092440" y="3520440"/>
            <a:ext cx="3642055" cy="1005840"/>
          </a:xfrm>
          <a:prstGeom prst="roundRect">
            <a:avLst>
              <a:gd name="adj" fmla="val 5455"/>
            </a:avLst>
          </a:prstGeom>
          <a:solidFill>
            <a:srgbClr val="121B2D"/>
          </a:solidFill>
          <a:ln w="12700">
            <a:solidFill>
              <a:srgbClr val="23304A"/>
            </a:solidFill>
            <a:prstDash val="solid"/>
          </a:ln>
        </p:spPr>
      </p:sp>
      <p:sp>
        <p:nvSpPr>
          <p:cNvPr id="19" name="Text 16"/>
          <p:cNvSpPr/>
          <p:nvPr/>
        </p:nvSpPr>
        <p:spPr>
          <a:xfrm>
            <a:off x="8293608" y="3630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EVERYTHING ELSE</a:t>
            </a:r>
            <a:endParaRPr lang="en-US" sz="1000" dirty="0"/>
          </a:p>
        </p:txBody>
      </p:sp>
      <p:sp>
        <p:nvSpPr>
          <p:cNvPr id="20" name="Text 17"/>
          <p:cNvSpPr/>
          <p:nvPr/>
        </p:nvSpPr>
        <p:spPr>
          <a:xfrm>
            <a:off x="8293608" y="3813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flat</a:t>
            </a:r>
            <a:endParaRPr lang="en-US" sz="2600" dirty="0"/>
          </a:p>
        </p:txBody>
      </p:sp>
      <p:sp>
        <p:nvSpPr>
          <p:cNvPr id="21" name="Text 18"/>
          <p:cNvSpPr/>
          <p:nvPr/>
        </p:nvSpPr>
        <p:spPr>
          <a:xfrm>
            <a:off x="8293608" y="4233672"/>
            <a:ext cx="3239719" cy="219456"/>
          </a:xfrm>
          <a:prstGeom prst="rect">
            <a:avLst/>
          </a:prstGeom>
          <a:noFill/>
          <a:ln/>
        </p:spPr>
        <p:txBody>
          <a:bodyPr wrap="square" lIns="0" tIns="0" rIns="0" bIns="0" rtlCol="0" anchor="ctr"/>
          <a:lstStyle/>
          <a:p>
            <a:pPr indent="0" marL="0">
              <a:buNone/>
            </a:pPr>
            <a:r>
              <a:rPr lang="en-US" sz="950" b="1" dirty="0">
                <a:solidFill>
                  <a:srgbClr val="91A0B7"/>
                </a:solidFill>
                <a:latin typeface="Calibri" pitchFamily="34" charset="0"/>
                <a:ea typeface="Calibri" pitchFamily="34" charset="-122"/>
                <a:cs typeface="Calibri" pitchFamily="34" charset="-120"/>
              </a:rPr>
              <a:t>Compute, networking and DNS unchanged</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050" b="1" spc="300" kern="0" dirty="0">
                <a:solidFill>
                  <a:srgbClr val="E0A030"/>
                </a:solidFill>
                <a:latin typeface="Calibri" pitchFamily="34" charset="0"/>
                <a:ea typeface="Calibri" pitchFamily="34" charset="-122"/>
                <a:cs typeface="Calibri" pitchFamily="34" charset="-120"/>
              </a:rPr>
              <a:t>PART TWO</a:t>
            </a:r>
            <a:endParaRPr lang="en-US" sz="105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3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E0A030"/>
                </a:solidFill>
                <a:latin typeface="Calibri" pitchFamily="34" charset="0"/>
                <a:ea typeface="Calibri" pitchFamily="34" charset="-122"/>
                <a:cs typeface="Calibri" pitchFamily="34" charset="-120"/>
              </a:rPr>
              <a:t>COVERAGE</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Azure buys 59% at a discount — AWS buys 93%</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How each cloud's compute is actually purchased — the single biggest lever on unit cost.</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 the flattest, most reservable profile in the estate.</a:t>
            </a:r>
            <a:endParaRPr lang="en-US" sz="9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AWS</a:t>
            </a:r>
            <a:endParaRPr lang="en-US" sz="13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950" dirty="0">
                <a:solidFill>
                  <a:srgbClr val="91A0B7"/>
                </a:solidFill>
                <a:latin typeface="Calibri" pitchFamily="34" charset="0"/>
                <a:ea typeface="Calibri" pitchFamily="34" charset="-122"/>
                <a:cs typeface="Calibri" pitchFamily="34" charset="-120"/>
              </a:rPr>
              <a:t>Monthly cost by purchase option</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14884">
                <a:tc>
                  <a:txBody>
                    <a:bodyPr/>
                    <a:lstStyle/>
                    <a:p>
                      <a:pPr algn="l" indent="0" marL="0">
                        <a:buNone/>
                      </a:pPr>
                      <a:r>
                        <a:rPr lang="en-US" sz="850" b="1" spc="80" kern="0" dirty="0">
                          <a:solidFill>
                            <a:srgbClr val="91A0B7"/>
                          </a:solidFill>
                          <a:latin typeface="Calibri" pitchFamily="34" charset="0"/>
                          <a:ea typeface="Calibri" pitchFamily="34" charset="-122"/>
                          <a:cs typeface="Calibri" pitchFamily="34" charset="-120"/>
                        </a:rPr>
                        <a:t>Purchase option</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850" b="1" spc="80" kern="0" dirty="0">
                          <a:solidFill>
                            <a:srgbClr val="91A0B7"/>
                          </a:solidFill>
                          <a:latin typeface="Calibri" pitchFamily="34" charset="0"/>
                          <a:ea typeface="Calibri" pitchFamily="34" charset="-122"/>
                          <a:cs typeface="Calibri" pitchFamily="34" charset="-120"/>
                        </a:rPr>
                        <a:t>Total cost</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850" b="1" spc="80" kern="0" dirty="0">
                          <a:solidFill>
                            <a:srgbClr val="91A0B7"/>
                          </a:solidFill>
                          <a:latin typeface="Calibri" pitchFamily="34" charset="0"/>
                          <a:ea typeface="Calibri" pitchFamily="34" charset="-122"/>
                          <a:cs typeface="Calibri" pitchFamily="34" charset="-120"/>
                        </a:rPr>
                        <a:t>Ratio</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Spot</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$16,559</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Compute Savings Plan</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$16,364</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46%</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On-Demand</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$2,502</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F6B7A"/>
                          </a:solidFill>
                          <a:latin typeface="Calibri" pitchFamily="34" charset="0"/>
                          <a:ea typeface="Calibri" pitchFamily="34" charset="-122"/>
                          <a:cs typeface="Calibri" pitchFamily="34" charset="-120"/>
                        </a:rPr>
                        <a:t>7%</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b="1" dirty="0">
                          <a:solidFill>
                            <a:srgbClr val="F4F7FB"/>
                          </a:solidFill>
                          <a:latin typeface="Calibri" pitchFamily="34" charset="0"/>
                          <a:ea typeface="Calibri" pitchFamily="34" charset="-122"/>
                          <a:cs typeface="Calibri" pitchFamily="34" charset="-120"/>
                        </a:rPr>
                        <a:t>$35,425</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b="1" dirty="0">
                          <a:solidFill>
                            <a:srgbClr val="91A0B7"/>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Azure</a:t>
            </a:r>
            <a:endParaRPr lang="en-US" sz="13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950" dirty="0">
                <a:solidFill>
                  <a:srgbClr val="91A0B7"/>
                </a:solidFill>
                <a:latin typeface="Calibri" pitchFamily="34" charset="0"/>
                <a:ea typeface="Calibri" pitchFamily="34" charset="-122"/>
                <a:cs typeface="Calibri" pitchFamily="34" charset="-120"/>
              </a:rPr>
              <a:t>Monthly cost by purchase option</a:t>
            </a:r>
            <a:endParaRPr lang="en-US" sz="95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14884">
                <a:tc>
                  <a:txBody>
                    <a:bodyPr/>
                    <a:lstStyle/>
                    <a:p>
                      <a:pPr algn="l" indent="0" marL="0">
                        <a:buNone/>
                      </a:pPr>
                      <a:r>
                        <a:rPr lang="en-US" sz="850" b="1" spc="80" kern="0" dirty="0">
                          <a:solidFill>
                            <a:srgbClr val="91A0B7"/>
                          </a:solidFill>
                          <a:latin typeface="Calibri" pitchFamily="34" charset="0"/>
                          <a:ea typeface="Calibri" pitchFamily="34" charset="-122"/>
                          <a:cs typeface="Calibri" pitchFamily="34" charset="-120"/>
                        </a:rPr>
                        <a:t>Purchase option</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850" b="1" spc="80" kern="0" dirty="0">
                          <a:solidFill>
                            <a:srgbClr val="91A0B7"/>
                          </a:solidFill>
                          <a:latin typeface="Calibri" pitchFamily="34" charset="0"/>
                          <a:ea typeface="Calibri" pitchFamily="34" charset="-122"/>
                          <a:cs typeface="Calibri" pitchFamily="34" charset="-120"/>
                        </a:rPr>
                        <a:t>Total cost</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850" b="1" spc="80" kern="0" dirty="0">
                          <a:solidFill>
                            <a:srgbClr val="91A0B7"/>
                          </a:solidFill>
                          <a:latin typeface="Calibri" pitchFamily="34" charset="0"/>
                          <a:ea typeface="Calibri" pitchFamily="34" charset="-122"/>
                          <a:cs typeface="Calibri" pitchFamily="34" charset="-120"/>
                        </a:rPr>
                        <a:t>Ratio</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On-Demand</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$21,690</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F6B7A"/>
                          </a:solidFill>
                          <a:latin typeface="Calibri" pitchFamily="34" charset="0"/>
                          <a:ea typeface="Calibri" pitchFamily="34" charset="-122"/>
                          <a:cs typeface="Calibri" pitchFamily="34" charset="-120"/>
                        </a:rPr>
                        <a:t>41%</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Reservation</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$21,463</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40%</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Compute Savings Plan</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$9,424</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18%</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Spot</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$737</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91A0B7"/>
                          </a:solidFill>
                          <a:latin typeface="Calibri" pitchFamily="34" charset="0"/>
                          <a:ea typeface="Calibri" pitchFamily="34" charset="-122"/>
                          <a:cs typeface="Calibri" pitchFamily="34" charset="-120"/>
                        </a:rPr>
                        <a:t>1%</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Total</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b="1" dirty="0">
                          <a:solidFill>
                            <a:srgbClr val="F4F7FB"/>
                          </a:solidFill>
                          <a:latin typeface="Calibri" pitchFamily="34" charset="0"/>
                          <a:ea typeface="Calibri" pitchFamily="34" charset="-122"/>
                          <a:cs typeface="Calibri" pitchFamily="34" charset="-120"/>
                        </a:rPr>
                        <a:t>$53,314</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b="1" dirty="0">
                          <a:solidFill>
                            <a:srgbClr val="91A0B7"/>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3840480"/>
            <a:ext cx="3606698" cy="960120"/>
          </a:xfrm>
          <a:prstGeom prst="roundRect">
            <a:avLst>
              <a:gd name="adj" fmla="val 5714"/>
            </a:avLst>
          </a:prstGeom>
          <a:solidFill>
            <a:srgbClr val="121B2D"/>
          </a:solidFill>
          <a:ln w="12700">
            <a:solidFill>
              <a:srgbClr val="23304A"/>
            </a:solidFill>
            <a:prstDash val="solid"/>
          </a:ln>
        </p:spPr>
      </p:sp>
      <p:sp>
        <p:nvSpPr>
          <p:cNvPr id="15" name="Text 11"/>
          <p:cNvSpPr/>
          <p:nvPr/>
        </p:nvSpPr>
        <p:spPr>
          <a:xfrm>
            <a:off x="658368" y="395020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AZURE ON-DEMAND</a:t>
            </a:r>
            <a:endParaRPr lang="en-US" sz="1000" dirty="0"/>
          </a:p>
        </p:txBody>
      </p:sp>
      <p:sp>
        <p:nvSpPr>
          <p:cNvPr id="16" name="Text 12"/>
          <p:cNvSpPr/>
          <p:nvPr/>
        </p:nvSpPr>
        <p:spPr>
          <a:xfrm>
            <a:off x="658368" y="413308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$21,690</a:t>
            </a:r>
            <a:endParaRPr lang="en-US" sz="2600" dirty="0"/>
          </a:p>
        </p:txBody>
      </p:sp>
      <p:sp>
        <p:nvSpPr>
          <p:cNvPr id="17" name="Text 13"/>
          <p:cNvSpPr/>
          <p:nvPr/>
        </p:nvSpPr>
        <p:spPr>
          <a:xfrm>
            <a:off x="658368" y="4553712"/>
            <a:ext cx="3204362" cy="219456"/>
          </a:xfrm>
          <a:prstGeom prst="rect">
            <a:avLst/>
          </a:prstGeom>
          <a:noFill/>
          <a:ln/>
        </p:spPr>
        <p:txBody>
          <a:bodyPr wrap="square" lIns="0" tIns="0" rIns="0" bIns="0" rtlCol="0" anchor="ctr"/>
          <a:lstStyle/>
          <a:p>
            <a:pPr indent="0" marL="0">
              <a:buNone/>
            </a:pPr>
            <a:r>
              <a:rPr lang="en-US" sz="950" b="1" dirty="0">
                <a:solidFill>
                  <a:srgbClr val="FF6B7A"/>
                </a:solidFill>
                <a:latin typeface="Calibri" pitchFamily="34" charset="0"/>
                <a:ea typeface="Calibri" pitchFamily="34" charset="-122"/>
                <a:cs typeface="Calibri" pitchFamily="34" charset="-120"/>
              </a:rPr>
              <a:t>per month, at list price</a:t>
            </a:r>
            <a:endParaRPr lang="en-US" sz="950" dirty="0"/>
          </a:p>
        </p:txBody>
      </p:sp>
      <p:sp>
        <p:nvSpPr>
          <p:cNvPr id="18" name="Shape 14"/>
          <p:cNvSpPr/>
          <p:nvPr/>
        </p:nvSpPr>
        <p:spPr>
          <a:xfrm>
            <a:off x="4292498" y="3840480"/>
            <a:ext cx="3606698" cy="960120"/>
          </a:xfrm>
          <a:prstGeom prst="roundRect">
            <a:avLst>
              <a:gd name="adj" fmla="val 5714"/>
            </a:avLst>
          </a:prstGeom>
          <a:solidFill>
            <a:srgbClr val="121B2D"/>
          </a:solidFill>
          <a:ln w="12700">
            <a:solidFill>
              <a:srgbClr val="23304A"/>
            </a:solidFill>
            <a:prstDash val="solid"/>
          </a:ln>
        </p:spPr>
      </p:sp>
      <p:sp>
        <p:nvSpPr>
          <p:cNvPr id="19" name="Text 15"/>
          <p:cNvSpPr/>
          <p:nvPr/>
        </p:nvSpPr>
        <p:spPr>
          <a:xfrm>
            <a:off x="4493666" y="395020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IF AZURE MATCHED AWS</a:t>
            </a:r>
            <a:endParaRPr lang="en-US" sz="1000" dirty="0"/>
          </a:p>
        </p:txBody>
      </p:sp>
      <p:sp>
        <p:nvSpPr>
          <p:cNvPr id="20" name="Text 16"/>
          <p:cNvSpPr/>
          <p:nvPr/>
        </p:nvSpPr>
        <p:spPr>
          <a:xfrm>
            <a:off x="4493666" y="413308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~$7,600</a:t>
            </a:r>
            <a:endParaRPr lang="en-US" sz="2600" dirty="0"/>
          </a:p>
        </p:txBody>
      </p:sp>
      <p:sp>
        <p:nvSpPr>
          <p:cNvPr id="21" name="Text 17"/>
          <p:cNvSpPr/>
          <p:nvPr/>
        </p:nvSpPr>
        <p:spPr>
          <a:xfrm>
            <a:off x="4493666" y="4553712"/>
            <a:ext cx="3204362" cy="219456"/>
          </a:xfrm>
          <a:prstGeom prst="rect">
            <a:avLst/>
          </a:prstGeom>
          <a:noFill/>
          <a:ln/>
        </p:spPr>
        <p:txBody>
          <a:bodyPr wrap="square" lIns="0" tIns="0" rIns="0" bIns="0" rtlCol="0" anchor="ctr"/>
          <a:lstStyle/>
          <a:p>
            <a:pPr indent="0" marL="0">
              <a:buNone/>
            </a:pPr>
            <a:r>
              <a:rPr lang="en-US" sz="950" b="1" dirty="0">
                <a:solidFill>
                  <a:srgbClr val="3DDC97"/>
                </a:solidFill>
                <a:latin typeface="Calibri" pitchFamily="34" charset="0"/>
                <a:ea typeface="Calibri" pitchFamily="34" charset="-122"/>
                <a:cs typeface="Calibri" pitchFamily="34" charset="-120"/>
              </a:rPr>
              <a:t>estimated monthly saving at 93% coverage</a:t>
            </a:r>
            <a:endParaRPr lang="en-US" sz="950" dirty="0"/>
          </a:p>
        </p:txBody>
      </p:sp>
      <p:sp>
        <p:nvSpPr>
          <p:cNvPr id="22" name="Shape 18"/>
          <p:cNvSpPr/>
          <p:nvPr/>
        </p:nvSpPr>
        <p:spPr>
          <a:xfrm>
            <a:off x="8127797" y="3840480"/>
            <a:ext cx="3606698" cy="960120"/>
          </a:xfrm>
          <a:prstGeom prst="roundRect">
            <a:avLst>
              <a:gd name="adj" fmla="val 5714"/>
            </a:avLst>
          </a:prstGeom>
          <a:solidFill>
            <a:srgbClr val="121B2D"/>
          </a:solidFill>
          <a:ln w="12700">
            <a:solidFill>
              <a:srgbClr val="23304A"/>
            </a:solidFill>
            <a:prstDash val="solid"/>
          </a:ln>
        </p:spPr>
      </p:sp>
      <p:sp>
        <p:nvSpPr>
          <p:cNvPr id="23" name="Text 19"/>
          <p:cNvSpPr/>
          <p:nvPr/>
        </p:nvSpPr>
        <p:spPr>
          <a:xfrm>
            <a:off x="8328965" y="395020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ANNUALISED</a:t>
            </a:r>
            <a:endParaRPr lang="en-US" sz="1000" dirty="0"/>
          </a:p>
        </p:txBody>
      </p:sp>
      <p:sp>
        <p:nvSpPr>
          <p:cNvPr id="24" name="Text 20"/>
          <p:cNvSpPr/>
          <p:nvPr/>
        </p:nvSpPr>
        <p:spPr>
          <a:xfrm>
            <a:off x="8328965" y="413308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~$91,000</a:t>
            </a:r>
            <a:endParaRPr lang="en-US" sz="2600" dirty="0"/>
          </a:p>
        </p:txBody>
      </p:sp>
      <p:sp>
        <p:nvSpPr>
          <p:cNvPr id="25" name="Text 21"/>
          <p:cNvSpPr/>
          <p:nvPr/>
        </p:nvSpPr>
        <p:spPr>
          <a:xfrm>
            <a:off x="8328965" y="4553712"/>
            <a:ext cx="3204362" cy="219456"/>
          </a:xfrm>
          <a:prstGeom prst="rect">
            <a:avLst/>
          </a:prstGeom>
          <a:noFill/>
          <a:ln/>
        </p:spPr>
        <p:txBody>
          <a:bodyPr wrap="square" lIns="0" tIns="0" rIns="0" bIns="0" rtlCol="0" anchor="ctr"/>
          <a:lstStyle/>
          <a:p>
            <a:pPr indent="0" marL="0">
              <a:buNone/>
            </a:pPr>
            <a:r>
              <a:rPr lang="en-US" sz="950" b="1" dirty="0">
                <a:solidFill>
                  <a:srgbClr val="3DDC97"/>
                </a:solidFill>
                <a:latin typeface="Calibri" pitchFamily="34" charset="0"/>
                <a:ea typeface="Calibri" pitchFamily="34" charset="-122"/>
                <a:cs typeface="Calibri" pitchFamily="34" charset="-120"/>
              </a:rPr>
              <a:t>on compute alone, nothing switched off</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B07CFF"/>
                </a:solidFill>
                <a:latin typeface="Calibri" pitchFamily="34" charset="0"/>
                <a:ea typeface="Calibri" pitchFamily="34" charset="-122"/>
                <a:cs typeface="Calibri" pitchFamily="34" charset="-120"/>
              </a:rPr>
              <a:t>DATABRICKS</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950" dirty="0"/>
          </a:p>
        </p:txBody>
      </p:sp>
      <p:sp>
        <p:nvSpPr>
          <p:cNvPr id="7" name="Shape 5"/>
          <p:cNvSpPr/>
          <p:nvPr/>
        </p:nvSpPr>
        <p:spPr>
          <a:xfrm>
            <a:off x="457200" y="1234440"/>
            <a:ext cx="2647874" cy="960120"/>
          </a:xfrm>
          <a:prstGeom prst="roundRect">
            <a:avLst>
              <a:gd name="adj" fmla="val 5714"/>
            </a:avLst>
          </a:prstGeom>
          <a:solidFill>
            <a:srgbClr val="121B2D"/>
          </a:solidFill>
          <a:ln w="12700">
            <a:solidFill>
              <a:srgbClr val="23304A"/>
            </a:solidFill>
            <a:prstDash val="solid"/>
          </a:ln>
        </p:spPr>
      </p:sp>
      <p:sp>
        <p:nvSpPr>
          <p:cNvPr id="8" name="Text 6"/>
          <p:cNvSpPr/>
          <p:nvPr/>
        </p:nvSpPr>
        <p:spPr>
          <a:xfrm>
            <a:off x="658368" y="1344168"/>
            <a:ext cx="2245538"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COMMITTED</a:t>
            </a:r>
            <a:endParaRPr lang="en-US" sz="1000" dirty="0"/>
          </a:p>
        </p:txBody>
      </p:sp>
      <p:sp>
        <p:nvSpPr>
          <p:cNvPr id="9" name="Text 7"/>
          <p:cNvSpPr/>
          <p:nvPr/>
        </p:nvSpPr>
        <p:spPr>
          <a:xfrm>
            <a:off x="658368" y="1527048"/>
            <a:ext cx="2245538"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$504,000</a:t>
            </a:r>
            <a:endParaRPr lang="en-US" sz="2600" dirty="0"/>
          </a:p>
        </p:txBody>
      </p:sp>
      <p:sp>
        <p:nvSpPr>
          <p:cNvPr id="10" name="Text 8"/>
          <p:cNvSpPr/>
          <p:nvPr/>
        </p:nvSpPr>
        <p:spPr>
          <a:xfrm>
            <a:off x="658368" y="1947672"/>
            <a:ext cx="2245538" cy="219456"/>
          </a:xfrm>
          <a:prstGeom prst="rect">
            <a:avLst/>
          </a:prstGeom>
          <a:noFill/>
          <a:ln/>
        </p:spPr>
        <p:txBody>
          <a:bodyPr wrap="square" lIns="0" tIns="0" rIns="0" bIns="0" rtlCol="0" anchor="ctr"/>
          <a:lstStyle/>
          <a:p>
            <a:pPr indent="0" marL="0">
              <a:buNone/>
            </a:pPr>
            <a:r>
              <a:rPr lang="en-US" sz="950" b="1" dirty="0">
                <a:solidFill>
                  <a:srgbClr val="B07CFF"/>
                </a:solidFill>
                <a:latin typeface="Calibri" pitchFamily="34" charset="0"/>
                <a:ea typeface="Calibri" pitchFamily="34" charset="-122"/>
                <a:cs typeface="Calibri" pitchFamily="34" charset="-120"/>
              </a:rPr>
              <a:t>Azure P3 pre-purchase, 28 Apr 2026</a:t>
            </a:r>
            <a:endParaRPr lang="en-US" sz="950" dirty="0"/>
          </a:p>
        </p:txBody>
      </p:sp>
      <p:sp>
        <p:nvSpPr>
          <p:cNvPr id="11" name="Shape 9"/>
          <p:cNvSpPr/>
          <p:nvPr/>
        </p:nvSpPr>
        <p:spPr>
          <a:xfrm>
            <a:off x="3333674" y="1234440"/>
            <a:ext cx="2647874" cy="960120"/>
          </a:xfrm>
          <a:prstGeom prst="roundRect">
            <a:avLst>
              <a:gd name="adj" fmla="val 5714"/>
            </a:avLst>
          </a:prstGeom>
          <a:solidFill>
            <a:srgbClr val="121B2D"/>
          </a:solidFill>
          <a:ln w="12700">
            <a:solidFill>
              <a:srgbClr val="23304A"/>
            </a:solidFill>
            <a:prstDash val="solid"/>
          </a:ln>
        </p:spPr>
      </p:sp>
      <p:sp>
        <p:nvSpPr>
          <p:cNvPr id="12" name="Text 10"/>
          <p:cNvSpPr/>
          <p:nvPr/>
        </p:nvSpPr>
        <p:spPr>
          <a:xfrm>
            <a:off x="3534842" y="1344168"/>
            <a:ext cx="2245538"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TERM</a:t>
            </a:r>
            <a:endParaRPr lang="en-US" sz="1000" dirty="0"/>
          </a:p>
        </p:txBody>
      </p:sp>
      <p:sp>
        <p:nvSpPr>
          <p:cNvPr id="13" name="Text 11"/>
          <p:cNvSpPr/>
          <p:nvPr/>
        </p:nvSpPr>
        <p:spPr>
          <a:xfrm>
            <a:off x="3534842" y="1527048"/>
            <a:ext cx="2245538"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3 years</a:t>
            </a:r>
            <a:endParaRPr lang="en-US" sz="2600" dirty="0"/>
          </a:p>
        </p:txBody>
      </p:sp>
      <p:sp>
        <p:nvSpPr>
          <p:cNvPr id="14" name="Text 12"/>
          <p:cNvSpPr/>
          <p:nvPr/>
        </p:nvSpPr>
        <p:spPr>
          <a:xfrm>
            <a:off x="3534842" y="1947672"/>
            <a:ext cx="2245538" cy="219456"/>
          </a:xfrm>
          <a:prstGeom prst="rect">
            <a:avLst/>
          </a:prstGeom>
          <a:noFill/>
          <a:ln/>
        </p:spPr>
        <p:txBody>
          <a:bodyPr wrap="square" lIns="0" tIns="0" rIns="0" bIns="0" rtlCol="0" anchor="ctr"/>
          <a:lstStyle/>
          <a:p>
            <a:pPr indent="0" marL="0">
              <a:buNone/>
            </a:pPr>
            <a:r>
              <a:rPr lang="en-US" sz="950" b="1" dirty="0">
                <a:solidFill>
                  <a:srgbClr val="91A0B7"/>
                </a:solidFill>
                <a:latin typeface="Calibri" pitchFamily="34" charset="0"/>
                <a:ea typeface="Calibri" pitchFamily="34" charset="-122"/>
                <a:cs typeface="Calibri" pitchFamily="34" charset="-120"/>
              </a:rPr>
              <a:t>600,000 DBU hours</a:t>
            </a:r>
            <a:endParaRPr lang="en-US" sz="950" dirty="0"/>
          </a:p>
        </p:txBody>
      </p:sp>
      <p:sp>
        <p:nvSpPr>
          <p:cNvPr id="15" name="Shape 13"/>
          <p:cNvSpPr/>
          <p:nvPr/>
        </p:nvSpPr>
        <p:spPr>
          <a:xfrm>
            <a:off x="6210148" y="1234440"/>
            <a:ext cx="2647874" cy="960120"/>
          </a:xfrm>
          <a:prstGeom prst="roundRect">
            <a:avLst>
              <a:gd name="adj" fmla="val 5714"/>
            </a:avLst>
          </a:prstGeom>
          <a:solidFill>
            <a:srgbClr val="121B2D"/>
          </a:solidFill>
          <a:ln w="12700">
            <a:solidFill>
              <a:srgbClr val="23304A"/>
            </a:solidFill>
            <a:prstDash val="solid"/>
          </a:ln>
        </p:spPr>
      </p:sp>
      <p:sp>
        <p:nvSpPr>
          <p:cNvPr id="16" name="Text 14"/>
          <p:cNvSpPr/>
          <p:nvPr/>
        </p:nvSpPr>
        <p:spPr>
          <a:xfrm>
            <a:off x="6411316" y="1344168"/>
            <a:ext cx="2245538"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DRAWN TO JULY</a:t>
            </a:r>
            <a:endParaRPr lang="en-US" sz="1000" dirty="0"/>
          </a:p>
        </p:txBody>
      </p:sp>
      <p:sp>
        <p:nvSpPr>
          <p:cNvPr id="17" name="Text 15"/>
          <p:cNvSpPr/>
          <p:nvPr/>
        </p:nvSpPr>
        <p:spPr>
          <a:xfrm>
            <a:off x="6411316" y="1527048"/>
            <a:ext cx="2245538"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$88,666</a:t>
            </a:r>
            <a:endParaRPr lang="en-US" sz="2600" dirty="0"/>
          </a:p>
        </p:txBody>
      </p:sp>
      <p:sp>
        <p:nvSpPr>
          <p:cNvPr id="18" name="Text 16"/>
          <p:cNvSpPr/>
          <p:nvPr/>
        </p:nvSpPr>
        <p:spPr>
          <a:xfrm>
            <a:off x="6411316" y="1947672"/>
            <a:ext cx="2245538"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consumption, not new cash</a:t>
            </a:r>
            <a:endParaRPr lang="en-US" sz="950" dirty="0"/>
          </a:p>
        </p:txBody>
      </p:sp>
      <p:sp>
        <p:nvSpPr>
          <p:cNvPr id="19" name="Shape 17"/>
          <p:cNvSpPr/>
          <p:nvPr/>
        </p:nvSpPr>
        <p:spPr>
          <a:xfrm>
            <a:off x="9086621" y="1234440"/>
            <a:ext cx="2647874" cy="960120"/>
          </a:xfrm>
          <a:prstGeom prst="roundRect">
            <a:avLst>
              <a:gd name="adj" fmla="val 5714"/>
            </a:avLst>
          </a:prstGeom>
          <a:solidFill>
            <a:srgbClr val="121B2D"/>
          </a:solidFill>
          <a:ln w="12700">
            <a:solidFill>
              <a:srgbClr val="23304A"/>
            </a:solidFill>
            <a:prstDash val="solid"/>
          </a:ln>
        </p:spPr>
      </p:sp>
      <p:sp>
        <p:nvSpPr>
          <p:cNvPr id="20" name="Text 18"/>
          <p:cNvSpPr/>
          <p:nvPr/>
        </p:nvSpPr>
        <p:spPr>
          <a:xfrm>
            <a:off x="9287789" y="1344168"/>
            <a:ext cx="2245538"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INFRA UNDERNEATH</a:t>
            </a:r>
            <a:endParaRPr lang="en-US" sz="1000" dirty="0"/>
          </a:p>
        </p:txBody>
      </p:sp>
      <p:sp>
        <p:nvSpPr>
          <p:cNvPr id="21" name="Text 19"/>
          <p:cNvSpPr/>
          <p:nvPr/>
        </p:nvSpPr>
        <p:spPr>
          <a:xfrm>
            <a:off x="9287789" y="1527048"/>
            <a:ext cx="2245538"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$63,501</a:t>
            </a:r>
            <a:endParaRPr lang="en-US" sz="2600" dirty="0"/>
          </a:p>
        </p:txBody>
      </p:sp>
      <p:sp>
        <p:nvSpPr>
          <p:cNvPr id="22" name="Text 20"/>
          <p:cNvSpPr/>
          <p:nvPr/>
        </p:nvSpPr>
        <p:spPr>
          <a:xfrm>
            <a:off x="9287789" y="1947672"/>
            <a:ext cx="2245538" cy="219456"/>
          </a:xfrm>
          <a:prstGeom prst="rect">
            <a:avLst/>
          </a:prstGeom>
          <a:noFill/>
          <a:ln/>
        </p:spPr>
        <p:txBody>
          <a:bodyPr wrap="square" lIns="0" tIns="0" rIns="0" bIns="0" rtlCol="0" anchor="ctr"/>
          <a:lstStyle/>
          <a:p>
            <a:pPr indent="0" marL="0">
              <a:buNone/>
            </a:pPr>
            <a:r>
              <a:rPr lang="en-US" sz="950" b="1" dirty="0">
                <a:solidFill>
                  <a:srgbClr val="FF6B7A"/>
                </a:solidFill>
                <a:latin typeface="Calibri" pitchFamily="34" charset="0"/>
                <a:ea typeface="Calibri" pitchFamily="34" charset="-122"/>
                <a:cs typeface="Calibri" pitchFamily="34" charset="-120"/>
              </a:rPr>
              <a:t>May–Jul — this part still bills</a:t>
            </a:r>
            <a:endParaRPr lang="en-US" sz="95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40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 so it disappears from every consumption report while the money is already gone.</a:t>
            </a:r>
            <a:endParaRPr lang="en-US" sz="140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18288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At the current pace the commitment finishes its three-year term substantially unused — the choice is to drive utilisation up or to renegotiate.</a:t>
            </a:r>
            <a:endParaRPr lang="en-US" sz="1050" dirty="0"/>
          </a:p>
        </p:txBody>
      </p:sp>
      <p:sp>
        <p:nvSpPr>
          <p:cNvPr id="28" name="Shape 26"/>
          <p:cNvSpPr/>
          <p:nvPr/>
        </p:nvSpPr>
        <p:spPr>
          <a:xfrm>
            <a:off x="457200" y="4818888"/>
            <a:ext cx="64008" cy="64008"/>
          </a:xfrm>
          <a:prstGeom prst="rect">
            <a:avLst/>
          </a:prstGeom>
          <a:solidFill>
            <a:srgbClr val="B07CFF"/>
          </a:solidFill>
          <a:ln w="12700">
            <a:solidFill>
              <a:srgbClr val="B07CFF"/>
            </a:solidFill>
            <a:prstDash val="solid"/>
          </a:ln>
        </p:spPr>
      </p:sp>
      <p:sp>
        <p:nvSpPr>
          <p:cNvPr id="29" name="Text 27"/>
          <p:cNvSpPr/>
          <p:nvPr/>
        </p:nvSpPr>
        <p:spPr>
          <a:xfrm>
            <a:off x="630936" y="4736592"/>
            <a:ext cx="11103559" cy="18288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050" dirty="0"/>
          </a:p>
        </p:txBody>
      </p:sp>
      <p:sp>
        <p:nvSpPr>
          <p:cNvPr id="30" name="Shape 28"/>
          <p:cNvSpPr/>
          <p:nvPr/>
        </p:nvSpPr>
        <p:spPr>
          <a:xfrm>
            <a:off x="457200" y="5120640"/>
            <a:ext cx="64008" cy="64008"/>
          </a:xfrm>
          <a:prstGeom prst="rect">
            <a:avLst/>
          </a:prstGeom>
          <a:solidFill>
            <a:srgbClr val="B07CFF"/>
          </a:solidFill>
          <a:ln w="12700">
            <a:solidFill>
              <a:srgbClr val="B07CFF"/>
            </a:solidFill>
            <a:prstDash val="solid"/>
          </a:ln>
        </p:spPr>
      </p:sp>
      <p:sp>
        <p:nvSpPr>
          <p:cNvPr id="31" name="Text 29"/>
          <p:cNvSpPr/>
          <p:nvPr/>
        </p:nvSpPr>
        <p:spPr>
          <a:xfrm>
            <a:off x="630936" y="5038344"/>
            <a:ext cx="11103559" cy="18288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FF6B7A"/>
                </a:solidFill>
                <a:latin typeface="Calibri" pitchFamily="34" charset="0"/>
                <a:ea typeface="Calibri" pitchFamily="34" charset="-122"/>
                <a:cs typeface="Calibri" pitchFamily="34" charset="-120"/>
              </a:rPr>
              <a:t>ATTRIBUTION</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From the Project tag on each resource, Azure enrollment.</a:t>
            </a:r>
            <a:endParaRPr lang="en-US" sz="950" dirty="0"/>
          </a:p>
        </p:txBody>
      </p:sp>
      <p:sp>
        <p:nvSpPr>
          <p:cNvPr id="7" name="Shape 5"/>
          <p:cNvSpPr/>
          <p:nvPr/>
        </p:nvSpPr>
        <p:spPr>
          <a:xfrm>
            <a:off x="457200" y="1234440"/>
            <a:ext cx="3606698" cy="960120"/>
          </a:xfrm>
          <a:prstGeom prst="roundRect">
            <a:avLst>
              <a:gd name="adj" fmla="val 5714"/>
            </a:avLst>
          </a:prstGeom>
          <a:solidFill>
            <a:srgbClr val="121B2D"/>
          </a:solidFill>
          <a:ln w="12700">
            <a:solidFill>
              <a:srgbClr val="23304A"/>
            </a:solidFill>
            <a:prstDash val="solid"/>
          </a:ln>
        </p:spPr>
      </p:sp>
      <p:sp>
        <p:nvSpPr>
          <p:cNvPr id="8" name="Text 6"/>
          <p:cNvSpPr/>
          <p:nvPr/>
        </p:nvSpPr>
        <p:spPr>
          <a:xfrm>
            <a:off x="658368" y="134416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UNTAGGED, JULY</a:t>
            </a:r>
            <a:endParaRPr lang="en-US" sz="1000" dirty="0"/>
          </a:p>
        </p:txBody>
      </p:sp>
      <p:sp>
        <p:nvSpPr>
          <p:cNvPr id="9" name="Text 7"/>
          <p:cNvSpPr/>
          <p:nvPr/>
        </p:nvSpPr>
        <p:spPr>
          <a:xfrm>
            <a:off x="658368" y="152704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23.4%</a:t>
            </a:r>
            <a:endParaRPr lang="en-US" sz="2600" dirty="0"/>
          </a:p>
        </p:txBody>
      </p:sp>
      <p:sp>
        <p:nvSpPr>
          <p:cNvPr id="10" name="Text 8"/>
          <p:cNvSpPr/>
          <p:nvPr/>
        </p:nvSpPr>
        <p:spPr>
          <a:xfrm>
            <a:off x="658368" y="1947672"/>
            <a:ext cx="3204362" cy="219456"/>
          </a:xfrm>
          <a:prstGeom prst="rect">
            <a:avLst/>
          </a:prstGeom>
          <a:noFill/>
          <a:ln/>
        </p:spPr>
        <p:txBody>
          <a:bodyPr wrap="square" lIns="0" tIns="0" rIns="0" bIns="0" rtlCol="0" anchor="ctr"/>
          <a:lstStyle/>
          <a:p>
            <a:pPr indent="0" marL="0">
              <a:buNone/>
            </a:pPr>
            <a:r>
              <a:rPr lang="en-US" sz="950" b="1" dirty="0">
                <a:solidFill>
                  <a:srgbClr val="FF6B7A"/>
                </a:solidFill>
                <a:latin typeface="Calibri" pitchFamily="34" charset="0"/>
                <a:ea typeface="Calibri" pitchFamily="34" charset="-122"/>
                <a:cs typeface="Calibri" pitchFamily="34" charset="-120"/>
              </a:rPr>
              <a:t>was 8.4% in May</a:t>
            </a:r>
            <a:endParaRPr lang="en-US" sz="950" dirty="0"/>
          </a:p>
        </p:txBody>
      </p:sp>
      <p:sp>
        <p:nvSpPr>
          <p:cNvPr id="11" name="Shape 9"/>
          <p:cNvSpPr/>
          <p:nvPr/>
        </p:nvSpPr>
        <p:spPr>
          <a:xfrm>
            <a:off x="4292498" y="1234440"/>
            <a:ext cx="3606698" cy="960120"/>
          </a:xfrm>
          <a:prstGeom prst="roundRect">
            <a:avLst>
              <a:gd name="adj" fmla="val 5714"/>
            </a:avLst>
          </a:prstGeom>
          <a:solidFill>
            <a:srgbClr val="121B2D"/>
          </a:solidFill>
          <a:ln w="12700">
            <a:solidFill>
              <a:srgbClr val="23304A"/>
            </a:solidFill>
            <a:prstDash val="solid"/>
          </a:ln>
        </p:spPr>
      </p:sp>
      <p:sp>
        <p:nvSpPr>
          <p:cNvPr id="12" name="Text 10"/>
          <p:cNvSpPr/>
          <p:nvPr/>
        </p:nvSpPr>
        <p:spPr>
          <a:xfrm>
            <a:off x="4493666" y="134416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UNTAGGED AI SPEND</a:t>
            </a:r>
            <a:endParaRPr lang="en-US" sz="1000" dirty="0"/>
          </a:p>
        </p:txBody>
      </p:sp>
      <p:sp>
        <p:nvSpPr>
          <p:cNvPr id="13" name="Text 11"/>
          <p:cNvSpPr/>
          <p:nvPr/>
        </p:nvSpPr>
        <p:spPr>
          <a:xfrm>
            <a:off x="4493666" y="152704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$51,381</a:t>
            </a:r>
            <a:endParaRPr lang="en-US" sz="2600" dirty="0"/>
          </a:p>
        </p:txBody>
      </p:sp>
      <p:sp>
        <p:nvSpPr>
          <p:cNvPr id="14" name="Text 12"/>
          <p:cNvSpPr/>
          <p:nvPr/>
        </p:nvSpPr>
        <p:spPr>
          <a:xfrm>
            <a:off x="4493666" y="1947672"/>
            <a:ext cx="3204362" cy="219456"/>
          </a:xfrm>
          <a:prstGeom prst="rect">
            <a:avLst/>
          </a:prstGeom>
          <a:noFill/>
          <a:ln/>
        </p:spPr>
        <p:txBody>
          <a:bodyPr wrap="square" lIns="0" tIns="0" rIns="0" bIns="0" rtlCol="0" anchor="ctr"/>
          <a:lstStyle/>
          <a:p>
            <a:pPr indent="0" marL="0">
              <a:buNone/>
            </a:pPr>
            <a:r>
              <a:rPr lang="en-US" sz="950" b="1" dirty="0">
                <a:solidFill>
                  <a:srgbClr val="B07CFF"/>
                </a:solidFill>
                <a:latin typeface="Calibri" pitchFamily="34" charset="0"/>
                <a:ea typeface="Calibri" pitchFamily="34" charset="-122"/>
                <a:cs typeface="Calibri" pitchFamily="34" charset="-120"/>
              </a:rPr>
              <a:t>of $96,843 untagged in total</a:t>
            </a:r>
            <a:endParaRPr lang="en-US" sz="950" dirty="0"/>
          </a:p>
        </p:txBody>
      </p:sp>
      <p:sp>
        <p:nvSpPr>
          <p:cNvPr id="15" name="Shape 13"/>
          <p:cNvSpPr/>
          <p:nvPr/>
        </p:nvSpPr>
        <p:spPr>
          <a:xfrm>
            <a:off x="8127797" y="1234440"/>
            <a:ext cx="3606698" cy="960120"/>
          </a:xfrm>
          <a:prstGeom prst="roundRect">
            <a:avLst>
              <a:gd name="adj" fmla="val 5714"/>
            </a:avLst>
          </a:prstGeom>
          <a:solidFill>
            <a:srgbClr val="121B2D"/>
          </a:solidFill>
          <a:ln w="12700">
            <a:solidFill>
              <a:srgbClr val="23304A"/>
            </a:solidFill>
            <a:prstDash val="solid"/>
          </a:ln>
        </p:spPr>
      </p:sp>
      <p:sp>
        <p:nvSpPr>
          <p:cNvPr id="16" name="Text 14"/>
          <p:cNvSpPr/>
          <p:nvPr/>
        </p:nvSpPr>
        <p:spPr>
          <a:xfrm>
            <a:off x="8328965" y="134416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COST CENTRE FIELD</a:t>
            </a:r>
            <a:endParaRPr lang="en-US" sz="1000" dirty="0"/>
          </a:p>
        </p:txBody>
      </p:sp>
      <p:sp>
        <p:nvSpPr>
          <p:cNvPr id="17" name="Text 15"/>
          <p:cNvSpPr/>
          <p:nvPr/>
        </p:nvSpPr>
        <p:spPr>
          <a:xfrm>
            <a:off x="8328965" y="152704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empty</a:t>
            </a:r>
            <a:endParaRPr lang="en-US" sz="2600" dirty="0"/>
          </a:p>
        </p:txBody>
      </p:sp>
      <p:sp>
        <p:nvSpPr>
          <p:cNvPr id="18" name="Text 16"/>
          <p:cNvSpPr/>
          <p:nvPr/>
        </p:nvSpPr>
        <p:spPr>
          <a:xfrm>
            <a:off x="8328965" y="1947672"/>
            <a:ext cx="3204362" cy="219456"/>
          </a:xfrm>
          <a:prstGeom prst="rect">
            <a:avLst/>
          </a:prstGeom>
          <a:noFill/>
          <a:ln/>
        </p:spPr>
        <p:txBody>
          <a:bodyPr wrap="square" lIns="0" tIns="0" rIns="0" bIns="0" rtlCol="0" anchor="ctr"/>
          <a:lstStyle/>
          <a:p>
            <a:pPr indent="0" marL="0">
              <a:buNone/>
            </a:pPr>
            <a:r>
              <a:rPr lang="en-US" sz="950" b="1" dirty="0">
                <a:solidFill>
                  <a:srgbClr val="91A0B7"/>
                </a:solidFill>
                <a:latin typeface="Calibri" pitchFamily="34" charset="0"/>
                <a:ea typeface="Calibri" pitchFamily="34" charset="-122"/>
                <a:cs typeface="Calibri" pitchFamily="34" charset="-120"/>
              </a:rPr>
              <a:t>on every line of the enrollment</a:t>
            </a:r>
            <a:endParaRPr lang="en-US" sz="95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400" dirty="0">
                <a:solidFill>
                  <a:srgbClr val="F4F7FB"/>
                </a:solidFill>
                <a:latin typeface="Calibri" pitchFamily="34" charset="0"/>
                <a:ea typeface="Calibri" pitchFamily="34" charset="-122"/>
                <a:cs typeface="Calibri" pitchFamily="34" charset="-120"/>
              </a:rPr>
              <a:t>of July's Azure spend carries no project tag — up from 8.4% in May. Nearly a quarter of the bill cannot be attributed to a team, which means it cannot be charged back, questioned, or defended.</a:t>
            </a:r>
            <a:endParaRPr lang="en-US" sz="140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18288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The untagged share tripled in three months — it is getting worse, not better, and it is worst in exactly the AI workloads that are growing fastest.</a:t>
            </a:r>
            <a:endParaRPr lang="en-US" sz="1050" dirty="0"/>
          </a:p>
        </p:txBody>
      </p:sp>
      <p:sp>
        <p:nvSpPr>
          <p:cNvPr id="24" name="Shape 22"/>
          <p:cNvSpPr/>
          <p:nvPr/>
        </p:nvSpPr>
        <p:spPr>
          <a:xfrm>
            <a:off x="457200" y="4818888"/>
            <a:ext cx="64008" cy="64008"/>
          </a:xfrm>
          <a:prstGeom prst="rect">
            <a:avLst/>
          </a:prstGeom>
          <a:solidFill>
            <a:srgbClr val="FF6B7A"/>
          </a:solidFill>
          <a:ln w="12700">
            <a:solidFill>
              <a:srgbClr val="FF6B7A"/>
            </a:solidFill>
            <a:prstDash val="solid"/>
          </a:ln>
        </p:spPr>
      </p:sp>
      <p:sp>
        <p:nvSpPr>
          <p:cNvPr id="25" name="Text 23"/>
          <p:cNvSpPr/>
          <p:nvPr/>
        </p:nvSpPr>
        <p:spPr>
          <a:xfrm>
            <a:off x="630936" y="4736592"/>
            <a:ext cx="11103559" cy="18288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050" b="1" spc="300" kern="0" dirty="0">
                <a:solidFill>
                  <a:srgbClr val="3DDC97"/>
                </a:solidFill>
                <a:latin typeface="Calibri" pitchFamily="34" charset="0"/>
                <a:ea typeface="Calibri" pitchFamily="34" charset="-122"/>
                <a:cs typeface="Calibri" pitchFamily="34" charset="-120"/>
              </a:rPr>
              <a:t>PART THREE</a:t>
            </a:r>
            <a:endParaRPr lang="en-US" sz="105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300" dirty="0">
                <a:solidFill>
                  <a:srgbClr val="91A0B7"/>
                </a:solidFill>
                <a:latin typeface="Calibri" pitchFamily="34" charset="0"/>
                <a:ea typeface="Calibri" pitchFamily="34" charset="-122"/>
                <a:cs typeface="Calibri" pitchFamily="34" charset="-120"/>
              </a:rPr>
              <a:t>$278,868 banked, $193,000 identified and waiting</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3DDC97"/>
                </a:solidFill>
                <a:latin typeface="Calibri" pitchFamily="34" charset="0"/>
                <a:ea typeface="Calibri" pitchFamily="34" charset="-122"/>
                <a:cs typeface="Calibri" pitchFamily="34" charset="-120"/>
              </a:rPr>
              <a:t>IMPLEMENTED</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Delivered during 2026. Annualised figures.</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This is the half of the story the previous briefing did not tell: the bill grew 23% in three months, and it would have grown considerably more without these.</a:t>
            </a:r>
            <a:endParaRPr lang="en-US" sz="9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Banked savings, by type</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14884">
                <a:tc>
                  <a:txBody>
                    <a:bodyPr/>
                    <a:lstStyle/>
                    <a:p>
                      <a:pPr algn="l" indent="0" marL="0">
                        <a:buNone/>
                      </a:pPr>
                      <a:r>
                        <a:rPr lang="en-US" sz="850" b="1" spc="80" kern="0" dirty="0">
                          <a:solidFill>
                            <a:srgbClr val="91A0B7"/>
                          </a:solidFill>
                          <a:latin typeface="Calibri" pitchFamily="34" charset="0"/>
                          <a:ea typeface="Calibri" pitchFamily="34" charset="-122"/>
                          <a:cs typeface="Calibri" pitchFamily="34" charset="-120"/>
                        </a:rPr>
                        <a:t>Savings type</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850" b="1" spc="80" kern="0" dirty="0">
                          <a:solidFill>
                            <a:srgbClr val="91A0B7"/>
                          </a:solidFill>
                          <a:latin typeface="Calibri" pitchFamily="34" charset="0"/>
                          <a:ea typeface="Calibri" pitchFamily="34" charset="-122"/>
                          <a:cs typeface="Calibri" pitchFamily="34" charset="-120"/>
                        </a:rPr>
                        <a:t>Annual saving</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Decommission North Europe</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$70,452</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VM reserved instance purchase</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$66,783</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Savings plan purchase</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$65,335</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Remove unnecessary VMs</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$28,105</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Idle unattached disks</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$20,576</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RI renewal — blob storage</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$9,432</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RDS reserved instance purchase</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$7,944</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Retire two unused SQL instances on expiring RI</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$4,563</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EKS extended support 1.33 — preprod</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$4,526</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App Service — reserved instance</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$712</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RI refund to reach 100% utilisation</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$440</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05840"/>
          </a:xfrm>
          <a:prstGeom prst="roundRect">
            <a:avLst>
              <a:gd name="adj" fmla="val 5455"/>
            </a:avLst>
          </a:prstGeom>
          <a:solidFill>
            <a:srgbClr val="121B2D"/>
          </a:solidFill>
          <a:ln w="12700">
            <a:solidFill>
              <a:srgbClr val="23304A"/>
            </a:solidFill>
            <a:prstDash val="solid"/>
          </a:ln>
        </p:spPr>
      </p:sp>
      <p:sp>
        <p:nvSpPr>
          <p:cNvPr id="11" name="Text 8"/>
          <p:cNvSpPr/>
          <p:nvPr/>
        </p:nvSpPr>
        <p:spPr>
          <a:xfrm>
            <a:off x="6327648" y="1344168"/>
            <a:ext cx="520567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TOTAL ANNUAL SAVINGS</a:t>
            </a:r>
            <a:endParaRPr lang="en-US" sz="1000" dirty="0"/>
          </a:p>
        </p:txBody>
      </p:sp>
      <p:sp>
        <p:nvSpPr>
          <p:cNvPr id="12" name="Text 9"/>
          <p:cNvSpPr/>
          <p:nvPr/>
        </p:nvSpPr>
        <p:spPr>
          <a:xfrm>
            <a:off x="6327648" y="1527048"/>
            <a:ext cx="5205679"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47672"/>
            <a:ext cx="5205679" cy="219456"/>
          </a:xfrm>
          <a:prstGeom prst="rect">
            <a:avLst/>
          </a:prstGeom>
          <a:noFill/>
          <a:ln/>
        </p:spPr>
        <p:txBody>
          <a:bodyPr wrap="square" lIns="0" tIns="0" rIns="0" bIns="0" rtlCol="0" anchor="ctr"/>
          <a:lstStyle/>
          <a:p>
            <a:pPr indent="0" marL="0">
              <a:buNone/>
            </a:pPr>
            <a:r>
              <a:rPr lang="en-US" sz="950" b="1" dirty="0">
                <a:solidFill>
                  <a:srgbClr val="3DDC97"/>
                </a:solidFill>
                <a:latin typeface="Calibri" pitchFamily="34" charset="0"/>
                <a:ea typeface="Calibri" pitchFamily="34" charset="-122"/>
                <a:cs typeface="Calibri" pitchFamily="34" charset="-120"/>
              </a:rPr>
              <a:t>already implemented</a:t>
            </a:r>
            <a:endParaRPr lang="en-US" sz="950" dirty="0"/>
          </a:p>
        </p:txBody>
      </p:sp>
      <p:sp>
        <p:nvSpPr>
          <p:cNvPr id="14" name="Shape 11"/>
          <p:cNvSpPr/>
          <p:nvPr/>
        </p:nvSpPr>
        <p:spPr>
          <a:xfrm>
            <a:off x="6126480" y="2377440"/>
            <a:ext cx="5608015" cy="1005840"/>
          </a:xfrm>
          <a:prstGeom prst="roundRect">
            <a:avLst>
              <a:gd name="adj" fmla="val 5455"/>
            </a:avLst>
          </a:prstGeom>
          <a:solidFill>
            <a:srgbClr val="121B2D"/>
          </a:solidFill>
          <a:ln w="12700">
            <a:solidFill>
              <a:srgbClr val="23304A"/>
            </a:solidFill>
            <a:prstDash val="solid"/>
          </a:ln>
        </p:spPr>
      </p:sp>
      <p:sp>
        <p:nvSpPr>
          <p:cNvPr id="15" name="Text 12"/>
          <p:cNvSpPr/>
          <p:nvPr/>
        </p:nvSpPr>
        <p:spPr>
          <a:xfrm>
            <a:off x="6327648" y="2487168"/>
            <a:ext cx="520567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AGAINST ANNUALISED SPEND</a:t>
            </a:r>
            <a:endParaRPr lang="en-US" sz="1000" dirty="0"/>
          </a:p>
        </p:txBody>
      </p:sp>
      <p:sp>
        <p:nvSpPr>
          <p:cNvPr id="16" name="Text 13"/>
          <p:cNvSpPr/>
          <p:nvPr/>
        </p:nvSpPr>
        <p:spPr>
          <a:xfrm>
            <a:off x="6327648" y="2670048"/>
            <a:ext cx="520567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9.4%</a:t>
            </a:r>
            <a:endParaRPr lang="en-US" sz="2600" dirty="0"/>
          </a:p>
        </p:txBody>
      </p:sp>
      <p:sp>
        <p:nvSpPr>
          <p:cNvPr id="17" name="Text 14"/>
          <p:cNvSpPr/>
          <p:nvPr/>
        </p:nvSpPr>
        <p:spPr>
          <a:xfrm>
            <a:off x="6327648" y="3090672"/>
            <a:ext cx="5205679"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of ~$3.0M consumption</a:t>
            </a:r>
            <a:endParaRPr lang="en-US" sz="950" dirty="0"/>
          </a:p>
        </p:txBody>
      </p:sp>
      <p:sp>
        <p:nvSpPr>
          <p:cNvPr id="18" name="Shape 15"/>
          <p:cNvSpPr/>
          <p:nvPr/>
        </p:nvSpPr>
        <p:spPr>
          <a:xfrm>
            <a:off x="6126480" y="3520440"/>
            <a:ext cx="5608015" cy="1005840"/>
          </a:xfrm>
          <a:prstGeom prst="roundRect">
            <a:avLst>
              <a:gd name="adj" fmla="val 5455"/>
            </a:avLst>
          </a:prstGeom>
          <a:solidFill>
            <a:srgbClr val="121B2D"/>
          </a:solidFill>
          <a:ln w="12700">
            <a:solidFill>
              <a:srgbClr val="23304A"/>
            </a:solidFill>
            <a:prstDash val="solid"/>
          </a:ln>
        </p:spPr>
      </p:sp>
      <p:sp>
        <p:nvSpPr>
          <p:cNvPr id="19" name="Text 16"/>
          <p:cNvSpPr/>
          <p:nvPr/>
        </p:nvSpPr>
        <p:spPr>
          <a:xfrm>
            <a:off x="6327648" y="3630168"/>
            <a:ext cx="520567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LARGEST ACTION</a:t>
            </a:r>
            <a:endParaRPr lang="en-US" sz="1000" dirty="0"/>
          </a:p>
        </p:txBody>
      </p:sp>
      <p:sp>
        <p:nvSpPr>
          <p:cNvPr id="20" name="Text 17"/>
          <p:cNvSpPr/>
          <p:nvPr/>
        </p:nvSpPr>
        <p:spPr>
          <a:xfrm>
            <a:off x="6327648" y="3813048"/>
            <a:ext cx="520567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$70,452</a:t>
            </a:r>
            <a:endParaRPr lang="en-US" sz="2600" dirty="0"/>
          </a:p>
        </p:txBody>
      </p:sp>
      <p:sp>
        <p:nvSpPr>
          <p:cNvPr id="21" name="Text 18"/>
          <p:cNvSpPr/>
          <p:nvPr/>
        </p:nvSpPr>
        <p:spPr>
          <a:xfrm>
            <a:off x="6327648" y="4233672"/>
            <a:ext cx="5205679" cy="219456"/>
          </a:xfrm>
          <a:prstGeom prst="rect">
            <a:avLst/>
          </a:prstGeom>
          <a:noFill/>
          <a:ln/>
        </p:spPr>
        <p:txBody>
          <a:bodyPr wrap="square" lIns="0" tIns="0" rIns="0" bIns="0" rtlCol="0" anchor="ctr"/>
          <a:lstStyle/>
          <a:p>
            <a:pPr indent="0" marL="0">
              <a:buNone/>
            </a:pPr>
            <a:r>
              <a:rPr lang="en-US" sz="950" b="1" dirty="0">
                <a:solidFill>
                  <a:srgbClr val="2F8CFF"/>
                </a:solidFill>
                <a:latin typeface="Calibri" pitchFamily="34" charset="0"/>
                <a:ea typeface="Calibri" pitchFamily="34" charset="-122"/>
                <a:cs typeface="Calibri" pitchFamily="34" charset="-120"/>
              </a:rPr>
              <a:t>North Europe decommission — $5,871/mo removed</a:t>
            </a:r>
            <a:endParaRPr lang="en-US" sz="950" dirty="0"/>
          </a:p>
        </p:txBody>
      </p:sp>
      <p:sp>
        <p:nvSpPr>
          <p:cNvPr id="22" name="Shape 19"/>
          <p:cNvSpPr/>
          <p:nvPr/>
        </p:nvSpPr>
        <p:spPr>
          <a:xfrm>
            <a:off x="6126480" y="4663440"/>
            <a:ext cx="5608015" cy="1005840"/>
          </a:xfrm>
          <a:prstGeom prst="roundRect">
            <a:avLst>
              <a:gd name="adj" fmla="val 5455"/>
            </a:avLst>
          </a:prstGeom>
          <a:solidFill>
            <a:srgbClr val="121B2D"/>
          </a:solidFill>
          <a:ln w="12700">
            <a:solidFill>
              <a:srgbClr val="23304A"/>
            </a:solidFill>
            <a:prstDash val="solid"/>
          </a:ln>
        </p:spPr>
      </p:sp>
      <p:sp>
        <p:nvSpPr>
          <p:cNvPr id="23" name="Text 20"/>
          <p:cNvSpPr/>
          <p:nvPr/>
        </p:nvSpPr>
        <p:spPr>
          <a:xfrm>
            <a:off x="6327648" y="4773168"/>
            <a:ext cx="520567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COMMITMENT-BASED</a:t>
            </a:r>
            <a:endParaRPr lang="en-US" sz="1000" dirty="0"/>
          </a:p>
        </p:txBody>
      </p:sp>
      <p:sp>
        <p:nvSpPr>
          <p:cNvPr id="24" name="Text 21"/>
          <p:cNvSpPr/>
          <p:nvPr/>
        </p:nvSpPr>
        <p:spPr>
          <a:xfrm>
            <a:off x="6327648" y="4956048"/>
            <a:ext cx="520567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$132,118</a:t>
            </a:r>
            <a:endParaRPr lang="en-US" sz="2600" dirty="0"/>
          </a:p>
        </p:txBody>
      </p:sp>
      <p:sp>
        <p:nvSpPr>
          <p:cNvPr id="25" name="Text 22"/>
          <p:cNvSpPr/>
          <p:nvPr/>
        </p:nvSpPr>
        <p:spPr>
          <a:xfrm>
            <a:off x="6327648" y="5376672"/>
            <a:ext cx="5205679" cy="219456"/>
          </a:xfrm>
          <a:prstGeom prst="rect">
            <a:avLst/>
          </a:prstGeom>
          <a:noFill/>
          <a:ln/>
        </p:spPr>
        <p:txBody>
          <a:bodyPr wrap="square" lIns="0" tIns="0" rIns="0" bIns="0" rtlCol="0" anchor="ctr"/>
          <a:lstStyle/>
          <a:p>
            <a:pPr indent="0" marL="0">
              <a:buNone/>
            </a:pPr>
            <a:r>
              <a:rPr lang="en-US" sz="950" b="1" dirty="0">
                <a:solidFill>
                  <a:srgbClr val="91A0B7"/>
                </a:solidFill>
                <a:latin typeface="Calibri" pitchFamily="34" charset="0"/>
                <a:ea typeface="Calibri" pitchFamily="34" charset="-122"/>
                <a:cs typeface="Calibri" pitchFamily="34" charset="-120"/>
              </a:rPr>
              <a:t>reservations and savings plans</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E0A030"/>
                </a:solidFill>
                <a:latin typeface="Calibri" pitchFamily="34" charset="0"/>
                <a:ea typeface="Calibri" pitchFamily="34" charset="-122"/>
                <a:cs typeface="Calibri" pitchFamily="34" charset="-120"/>
              </a:rPr>
              <a:t>IDENTIFIED</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Identified, not yet implemented. Annualised figures.</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None of this changes what runs — it changes how it is bought and how long it stays on. The ask is a decision on the top four items, which are 66% of the value.</a:t>
            </a:r>
            <a:endParaRPr lang="en-US" sz="9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Azure</a:t>
            </a:r>
            <a:endParaRPr lang="en-US" sz="13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950" dirty="0">
                <a:solidFill>
                  <a:srgbClr val="91A0B7"/>
                </a:solidFill>
                <a:latin typeface="Calibri" pitchFamily="34" charset="0"/>
                <a:ea typeface="Calibri" pitchFamily="34" charset="-122"/>
                <a:cs typeface="Calibri" pitchFamily="34" charset="-120"/>
              </a:rPr>
              <a:t>Annual saving if implemented</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14884">
                <a:tc>
                  <a:txBody>
                    <a:bodyPr/>
                    <a:lstStyle/>
                    <a:p>
                      <a:pPr algn="l" indent="0" marL="0">
                        <a:buNone/>
                      </a:pPr>
                      <a:r>
                        <a:rPr lang="en-US" sz="850" b="1" spc="80" kern="0" dirty="0">
                          <a:solidFill>
                            <a:srgbClr val="91A0B7"/>
                          </a:solidFill>
                          <a:latin typeface="Calibri" pitchFamily="34" charset="0"/>
                          <a:ea typeface="Calibri" pitchFamily="34" charset="-122"/>
                          <a:cs typeface="Calibri" pitchFamily="34" charset="-120"/>
                        </a:rPr>
                        <a:t>Recommendation</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850" b="1" spc="80" kern="0" dirty="0">
                          <a:solidFill>
                            <a:srgbClr val="91A0B7"/>
                          </a:solidFill>
                          <a:latin typeface="Calibri" pitchFamily="34" charset="0"/>
                          <a:ea typeface="Calibri" pitchFamily="34" charset="-122"/>
                          <a:cs typeface="Calibri" pitchFamily="34" charset="-120"/>
                        </a:rPr>
                        <a:t>Annual saving</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Premium disks</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$44,592</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Schedule shutdown for 24/7 VMs</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$36,741</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VM reserved instance purchase</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$26,758</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VM right-size</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$19,854</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RI — Azure Database for PostgreSQL</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$17,037</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Idle reserved disks</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$13,464</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Remove unnecessary VMs</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$13,147</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Idle unattached disks</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$7,656</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RI — Redis Cache</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$2,664</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SQL DB right-size</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$2,129</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VPN gateway — check necessity</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$794</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AWS</a:t>
            </a:r>
            <a:endParaRPr lang="en-US" sz="13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950" dirty="0">
                <a:solidFill>
                  <a:srgbClr val="91A0B7"/>
                </a:solidFill>
                <a:latin typeface="Calibri" pitchFamily="34" charset="0"/>
                <a:ea typeface="Calibri" pitchFamily="34" charset="-122"/>
                <a:cs typeface="Calibri" pitchFamily="34" charset="-120"/>
              </a:rPr>
              <a:t>Annual saving if implemented</a:t>
            </a:r>
            <a:endParaRPr lang="en-US" sz="95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14884">
                <a:tc>
                  <a:txBody>
                    <a:bodyPr/>
                    <a:lstStyle/>
                    <a:p>
                      <a:pPr algn="l" indent="0" marL="0">
                        <a:buNone/>
                      </a:pPr>
                      <a:r>
                        <a:rPr lang="en-US" sz="850" b="1" spc="80" kern="0" dirty="0">
                          <a:solidFill>
                            <a:srgbClr val="91A0B7"/>
                          </a:solidFill>
                          <a:latin typeface="Calibri" pitchFamily="34" charset="0"/>
                          <a:ea typeface="Calibri" pitchFamily="34" charset="-122"/>
                          <a:cs typeface="Calibri" pitchFamily="34" charset="-120"/>
                        </a:rPr>
                        <a:t>Recommendation</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850" b="1" spc="80" kern="0" dirty="0">
                          <a:solidFill>
                            <a:srgbClr val="91A0B7"/>
                          </a:solidFill>
                          <a:latin typeface="Calibri" pitchFamily="34" charset="0"/>
                          <a:ea typeface="Calibri" pitchFamily="34" charset="-122"/>
                          <a:cs typeface="Calibri" pitchFamily="34" charset="-120"/>
                        </a:rPr>
                        <a:t>Annual saving</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EKS extended support 1.33 — prod</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$4,526</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SageMaker — check necessity</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$3,420</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800600"/>
            <a:ext cx="3606698" cy="960120"/>
          </a:xfrm>
          <a:prstGeom prst="roundRect">
            <a:avLst>
              <a:gd name="adj" fmla="val 5714"/>
            </a:avLst>
          </a:prstGeom>
          <a:solidFill>
            <a:srgbClr val="121B2D"/>
          </a:solidFill>
          <a:ln w="12700">
            <a:solidFill>
              <a:srgbClr val="23304A"/>
            </a:solidFill>
            <a:prstDash val="solid"/>
          </a:ln>
        </p:spPr>
      </p:sp>
      <p:sp>
        <p:nvSpPr>
          <p:cNvPr id="15" name="Text 11"/>
          <p:cNvSpPr/>
          <p:nvPr/>
        </p:nvSpPr>
        <p:spPr>
          <a:xfrm>
            <a:off x="658368" y="491032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TOTAL POTENTIAL</a:t>
            </a:r>
            <a:endParaRPr lang="en-US" sz="1000" dirty="0"/>
          </a:p>
        </p:txBody>
      </p:sp>
      <p:sp>
        <p:nvSpPr>
          <p:cNvPr id="16" name="Text 12"/>
          <p:cNvSpPr/>
          <p:nvPr/>
        </p:nvSpPr>
        <p:spPr>
          <a:xfrm>
            <a:off x="658368" y="509320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$193K</a:t>
            </a:r>
            <a:endParaRPr lang="en-US" sz="2600" dirty="0"/>
          </a:p>
        </p:txBody>
      </p:sp>
      <p:sp>
        <p:nvSpPr>
          <p:cNvPr id="17" name="Text 13"/>
          <p:cNvSpPr/>
          <p:nvPr/>
        </p:nvSpPr>
        <p:spPr>
          <a:xfrm>
            <a:off x="658368" y="5513832"/>
            <a:ext cx="3204362" cy="219456"/>
          </a:xfrm>
          <a:prstGeom prst="rect">
            <a:avLst/>
          </a:prstGeom>
          <a:noFill/>
          <a:ln/>
        </p:spPr>
        <p:txBody>
          <a:bodyPr wrap="square" lIns="0" tIns="0" rIns="0" bIns="0" rtlCol="0" anchor="ctr"/>
          <a:lstStyle/>
          <a:p>
            <a:pPr indent="0" marL="0">
              <a:buNone/>
            </a:pPr>
            <a:r>
              <a:rPr lang="en-US" sz="950" b="1" dirty="0">
                <a:solidFill>
                  <a:srgbClr val="E0A030"/>
                </a:solidFill>
                <a:latin typeface="Calibri" pitchFamily="34" charset="0"/>
                <a:ea typeface="Calibri" pitchFamily="34" charset="-122"/>
                <a:cs typeface="Calibri" pitchFamily="34" charset="-120"/>
              </a:rPr>
              <a:t>annualised, both clouds</a:t>
            </a:r>
            <a:endParaRPr lang="en-US" sz="950" dirty="0"/>
          </a:p>
        </p:txBody>
      </p:sp>
      <p:sp>
        <p:nvSpPr>
          <p:cNvPr id="18" name="Shape 14"/>
          <p:cNvSpPr/>
          <p:nvPr/>
        </p:nvSpPr>
        <p:spPr>
          <a:xfrm>
            <a:off x="4292498" y="4800600"/>
            <a:ext cx="3606698" cy="960120"/>
          </a:xfrm>
          <a:prstGeom prst="roundRect">
            <a:avLst>
              <a:gd name="adj" fmla="val 5714"/>
            </a:avLst>
          </a:prstGeom>
          <a:solidFill>
            <a:srgbClr val="121B2D"/>
          </a:solidFill>
          <a:ln w="12700">
            <a:solidFill>
              <a:srgbClr val="23304A"/>
            </a:solidFill>
            <a:prstDash val="solid"/>
          </a:ln>
        </p:spPr>
      </p:sp>
      <p:sp>
        <p:nvSpPr>
          <p:cNvPr id="19" name="Text 15"/>
          <p:cNvSpPr/>
          <p:nvPr/>
        </p:nvSpPr>
        <p:spPr>
          <a:xfrm>
            <a:off x="4493666" y="491032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PLUS THE COVERAGE GAP</a:t>
            </a:r>
            <a:endParaRPr lang="en-US" sz="1000" dirty="0"/>
          </a:p>
        </p:txBody>
      </p:sp>
      <p:sp>
        <p:nvSpPr>
          <p:cNvPr id="20" name="Text 16"/>
          <p:cNvSpPr/>
          <p:nvPr/>
        </p:nvSpPr>
        <p:spPr>
          <a:xfrm>
            <a:off x="4493666" y="509320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~$91K</a:t>
            </a:r>
            <a:endParaRPr lang="en-US" sz="2600" dirty="0"/>
          </a:p>
        </p:txBody>
      </p:sp>
      <p:sp>
        <p:nvSpPr>
          <p:cNvPr id="21" name="Text 17"/>
          <p:cNvSpPr/>
          <p:nvPr/>
        </p:nvSpPr>
        <p:spPr>
          <a:xfrm>
            <a:off x="4493666" y="5513832"/>
            <a:ext cx="3204362" cy="219456"/>
          </a:xfrm>
          <a:prstGeom prst="rect">
            <a:avLst/>
          </a:prstGeom>
          <a:noFill/>
          <a:ln/>
        </p:spPr>
        <p:txBody>
          <a:bodyPr wrap="square" lIns="0" tIns="0" rIns="0" bIns="0" rtlCol="0" anchor="ctr"/>
          <a:lstStyle/>
          <a:p>
            <a:pPr indent="0" marL="0">
              <a:buNone/>
            </a:pPr>
            <a:r>
              <a:rPr lang="en-US" sz="950" b="1" dirty="0">
                <a:solidFill>
                  <a:srgbClr val="E0A030"/>
                </a:solidFill>
                <a:latin typeface="Calibri" pitchFamily="34" charset="0"/>
                <a:ea typeface="Calibri" pitchFamily="34" charset="-122"/>
                <a:cs typeface="Calibri" pitchFamily="34" charset="-120"/>
              </a:rPr>
              <a:t>Azure on-demand at AWS's discount rate</a:t>
            </a:r>
            <a:endParaRPr lang="en-US" sz="950" dirty="0"/>
          </a:p>
        </p:txBody>
      </p:sp>
      <p:sp>
        <p:nvSpPr>
          <p:cNvPr id="22" name="Shape 18"/>
          <p:cNvSpPr/>
          <p:nvPr/>
        </p:nvSpPr>
        <p:spPr>
          <a:xfrm>
            <a:off x="8127797" y="4800600"/>
            <a:ext cx="3606698" cy="960120"/>
          </a:xfrm>
          <a:prstGeom prst="roundRect">
            <a:avLst>
              <a:gd name="adj" fmla="val 5714"/>
            </a:avLst>
          </a:prstGeom>
          <a:solidFill>
            <a:srgbClr val="121B2D"/>
          </a:solidFill>
          <a:ln w="12700">
            <a:solidFill>
              <a:srgbClr val="23304A"/>
            </a:solidFill>
            <a:prstDash val="solid"/>
          </a:ln>
        </p:spPr>
      </p:sp>
      <p:sp>
        <p:nvSpPr>
          <p:cNvPr id="23" name="Text 19"/>
          <p:cNvSpPr/>
          <p:nvPr/>
        </p:nvSpPr>
        <p:spPr>
          <a:xfrm>
            <a:off x="8328965" y="491032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BANKED PLUS IDENTIFIED</a:t>
            </a:r>
            <a:endParaRPr lang="en-US" sz="1000" dirty="0"/>
          </a:p>
        </p:txBody>
      </p:sp>
      <p:sp>
        <p:nvSpPr>
          <p:cNvPr id="24" name="Text 20"/>
          <p:cNvSpPr/>
          <p:nvPr/>
        </p:nvSpPr>
        <p:spPr>
          <a:xfrm>
            <a:off x="8328965" y="509320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$563K</a:t>
            </a:r>
            <a:endParaRPr lang="en-US" sz="2600" dirty="0"/>
          </a:p>
        </p:txBody>
      </p:sp>
      <p:sp>
        <p:nvSpPr>
          <p:cNvPr id="25" name="Text 21"/>
          <p:cNvSpPr/>
          <p:nvPr/>
        </p:nvSpPr>
        <p:spPr>
          <a:xfrm>
            <a:off x="8328965" y="5513832"/>
            <a:ext cx="3204362" cy="219456"/>
          </a:xfrm>
          <a:prstGeom prst="rect">
            <a:avLst/>
          </a:prstGeom>
          <a:noFill/>
          <a:ln/>
        </p:spPr>
        <p:txBody>
          <a:bodyPr wrap="square" lIns="0" tIns="0" rIns="0" bIns="0" rtlCol="0" anchor="ctr"/>
          <a:lstStyle/>
          <a:p>
            <a:pPr indent="0" marL="0">
              <a:buNone/>
            </a:pPr>
            <a:r>
              <a:rPr lang="en-US" sz="950" b="1" dirty="0">
                <a:solidFill>
                  <a:srgbClr val="3DDC97"/>
                </a:solidFill>
                <a:latin typeface="Calibri" pitchFamily="34" charset="0"/>
                <a:ea typeface="Calibri" pitchFamily="34" charset="-122"/>
                <a:cs typeface="Calibri" pitchFamily="34" charset="-120"/>
              </a:rPr>
              <a:t>≈ 19% of annualised consumption</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050" b="1" spc="300" kern="0" dirty="0">
                <a:solidFill>
                  <a:srgbClr val="B07CFF"/>
                </a:solidFill>
                <a:latin typeface="Calibri" pitchFamily="34" charset="0"/>
                <a:ea typeface="Calibri" pitchFamily="34" charset="-122"/>
                <a:cs typeface="Calibri" pitchFamily="34" charset="-120"/>
              </a:rPr>
              <a:t>PART FOUR</a:t>
            </a:r>
            <a:endParaRPr lang="en-US" sz="105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3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B07CFF"/>
                </a:solidFill>
                <a:latin typeface="Calibri" pitchFamily="34" charset="0"/>
                <a:ea typeface="Calibri" pitchFamily="34" charset="-122"/>
                <a:cs typeface="Calibri" pitchFamily="34" charset="-120"/>
              </a:rPr>
              <a:t>THE MECHANISM</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One gateway for every AI request</a:t>
            </a:r>
            <a:endParaRPr lang="en-US" sz="26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The enforcement point, not a reporting layer bolted on afterwards — its logs are the financial record.</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 which is why 23.4% of the bill has no name against it.</a:t>
            </a:r>
            <a:endParaRPr lang="en-US" sz="9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950" b="1" spc="140" kern="0" dirty="0">
                <a:solidFill>
                  <a:srgbClr val="91A0B7"/>
                </a:solidFill>
                <a:latin typeface="Calibri" pitchFamily="34" charset="0"/>
                <a:ea typeface="Calibri" pitchFamily="34" charset="-122"/>
                <a:cs typeface="Calibri" pitchFamily="34" charset="-120"/>
              </a:rPr>
              <a:t>APPLICATIONS AND DEVELOPERS</a:t>
            </a:r>
            <a:endParaRPr lang="en-US" sz="95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100" dirty="0">
                <a:solidFill>
                  <a:srgbClr val="F4F7FB"/>
                </a:solidFill>
                <a:latin typeface="Calibri" pitchFamily="34" charset="0"/>
                <a:ea typeface="Calibri" pitchFamily="34" charset="-122"/>
                <a:cs typeface="Calibri" pitchFamily="34" charset="-120"/>
              </a:rPr>
              <a:t>Business applications</a:t>
            </a:r>
            <a:endParaRPr lang="en-US" sz="11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100" dirty="0">
                <a:solidFill>
                  <a:srgbClr val="F4F7FB"/>
                </a:solidFill>
                <a:latin typeface="Calibri" pitchFamily="34" charset="0"/>
                <a:ea typeface="Calibri" pitchFamily="34" charset="-122"/>
                <a:cs typeface="Calibri" pitchFamily="34" charset="-120"/>
              </a:rPr>
              <a:t>Copilots and assistants</a:t>
            </a:r>
            <a:endParaRPr lang="en-US" sz="11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100" dirty="0">
                <a:solidFill>
                  <a:srgbClr val="F4F7FB"/>
                </a:solidFill>
                <a:latin typeface="Calibri" pitchFamily="34" charset="0"/>
                <a:ea typeface="Calibri" pitchFamily="34" charset="-122"/>
                <a:cs typeface="Calibri" pitchFamily="34" charset="-120"/>
              </a:rPr>
              <a:t>Autonomous agents</a:t>
            </a:r>
            <a:endParaRPr lang="en-US" sz="11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100" dirty="0">
                <a:solidFill>
                  <a:srgbClr val="F4F7FB"/>
                </a:solidFill>
                <a:latin typeface="Calibri" pitchFamily="34" charset="0"/>
                <a:ea typeface="Calibri" pitchFamily="34" charset="-122"/>
                <a:cs typeface="Calibri" pitchFamily="34" charset="-120"/>
              </a:rPr>
              <a:t>Data science</a:t>
            </a:r>
            <a:endParaRPr lang="en-US" sz="11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100" dirty="0">
                <a:solidFill>
                  <a:srgbClr val="F4F7FB"/>
                </a:solidFill>
                <a:latin typeface="Calibri" pitchFamily="34" charset="0"/>
                <a:ea typeface="Calibri" pitchFamily="34" charset="-122"/>
                <a:cs typeface="Calibri" pitchFamily="34" charset="-120"/>
              </a:rPr>
              <a:t>Third-party SaaS</a:t>
            </a:r>
            <a:endParaRPr lang="en-US" sz="11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950" b="1" spc="140" kern="0" dirty="0">
                <a:solidFill>
                  <a:srgbClr val="91A0B7"/>
                </a:solidFill>
                <a:latin typeface="Calibri" pitchFamily="34" charset="0"/>
                <a:ea typeface="Calibri" pitchFamily="34" charset="-122"/>
                <a:cs typeface="Calibri" pitchFamily="34" charset="-120"/>
              </a:rPr>
              <a:t>PROVIDER ESTATE</a:t>
            </a:r>
            <a:endParaRPr lang="en-US" sz="95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100" dirty="0">
                <a:solidFill>
                  <a:srgbClr val="F4F7FB"/>
                </a:solidFill>
                <a:latin typeface="Calibri" pitchFamily="34" charset="0"/>
                <a:ea typeface="Calibri" pitchFamily="34" charset="-122"/>
                <a:cs typeface="Calibri" pitchFamily="34" charset="-120"/>
              </a:rPr>
              <a:t>Microsoft Copilot</a:t>
            </a:r>
            <a:endParaRPr lang="en-US" sz="11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100" dirty="0">
                <a:solidFill>
                  <a:srgbClr val="F4F7FB"/>
                </a:solidFill>
                <a:latin typeface="Calibri" pitchFamily="34" charset="0"/>
                <a:ea typeface="Calibri" pitchFamily="34" charset="-122"/>
                <a:cs typeface="Calibri" pitchFamily="34" charset="-120"/>
              </a:rPr>
              <a:t>Azure AI Foundry</a:t>
            </a:r>
            <a:endParaRPr lang="en-US" sz="11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100" dirty="0">
                <a:solidFill>
                  <a:srgbClr val="F4F7FB"/>
                </a:solidFill>
                <a:latin typeface="Calibri" pitchFamily="34" charset="0"/>
                <a:ea typeface="Calibri" pitchFamily="34" charset="-122"/>
                <a:cs typeface="Calibri" pitchFamily="34" charset="-120"/>
              </a:rPr>
              <a:t>AWS Bedrock</a:t>
            </a:r>
            <a:endParaRPr lang="en-US" sz="11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100" dirty="0">
                <a:solidFill>
                  <a:srgbClr val="F4F7FB"/>
                </a:solidFill>
                <a:latin typeface="Calibri" pitchFamily="34" charset="0"/>
                <a:ea typeface="Calibri" pitchFamily="34" charset="-122"/>
                <a:cs typeface="Calibri" pitchFamily="34" charset="-120"/>
              </a:rPr>
              <a:t>Google Vertex AI</a:t>
            </a:r>
            <a:endParaRPr lang="en-US" sz="11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100" dirty="0">
                <a:solidFill>
                  <a:srgbClr val="F4F7FB"/>
                </a:solidFill>
                <a:latin typeface="Calibri" pitchFamily="34" charset="0"/>
                <a:ea typeface="Calibri" pitchFamily="34" charset="-122"/>
                <a:cs typeface="Calibri" pitchFamily="34" charset="-120"/>
              </a:rPr>
              <a:t>Claude / OpenAI</a:t>
            </a:r>
            <a:endParaRPr lang="en-US" sz="11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500" b="1" dirty="0">
                <a:solidFill>
                  <a:srgbClr val="F4F7FB"/>
                </a:solidFill>
                <a:latin typeface="Calibri" pitchFamily="34" charset="0"/>
                <a:ea typeface="Calibri" pitchFamily="34" charset="-122"/>
                <a:cs typeface="Calibri" pitchFamily="34" charset="-120"/>
              </a:rPr>
              <a:t>AI Command Center</a:t>
            </a:r>
            <a:endParaRPr lang="en-US" sz="15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950" dirty="0">
                <a:solidFill>
                  <a:srgbClr val="91A0B7"/>
                </a:solidFill>
                <a:latin typeface="Calibri" pitchFamily="34" charset="0"/>
                <a:ea typeface="Calibri" pitchFamily="34" charset="-122"/>
                <a:cs typeface="Calibri" pitchFamily="34" charset="-120"/>
              </a:rPr>
              <a:t>Policy enforcement point</a:t>
            </a:r>
            <a:endParaRPr lang="en-US" sz="95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950" dirty="0">
                <a:solidFill>
                  <a:srgbClr val="F4F7FB"/>
                </a:solidFill>
                <a:latin typeface="Calibri" pitchFamily="34" charset="0"/>
                <a:ea typeface="Calibri" pitchFamily="34" charset="-122"/>
                <a:cs typeface="Calibri" pitchFamily="34" charset="-120"/>
              </a:rPr>
              <a:t>Visibility</a:t>
            </a:r>
            <a:endParaRPr lang="en-US" sz="95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950" dirty="0">
                <a:solidFill>
                  <a:srgbClr val="F4F7FB"/>
                </a:solidFill>
                <a:latin typeface="Calibri" pitchFamily="34" charset="0"/>
                <a:ea typeface="Calibri" pitchFamily="34" charset="-122"/>
                <a:cs typeface="Calibri" pitchFamily="34" charset="-120"/>
              </a:rPr>
              <a:t>Budgets per unit</a:t>
            </a:r>
            <a:endParaRPr lang="en-US" sz="95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950" dirty="0">
                <a:solidFill>
                  <a:srgbClr val="F4F7FB"/>
                </a:solidFill>
                <a:latin typeface="Calibri" pitchFamily="34" charset="0"/>
                <a:ea typeface="Calibri" pitchFamily="34" charset="-122"/>
                <a:cs typeface="Calibri" pitchFamily="34" charset="-120"/>
              </a:rPr>
              <a:t>Owners</a:t>
            </a:r>
            <a:endParaRPr lang="en-US" sz="95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950" dirty="0">
                <a:solidFill>
                  <a:srgbClr val="F4F7FB"/>
                </a:solidFill>
                <a:latin typeface="Calibri" pitchFamily="34" charset="0"/>
                <a:ea typeface="Calibri" pitchFamily="34" charset="-122"/>
                <a:cs typeface="Calibri" pitchFamily="34" charset="-120"/>
              </a:rPr>
              <a:t>Alerts</a:t>
            </a:r>
            <a:endParaRPr lang="en-US" sz="95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950" dirty="0">
                <a:solidFill>
                  <a:srgbClr val="F4F7FB"/>
                </a:solidFill>
                <a:latin typeface="Calibri" pitchFamily="34" charset="0"/>
                <a:ea typeface="Calibri" pitchFamily="34" charset="-122"/>
                <a:cs typeface="Calibri" pitchFamily="34" charset="-120"/>
              </a:rPr>
              <a:t>Rate limits</a:t>
            </a:r>
            <a:endParaRPr lang="en-US" sz="95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950" dirty="0">
                <a:solidFill>
                  <a:srgbClr val="F4F7FB"/>
                </a:solidFill>
                <a:latin typeface="Calibri" pitchFamily="34" charset="0"/>
                <a:ea typeface="Calibri" pitchFamily="34" charset="-122"/>
                <a:cs typeface="Calibri" pitchFamily="34" charset="-120"/>
              </a:rPr>
              <a:t>Token quotas</a:t>
            </a:r>
            <a:endParaRPr lang="en-US" sz="95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950" dirty="0">
                <a:solidFill>
                  <a:srgbClr val="F4F7FB"/>
                </a:solidFill>
                <a:latin typeface="Calibri" pitchFamily="34" charset="0"/>
                <a:ea typeface="Calibri" pitchFamily="34" charset="-122"/>
                <a:cs typeface="Calibri" pitchFamily="34" charset="-120"/>
              </a:rPr>
              <a:t>Chargeback</a:t>
            </a:r>
            <a:endParaRPr lang="en-US" sz="95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950" dirty="0">
                <a:solidFill>
                  <a:srgbClr val="F4F7FB"/>
                </a:solidFill>
                <a:latin typeface="Calibri" pitchFamily="34" charset="0"/>
                <a:ea typeface="Calibri" pitchFamily="34" charset="-122"/>
                <a:cs typeface="Calibri" pitchFamily="34" charset="-120"/>
              </a:rPr>
              <a:t>Executive dashboard</a:t>
            </a:r>
            <a:endParaRPr lang="en-US" sz="95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90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B07CFF"/>
                </a:solidFill>
                <a:latin typeface="Calibri" pitchFamily="34" charset="0"/>
                <a:ea typeface="Calibri" pitchFamily="34" charset="-122"/>
                <a:cs typeface="Calibri" pitchFamily="34" charset="-120"/>
              </a:rPr>
              <a:t>OWNERSHIP</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95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100" b="1" dirty="0">
                <a:solidFill>
                  <a:srgbClr val="B07C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250" b="1" dirty="0">
                <a:solidFill>
                  <a:srgbClr val="F4F7FB"/>
                </a:solidFill>
                <a:latin typeface="Calibri" pitchFamily="34" charset="0"/>
                <a:ea typeface="Calibri" pitchFamily="34" charset="-122"/>
                <a:cs typeface="Calibri" pitchFamily="34" charset="-120"/>
              </a:rPr>
              <a:t>Business owner</a:t>
            </a:r>
            <a:endParaRPr lang="en-US" sz="125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000" dirty="0">
                <a:solidFill>
                  <a:srgbClr val="91A0B7"/>
                </a:solidFill>
                <a:latin typeface="Calibri" pitchFamily="34" charset="0"/>
                <a:ea typeface="Calibri" pitchFamily="34" charset="-122"/>
                <a:cs typeface="Calibri" pitchFamily="34" charset="-120"/>
              </a:rPr>
              <a:t>Accountability for the use case and its return.</a:t>
            </a:r>
            <a:endParaRPr lang="en-US" sz="10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100" b="1" dirty="0">
                <a:solidFill>
                  <a:srgbClr val="B07C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250" b="1" dirty="0">
                <a:solidFill>
                  <a:srgbClr val="F4F7FB"/>
                </a:solidFill>
                <a:latin typeface="Calibri" pitchFamily="34" charset="0"/>
                <a:ea typeface="Calibri" pitchFamily="34" charset="-122"/>
                <a:cs typeface="Calibri" pitchFamily="34" charset="-120"/>
              </a:rPr>
              <a:t>Technical owner</a:t>
            </a:r>
            <a:endParaRPr lang="en-US" sz="125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000" dirty="0">
                <a:solidFill>
                  <a:srgbClr val="91A0B7"/>
                </a:solidFill>
                <a:latin typeface="Calibri" pitchFamily="34" charset="0"/>
                <a:ea typeface="Calibri" pitchFamily="34" charset="-122"/>
                <a:cs typeface="Calibri" pitchFamily="34" charset="-120"/>
              </a:rPr>
              <a:t>Deployment, model choice and system health.</a:t>
            </a:r>
            <a:endParaRPr lang="en-US" sz="10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100" b="1" dirty="0">
                <a:solidFill>
                  <a:srgbClr val="B07C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250" b="1" dirty="0">
                <a:solidFill>
                  <a:srgbClr val="F4F7FB"/>
                </a:solidFill>
                <a:latin typeface="Calibri" pitchFamily="34" charset="0"/>
                <a:ea typeface="Calibri" pitchFamily="34" charset="-122"/>
                <a:cs typeface="Calibri" pitchFamily="34" charset="-120"/>
              </a:rPr>
              <a:t>Budget</a:t>
            </a:r>
            <a:endParaRPr lang="en-US" sz="125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000" dirty="0">
                <a:solidFill>
                  <a:srgbClr val="91A0B7"/>
                </a:solidFill>
                <a:latin typeface="Calibri" pitchFamily="34" charset="0"/>
                <a:ea typeface="Calibri" pitchFamily="34" charset="-122"/>
                <a:cs typeface="Calibri" pitchFamily="34" charset="-120"/>
              </a:rPr>
              <a:t>Maximum financial exposure, set before anything runs.</a:t>
            </a:r>
            <a:endParaRPr lang="en-US" sz="10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sp>
      <p:sp>
        <p:nvSpPr>
          <p:cNvPr id="20" name="Text 18"/>
          <p:cNvSpPr/>
          <p:nvPr/>
        </p:nvSpPr>
        <p:spPr>
          <a:xfrm>
            <a:off x="457200" y="3511296"/>
            <a:ext cx="329184" cy="329184"/>
          </a:xfrm>
          <a:prstGeom prst="rect">
            <a:avLst/>
          </a:prstGeom>
          <a:noFill/>
          <a:ln/>
        </p:spPr>
        <p:txBody>
          <a:bodyPr wrap="square" lIns="0" tIns="0" rIns="0" bIns="0" rtlCol="0" anchor="ctr"/>
          <a:lstStyle/>
          <a:p>
            <a:pPr algn="ctr" indent="0" marL="0">
              <a:buNone/>
            </a:pPr>
            <a:r>
              <a:rPr lang="en-US" sz="1100" b="1" dirty="0">
                <a:solidFill>
                  <a:srgbClr val="B07C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indent="0" marL="0">
              <a:buNone/>
            </a:pPr>
            <a:r>
              <a:rPr lang="en-US" sz="1250" b="1" dirty="0">
                <a:solidFill>
                  <a:srgbClr val="F4F7FB"/>
                </a:solidFill>
                <a:latin typeface="Calibri" pitchFamily="34" charset="0"/>
                <a:ea typeface="Calibri" pitchFamily="34" charset="-122"/>
                <a:cs typeface="Calibri" pitchFamily="34" charset="-120"/>
              </a:rPr>
              <a:t>Rate limit</a:t>
            </a:r>
            <a:endParaRPr lang="en-US" sz="125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indent="0" marL="0">
              <a:lnSpc>
                <a:spcPct val="110000"/>
              </a:lnSpc>
              <a:buNone/>
            </a:pPr>
            <a:r>
              <a:rPr lang="en-US" sz="1000" dirty="0">
                <a:solidFill>
                  <a:srgbClr val="91A0B7"/>
                </a:solidFill>
                <a:latin typeface="Calibri" pitchFamily="34" charset="0"/>
                <a:ea typeface="Calibri" pitchFamily="34" charset="-122"/>
                <a:cs typeface="Calibri" pitchFamily="34" charset="-120"/>
              </a:rPr>
              <a:t>Prevents API spam, runaway loops and overload.</a:t>
            </a:r>
            <a:endParaRPr lang="en-US" sz="10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sp>
      <p:sp>
        <p:nvSpPr>
          <p:cNvPr id="24" name="Text 22"/>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100" b="1" dirty="0">
                <a:solidFill>
                  <a:srgbClr val="B07C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indent="0" marL="0">
              <a:buNone/>
            </a:pPr>
            <a:r>
              <a:rPr lang="en-US" sz="1250" b="1" dirty="0">
                <a:solidFill>
                  <a:srgbClr val="F4F7FB"/>
                </a:solidFill>
                <a:latin typeface="Calibri" pitchFamily="34" charset="0"/>
                <a:ea typeface="Calibri" pitchFamily="34" charset="-122"/>
                <a:cs typeface="Calibri" pitchFamily="34" charset="-120"/>
              </a:rPr>
              <a:t>Token quota</a:t>
            </a:r>
            <a:endParaRPr lang="en-US" sz="125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000" dirty="0">
                <a:solidFill>
                  <a:srgbClr val="91A0B7"/>
                </a:solidFill>
                <a:latin typeface="Calibri" pitchFamily="34" charset="0"/>
                <a:ea typeface="Calibri" pitchFamily="34" charset="-122"/>
                <a:cs typeface="Calibri" pitchFamily="34" charset="-120"/>
              </a:rPr>
              <a:t>Caps consumption per consumer, independent of budget.</a:t>
            </a:r>
            <a:endParaRPr lang="en-US" sz="10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sp>
      <p:sp>
        <p:nvSpPr>
          <p:cNvPr id="28" name="Text 26"/>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100" b="1" dirty="0">
                <a:solidFill>
                  <a:srgbClr val="B07C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indent="0" marL="0">
              <a:buNone/>
            </a:pPr>
            <a:r>
              <a:rPr lang="en-US" sz="1250" b="1" dirty="0">
                <a:solidFill>
                  <a:srgbClr val="F4F7FB"/>
                </a:solidFill>
                <a:latin typeface="Calibri" pitchFamily="34" charset="0"/>
                <a:ea typeface="Calibri" pitchFamily="34" charset="-122"/>
                <a:cs typeface="Calibri" pitchFamily="34" charset="-120"/>
              </a:rPr>
              <a:t>Cost centre</a:t>
            </a:r>
            <a:endParaRPr lang="en-US" sz="125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000" dirty="0">
                <a:solidFill>
                  <a:srgbClr val="91A0B7"/>
                </a:solidFill>
                <a:latin typeface="Calibri" pitchFamily="34" charset="0"/>
                <a:ea typeface="Calibri" pitchFamily="34" charset="-122"/>
                <a:cs typeface="Calibri" pitchFamily="34" charset="-120"/>
              </a:rPr>
              <a:t>Makes chargeback possible at month end.</a:t>
            </a:r>
            <a:endParaRPr lang="en-US" sz="10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sp>
      <p:sp>
        <p:nvSpPr>
          <p:cNvPr id="32" name="Text 30"/>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100" b="1" dirty="0">
                <a:solidFill>
                  <a:srgbClr val="B07C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indent="0" marL="0">
              <a:buNone/>
            </a:pPr>
            <a:r>
              <a:rPr lang="en-US" sz="1250" b="1" dirty="0">
                <a:solidFill>
                  <a:srgbClr val="F4F7FB"/>
                </a:solidFill>
                <a:latin typeface="Calibri" pitchFamily="34" charset="0"/>
                <a:ea typeface="Calibri" pitchFamily="34" charset="-122"/>
                <a:cs typeface="Calibri" pitchFamily="34" charset="-120"/>
              </a:rPr>
              <a:t>Executive approval</a:t>
            </a:r>
            <a:endParaRPr lang="en-US" sz="125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000" dirty="0">
                <a:solidFill>
                  <a:srgbClr val="91A0B7"/>
                </a:solidFill>
                <a:latin typeface="Calibri" pitchFamily="34" charset="0"/>
                <a:ea typeface="Calibri" pitchFamily="34" charset="-122"/>
                <a:cs typeface="Calibri" pitchFamily="34" charset="-120"/>
              </a:rPr>
              <a:t>Sign-off before launch, not after the first invoice.</a:t>
            </a:r>
            <a:endParaRPr lang="en-US" sz="10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sp>
      <p:sp>
        <p:nvSpPr>
          <p:cNvPr id="36" name="Text 34"/>
          <p:cNvSpPr/>
          <p:nvPr/>
        </p:nvSpPr>
        <p:spPr>
          <a:xfrm>
            <a:off x="685800" y="4407408"/>
            <a:ext cx="10820095" cy="292608"/>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This is what makes shadow AI structurally impossible</a:t>
            </a:r>
            <a:endParaRPr lang="en-US" sz="14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indent="0" marL="0">
              <a:lnSpc>
                <a:spcPct val="115000"/>
              </a:lnSpc>
              <a:buNone/>
            </a:pPr>
            <a:r>
              <a:rPr lang="en-US" sz="10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 so it never reaches a provider inside the enterprise network.</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FF9F43"/>
                </a:solidFill>
                <a:latin typeface="Calibri" pitchFamily="34" charset="0"/>
                <a:ea typeface="Calibri" pitchFamily="34" charset="-122"/>
                <a:cs typeface="Calibri" pitchFamily="34" charset="-120"/>
              </a:rPr>
              <a:t>LIFECYCLE</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9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1900" b="1" dirty="0">
                <a:solidFill>
                  <a:srgbClr val="536078"/>
                </a:solidFill>
                <a:latin typeface="Calibri" pitchFamily="34" charset="0"/>
                <a:ea typeface="Calibri" pitchFamily="34" charset="-122"/>
                <a:cs typeface="Calibri" pitchFamily="34" charset="-120"/>
              </a:rPr>
              <a:t>01</a:t>
            </a:r>
            <a:endParaRPr lang="en-US" sz="1900" dirty="0"/>
          </a:p>
        </p:txBody>
      </p:sp>
      <p:sp>
        <p:nvSpPr>
          <p:cNvPr id="10" name="Text 8"/>
          <p:cNvSpPr/>
          <p:nvPr/>
        </p:nvSpPr>
        <p:spPr>
          <a:xfrm>
            <a:off x="658368" y="2039112"/>
            <a:ext cx="2224964" cy="457200"/>
          </a:xfrm>
          <a:prstGeom prst="rect">
            <a:avLst/>
          </a:prstGeom>
          <a:noFill/>
          <a:ln/>
        </p:spPr>
        <p:txBody>
          <a:bodyPr wrap="square" lIns="0" tIns="0" rIns="0" bIns="0" rtlCol="0" anchor="t"/>
          <a:lstStyle/>
          <a:p>
            <a:pPr indent="0" marL="0">
              <a:buNone/>
            </a:pPr>
            <a:r>
              <a:rPr lang="en-US" sz="1200" b="1" dirty="0">
                <a:solidFill>
                  <a:srgbClr val="F4F7FB"/>
                </a:solidFill>
                <a:latin typeface="Calibri" pitchFamily="34" charset="0"/>
                <a:ea typeface="Calibri" pitchFamily="34" charset="-122"/>
                <a:cs typeface="Calibri" pitchFamily="34" charset="-120"/>
              </a:rPr>
              <a:t>Request</a:t>
            </a:r>
            <a:endParaRPr lang="en-US" sz="1200" dirty="0"/>
          </a:p>
        </p:txBody>
      </p:sp>
      <p:sp>
        <p:nvSpPr>
          <p:cNvPr id="11" name="Text 9"/>
          <p:cNvSpPr/>
          <p:nvPr/>
        </p:nvSpPr>
        <p:spPr>
          <a:xfrm>
            <a:off x="658368" y="2478024"/>
            <a:ext cx="2224964" cy="777240"/>
          </a:xfrm>
          <a:prstGeom prst="rect">
            <a:avLst/>
          </a:prstGeom>
          <a:noFill/>
          <a:ln/>
        </p:spPr>
        <p:txBody>
          <a:bodyPr wrap="square" lIns="0" tIns="0" rIns="0" bIns="0" rtlCol="0" anchor="t"/>
          <a:lstStyle/>
          <a:p>
            <a:pPr indent="0" marL="0">
              <a:lnSpc>
                <a:spcPct val="115000"/>
              </a:lnSpc>
              <a:buNone/>
            </a:pPr>
            <a:r>
              <a:rPr lang="en-US" sz="95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95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1900" b="1" dirty="0">
                <a:solidFill>
                  <a:srgbClr val="FF9F43"/>
                </a:solidFill>
                <a:latin typeface="Calibri" pitchFamily="34" charset="0"/>
                <a:ea typeface="Calibri" pitchFamily="34" charset="-122"/>
                <a:cs typeface="Calibri" pitchFamily="34" charset="-120"/>
              </a:rPr>
              <a:t>02</a:t>
            </a:r>
            <a:endParaRPr lang="en-US" sz="19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750" b="1" spc="80" kern="0" dirty="0">
                <a:solidFill>
                  <a:srgbClr val="FF9F43"/>
                </a:solidFill>
                <a:latin typeface="Calibri" pitchFamily="34" charset="0"/>
                <a:ea typeface="Calibri" pitchFamily="34" charset="-122"/>
                <a:cs typeface="Calibri" pitchFamily="34" charset="-120"/>
              </a:rPr>
              <a:t>GATE</a:t>
            </a:r>
            <a:endParaRPr lang="en-US" sz="750" dirty="0"/>
          </a:p>
        </p:txBody>
      </p:sp>
      <p:sp>
        <p:nvSpPr>
          <p:cNvPr id="16" name="Text 14"/>
          <p:cNvSpPr/>
          <p:nvPr/>
        </p:nvSpPr>
        <p:spPr>
          <a:xfrm>
            <a:off x="3541700" y="2039112"/>
            <a:ext cx="2224964" cy="457200"/>
          </a:xfrm>
          <a:prstGeom prst="rect">
            <a:avLst/>
          </a:prstGeom>
          <a:noFill/>
          <a:ln/>
        </p:spPr>
        <p:txBody>
          <a:bodyPr wrap="square" lIns="0" tIns="0" rIns="0" bIns="0" rtlCol="0" anchor="t"/>
          <a:lstStyle/>
          <a:p>
            <a:pPr indent="0" marL="0">
              <a:buNone/>
            </a:pPr>
            <a:r>
              <a:rPr lang="en-US" sz="1200" b="1" dirty="0">
                <a:solidFill>
                  <a:srgbClr val="F4F7FB"/>
                </a:solidFill>
                <a:latin typeface="Calibri" pitchFamily="34" charset="0"/>
                <a:ea typeface="Calibri" pitchFamily="34" charset="-122"/>
                <a:cs typeface="Calibri" pitchFamily="34" charset="-120"/>
              </a:rPr>
              <a:t>Business approval</a:t>
            </a:r>
            <a:endParaRPr lang="en-US" sz="1200" dirty="0"/>
          </a:p>
        </p:txBody>
      </p:sp>
      <p:sp>
        <p:nvSpPr>
          <p:cNvPr id="17" name="Text 15"/>
          <p:cNvSpPr/>
          <p:nvPr/>
        </p:nvSpPr>
        <p:spPr>
          <a:xfrm>
            <a:off x="3541700" y="2478024"/>
            <a:ext cx="2224964" cy="777240"/>
          </a:xfrm>
          <a:prstGeom prst="rect">
            <a:avLst/>
          </a:prstGeom>
          <a:noFill/>
          <a:ln/>
        </p:spPr>
        <p:txBody>
          <a:bodyPr wrap="square" lIns="0" tIns="0" rIns="0" bIns="0" rtlCol="0" anchor="t"/>
          <a:lstStyle/>
          <a:p>
            <a:pPr indent="0" marL="0">
              <a:lnSpc>
                <a:spcPct val="115000"/>
              </a:lnSpc>
              <a:buNone/>
            </a:pPr>
            <a:r>
              <a:rPr lang="en-US" sz="950" dirty="0">
                <a:solidFill>
                  <a:srgbClr val="91A0B7"/>
                </a:solidFill>
                <a:latin typeface="Calibri" pitchFamily="34" charset="0"/>
                <a:ea typeface="Calibri" pitchFamily="34" charset="-122"/>
                <a:cs typeface="Calibri" pitchFamily="34" charset="-120"/>
              </a:rPr>
              <a:t>Named business owner accepts the outcome and the cost.</a:t>
            </a:r>
            <a:endParaRPr lang="en-US" sz="95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1900" b="1" dirty="0">
                <a:solidFill>
                  <a:srgbClr val="FF9F43"/>
                </a:solidFill>
                <a:latin typeface="Calibri" pitchFamily="34" charset="0"/>
                <a:ea typeface="Calibri" pitchFamily="34" charset="-122"/>
                <a:cs typeface="Calibri" pitchFamily="34" charset="-120"/>
              </a:rPr>
              <a:t>03</a:t>
            </a:r>
            <a:endParaRPr lang="en-US" sz="19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750" b="1" spc="80" kern="0" dirty="0">
                <a:solidFill>
                  <a:srgbClr val="FF9F43"/>
                </a:solidFill>
                <a:latin typeface="Calibri" pitchFamily="34" charset="0"/>
                <a:ea typeface="Calibri" pitchFamily="34" charset="-122"/>
                <a:cs typeface="Calibri" pitchFamily="34" charset="-120"/>
              </a:rPr>
              <a:t>GATE</a:t>
            </a:r>
            <a:endParaRPr lang="en-US" sz="750" dirty="0"/>
          </a:p>
        </p:txBody>
      </p:sp>
      <p:sp>
        <p:nvSpPr>
          <p:cNvPr id="22" name="Text 20"/>
          <p:cNvSpPr/>
          <p:nvPr/>
        </p:nvSpPr>
        <p:spPr>
          <a:xfrm>
            <a:off x="6425032" y="2039112"/>
            <a:ext cx="2224964" cy="457200"/>
          </a:xfrm>
          <a:prstGeom prst="rect">
            <a:avLst/>
          </a:prstGeom>
          <a:noFill/>
          <a:ln/>
        </p:spPr>
        <p:txBody>
          <a:bodyPr wrap="square" lIns="0" tIns="0" rIns="0" bIns="0" rtlCol="0" anchor="t"/>
          <a:lstStyle/>
          <a:p>
            <a:pPr indent="0" marL="0">
              <a:buNone/>
            </a:pPr>
            <a:r>
              <a:rPr lang="en-US" sz="1200" b="1" dirty="0">
                <a:solidFill>
                  <a:srgbClr val="F4F7FB"/>
                </a:solidFill>
                <a:latin typeface="Calibri" pitchFamily="34" charset="0"/>
                <a:ea typeface="Calibri" pitchFamily="34" charset="-122"/>
                <a:cs typeface="Calibri" pitchFamily="34" charset="-120"/>
              </a:rPr>
              <a:t>Budget allocation</a:t>
            </a:r>
            <a:endParaRPr lang="en-US" sz="1200" dirty="0"/>
          </a:p>
        </p:txBody>
      </p:sp>
      <p:sp>
        <p:nvSpPr>
          <p:cNvPr id="23" name="Text 21"/>
          <p:cNvSpPr/>
          <p:nvPr/>
        </p:nvSpPr>
        <p:spPr>
          <a:xfrm>
            <a:off x="6425032" y="2478024"/>
            <a:ext cx="2224964" cy="777240"/>
          </a:xfrm>
          <a:prstGeom prst="rect">
            <a:avLst/>
          </a:prstGeom>
          <a:noFill/>
          <a:ln/>
        </p:spPr>
        <p:txBody>
          <a:bodyPr wrap="square" lIns="0" tIns="0" rIns="0" bIns="0" rtlCol="0" anchor="t"/>
          <a:lstStyle/>
          <a:p>
            <a:pPr indent="0" marL="0">
              <a:lnSpc>
                <a:spcPct val="115000"/>
              </a:lnSpc>
              <a:buNone/>
            </a:pPr>
            <a:r>
              <a:rPr lang="en-US" sz="950" dirty="0">
                <a:solidFill>
                  <a:srgbClr val="91A0B7"/>
                </a:solidFill>
                <a:latin typeface="Calibri" pitchFamily="34" charset="0"/>
                <a:ea typeface="Calibri" pitchFamily="34" charset="-122"/>
                <a:cs typeface="Calibri" pitchFamily="34" charset="-120"/>
              </a:rPr>
              <a:t>Monthly envelope assigned against a cost centre.</a:t>
            </a:r>
            <a:endParaRPr lang="en-US" sz="95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1900" b="1" dirty="0">
                <a:solidFill>
                  <a:srgbClr val="FF9F43"/>
                </a:solidFill>
                <a:latin typeface="Calibri" pitchFamily="34" charset="0"/>
                <a:ea typeface="Calibri" pitchFamily="34" charset="-122"/>
                <a:cs typeface="Calibri" pitchFamily="34" charset="-120"/>
              </a:rPr>
              <a:t>04</a:t>
            </a:r>
            <a:endParaRPr lang="en-US" sz="19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750" b="1" spc="80" kern="0" dirty="0">
                <a:solidFill>
                  <a:srgbClr val="FF9F43"/>
                </a:solidFill>
                <a:latin typeface="Calibri" pitchFamily="34" charset="0"/>
                <a:ea typeface="Calibri" pitchFamily="34" charset="-122"/>
                <a:cs typeface="Calibri" pitchFamily="34" charset="-120"/>
              </a:rPr>
              <a:t>GATE</a:t>
            </a:r>
            <a:endParaRPr lang="en-US" sz="750" dirty="0"/>
          </a:p>
        </p:txBody>
      </p:sp>
      <p:sp>
        <p:nvSpPr>
          <p:cNvPr id="28" name="Text 26"/>
          <p:cNvSpPr/>
          <p:nvPr/>
        </p:nvSpPr>
        <p:spPr>
          <a:xfrm>
            <a:off x="9308363" y="2039112"/>
            <a:ext cx="2224964" cy="457200"/>
          </a:xfrm>
          <a:prstGeom prst="rect">
            <a:avLst/>
          </a:prstGeom>
          <a:noFill/>
          <a:ln/>
        </p:spPr>
        <p:txBody>
          <a:bodyPr wrap="square" lIns="0" tIns="0" rIns="0" bIns="0" rtlCol="0" anchor="t"/>
          <a:lstStyle/>
          <a:p>
            <a:pPr indent="0" marL="0">
              <a:buNone/>
            </a:pPr>
            <a:r>
              <a:rPr lang="en-US" sz="1200" b="1" dirty="0">
                <a:solidFill>
                  <a:srgbClr val="F4F7FB"/>
                </a:solidFill>
                <a:latin typeface="Calibri" pitchFamily="34" charset="0"/>
                <a:ea typeface="Calibri" pitchFamily="34" charset="-122"/>
                <a:cs typeface="Calibri" pitchFamily="34" charset="-120"/>
              </a:rPr>
              <a:t>Quota assignment</a:t>
            </a:r>
            <a:endParaRPr lang="en-US" sz="1200" dirty="0"/>
          </a:p>
        </p:txBody>
      </p:sp>
      <p:sp>
        <p:nvSpPr>
          <p:cNvPr id="29" name="Text 27"/>
          <p:cNvSpPr/>
          <p:nvPr/>
        </p:nvSpPr>
        <p:spPr>
          <a:xfrm>
            <a:off x="9308363" y="2478024"/>
            <a:ext cx="2224964" cy="777240"/>
          </a:xfrm>
          <a:prstGeom prst="rect">
            <a:avLst/>
          </a:prstGeom>
          <a:noFill/>
          <a:ln/>
        </p:spPr>
        <p:txBody>
          <a:bodyPr wrap="square" lIns="0" tIns="0" rIns="0" bIns="0" rtlCol="0" anchor="t"/>
          <a:lstStyle/>
          <a:p>
            <a:pPr indent="0" marL="0">
              <a:lnSpc>
                <a:spcPct val="115000"/>
              </a:lnSpc>
              <a:buNone/>
            </a:pPr>
            <a:r>
              <a:rPr lang="en-US" sz="950" dirty="0">
                <a:solidFill>
                  <a:srgbClr val="91A0B7"/>
                </a:solidFill>
                <a:latin typeface="Calibri" pitchFamily="34" charset="0"/>
                <a:ea typeface="Calibri" pitchFamily="34" charset="-122"/>
                <a:cs typeface="Calibri" pitchFamily="34" charset="-120"/>
              </a:rPr>
              <a:t>Token quota and rate limit set per consumer.</a:t>
            </a:r>
            <a:endParaRPr lang="en-US" sz="95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1900" b="1" dirty="0">
                <a:solidFill>
                  <a:srgbClr val="FF9F43"/>
                </a:solidFill>
                <a:latin typeface="Calibri" pitchFamily="34" charset="0"/>
                <a:ea typeface="Calibri" pitchFamily="34" charset="-122"/>
                <a:cs typeface="Calibri" pitchFamily="34" charset="-120"/>
              </a:rPr>
              <a:t>05</a:t>
            </a:r>
            <a:endParaRPr lang="en-US" sz="19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750" b="1" spc="80" kern="0" dirty="0">
                <a:solidFill>
                  <a:srgbClr val="FF9F43"/>
                </a:solidFill>
                <a:latin typeface="Calibri" pitchFamily="34" charset="0"/>
                <a:ea typeface="Calibri" pitchFamily="34" charset="-122"/>
                <a:cs typeface="Calibri" pitchFamily="34" charset="-120"/>
              </a:rPr>
              <a:t>GATE</a:t>
            </a:r>
            <a:endParaRPr lang="en-US" sz="750" dirty="0"/>
          </a:p>
        </p:txBody>
      </p:sp>
      <p:sp>
        <p:nvSpPr>
          <p:cNvPr id="34" name="Text 32"/>
          <p:cNvSpPr/>
          <p:nvPr/>
        </p:nvSpPr>
        <p:spPr>
          <a:xfrm>
            <a:off x="658368" y="4169664"/>
            <a:ext cx="2224964" cy="457200"/>
          </a:xfrm>
          <a:prstGeom prst="rect">
            <a:avLst/>
          </a:prstGeom>
          <a:noFill/>
          <a:ln/>
        </p:spPr>
        <p:txBody>
          <a:bodyPr wrap="square" lIns="0" tIns="0" rIns="0" bIns="0" rtlCol="0" anchor="t"/>
          <a:lstStyle/>
          <a:p>
            <a:pPr indent="0" marL="0">
              <a:buNone/>
            </a:pPr>
            <a:r>
              <a:rPr lang="en-US" sz="1200" b="1" dirty="0">
                <a:solidFill>
                  <a:srgbClr val="F4F7FB"/>
                </a:solidFill>
                <a:latin typeface="Calibri" pitchFamily="34" charset="0"/>
                <a:ea typeface="Calibri" pitchFamily="34" charset="-122"/>
                <a:cs typeface="Calibri" pitchFamily="34" charset="-120"/>
              </a:rPr>
              <a:t>Gateway policy</a:t>
            </a:r>
            <a:endParaRPr lang="en-US" sz="1200" dirty="0"/>
          </a:p>
        </p:txBody>
      </p:sp>
      <p:sp>
        <p:nvSpPr>
          <p:cNvPr id="35" name="Text 33"/>
          <p:cNvSpPr/>
          <p:nvPr/>
        </p:nvSpPr>
        <p:spPr>
          <a:xfrm>
            <a:off x="658368" y="4608576"/>
            <a:ext cx="2224964" cy="777240"/>
          </a:xfrm>
          <a:prstGeom prst="rect">
            <a:avLst/>
          </a:prstGeom>
          <a:noFill/>
          <a:ln/>
        </p:spPr>
        <p:txBody>
          <a:bodyPr wrap="square" lIns="0" tIns="0" rIns="0" bIns="0" rtlCol="0" anchor="t"/>
          <a:lstStyle/>
          <a:p>
            <a:pPr indent="0" marL="0">
              <a:lnSpc>
                <a:spcPct val="115000"/>
              </a:lnSpc>
              <a:buNone/>
            </a:pPr>
            <a:r>
              <a:rPr lang="en-US" sz="950" dirty="0">
                <a:solidFill>
                  <a:srgbClr val="91A0B7"/>
                </a:solidFill>
                <a:latin typeface="Calibri" pitchFamily="34" charset="0"/>
                <a:ea typeface="Calibri" pitchFamily="34" charset="-122"/>
                <a:cs typeface="Calibri" pitchFamily="34" charset="-120"/>
              </a:rPr>
              <a:t>Key issued, model tier pinned, policy applied.</a:t>
            </a:r>
            <a:endParaRPr lang="en-US" sz="95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1900" b="1" dirty="0">
                <a:solidFill>
                  <a:srgbClr val="536078"/>
                </a:solidFill>
                <a:latin typeface="Calibri" pitchFamily="34" charset="0"/>
                <a:ea typeface="Calibri" pitchFamily="34" charset="-122"/>
                <a:cs typeface="Calibri" pitchFamily="34" charset="-120"/>
              </a:rPr>
              <a:t>06</a:t>
            </a:r>
            <a:endParaRPr lang="en-US" sz="1900" dirty="0"/>
          </a:p>
        </p:txBody>
      </p:sp>
      <p:sp>
        <p:nvSpPr>
          <p:cNvPr id="38" name="Text 36"/>
          <p:cNvSpPr/>
          <p:nvPr/>
        </p:nvSpPr>
        <p:spPr>
          <a:xfrm>
            <a:off x="3541700" y="4169664"/>
            <a:ext cx="2224964" cy="457200"/>
          </a:xfrm>
          <a:prstGeom prst="rect">
            <a:avLst/>
          </a:prstGeom>
          <a:noFill/>
          <a:ln/>
        </p:spPr>
        <p:txBody>
          <a:bodyPr wrap="square" lIns="0" tIns="0" rIns="0" bIns="0" rtlCol="0" anchor="t"/>
          <a:lstStyle/>
          <a:p>
            <a:pPr indent="0" marL="0">
              <a:buNone/>
            </a:pPr>
            <a:r>
              <a:rPr lang="en-US" sz="1200" b="1" dirty="0">
                <a:solidFill>
                  <a:srgbClr val="F4F7FB"/>
                </a:solidFill>
                <a:latin typeface="Calibri" pitchFamily="34" charset="0"/>
                <a:ea typeface="Calibri" pitchFamily="34" charset="-122"/>
                <a:cs typeface="Calibri" pitchFamily="34" charset="-120"/>
              </a:rPr>
              <a:t>Deployment</a:t>
            </a:r>
            <a:endParaRPr lang="en-US" sz="1200" dirty="0"/>
          </a:p>
        </p:txBody>
      </p:sp>
      <p:sp>
        <p:nvSpPr>
          <p:cNvPr id="39" name="Text 37"/>
          <p:cNvSpPr/>
          <p:nvPr/>
        </p:nvSpPr>
        <p:spPr>
          <a:xfrm>
            <a:off x="3541700" y="4608576"/>
            <a:ext cx="2224964" cy="777240"/>
          </a:xfrm>
          <a:prstGeom prst="rect">
            <a:avLst/>
          </a:prstGeom>
          <a:noFill/>
          <a:ln/>
        </p:spPr>
        <p:txBody>
          <a:bodyPr wrap="square" lIns="0" tIns="0" rIns="0" bIns="0" rtlCol="0" anchor="t"/>
          <a:lstStyle/>
          <a:p>
            <a:pPr indent="0" marL="0">
              <a:lnSpc>
                <a:spcPct val="115000"/>
              </a:lnSpc>
              <a:buNone/>
            </a:pPr>
            <a:r>
              <a:rPr lang="en-US" sz="950" dirty="0">
                <a:solidFill>
                  <a:srgbClr val="91A0B7"/>
                </a:solidFill>
                <a:latin typeface="Calibri" pitchFamily="34" charset="0"/>
                <a:ea typeface="Calibri" pitchFamily="34" charset="-122"/>
                <a:cs typeface="Calibri" pitchFamily="34" charset="-120"/>
              </a:rPr>
              <a:t>Workload goes live through the gateway, never around it.</a:t>
            </a:r>
            <a:endParaRPr lang="en-US" sz="95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1900" b="1" dirty="0">
                <a:solidFill>
                  <a:srgbClr val="536078"/>
                </a:solidFill>
                <a:latin typeface="Calibri" pitchFamily="34" charset="0"/>
                <a:ea typeface="Calibri" pitchFamily="34" charset="-122"/>
                <a:cs typeface="Calibri" pitchFamily="34" charset="-120"/>
              </a:rPr>
              <a:t>07</a:t>
            </a:r>
            <a:endParaRPr lang="en-US" sz="1900" dirty="0"/>
          </a:p>
        </p:txBody>
      </p:sp>
      <p:sp>
        <p:nvSpPr>
          <p:cNvPr id="42" name="Text 40"/>
          <p:cNvSpPr/>
          <p:nvPr/>
        </p:nvSpPr>
        <p:spPr>
          <a:xfrm>
            <a:off x="6425032" y="4169664"/>
            <a:ext cx="2224964" cy="457200"/>
          </a:xfrm>
          <a:prstGeom prst="rect">
            <a:avLst/>
          </a:prstGeom>
          <a:noFill/>
          <a:ln/>
        </p:spPr>
        <p:txBody>
          <a:bodyPr wrap="square" lIns="0" tIns="0" rIns="0" bIns="0" rtlCol="0" anchor="t"/>
          <a:lstStyle/>
          <a:p>
            <a:pPr indent="0" marL="0">
              <a:buNone/>
            </a:pPr>
            <a:r>
              <a:rPr lang="en-US" sz="1200" b="1" dirty="0">
                <a:solidFill>
                  <a:srgbClr val="F4F7FB"/>
                </a:solidFill>
                <a:latin typeface="Calibri" pitchFamily="34" charset="0"/>
                <a:ea typeface="Calibri" pitchFamily="34" charset="-122"/>
                <a:cs typeface="Calibri" pitchFamily="34" charset="-120"/>
              </a:rPr>
              <a:t>Monitoring</a:t>
            </a:r>
            <a:endParaRPr lang="en-US" sz="1200" dirty="0"/>
          </a:p>
        </p:txBody>
      </p:sp>
      <p:sp>
        <p:nvSpPr>
          <p:cNvPr id="43" name="Text 41"/>
          <p:cNvSpPr/>
          <p:nvPr/>
        </p:nvSpPr>
        <p:spPr>
          <a:xfrm>
            <a:off x="6425032" y="4608576"/>
            <a:ext cx="2224964" cy="777240"/>
          </a:xfrm>
          <a:prstGeom prst="rect">
            <a:avLst/>
          </a:prstGeom>
          <a:noFill/>
          <a:ln/>
        </p:spPr>
        <p:txBody>
          <a:bodyPr wrap="square" lIns="0" tIns="0" rIns="0" bIns="0" rtlCol="0" anchor="t"/>
          <a:lstStyle/>
          <a:p>
            <a:pPr indent="0" marL="0">
              <a:lnSpc>
                <a:spcPct val="115000"/>
              </a:lnSpc>
              <a:buNone/>
            </a:pPr>
            <a:r>
              <a:rPr lang="en-US" sz="950" dirty="0">
                <a:solidFill>
                  <a:srgbClr val="91A0B7"/>
                </a:solidFill>
                <a:latin typeface="Calibri" pitchFamily="34" charset="0"/>
                <a:ea typeface="Calibri" pitchFamily="34" charset="-122"/>
                <a:cs typeface="Calibri" pitchFamily="34" charset="-120"/>
              </a:rPr>
              <a:t>Usage, anomalies and unit cost tracked continuously.</a:t>
            </a:r>
            <a:endParaRPr lang="en-US" sz="95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1900" b="1" dirty="0">
                <a:solidFill>
                  <a:srgbClr val="536078"/>
                </a:solidFill>
                <a:latin typeface="Calibri" pitchFamily="34" charset="0"/>
                <a:ea typeface="Calibri" pitchFamily="34" charset="-122"/>
                <a:cs typeface="Calibri" pitchFamily="34" charset="-120"/>
              </a:rPr>
              <a:t>08</a:t>
            </a:r>
            <a:endParaRPr lang="en-US" sz="1900" dirty="0"/>
          </a:p>
        </p:txBody>
      </p:sp>
      <p:sp>
        <p:nvSpPr>
          <p:cNvPr id="46" name="Text 44"/>
          <p:cNvSpPr/>
          <p:nvPr/>
        </p:nvSpPr>
        <p:spPr>
          <a:xfrm>
            <a:off x="9308363" y="4169664"/>
            <a:ext cx="2224964" cy="457200"/>
          </a:xfrm>
          <a:prstGeom prst="rect">
            <a:avLst/>
          </a:prstGeom>
          <a:noFill/>
          <a:ln/>
        </p:spPr>
        <p:txBody>
          <a:bodyPr wrap="square" lIns="0" tIns="0" rIns="0" bIns="0" rtlCol="0" anchor="t"/>
          <a:lstStyle/>
          <a:p>
            <a:pPr indent="0" marL="0">
              <a:buNone/>
            </a:pPr>
            <a:r>
              <a:rPr lang="en-US" sz="1200" b="1" dirty="0">
                <a:solidFill>
                  <a:srgbClr val="F4F7FB"/>
                </a:solidFill>
                <a:latin typeface="Calibri" pitchFamily="34" charset="0"/>
                <a:ea typeface="Calibri" pitchFamily="34" charset="-122"/>
                <a:cs typeface="Calibri" pitchFamily="34" charset="-120"/>
              </a:rPr>
              <a:t>Executive report</a:t>
            </a:r>
            <a:endParaRPr lang="en-US" sz="1200" dirty="0"/>
          </a:p>
        </p:txBody>
      </p:sp>
      <p:sp>
        <p:nvSpPr>
          <p:cNvPr id="47" name="Text 45"/>
          <p:cNvSpPr/>
          <p:nvPr/>
        </p:nvSpPr>
        <p:spPr>
          <a:xfrm>
            <a:off x="9308363" y="4608576"/>
            <a:ext cx="2224964" cy="777240"/>
          </a:xfrm>
          <a:prstGeom prst="rect">
            <a:avLst/>
          </a:prstGeom>
          <a:noFill/>
          <a:ln/>
        </p:spPr>
        <p:txBody>
          <a:bodyPr wrap="square" lIns="0" tIns="0" rIns="0" bIns="0" rtlCol="0" anchor="t"/>
          <a:lstStyle/>
          <a:p>
            <a:pPr indent="0" marL="0">
              <a:lnSpc>
                <a:spcPct val="115000"/>
              </a:lnSpc>
              <a:buNone/>
            </a:pPr>
            <a:r>
              <a:rPr lang="en-US" sz="950" dirty="0">
                <a:solidFill>
                  <a:srgbClr val="91A0B7"/>
                </a:solidFill>
                <a:latin typeface="Calibri" pitchFamily="34" charset="0"/>
                <a:ea typeface="Calibri" pitchFamily="34" charset="-122"/>
                <a:cs typeface="Calibri" pitchFamily="34" charset="-120"/>
              </a:rPr>
              <a:t>Consumption, variance and value reported monthly.</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B07CFF"/>
                </a:solidFill>
                <a:latin typeface="Calibri" pitchFamily="34" charset="0"/>
                <a:ea typeface="Calibri" pitchFamily="34" charset="-122"/>
                <a:cs typeface="Calibri" pitchFamily="34" charset="-120"/>
              </a:rPr>
              <a:t>MODEL POLICY</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GitHub Copilot model selection is the one AI lever that needs no new platform — only a policy.</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 Opus 4.8 ran and stopped, Opus 5 appeared in July. That is a policy gap, not a usage pattern.</a:t>
            </a:r>
            <a:endParaRPr lang="en-US" sz="9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Model pricing and intended use</a:t>
            </a:r>
            <a:endParaRPr lang="en-US" sz="13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950" dirty="0">
                <a:solidFill>
                  <a:srgbClr val="91A0B7"/>
                </a:solidFill>
                <a:latin typeface="Calibri" pitchFamily="34" charset="0"/>
                <a:ea typeface="Calibri" pitchFamily="34" charset="-122"/>
                <a:cs typeface="Calibri" pitchFamily="34" charset="-120"/>
              </a:rPr>
              <a:t>Promotional pricing, valid through 31 August 2026</a:t>
            </a:r>
            <a:endParaRPr lang="en-US" sz="9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14884">
                <a:tc>
                  <a:txBody>
                    <a:bodyPr/>
                    <a:lstStyle/>
                    <a:p>
                      <a:pPr algn="l" indent="0" marL="0">
                        <a:buNone/>
                      </a:pPr>
                      <a:r>
                        <a:rPr lang="en-US" sz="850" b="1" spc="80" kern="0" dirty="0">
                          <a:solidFill>
                            <a:srgbClr val="91A0B7"/>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850" b="1" spc="80" kern="0" dirty="0">
                          <a:solidFill>
                            <a:srgbClr val="91A0B7"/>
                          </a:solidFill>
                          <a:latin typeface="Calibri" pitchFamily="34" charset="0"/>
                          <a:ea typeface="Calibri" pitchFamily="34" charset="-122"/>
                          <a:cs typeface="Calibri" pitchFamily="34" charset="-120"/>
                        </a:rPr>
                        <a:t>Input / 1M</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850" b="1" spc="80" kern="0" dirty="0">
                          <a:solidFill>
                            <a:srgbClr val="91A0B7"/>
                          </a:solidFill>
                          <a:latin typeface="Calibri" pitchFamily="34" charset="0"/>
                          <a:ea typeface="Calibri" pitchFamily="34" charset="-122"/>
                          <a:cs typeface="Calibri" pitchFamily="34" charset="-120"/>
                        </a:rPr>
                        <a:t>Output / 1M</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850" b="1" spc="80" kern="0" dirty="0">
                          <a:solidFill>
                            <a:srgbClr val="91A0B7"/>
                          </a:solidFill>
                          <a:latin typeface="Calibri" pitchFamily="34" charset="0"/>
                          <a:ea typeface="Calibri" pitchFamily="34" charset="-122"/>
                          <a:cs typeface="Calibri" pitchFamily="34" charset="-120"/>
                        </a:rPr>
                        <a:t>Relative cost</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850" b="1" spc="80" kern="0" dirty="0">
                          <a:solidFill>
                            <a:srgbClr val="91A0B7"/>
                          </a:solidFill>
                          <a:latin typeface="Calibri" pitchFamily="34" charset="0"/>
                          <a:ea typeface="Calibri" pitchFamily="34" charset="-122"/>
                          <a:cs typeface="Calibri" pitchFamily="34" charset="-120"/>
                        </a:rPr>
                        <a:t>Recommended usage</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Claude Sonnet 5</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$2</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3DDC97"/>
                          </a:solidFill>
                          <a:latin typeface="Calibri" pitchFamily="34" charset="0"/>
                          <a:ea typeface="Calibri" pitchFamily="34" charset="-122"/>
                          <a:cs typeface="Calibri" pitchFamily="34" charset="-120"/>
                        </a:rPr>
                        <a:t>Baseline</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900" dirty="0">
                          <a:solidFill>
                            <a:srgbClr val="F4F7FB"/>
                          </a:solidFill>
                          <a:latin typeface="Calibri" pitchFamily="34" charset="0"/>
                          <a:ea typeface="Calibri" pitchFamily="34" charset="-122"/>
                          <a:cs typeface="Calibri" pitchFamily="34" charset="-120"/>
                        </a:rPr>
                        <a:t>Default model — routine coding, SQL, debugging, documentation</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Claude Opus 4.8</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E0A03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900" dirty="0">
                          <a:solidFill>
                            <a:srgbClr val="F4F7FB"/>
                          </a:solidFill>
                          <a:latin typeface="Calibri" pitchFamily="34" charset="0"/>
                          <a:ea typeface="Calibri" pitchFamily="34" charset="-122"/>
                          <a:cs typeface="Calibri" pitchFamily="34" charset="-120"/>
                        </a:rPr>
                        <a:t>Complex tasks</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Claude Opus 5</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900" dirty="0">
                          <a:solidFill>
                            <a:srgbClr val="E0A03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900" dirty="0">
                          <a:solidFill>
                            <a:srgbClr val="F4F7FB"/>
                          </a:solidFill>
                          <a:latin typeface="Calibri" pitchFamily="34" charset="0"/>
                          <a:ea typeface="Calibri" pitchFamily="34" charset="-122"/>
                          <a:cs typeface="Calibri" pitchFamily="34" charset="-120"/>
                        </a:rPr>
                        <a:t>Advanced reasoning</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14884">
                <a:tc>
                  <a:txBody>
                    <a:bodyPr/>
                    <a:lstStyle/>
                    <a:p>
                      <a:pPr algn="l" indent="0" marL="0">
                        <a:buNone/>
                      </a:pPr>
                      <a:r>
                        <a:rPr lang="en-US" sz="900" b="1" dirty="0">
                          <a:solidFill>
                            <a:srgbClr val="F4F7FB"/>
                          </a:solidFill>
                          <a:latin typeface="Calibri" pitchFamily="34" charset="0"/>
                          <a:ea typeface="Calibri" pitchFamily="34" charset="-122"/>
                          <a:cs typeface="Calibri" pitchFamily="34" charset="-120"/>
                        </a:rPr>
                        <a:t>Opus 4.8 Fast</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$10</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F4F7FB"/>
                          </a:solidFill>
                          <a:latin typeface="Calibri" pitchFamily="34" charset="0"/>
                          <a:ea typeface="Calibri" pitchFamily="34" charset="-122"/>
                          <a:cs typeface="Calibri" pitchFamily="34" charset="-120"/>
                        </a:rPr>
                        <a:t>$50</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900" dirty="0">
                          <a:solidFill>
                            <a:srgbClr val="FF6B7A"/>
                          </a:solidFill>
                          <a:latin typeface="Calibri" pitchFamily="34" charset="0"/>
                          <a:ea typeface="Calibri" pitchFamily="34" charset="-122"/>
                          <a:cs typeface="Calibri" pitchFamily="34" charset="-120"/>
                        </a:rPr>
                        <a:t>~5×</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900" dirty="0">
                          <a:solidFill>
                            <a:srgbClr val="F4F7FB"/>
                          </a:solidFill>
                          <a:latin typeface="Calibri" pitchFamily="34" charset="0"/>
                          <a:ea typeface="Calibri" pitchFamily="34" charset="-122"/>
                          <a:cs typeface="Calibri" pitchFamily="34" charset="-120"/>
                        </a:rPr>
                        <a:t>Exception only</a:t>
                      </a:r>
                      <a:endParaRPr lang="en-US" sz="9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05840"/>
          </a:xfrm>
          <a:prstGeom prst="roundRect">
            <a:avLst>
              <a:gd name="adj" fmla="val 5455"/>
            </a:avLst>
          </a:prstGeom>
          <a:solidFill>
            <a:srgbClr val="121B2D"/>
          </a:solidFill>
          <a:ln w="12700">
            <a:solidFill>
              <a:srgbClr val="23304A"/>
            </a:solidFill>
            <a:prstDash val="solid"/>
          </a:ln>
        </p:spPr>
      </p:sp>
      <p:sp>
        <p:nvSpPr>
          <p:cNvPr id="12" name="Text 9"/>
          <p:cNvSpPr/>
          <p:nvPr/>
        </p:nvSpPr>
        <p:spPr>
          <a:xfrm>
            <a:off x="8705088" y="1344168"/>
            <a:ext cx="282823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AVAILABLE SAVING</a:t>
            </a:r>
            <a:endParaRPr lang="en-US" sz="1000" dirty="0"/>
          </a:p>
        </p:txBody>
      </p:sp>
      <p:sp>
        <p:nvSpPr>
          <p:cNvPr id="13" name="Text 10"/>
          <p:cNvSpPr/>
          <p:nvPr/>
        </p:nvSpPr>
        <p:spPr>
          <a:xfrm>
            <a:off x="8705088" y="1527048"/>
            <a:ext cx="282823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~60%</a:t>
            </a:r>
            <a:endParaRPr lang="en-US" sz="2600" dirty="0"/>
          </a:p>
        </p:txBody>
      </p:sp>
      <p:sp>
        <p:nvSpPr>
          <p:cNvPr id="14" name="Text 11"/>
          <p:cNvSpPr/>
          <p:nvPr/>
        </p:nvSpPr>
        <p:spPr>
          <a:xfrm>
            <a:off x="8705088" y="1947672"/>
            <a:ext cx="2828239" cy="219456"/>
          </a:xfrm>
          <a:prstGeom prst="rect">
            <a:avLst/>
          </a:prstGeom>
          <a:noFill/>
          <a:ln/>
        </p:spPr>
        <p:txBody>
          <a:bodyPr wrap="square" lIns="0" tIns="0" rIns="0" bIns="0" rtlCol="0" anchor="ctr"/>
          <a:lstStyle/>
          <a:p>
            <a:pPr indent="0" marL="0">
              <a:buNone/>
            </a:pPr>
            <a:r>
              <a:rPr lang="en-US" sz="950" b="1" dirty="0">
                <a:solidFill>
                  <a:srgbClr val="3DDC97"/>
                </a:solidFill>
                <a:latin typeface="Calibri" pitchFamily="34" charset="0"/>
                <a:ea typeface="Calibri" pitchFamily="34" charset="-122"/>
                <a:cs typeface="Calibri" pitchFamily="34" charset="-120"/>
              </a:rPr>
              <a:t>on model token cost, routine work Opus → Sonnet</a:t>
            </a:r>
            <a:endParaRPr lang="en-US" sz="950" dirty="0"/>
          </a:p>
        </p:txBody>
      </p:sp>
      <p:sp>
        <p:nvSpPr>
          <p:cNvPr id="15" name="Shape 12"/>
          <p:cNvSpPr/>
          <p:nvPr/>
        </p:nvSpPr>
        <p:spPr>
          <a:xfrm>
            <a:off x="8503920" y="2377440"/>
            <a:ext cx="3230575" cy="1005840"/>
          </a:xfrm>
          <a:prstGeom prst="roundRect">
            <a:avLst>
              <a:gd name="adj" fmla="val 5455"/>
            </a:avLst>
          </a:prstGeom>
          <a:solidFill>
            <a:srgbClr val="121B2D"/>
          </a:solidFill>
          <a:ln w="12700">
            <a:solidFill>
              <a:srgbClr val="23304A"/>
            </a:solidFill>
            <a:prstDash val="solid"/>
          </a:ln>
        </p:spPr>
      </p:sp>
      <p:sp>
        <p:nvSpPr>
          <p:cNvPr id="16" name="Text 13"/>
          <p:cNvSpPr/>
          <p:nvPr/>
        </p:nvSpPr>
        <p:spPr>
          <a:xfrm>
            <a:off x="8705088" y="2487168"/>
            <a:ext cx="282823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GITHUB COPILOT SPEND</a:t>
            </a:r>
            <a:endParaRPr lang="en-US" sz="1000" dirty="0"/>
          </a:p>
        </p:txBody>
      </p:sp>
      <p:sp>
        <p:nvSpPr>
          <p:cNvPr id="17" name="Text 14"/>
          <p:cNvSpPr/>
          <p:nvPr/>
        </p:nvSpPr>
        <p:spPr>
          <a:xfrm>
            <a:off x="8705088" y="2670048"/>
            <a:ext cx="282823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$57,177</a:t>
            </a:r>
            <a:endParaRPr lang="en-US" sz="2600" dirty="0"/>
          </a:p>
        </p:txBody>
      </p:sp>
      <p:sp>
        <p:nvSpPr>
          <p:cNvPr id="18" name="Text 15"/>
          <p:cNvSpPr/>
          <p:nvPr/>
        </p:nvSpPr>
        <p:spPr>
          <a:xfrm>
            <a:off x="8705088" y="3090672"/>
            <a:ext cx="2828239" cy="219456"/>
          </a:xfrm>
          <a:prstGeom prst="rect">
            <a:avLst/>
          </a:prstGeom>
          <a:noFill/>
          <a:ln/>
        </p:spPr>
        <p:txBody>
          <a:bodyPr wrap="square" lIns="0" tIns="0" rIns="0" bIns="0" rtlCol="0" anchor="ctr"/>
          <a:lstStyle/>
          <a:p>
            <a:pPr indent="0" marL="0">
              <a:buNone/>
            </a:pPr>
            <a:r>
              <a:rPr lang="en-US" sz="950" b="1" dirty="0">
                <a:solidFill>
                  <a:srgbClr val="FF6B7A"/>
                </a:solidFill>
                <a:latin typeface="Calibri" pitchFamily="34" charset="0"/>
                <a:ea typeface="Calibri" pitchFamily="34" charset="-122"/>
                <a:cs typeface="Calibri" pitchFamily="34" charset="-120"/>
              </a:rPr>
              <a:t>Jan–Jul, +593% Jan→Jul</a:t>
            </a:r>
            <a:endParaRPr lang="en-US" sz="950" dirty="0"/>
          </a:p>
        </p:txBody>
      </p:sp>
      <p:sp>
        <p:nvSpPr>
          <p:cNvPr id="19" name="Shape 16"/>
          <p:cNvSpPr/>
          <p:nvPr/>
        </p:nvSpPr>
        <p:spPr>
          <a:xfrm>
            <a:off x="8503920" y="3520440"/>
            <a:ext cx="3230575" cy="1005840"/>
          </a:xfrm>
          <a:prstGeom prst="roundRect">
            <a:avLst>
              <a:gd name="adj" fmla="val 5455"/>
            </a:avLst>
          </a:prstGeom>
          <a:solidFill>
            <a:srgbClr val="121B2D"/>
          </a:solidFill>
          <a:ln w="12700">
            <a:solidFill>
              <a:srgbClr val="23304A"/>
            </a:solidFill>
            <a:prstDash val="solid"/>
          </a:ln>
        </p:spPr>
      </p:sp>
      <p:sp>
        <p:nvSpPr>
          <p:cNvPr id="20" name="Text 17"/>
          <p:cNvSpPr/>
          <p:nvPr/>
        </p:nvSpPr>
        <p:spPr>
          <a:xfrm>
            <a:off x="8705088" y="3630168"/>
            <a:ext cx="282823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AWS BEDROCK, OPUS SHARE</a:t>
            </a:r>
            <a:endParaRPr lang="en-US" sz="1000" dirty="0"/>
          </a:p>
        </p:txBody>
      </p:sp>
      <p:sp>
        <p:nvSpPr>
          <p:cNvPr id="21" name="Text 18"/>
          <p:cNvSpPr/>
          <p:nvPr/>
        </p:nvSpPr>
        <p:spPr>
          <a:xfrm>
            <a:off x="8705088" y="3813048"/>
            <a:ext cx="282823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82.1%</a:t>
            </a:r>
            <a:endParaRPr lang="en-US" sz="2600" dirty="0"/>
          </a:p>
        </p:txBody>
      </p:sp>
      <p:sp>
        <p:nvSpPr>
          <p:cNvPr id="22" name="Text 19"/>
          <p:cNvSpPr/>
          <p:nvPr/>
        </p:nvSpPr>
        <p:spPr>
          <a:xfrm>
            <a:off x="8705088" y="4233672"/>
            <a:ext cx="2828239" cy="219456"/>
          </a:xfrm>
          <a:prstGeom prst="rect">
            <a:avLst/>
          </a:prstGeom>
          <a:noFill/>
          <a:ln/>
        </p:spPr>
        <p:txBody>
          <a:bodyPr wrap="square" lIns="0" tIns="0" rIns="0" bIns="0" rtlCol="0" anchor="ctr"/>
          <a:lstStyle/>
          <a:p>
            <a:pPr indent="0" marL="0">
              <a:buNone/>
            </a:pPr>
            <a:r>
              <a:rPr lang="en-US" sz="950" b="1" dirty="0">
                <a:solidFill>
                  <a:srgbClr val="E0A030"/>
                </a:solidFill>
                <a:latin typeface="Calibri" pitchFamily="34" charset="0"/>
                <a:ea typeface="Calibri" pitchFamily="34" charset="-122"/>
                <a:cs typeface="Calibri" pitchFamily="34" charset="-120"/>
              </a:rPr>
              <a:t>of AWS AI spend is Opus-class</a:t>
            </a:r>
            <a:endParaRPr lang="en-US" sz="950" dirty="0"/>
          </a:p>
        </p:txBody>
      </p:sp>
      <p:sp>
        <p:nvSpPr>
          <p:cNvPr id="23" name="Shape 20"/>
          <p:cNvSpPr/>
          <p:nvPr/>
        </p:nvSpPr>
        <p:spPr>
          <a:xfrm>
            <a:off x="8503920" y="4663440"/>
            <a:ext cx="3230575" cy="1005840"/>
          </a:xfrm>
          <a:prstGeom prst="roundRect">
            <a:avLst>
              <a:gd name="adj" fmla="val 5455"/>
            </a:avLst>
          </a:prstGeom>
          <a:solidFill>
            <a:srgbClr val="121B2D"/>
          </a:solidFill>
          <a:ln w="12700">
            <a:solidFill>
              <a:srgbClr val="23304A"/>
            </a:solidFill>
            <a:prstDash val="solid"/>
          </a:ln>
        </p:spPr>
      </p:sp>
      <p:sp>
        <p:nvSpPr>
          <p:cNvPr id="24" name="Text 21"/>
          <p:cNvSpPr/>
          <p:nvPr/>
        </p:nvSpPr>
        <p:spPr>
          <a:xfrm>
            <a:off x="8705088" y="4773168"/>
            <a:ext cx="282823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PROMOTIONAL PRICING ENDS</a:t>
            </a:r>
            <a:endParaRPr lang="en-US" sz="1000" dirty="0"/>
          </a:p>
        </p:txBody>
      </p:sp>
      <p:sp>
        <p:nvSpPr>
          <p:cNvPr id="25" name="Text 22"/>
          <p:cNvSpPr/>
          <p:nvPr/>
        </p:nvSpPr>
        <p:spPr>
          <a:xfrm>
            <a:off x="8705088" y="4956048"/>
            <a:ext cx="282823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31 Aug 2026</a:t>
            </a:r>
            <a:endParaRPr lang="en-US" sz="2600" dirty="0"/>
          </a:p>
        </p:txBody>
      </p:sp>
      <p:sp>
        <p:nvSpPr>
          <p:cNvPr id="26" name="Text 23"/>
          <p:cNvSpPr/>
          <p:nvPr/>
        </p:nvSpPr>
        <p:spPr>
          <a:xfrm>
            <a:off x="8705088" y="5376672"/>
            <a:ext cx="2828239" cy="219456"/>
          </a:xfrm>
          <a:prstGeom prst="rect">
            <a:avLst/>
          </a:prstGeom>
          <a:noFill/>
          <a:ln/>
        </p:spPr>
        <p:txBody>
          <a:bodyPr wrap="square" lIns="0" tIns="0" rIns="0" bIns="0" rtlCol="0" anchor="ctr"/>
          <a:lstStyle/>
          <a:p>
            <a:pPr indent="0" marL="0">
              <a:buNone/>
            </a:pPr>
            <a:r>
              <a:rPr lang="en-US" sz="950" b="1" dirty="0">
                <a:solidFill>
                  <a:srgbClr val="91A0B7"/>
                </a:solidFill>
                <a:latin typeface="Calibri" pitchFamily="34" charset="0"/>
                <a:ea typeface="Calibri" pitchFamily="34" charset="-122"/>
                <a:cs typeface="Calibri" pitchFamily="34" charset="-120"/>
              </a:rPr>
              <a:t>reassess before the date, not after</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3DD9EB"/>
                </a:solidFill>
                <a:latin typeface="Calibri" pitchFamily="34" charset="0"/>
                <a:ea typeface="Calibri" pitchFamily="34" charset="-122"/>
                <a:cs typeface="Calibri" pitchFamily="34" charset="-120"/>
              </a:rPr>
              <a:t>NEXT STEPS</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What we are asking for</a:t>
            </a:r>
            <a:endParaRPr lang="en-US" sz="26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Open items, owners and status</a:t>
            </a:r>
            <a:endParaRPr lang="en-US" sz="95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Open items</a:t>
            </a:r>
            <a:endParaRPr lang="en-US" sz="13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384048">
                <a:tc>
                  <a:txBody>
                    <a:bodyPr/>
                    <a:lstStyle/>
                    <a:p>
                      <a:pPr algn="ctr" indent="0" marL="0">
                        <a:buNone/>
                      </a:pPr>
                      <a:r>
                        <a:rPr lang="en-US" sz="850" b="1" spc="80" kern="0" dirty="0">
                          <a:solidFill>
                            <a:srgbClr val="91A0B7"/>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850" b="1" spc="80" kern="0" dirty="0">
                          <a:solidFill>
                            <a:srgbClr val="91A0B7"/>
                          </a:solidFill>
                          <a:latin typeface="Calibri" pitchFamily="34" charset="0"/>
                          <a:ea typeface="Calibri" pitchFamily="34" charset="-122"/>
                          <a:cs typeface="Calibri" pitchFamily="34" charset="-120"/>
                        </a:rPr>
                        <a:t>Item</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850" b="1" spc="80" kern="0" dirty="0">
                          <a:solidFill>
                            <a:srgbClr val="91A0B7"/>
                          </a:solidFill>
                          <a:latin typeface="Calibri" pitchFamily="34" charset="0"/>
                          <a:ea typeface="Calibri" pitchFamily="34" charset="-122"/>
                          <a:cs typeface="Calibri" pitchFamily="34" charset="-120"/>
                        </a:rPr>
                        <a:t>Detail</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850" b="1" spc="80" kern="0" dirty="0">
                          <a:solidFill>
                            <a:srgbClr val="91A0B7"/>
                          </a:solidFill>
                          <a:latin typeface="Calibri" pitchFamily="34" charset="0"/>
                          <a:ea typeface="Calibri" pitchFamily="34" charset="-122"/>
                          <a:cs typeface="Calibri" pitchFamily="34" charset="-120"/>
                        </a:rPr>
                        <a:t>Status</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850" b="1" spc="80" kern="0" dirty="0">
                          <a:solidFill>
                            <a:srgbClr val="91A0B7"/>
                          </a:solidFill>
                          <a:latin typeface="Calibri" pitchFamily="34" charset="0"/>
                          <a:ea typeface="Calibri" pitchFamily="34" charset="-122"/>
                          <a:cs typeface="Calibri" pitchFamily="34" charset="-120"/>
                        </a:rPr>
                        <a:t>Owner</a:t>
                      </a:r>
                      <a:endParaRPr lang="en-US" sz="8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384048">
                <a:tc>
                  <a:txBody>
                    <a:bodyPr/>
                    <a:lstStyle/>
                    <a:p>
                      <a:pPr algn="ctr" indent="0" marL="0">
                        <a:buNone/>
                      </a:pPr>
                      <a:r>
                        <a:rPr lang="en-US" sz="950" b="1" dirty="0">
                          <a:solidFill>
                            <a:srgbClr val="F4F7FB"/>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950" dirty="0">
                          <a:solidFill>
                            <a:srgbClr val="F4F7FB"/>
                          </a:solidFill>
                          <a:latin typeface="Calibri" pitchFamily="34" charset="0"/>
                          <a:ea typeface="Calibri" pitchFamily="34" charset="-122"/>
                          <a:cs typeface="Calibri" pitchFamily="34" charset="-120"/>
                        </a:rPr>
                        <a:t>Savings and efficiency programme</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950" dirty="0">
                          <a:solidFill>
                            <a:srgbClr val="F4F7FB"/>
                          </a:solidFill>
                          <a:latin typeface="Calibri" pitchFamily="34" charset="0"/>
                          <a:ea typeface="Calibri" pitchFamily="34" charset="-122"/>
                          <a:cs typeface="Calibri" pitchFamily="34" charset="-120"/>
                        </a:rPr>
                        <a:t>Deliver the Cloud FinOps savings plan — right-sizing, auto-shutdown, reserved instances</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950" dirty="0">
                          <a:solidFill>
                            <a:srgbClr val="E0A030"/>
                          </a:solidFill>
                          <a:latin typeface="Calibri" pitchFamily="34" charset="0"/>
                          <a:ea typeface="Calibri" pitchFamily="34" charset="-122"/>
                          <a:cs typeface="Calibri" pitchFamily="34" charset="-120"/>
                        </a:rPr>
                        <a:t>Planned</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950" dirty="0">
                          <a:solidFill>
                            <a:srgbClr val="F4F7FB"/>
                          </a:solidFill>
                          <a:latin typeface="Calibri" pitchFamily="34" charset="0"/>
                          <a:ea typeface="Calibri" pitchFamily="34" charset="-122"/>
                          <a:cs typeface="Calibri" pitchFamily="34" charset="-120"/>
                        </a:rPr>
                        <a:t>Infrastructure Division</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384048">
                <a:tc>
                  <a:txBody>
                    <a:bodyPr/>
                    <a:lstStyle/>
                    <a:p>
                      <a:pPr algn="ctr" indent="0" marL="0">
                        <a:buNone/>
                      </a:pPr>
                      <a:r>
                        <a:rPr lang="en-US" sz="950" b="1" dirty="0">
                          <a:solidFill>
                            <a:srgbClr val="F4F7FB"/>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950" dirty="0">
                          <a:solidFill>
                            <a:srgbClr val="F4F7FB"/>
                          </a:solidFill>
                          <a:latin typeface="Calibri" pitchFamily="34" charset="0"/>
                          <a:ea typeface="Calibri" pitchFamily="34" charset="-122"/>
                          <a:cs typeface="Calibri" pitchFamily="34" charset="-120"/>
                        </a:rPr>
                        <a:t>WIV.AI rollout (free tier)</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95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950" dirty="0">
                          <a:solidFill>
                            <a:srgbClr val="E0A030"/>
                          </a:solidFill>
                          <a:latin typeface="Calibri" pitchFamily="34" charset="0"/>
                          <a:ea typeface="Calibri" pitchFamily="34" charset="-122"/>
                          <a:cs typeface="Calibri" pitchFamily="34" charset="-120"/>
                        </a:rPr>
                        <a:t>Planned</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950" dirty="0">
                          <a:solidFill>
                            <a:srgbClr val="F4F7FB"/>
                          </a:solidFill>
                          <a:latin typeface="Calibri" pitchFamily="34" charset="0"/>
                          <a:ea typeface="Calibri" pitchFamily="34" charset="-122"/>
                          <a:cs typeface="Calibri" pitchFamily="34" charset="-120"/>
                        </a:rPr>
                        <a:t>Ariel Oral</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384048">
                <a:tc>
                  <a:txBody>
                    <a:bodyPr/>
                    <a:lstStyle/>
                    <a:p>
                      <a:pPr algn="ctr" indent="0" marL="0">
                        <a:buNone/>
                      </a:pPr>
                      <a:r>
                        <a:rPr lang="en-US" sz="950" b="1" dirty="0">
                          <a:solidFill>
                            <a:srgbClr val="F4F7FB"/>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950" dirty="0">
                          <a:solidFill>
                            <a:srgbClr val="F4F7FB"/>
                          </a:solidFill>
                          <a:latin typeface="Calibri" pitchFamily="34" charset="0"/>
                          <a:ea typeface="Calibri" pitchFamily="34" charset="-122"/>
                          <a:cs typeface="Calibri" pitchFamily="34" charset="-120"/>
                        </a:rPr>
                        <a:t>Tagging by service</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950" dirty="0">
                          <a:solidFill>
                            <a:srgbClr val="F4F7FB"/>
                          </a:solidFill>
                          <a:latin typeface="Calibri" pitchFamily="34" charset="0"/>
                          <a:ea typeface="Calibri" pitchFamily="34" charset="-122"/>
                          <a:cs typeface="Calibri" pitchFamily="34" charset="-120"/>
                        </a:rPr>
                        <a:t>Complete resource tagging by Service, Application, Cost Center and Environment for chargeback and showback, including AI Gateway and AWS Bedrock</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950" dirty="0">
                          <a:solidFill>
                            <a:srgbClr val="3DD9EB"/>
                          </a:solidFill>
                          <a:latin typeface="Calibri" pitchFamily="34" charset="0"/>
                          <a:ea typeface="Calibri" pitchFamily="34" charset="-122"/>
                          <a:cs typeface="Calibri" pitchFamily="34" charset="-120"/>
                        </a:rPr>
                        <a:t>In progress</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950" dirty="0">
                          <a:solidFill>
                            <a:srgbClr val="F4F7FB"/>
                          </a:solidFill>
                          <a:latin typeface="Calibri" pitchFamily="34" charset="0"/>
                          <a:ea typeface="Calibri" pitchFamily="34" charset="-122"/>
                          <a:cs typeface="Calibri" pitchFamily="34" charset="-120"/>
                        </a:rPr>
                        <a:t>Ariel Oral</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384048">
                <a:tc>
                  <a:txBody>
                    <a:bodyPr/>
                    <a:lstStyle/>
                    <a:p>
                      <a:pPr algn="ctr" indent="0" marL="0">
                        <a:buNone/>
                      </a:pPr>
                      <a:r>
                        <a:rPr lang="en-US" sz="950" b="1" dirty="0">
                          <a:solidFill>
                            <a:srgbClr val="F4F7FB"/>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950" dirty="0">
                          <a:solidFill>
                            <a:srgbClr val="F4F7FB"/>
                          </a:solidFill>
                          <a:latin typeface="Calibri" pitchFamily="34" charset="0"/>
                          <a:ea typeface="Calibri" pitchFamily="34" charset="-122"/>
                          <a:cs typeface="Calibri" pitchFamily="34" charset="-120"/>
                        </a:rPr>
                        <a:t>AWS FinOps agent</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95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950" dirty="0">
                          <a:solidFill>
                            <a:srgbClr val="E0A030"/>
                          </a:solidFill>
                          <a:latin typeface="Calibri" pitchFamily="34" charset="0"/>
                          <a:ea typeface="Calibri" pitchFamily="34" charset="-122"/>
                          <a:cs typeface="Calibri" pitchFamily="34" charset="-120"/>
                        </a:rPr>
                        <a:t>Planned</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950" dirty="0">
                          <a:solidFill>
                            <a:srgbClr val="F4F7FB"/>
                          </a:solidFill>
                          <a:latin typeface="Calibri" pitchFamily="34" charset="0"/>
                          <a:ea typeface="Calibri" pitchFamily="34" charset="-122"/>
                          <a:cs typeface="Calibri" pitchFamily="34" charset="-120"/>
                        </a:rPr>
                        <a:t>Ariel</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384048">
                <a:tc>
                  <a:txBody>
                    <a:bodyPr/>
                    <a:lstStyle/>
                    <a:p>
                      <a:pPr algn="ctr" indent="0" marL="0">
                        <a:buNone/>
                      </a:pPr>
                      <a:r>
                        <a:rPr lang="en-US" sz="950" b="1" dirty="0">
                          <a:solidFill>
                            <a:srgbClr val="F4F7FB"/>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950" dirty="0">
                          <a:solidFill>
                            <a:srgbClr val="F4F7FB"/>
                          </a:solidFill>
                          <a:latin typeface="Calibri" pitchFamily="34" charset="0"/>
                          <a:ea typeface="Calibri" pitchFamily="34" charset="-122"/>
                          <a:cs typeface="Calibri" pitchFamily="34" charset="-120"/>
                        </a:rPr>
                        <a:t>Databricks commitment optimisation</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95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950" dirty="0">
                          <a:solidFill>
                            <a:srgbClr val="91A0B7"/>
                          </a:solidFill>
                          <a:latin typeface="Calibri" pitchFamily="34" charset="0"/>
                          <a:ea typeface="Calibri" pitchFamily="34" charset="-122"/>
                          <a:cs typeface="Calibri" pitchFamily="34" charset="-120"/>
                        </a:rPr>
                        <a:t>To scope</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950" dirty="0">
                          <a:solidFill>
                            <a:srgbClr val="F4F7FB"/>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4361688"/>
            <a:ext cx="3606698" cy="960120"/>
          </a:xfrm>
          <a:prstGeom prst="roundRect">
            <a:avLst>
              <a:gd name="adj" fmla="val 5714"/>
            </a:avLst>
          </a:prstGeom>
          <a:solidFill>
            <a:srgbClr val="121B2D"/>
          </a:solidFill>
          <a:ln w="12700">
            <a:solidFill>
              <a:srgbClr val="23304A"/>
            </a:solidFill>
            <a:prstDash val="solid"/>
          </a:ln>
        </p:spPr>
      </p:sp>
      <p:sp>
        <p:nvSpPr>
          <p:cNvPr id="10" name="Text 7"/>
          <p:cNvSpPr/>
          <p:nvPr/>
        </p:nvSpPr>
        <p:spPr>
          <a:xfrm>
            <a:off x="658368" y="4471416"/>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DECISION NEEDED</a:t>
            </a:r>
            <a:endParaRPr lang="en-US" sz="1000" dirty="0"/>
          </a:p>
        </p:txBody>
      </p:sp>
      <p:sp>
        <p:nvSpPr>
          <p:cNvPr id="11" name="Text 8"/>
          <p:cNvSpPr/>
          <p:nvPr/>
        </p:nvSpPr>
        <p:spPr>
          <a:xfrm>
            <a:off x="658368" y="4654296"/>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4 items</a:t>
            </a:r>
            <a:endParaRPr lang="en-US" sz="2600" dirty="0"/>
          </a:p>
        </p:txBody>
      </p:sp>
      <p:sp>
        <p:nvSpPr>
          <p:cNvPr id="12" name="Text 9"/>
          <p:cNvSpPr/>
          <p:nvPr/>
        </p:nvSpPr>
        <p:spPr>
          <a:xfrm>
            <a:off x="658368" y="5074920"/>
            <a:ext cx="3204362" cy="219456"/>
          </a:xfrm>
          <a:prstGeom prst="rect">
            <a:avLst/>
          </a:prstGeom>
          <a:noFill/>
          <a:ln/>
        </p:spPr>
        <p:txBody>
          <a:bodyPr wrap="square" lIns="0" tIns="0" rIns="0" bIns="0" rtlCol="0" anchor="ctr"/>
          <a:lstStyle/>
          <a:p>
            <a:pPr indent="0" marL="0">
              <a:buNone/>
            </a:pPr>
            <a:r>
              <a:rPr lang="en-US" sz="950" b="1" dirty="0">
                <a:solidFill>
                  <a:srgbClr val="E0A030"/>
                </a:solidFill>
                <a:latin typeface="Calibri" pitchFamily="34" charset="0"/>
                <a:ea typeface="Calibri" pitchFamily="34" charset="-122"/>
                <a:cs typeface="Calibri" pitchFamily="34" charset="-120"/>
              </a:rPr>
              <a:t>the $193K recommendation list</a:t>
            </a:r>
            <a:endParaRPr lang="en-US" sz="950" dirty="0"/>
          </a:p>
        </p:txBody>
      </p:sp>
      <p:sp>
        <p:nvSpPr>
          <p:cNvPr id="13" name="Shape 10"/>
          <p:cNvSpPr/>
          <p:nvPr/>
        </p:nvSpPr>
        <p:spPr>
          <a:xfrm>
            <a:off x="4292498" y="4361688"/>
            <a:ext cx="3606698" cy="960120"/>
          </a:xfrm>
          <a:prstGeom prst="roundRect">
            <a:avLst>
              <a:gd name="adj" fmla="val 5714"/>
            </a:avLst>
          </a:prstGeom>
          <a:solidFill>
            <a:srgbClr val="121B2D"/>
          </a:solidFill>
          <a:ln w="12700">
            <a:solidFill>
              <a:srgbClr val="23304A"/>
            </a:solidFill>
            <a:prstDash val="solid"/>
          </a:ln>
        </p:spPr>
      </p:sp>
      <p:sp>
        <p:nvSpPr>
          <p:cNvPr id="14" name="Text 11"/>
          <p:cNvSpPr/>
          <p:nvPr/>
        </p:nvSpPr>
        <p:spPr>
          <a:xfrm>
            <a:off x="4493666" y="4471416"/>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DEPENDENCY</a:t>
            </a:r>
            <a:endParaRPr lang="en-US" sz="1000" dirty="0"/>
          </a:p>
        </p:txBody>
      </p:sp>
      <p:sp>
        <p:nvSpPr>
          <p:cNvPr id="15" name="Text 12"/>
          <p:cNvSpPr/>
          <p:nvPr/>
        </p:nvSpPr>
        <p:spPr>
          <a:xfrm>
            <a:off x="4493666" y="4654296"/>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Tagging</a:t>
            </a:r>
            <a:endParaRPr lang="en-US" sz="2600" dirty="0"/>
          </a:p>
        </p:txBody>
      </p:sp>
      <p:sp>
        <p:nvSpPr>
          <p:cNvPr id="16" name="Text 13"/>
          <p:cNvSpPr/>
          <p:nvPr/>
        </p:nvSpPr>
        <p:spPr>
          <a:xfrm>
            <a:off x="4493666" y="5074920"/>
            <a:ext cx="3204362"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item 3 blocks chargeback and gateway quotas</a:t>
            </a:r>
            <a:endParaRPr lang="en-US" sz="950" dirty="0"/>
          </a:p>
        </p:txBody>
      </p:sp>
      <p:sp>
        <p:nvSpPr>
          <p:cNvPr id="17" name="Shape 14"/>
          <p:cNvSpPr/>
          <p:nvPr/>
        </p:nvSpPr>
        <p:spPr>
          <a:xfrm>
            <a:off x="8127797" y="4361688"/>
            <a:ext cx="3606698" cy="960120"/>
          </a:xfrm>
          <a:prstGeom prst="roundRect">
            <a:avLst>
              <a:gd name="adj" fmla="val 5714"/>
            </a:avLst>
          </a:prstGeom>
          <a:solidFill>
            <a:srgbClr val="121B2D"/>
          </a:solidFill>
          <a:ln w="12700">
            <a:solidFill>
              <a:srgbClr val="23304A"/>
            </a:solidFill>
            <a:prstDash val="solid"/>
          </a:ln>
        </p:spPr>
      </p:sp>
      <p:sp>
        <p:nvSpPr>
          <p:cNvPr id="18" name="Text 15"/>
          <p:cNvSpPr/>
          <p:nvPr/>
        </p:nvSpPr>
        <p:spPr>
          <a:xfrm>
            <a:off x="8328965" y="4471416"/>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TO CONFIRM</a:t>
            </a:r>
            <a:endParaRPr lang="en-US" sz="1000" dirty="0"/>
          </a:p>
        </p:txBody>
      </p:sp>
      <p:sp>
        <p:nvSpPr>
          <p:cNvPr id="19" name="Text 16"/>
          <p:cNvSpPr/>
          <p:nvPr/>
        </p:nvSpPr>
        <p:spPr>
          <a:xfrm>
            <a:off x="8328965" y="4654296"/>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$16,100</a:t>
            </a:r>
            <a:endParaRPr lang="en-US" sz="2600" dirty="0"/>
          </a:p>
        </p:txBody>
      </p:sp>
      <p:sp>
        <p:nvSpPr>
          <p:cNvPr id="20" name="Text 17"/>
          <p:cNvSpPr/>
          <p:nvPr/>
        </p:nvSpPr>
        <p:spPr>
          <a:xfrm>
            <a:off x="8328965" y="5074920"/>
            <a:ext cx="3204362" cy="219456"/>
          </a:xfrm>
          <a:prstGeom prst="rect">
            <a:avLst/>
          </a:prstGeom>
          <a:noFill/>
          <a:ln/>
        </p:spPr>
        <p:txBody>
          <a:bodyPr wrap="square" lIns="0" tIns="0" rIns="0" bIns="0" rtlCol="0" anchor="ctr"/>
          <a:lstStyle/>
          <a:p>
            <a:pPr indent="0" marL="0">
              <a:buNone/>
            </a:pPr>
            <a:r>
              <a:rPr lang="en-US" sz="950" b="1" dirty="0">
                <a:solidFill>
                  <a:srgbClr val="FF9F43"/>
                </a:solidFill>
                <a:latin typeface="Calibri" pitchFamily="34" charset="0"/>
                <a:ea typeface="Calibri" pitchFamily="34" charset="-122"/>
                <a:cs typeface="Calibri" pitchFamily="34" charset="-120"/>
              </a:rPr>
              <a:t>MAP credit, with Comm-IT</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050" b="1" spc="300" kern="0" dirty="0">
                <a:solidFill>
                  <a:srgbClr val="91A0B7"/>
                </a:solidFill>
                <a:latin typeface="Calibri" pitchFamily="34" charset="0"/>
                <a:ea typeface="Calibri" pitchFamily="34" charset="-122"/>
                <a:cs typeface="Calibri" pitchFamily="34" charset="-120"/>
              </a:rPr>
              <a:t>APPENDIX</a:t>
            </a:r>
            <a:endParaRPr lang="en-US" sz="105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300" dirty="0">
                <a:solidFill>
                  <a:srgbClr val="91A0B7"/>
                </a:solidFill>
                <a:latin typeface="Calibri" pitchFamily="34" charset="0"/>
                <a:ea typeface="Calibri" pitchFamily="34" charset="-122"/>
                <a:cs typeface="Calibri" pitchFamily="34" charset="-120"/>
              </a:rPr>
              <a:t>Cost centre and project breakdowns, January to July 2026</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FF9F43"/>
                </a:solidFill>
                <a:latin typeface="Calibri" pitchFamily="34" charset="0"/>
                <a:ea typeface="Calibri" pitchFamily="34" charset="-122"/>
                <a:cs typeface="Calibri" pitchFamily="34" charset="-120"/>
              </a:rPr>
              <a:t>AWS · ACCOUNTS</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Consumption by account name</a:t>
            </a:r>
            <a:endParaRPr lang="en-US" sz="26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95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Monthly spend by linked account</a:t>
            </a:r>
            <a:endParaRPr lang="en-US" sz="13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05840"/>
          </a:xfrm>
          <a:prstGeom prst="roundRect">
            <a:avLst>
              <a:gd name="adj" fmla="val 5455"/>
            </a:avLst>
          </a:prstGeom>
          <a:solidFill>
            <a:srgbClr val="121B2D"/>
          </a:solidFill>
          <a:ln w="12700">
            <a:solidFill>
              <a:srgbClr val="23304A"/>
            </a:solidFill>
            <a:prstDash val="solid"/>
          </a:ln>
        </p:spPr>
      </p:sp>
      <p:sp>
        <p:nvSpPr>
          <p:cNvPr id="10" name="Text 7"/>
          <p:cNvSpPr/>
          <p:nvPr/>
        </p:nvSpPr>
        <p:spPr>
          <a:xfrm>
            <a:off x="8293608" y="1344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TOTAL, JAN–JUL</a:t>
            </a:r>
            <a:endParaRPr lang="en-US" sz="1000" dirty="0"/>
          </a:p>
        </p:txBody>
      </p:sp>
      <p:sp>
        <p:nvSpPr>
          <p:cNvPr id="11" name="Text 8"/>
          <p:cNvSpPr/>
          <p:nvPr/>
        </p:nvSpPr>
        <p:spPr>
          <a:xfrm>
            <a:off x="8293608" y="1527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$584K</a:t>
            </a:r>
            <a:endParaRPr lang="en-US" sz="2600" dirty="0"/>
          </a:p>
        </p:txBody>
      </p:sp>
      <p:sp>
        <p:nvSpPr>
          <p:cNvPr id="12" name="Text 9"/>
          <p:cNvSpPr/>
          <p:nvPr/>
        </p:nvSpPr>
        <p:spPr>
          <a:xfrm>
            <a:off x="8293608" y="1947672"/>
            <a:ext cx="3239719" cy="219456"/>
          </a:xfrm>
          <a:prstGeom prst="rect">
            <a:avLst/>
          </a:prstGeom>
          <a:noFill/>
          <a:ln/>
        </p:spPr>
        <p:txBody>
          <a:bodyPr wrap="square" lIns="0" tIns="0" rIns="0" bIns="0" rtlCol="0" anchor="ctr"/>
          <a:lstStyle/>
          <a:p>
            <a:pPr indent="0" marL="0">
              <a:buNone/>
            </a:pPr>
            <a:r>
              <a:rPr lang="en-US" sz="950" b="1" dirty="0">
                <a:solidFill>
                  <a:srgbClr val="FF9F43"/>
                </a:solidFill>
                <a:latin typeface="Calibri" pitchFamily="34" charset="0"/>
                <a:ea typeface="Calibri" pitchFamily="34" charset="-122"/>
                <a:cs typeface="Calibri" pitchFamily="34" charset="-120"/>
              </a:rPr>
              <a:t>flat Jan→Jul</a:t>
            </a:r>
            <a:endParaRPr lang="en-US" sz="950" dirty="0"/>
          </a:p>
        </p:txBody>
      </p:sp>
      <p:sp>
        <p:nvSpPr>
          <p:cNvPr id="13" name="Shape 10"/>
          <p:cNvSpPr/>
          <p:nvPr/>
        </p:nvSpPr>
        <p:spPr>
          <a:xfrm>
            <a:off x="8092440" y="2377440"/>
            <a:ext cx="3642055" cy="1005840"/>
          </a:xfrm>
          <a:prstGeom prst="roundRect">
            <a:avLst>
              <a:gd name="adj" fmla="val 5455"/>
            </a:avLst>
          </a:prstGeom>
          <a:solidFill>
            <a:srgbClr val="121B2D"/>
          </a:solidFill>
          <a:ln w="12700">
            <a:solidFill>
              <a:srgbClr val="23304A"/>
            </a:solidFill>
            <a:prstDash val="solid"/>
          </a:ln>
        </p:spPr>
      </p:sp>
      <p:sp>
        <p:nvSpPr>
          <p:cNvPr id="14" name="Text 11"/>
          <p:cNvSpPr/>
          <p:nvPr/>
        </p:nvSpPr>
        <p:spPr>
          <a:xfrm>
            <a:off x="8293608" y="2487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JULY</a:t>
            </a:r>
            <a:endParaRPr lang="en-US" sz="1000" dirty="0"/>
          </a:p>
        </p:txBody>
      </p:sp>
      <p:sp>
        <p:nvSpPr>
          <p:cNvPr id="15" name="Text 12"/>
          <p:cNvSpPr/>
          <p:nvPr/>
        </p:nvSpPr>
        <p:spPr>
          <a:xfrm>
            <a:off x="8293608" y="2670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$77K</a:t>
            </a:r>
            <a:endParaRPr lang="en-US" sz="2600" dirty="0"/>
          </a:p>
        </p:txBody>
      </p:sp>
      <p:sp>
        <p:nvSpPr>
          <p:cNvPr id="16" name="Text 13"/>
          <p:cNvSpPr/>
          <p:nvPr/>
        </p:nvSpPr>
        <p:spPr>
          <a:xfrm>
            <a:off x="8293608" y="3090672"/>
            <a:ext cx="3239719" cy="219456"/>
          </a:xfrm>
          <a:prstGeom prst="rect">
            <a:avLst/>
          </a:prstGeom>
          <a:noFill/>
          <a:ln/>
        </p:spPr>
        <p:txBody>
          <a:bodyPr wrap="square" lIns="0" tIns="0" rIns="0" bIns="0" rtlCol="0" anchor="ctr"/>
          <a:lstStyle/>
          <a:p>
            <a:pPr indent="0" marL="0">
              <a:buNone/>
            </a:pPr>
            <a:r>
              <a:rPr lang="en-US" sz="950" b="1" dirty="0">
                <a:solidFill>
                  <a:srgbClr val="91A0B7"/>
                </a:solidFill>
                <a:latin typeface="Calibri" pitchFamily="34" charset="0"/>
                <a:ea typeface="Calibri" pitchFamily="34" charset="-122"/>
                <a:cs typeface="Calibri" pitchFamily="34" charset="-120"/>
              </a:rPr>
              <a:t>after MAP credit</a:t>
            </a:r>
            <a:endParaRPr lang="en-US" sz="950" dirty="0"/>
          </a:p>
        </p:txBody>
      </p:sp>
      <p:sp>
        <p:nvSpPr>
          <p:cNvPr id="17" name="Text 14"/>
          <p:cNvSpPr/>
          <p:nvPr/>
        </p:nvSpPr>
        <p:spPr>
          <a:xfrm>
            <a:off x="8110728" y="3657600"/>
            <a:ext cx="360547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WHAT MOVED</a:t>
            </a:r>
            <a:endParaRPr lang="en-US" sz="1000" dirty="0"/>
          </a:p>
        </p:txBody>
      </p:sp>
      <p:sp>
        <p:nvSpPr>
          <p:cNvPr id="18" name="Shape 15"/>
          <p:cNvSpPr/>
          <p:nvPr/>
        </p:nvSpPr>
        <p:spPr>
          <a:xfrm>
            <a:off x="8110728" y="4032504"/>
            <a:ext cx="64008" cy="64008"/>
          </a:xfrm>
          <a:prstGeom prst="rect">
            <a:avLst/>
          </a:prstGeom>
          <a:solidFill>
            <a:srgbClr val="FF9F43"/>
          </a:solidFill>
          <a:ln w="12700">
            <a:solidFill>
              <a:srgbClr val="FF9F43"/>
            </a:solidFill>
            <a:prstDash val="solid"/>
          </a:ln>
        </p:spPr>
      </p:sp>
      <p:sp>
        <p:nvSpPr>
          <p:cNvPr id="19" name="Text 16"/>
          <p:cNvSpPr/>
          <p:nvPr/>
        </p:nvSpPr>
        <p:spPr>
          <a:xfrm>
            <a:off x="8284464" y="3950208"/>
            <a:ext cx="3431743" cy="18288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customers3-prod and horizon-prod both stepped up</a:t>
            </a:r>
            <a:endParaRPr lang="en-US" sz="1050" dirty="0"/>
          </a:p>
        </p:txBody>
      </p:sp>
      <p:sp>
        <p:nvSpPr>
          <p:cNvPr id="20" name="Shape 17"/>
          <p:cNvSpPr/>
          <p:nvPr/>
        </p:nvSpPr>
        <p:spPr>
          <a:xfrm>
            <a:off x="8110728" y="4334256"/>
            <a:ext cx="64008" cy="64008"/>
          </a:xfrm>
          <a:prstGeom prst="rect">
            <a:avLst/>
          </a:prstGeom>
          <a:solidFill>
            <a:srgbClr val="FF9F43"/>
          </a:solidFill>
          <a:ln w="12700">
            <a:solidFill>
              <a:srgbClr val="FF9F43"/>
            </a:solidFill>
            <a:prstDash val="solid"/>
          </a:ln>
        </p:spPr>
      </p:sp>
      <p:sp>
        <p:nvSpPr>
          <p:cNvPr id="21" name="Text 18"/>
          <p:cNvSpPr/>
          <p:nvPr/>
        </p:nvSpPr>
        <p:spPr>
          <a:xfrm>
            <a:off x="8284464" y="4251960"/>
            <a:ext cx="3431743" cy="36576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harel-org-02-root and aws-devTest-digital grew on EC2 and S3</a:t>
            </a:r>
            <a:endParaRPr lang="en-US" sz="1050" dirty="0"/>
          </a:p>
        </p:txBody>
      </p:sp>
      <p:sp>
        <p:nvSpPr>
          <p:cNvPr id="22" name="Shape 19"/>
          <p:cNvSpPr/>
          <p:nvPr/>
        </p:nvSpPr>
        <p:spPr>
          <a:xfrm>
            <a:off x="8110728" y="4818888"/>
            <a:ext cx="64008" cy="64008"/>
          </a:xfrm>
          <a:prstGeom prst="rect">
            <a:avLst/>
          </a:prstGeom>
          <a:solidFill>
            <a:srgbClr val="FF9F43"/>
          </a:solidFill>
          <a:ln w="12700">
            <a:solidFill>
              <a:srgbClr val="FF9F43"/>
            </a:solidFill>
            <a:prstDash val="solid"/>
          </a:ln>
        </p:spPr>
      </p:sp>
      <p:sp>
        <p:nvSpPr>
          <p:cNvPr id="23" name="Text 20"/>
          <p:cNvSpPr/>
          <p:nvPr/>
        </p:nvSpPr>
        <p:spPr>
          <a:xfrm>
            <a:off x="8284464" y="4736592"/>
            <a:ext cx="3431743" cy="36576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FF9F43"/>
                </a:solidFill>
                <a:latin typeface="Calibri" pitchFamily="34" charset="0"/>
                <a:ea typeface="Calibri" pitchFamily="34" charset="-122"/>
                <a:cs typeface="Calibri" pitchFamily="34" charset="-120"/>
              </a:rPr>
              <a:t>AWS · SERVICES</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Consumption by service name</a:t>
            </a:r>
            <a:endParaRPr lang="en-US" sz="26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95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Monthly spend by service</a:t>
            </a:r>
            <a:endParaRPr lang="en-US" sz="13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05840"/>
          </a:xfrm>
          <a:prstGeom prst="roundRect">
            <a:avLst>
              <a:gd name="adj" fmla="val 5455"/>
            </a:avLst>
          </a:prstGeom>
          <a:solidFill>
            <a:srgbClr val="121B2D"/>
          </a:solidFill>
          <a:ln w="12700">
            <a:solidFill>
              <a:srgbClr val="23304A"/>
            </a:solidFill>
            <a:prstDash val="solid"/>
          </a:ln>
        </p:spPr>
      </p:sp>
      <p:sp>
        <p:nvSpPr>
          <p:cNvPr id="10" name="Text 7"/>
          <p:cNvSpPr/>
          <p:nvPr/>
        </p:nvSpPr>
        <p:spPr>
          <a:xfrm>
            <a:off x="8293608" y="1344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TOTAL, JAN–JUL</a:t>
            </a:r>
            <a:endParaRPr lang="en-US" sz="1000" dirty="0"/>
          </a:p>
        </p:txBody>
      </p:sp>
      <p:sp>
        <p:nvSpPr>
          <p:cNvPr id="11" name="Text 8"/>
          <p:cNvSpPr/>
          <p:nvPr/>
        </p:nvSpPr>
        <p:spPr>
          <a:xfrm>
            <a:off x="8293608" y="1527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$584K</a:t>
            </a:r>
            <a:endParaRPr lang="en-US" sz="2600" dirty="0"/>
          </a:p>
        </p:txBody>
      </p:sp>
      <p:sp>
        <p:nvSpPr>
          <p:cNvPr id="12" name="Text 9"/>
          <p:cNvSpPr/>
          <p:nvPr/>
        </p:nvSpPr>
        <p:spPr>
          <a:xfrm>
            <a:off x="8293608" y="1947672"/>
            <a:ext cx="3239719" cy="219456"/>
          </a:xfrm>
          <a:prstGeom prst="rect">
            <a:avLst/>
          </a:prstGeom>
          <a:noFill/>
          <a:ln/>
        </p:spPr>
        <p:txBody>
          <a:bodyPr wrap="square" lIns="0" tIns="0" rIns="0" bIns="0" rtlCol="0" anchor="ctr"/>
          <a:lstStyle/>
          <a:p>
            <a:pPr indent="0" marL="0">
              <a:buNone/>
            </a:pPr>
            <a:r>
              <a:rPr lang="en-US" sz="950" b="1" dirty="0">
                <a:solidFill>
                  <a:srgbClr val="FF9F43"/>
                </a:solidFill>
                <a:latin typeface="Calibri" pitchFamily="34" charset="0"/>
                <a:ea typeface="Calibri" pitchFamily="34" charset="-122"/>
                <a:cs typeface="Calibri" pitchFamily="34" charset="-120"/>
              </a:rPr>
              <a:t>flat Jan→Jul</a:t>
            </a:r>
            <a:endParaRPr lang="en-US" sz="950" dirty="0"/>
          </a:p>
        </p:txBody>
      </p:sp>
      <p:sp>
        <p:nvSpPr>
          <p:cNvPr id="13" name="Shape 10"/>
          <p:cNvSpPr/>
          <p:nvPr/>
        </p:nvSpPr>
        <p:spPr>
          <a:xfrm>
            <a:off x="8092440" y="2377440"/>
            <a:ext cx="3642055" cy="1005840"/>
          </a:xfrm>
          <a:prstGeom prst="roundRect">
            <a:avLst>
              <a:gd name="adj" fmla="val 5455"/>
            </a:avLst>
          </a:prstGeom>
          <a:solidFill>
            <a:srgbClr val="121B2D"/>
          </a:solidFill>
          <a:ln w="12700">
            <a:solidFill>
              <a:srgbClr val="23304A"/>
            </a:solidFill>
            <a:prstDash val="solid"/>
          </a:ln>
        </p:spPr>
      </p:sp>
      <p:sp>
        <p:nvSpPr>
          <p:cNvPr id="14" name="Text 11"/>
          <p:cNvSpPr/>
          <p:nvPr/>
        </p:nvSpPr>
        <p:spPr>
          <a:xfrm>
            <a:off x="8293608" y="2487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LARGEST SERVICE</a:t>
            </a:r>
            <a:endParaRPr lang="en-US" sz="1000" dirty="0"/>
          </a:p>
        </p:txBody>
      </p:sp>
      <p:sp>
        <p:nvSpPr>
          <p:cNvPr id="15" name="Text 12"/>
          <p:cNvSpPr/>
          <p:nvPr/>
        </p:nvSpPr>
        <p:spPr>
          <a:xfrm>
            <a:off x="8293608" y="2670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EC2 - Compute</a:t>
            </a:r>
            <a:endParaRPr lang="en-US" sz="2600" dirty="0"/>
          </a:p>
        </p:txBody>
      </p:sp>
      <p:sp>
        <p:nvSpPr>
          <p:cNvPr id="16" name="Text 13"/>
          <p:cNvSpPr/>
          <p:nvPr/>
        </p:nvSpPr>
        <p:spPr>
          <a:xfrm>
            <a:off x="8293608" y="3090672"/>
            <a:ext cx="3239719"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39% of the total</a:t>
            </a:r>
            <a:endParaRPr lang="en-US" sz="950" dirty="0"/>
          </a:p>
        </p:txBody>
      </p:sp>
      <p:sp>
        <p:nvSpPr>
          <p:cNvPr id="17" name="Text 14"/>
          <p:cNvSpPr/>
          <p:nvPr/>
        </p:nvSpPr>
        <p:spPr>
          <a:xfrm>
            <a:off x="8110728" y="3657600"/>
            <a:ext cx="360547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WHAT MOVED</a:t>
            </a:r>
            <a:endParaRPr lang="en-US" sz="1000" dirty="0"/>
          </a:p>
        </p:txBody>
      </p:sp>
      <p:sp>
        <p:nvSpPr>
          <p:cNvPr id="18" name="Shape 15"/>
          <p:cNvSpPr/>
          <p:nvPr/>
        </p:nvSpPr>
        <p:spPr>
          <a:xfrm>
            <a:off x="8110728" y="4032504"/>
            <a:ext cx="64008" cy="64008"/>
          </a:xfrm>
          <a:prstGeom prst="rect">
            <a:avLst/>
          </a:prstGeom>
          <a:solidFill>
            <a:srgbClr val="FF9F43"/>
          </a:solidFill>
          <a:ln w="12700">
            <a:solidFill>
              <a:srgbClr val="FF9F43"/>
            </a:solidFill>
            <a:prstDash val="solid"/>
          </a:ln>
        </p:spPr>
      </p:sp>
      <p:sp>
        <p:nvSpPr>
          <p:cNvPr id="19" name="Text 16"/>
          <p:cNvSpPr/>
          <p:nvPr/>
        </p:nvSpPr>
        <p:spPr>
          <a:xfrm>
            <a:off x="8284464" y="3950208"/>
            <a:ext cx="3431743" cy="18288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EC2 compute keeps rising month over month</a:t>
            </a:r>
            <a:endParaRPr lang="en-US" sz="1050" dirty="0"/>
          </a:p>
        </p:txBody>
      </p:sp>
      <p:sp>
        <p:nvSpPr>
          <p:cNvPr id="20" name="Shape 17"/>
          <p:cNvSpPr/>
          <p:nvPr/>
        </p:nvSpPr>
        <p:spPr>
          <a:xfrm>
            <a:off x="8110728" y="4334256"/>
            <a:ext cx="64008" cy="64008"/>
          </a:xfrm>
          <a:prstGeom prst="rect">
            <a:avLst/>
          </a:prstGeom>
          <a:solidFill>
            <a:srgbClr val="FF9F43"/>
          </a:solidFill>
          <a:ln w="12700">
            <a:solidFill>
              <a:srgbClr val="FF9F43"/>
            </a:solidFill>
            <a:prstDash val="solid"/>
          </a:ln>
        </p:spPr>
      </p:sp>
      <p:sp>
        <p:nvSpPr>
          <p:cNvPr id="21" name="Text 18"/>
          <p:cNvSpPr/>
          <p:nvPr/>
        </p:nvSpPr>
        <p:spPr>
          <a:xfrm>
            <a:off x="8284464" y="4251960"/>
            <a:ext cx="3431743" cy="36576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S3 storage and Glacier Deep Archive both up sharply</a:t>
            </a:r>
            <a:endParaRPr lang="en-US" sz="1050" dirty="0"/>
          </a:p>
        </p:txBody>
      </p:sp>
      <p:sp>
        <p:nvSpPr>
          <p:cNvPr id="22" name="Shape 19"/>
          <p:cNvSpPr/>
          <p:nvPr/>
        </p:nvSpPr>
        <p:spPr>
          <a:xfrm>
            <a:off x="8110728" y="4818888"/>
            <a:ext cx="64008" cy="64008"/>
          </a:xfrm>
          <a:prstGeom prst="rect">
            <a:avLst/>
          </a:prstGeom>
          <a:solidFill>
            <a:srgbClr val="FF9F43"/>
          </a:solidFill>
          <a:ln w="12700">
            <a:solidFill>
              <a:srgbClr val="FF9F43"/>
            </a:solidFill>
            <a:prstDash val="solid"/>
          </a:ln>
        </p:spPr>
      </p:sp>
      <p:sp>
        <p:nvSpPr>
          <p:cNvPr id="23" name="Text 20"/>
          <p:cNvSpPr/>
          <p:nvPr/>
        </p:nvSpPr>
        <p:spPr>
          <a:xfrm>
            <a:off x="8284464" y="4736592"/>
            <a:ext cx="3431743" cy="36576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2F8CFF"/>
                </a:solidFill>
                <a:latin typeface="Calibri" pitchFamily="34" charset="0"/>
                <a:ea typeface="Calibri" pitchFamily="34" charset="-122"/>
                <a:cs typeface="Calibri" pitchFamily="34" charset="-120"/>
              </a:rPr>
              <a:t>AZURE · COST CENTRES</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Consumption by cost centre</a:t>
            </a:r>
            <a:endParaRPr lang="en-US" sz="26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95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Monthly spend by cost centre</a:t>
            </a:r>
            <a:endParaRPr lang="en-US" sz="13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05840"/>
          </a:xfrm>
          <a:prstGeom prst="roundRect">
            <a:avLst>
              <a:gd name="adj" fmla="val 5455"/>
            </a:avLst>
          </a:prstGeom>
          <a:solidFill>
            <a:srgbClr val="121B2D"/>
          </a:solidFill>
          <a:ln w="12700">
            <a:solidFill>
              <a:srgbClr val="23304A"/>
            </a:solidFill>
            <a:prstDash val="solid"/>
          </a:ln>
        </p:spPr>
      </p:sp>
      <p:sp>
        <p:nvSpPr>
          <p:cNvPr id="10" name="Text 7"/>
          <p:cNvSpPr/>
          <p:nvPr/>
        </p:nvSpPr>
        <p:spPr>
          <a:xfrm>
            <a:off x="8293608" y="1344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TOTAL, JAN–JUL</a:t>
            </a:r>
            <a:endParaRPr lang="en-US" sz="1000" dirty="0"/>
          </a:p>
        </p:txBody>
      </p:sp>
      <p:sp>
        <p:nvSpPr>
          <p:cNvPr id="11" name="Text 8"/>
          <p:cNvSpPr/>
          <p:nvPr/>
        </p:nvSpPr>
        <p:spPr>
          <a:xfrm>
            <a:off x="8293608" y="1527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$1.12M</a:t>
            </a:r>
            <a:endParaRPr lang="en-US" sz="2600" dirty="0"/>
          </a:p>
        </p:txBody>
      </p:sp>
      <p:sp>
        <p:nvSpPr>
          <p:cNvPr id="12" name="Text 9"/>
          <p:cNvSpPr/>
          <p:nvPr/>
        </p:nvSpPr>
        <p:spPr>
          <a:xfrm>
            <a:off x="8293608" y="1947672"/>
            <a:ext cx="3239719" cy="219456"/>
          </a:xfrm>
          <a:prstGeom prst="rect">
            <a:avLst/>
          </a:prstGeom>
          <a:noFill/>
          <a:ln/>
        </p:spPr>
        <p:txBody>
          <a:bodyPr wrap="square" lIns="0" tIns="0" rIns="0" bIns="0" rtlCol="0" anchor="ctr"/>
          <a:lstStyle/>
          <a:p>
            <a:pPr indent="0" marL="0">
              <a:buNone/>
            </a:pPr>
            <a:r>
              <a:rPr lang="en-US" sz="950" b="1" dirty="0">
                <a:solidFill>
                  <a:srgbClr val="2F8CFF"/>
                </a:solidFill>
                <a:latin typeface="Calibri" pitchFamily="34" charset="0"/>
                <a:ea typeface="Calibri" pitchFamily="34" charset="-122"/>
                <a:cs typeface="Calibri" pitchFamily="34" charset="-120"/>
              </a:rPr>
              <a:t>+19% Jan→Jul</a:t>
            </a:r>
            <a:endParaRPr lang="en-US" sz="950" dirty="0"/>
          </a:p>
        </p:txBody>
      </p:sp>
      <p:sp>
        <p:nvSpPr>
          <p:cNvPr id="13" name="Shape 10"/>
          <p:cNvSpPr/>
          <p:nvPr/>
        </p:nvSpPr>
        <p:spPr>
          <a:xfrm>
            <a:off x="8092440" y="2377440"/>
            <a:ext cx="3642055" cy="1005840"/>
          </a:xfrm>
          <a:prstGeom prst="roundRect">
            <a:avLst>
              <a:gd name="adj" fmla="val 5455"/>
            </a:avLst>
          </a:prstGeom>
          <a:solidFill>
            <a:srgbClr val="121B2D"/>
          </a:solidFill>
          <a:ln w="12700">
            <a:solidFill>
              <a:srgbClr val="23304A"/>
            </a:solidFill>
            <a:prstDash val="solid"/>
          </a:ln>
        </p:spPr>
      </p:sp>
      <p:sp>
        <p:nvSpPr>
          <p:cNvPr id="14" name="Text 11"/>
          <p:cNvSpPr/>
          <p:nvPr/>
        </p:nvSpPr>
        <p:spPr>
          <a:xfrm>
            <a:off x="8293608" y="2487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LARGEST COST CENTRE</a:t>
            </a:r>
            <a:endParaRPr lang="en-US" sz="1000" dirty="0"/>
          </a:p>
        </p:txBody>
      </p:sp>
      <p:sp>
        <p:nvSpPr>
          <p:cNvPr id="15" name="Text 12"/>
          <p:cNvSpPr/>
          <p:nvPr/>
        </p:nvSpPr>
        <p:spPr>
          <a:xfrm>
            <a:off x="8293608" y="2670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datacloud</a:t>
            </a:r>
            <a:endParaRPr lang="en-US" sz="2600" dirty="0"/>
          </a:p>
        </p:txBody>
      </p:sp>
      <p:sp>
        <p:nvSpPr>
          <p:cNvPr id="16" name="Text 13"/>
          <p:cNvSpPr/>
          <p:nvPr/>
        </p:nvSpPr>
        <p:spPr>
          <a:xfrm>
            <a:off x="8293608" y="3090672"/>
            <a:ext cx="3239719"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30% of the total</a:t>
            </a:r>
            <a:endParaRPr lang="en-US" sz="950" dirty="0"/>
          </a:p>
        </p:txBody>
      </p:sp>
      <p:sp>
        <p:nvSpPr>
          <p:cNvPr id="17" name="Text 14"/>
          <p:cNvSpPr/>
          <p:nvPr/>
        </p:nvSpPr>
        <p:spPr>
          <a:xfrm>
            <a:off x="8110728" y="3657600"/>
            <a:ext cx="360547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WHAT MOVED</a:t>
            </a:r>
            <a:endParaRPr lang="en-US" sz="1000" dirty="0"/>
          </a:p>
        </p:txBody>
      </p:sp>
      <p:sp>
        <p:nvSpPr>
          <p:cNvPr id="18" name="Shape 15"/>
          <p:cNvSpPr/>
          <p:nvPr/>
        </p:nvSpPr>
        <p:spPr>
          <a:xfrm>
            <a:off x="8110728" y="4032504"/>
            <a:ext cx="64008" cy="64008"/>
          </a:xfrm>
          <a:prstGeom prst="rect">
            <a:avLst/>
          </a:prstGeom>
          <a:solidFill>
            <a:srgbClr val="2F8CFF"/>
          </a:solidFill>
          <a:ln w="12700">
            <a:solidFill>
              <a:srgbClr val="2F8CFF"/>
            </a:solidFill>
            <a:prstDash val="solid"/>
          </a:ln>
        </p:spPr>
      </p:sp>
      <p:sp>
        <p:nvSpPr>
          <p:cNvPr id="19" name="Text 16"/>
          <p:cNvSpPr/>
          <p:nvPr/>
        </p:nvSpPr>
        <p:spPr>
          <a:xfrm>
            <a:off x="8284464" y="3950208"/>
            <a:ext cx="3431743" cy="18288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cloudops, datacloud and cloudit all up</a:t>
            </a:r>
            <a:endParaRPr lang="en-US" sz="1050" dirty="0"/>
          </a:p>
        </p:txBody>
      </p:sp>
      <p:sp>
        <p:nvSpPr>
          <p:cNvPr id="20" name="Shape 17"/>
          <p:cNvSpPr/>
          <p:nvPr/>
        </p:nvSpPr>
        <p:spPr>
          <a:xfrm>
            <a:off x="8110728" y="4334256"/>
            <a:ext cx="64008" cy="64008"/>
          </a:xfrm>
          <a:prstGeom prst="rect">
            <a:avLst/>
          </a:prstGeom>
          <a:solidFill>
            <a:srgbClr val="2F8CFF"/>
          </a:solidFill>
          <a:ln w="12700">
            <a:solidFill>
              <a:srgbClr val="2F8CFF"/>
            </a:solidFill>
            <a:prstDash val="solid"/>
          </a:ln>
        </p:spPr>
      </p:sp>
      <p:sp>
        <p:nvSpPr>
          <p:cNvPr id="21" name="Text 18"/>
          <p:cNvSpPr/>
          <p:nvPr/>
        </p:nvSpPr>
        <p:spPr>
          <a:xfrm>
            <a:off x="8284464" y="4251960"/>
            <a:ext cx="3431743" cy="36576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AI Factory is the fastest-growing centre in the period</a:t>
            </a:r>
            <a:endParaRPr lang="en-US" sz="1050" dirty="0"/>
          </a:p>
        </p:txBody>
      </p:sp>
      <p:sp>
        <p:nvSpPr>
          <p:cNvPr id="22" name="Shape 19"/>
          <p:cNvSpPr/>
          <p:nvPr/>
        </p:nvSpPr>
        <p:spPr>
          <a:xfrm>
            <a:off x="8110728" y="4818888"/>
            <a:ext cx="64008" cy="64008"/>
          </a:xfrm>
          <a:prstGeom prst="rect">
            <a:avLst/>
          </a:prstGeom>
          <a:solidFill>
            <a:srgbClr val="2F8CFF"/>
          </a:solidFill>
          <a:ln w="12700">
            <a:solidFill>
              <a:srgbClr val="2F8CFF"/>
            </a:solidFill>
            <a:prstDash val="solid"/>
          </a:ln>
        </p:spPr>
      </p:sp>
      <p:sp>
        <p:nvSpPr>
          <p:cNvPr id="23" name="Text 20"/>
          <p:cNvSpPr/>
          <p:nvPr/>
        </p:nvSpPr>
        <p:spPr>
          <a:xfrm>
            <a:off x="8284464" y="4736592"/>
            <a:ext cx="3431743" cy="18288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Risk Agility and Actuary fell back after Q1</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2F8CFF"/>
                </a:solidFill>
                <a:latin typeface="Calibri" pitchFamily="34" charset="0"/>
                <a:ea typeface="Calibri" pitchFamily="34" charset="-122"/>
                <a:cs typeface="Calibri" pitchFamily="34" charset="-120"/>
              </a:rPr>
              <a:t>AZURE · SERVICES</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Consumption by service name</a:t>
            </a:r>
            <a:endParaRPr lang="en-US" sz="26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95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Monthly spend by service</a:t>
            </a:r>
            <a:endParaRPr lang="en-US" sz="13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05840"/>
          </a:xfrm>
          <a:prstGeom prst="roundRect">
            <a:avLst>
              <a:gd name="adj" fmla="val 5455"/>
            </a:avLst>
          </a:prstGeom>
          <a:solidFill>
            <a:srgbClr val="121B2D"/>
          </a:solidFill>
          <a:ln w="12700">
            <a:solidFill>
              <a:srgbClr val="23304A"/>
            </a:solidFill>
            <a:prstDash val="solid"/>
          </a:ln>
        </p:spPr>
      </p:sp>
      <p:sp>
        <p:nvSpPr>
          <p:cNvPr id="10" name="Text 7"/>
          <p:cNvSpPr/>
          <p:nvPr/>
        </p:nvSpPr>
        <p:spPr>
          <a:xfrm>
            <a:off x="8293608" y="1344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TOTAL, JAN–JUL</a:t>
            </a:r>
            <a:endParaRPr lang="en-US" sz="1000" dirty="0"/>
          </a:p>
        </p:txBody>
      </p:sp>
      <p:sp>
        <p:nvSpPr>
          <p:cNvPr id="11" name="Text 8"/>
          <p:cNvSpPr/>
          <p:nvPr/>
        </p:nvSpPr>
        <p:spPr>
          <a:xfrm>
            <a:off x="8293608" y="1527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$1.12M</a:t>
            </a:r>
            <a:endParaRPr lang="en-US" sz="2600" dirty="0"/>
          </a:p>
        </p:txBody>
      </p:sp>
      <p:sp>
        <p:nvSpPr>
          <p:cNvPr id="12" name="Text 9"/>
          <p:cNvSpPr/>
          <p:nvPr/>
        </p:nvSpPr>
        <p:spPr>
          <a:xfrm>
            <a:off x="8293608" y="1947672"/>
            <a:ext cx="3239719" cy="219456"/>
          </a:xfrm>
          <a:prstGeom prst="rect">
            <a:avLst/>
          </a:prstGeom>
          <a:noFill/>
          <a:ln/>
        </p:spPr>
        <p:txBody>
          <a:bodyPr wrap="square" lIns="0" tIns="0" rIns="0" bIns="0" rtlCol="0" anchor="ctr"/>
          <a:lstStyle/>
          <a:p>
            <a:pPr indent="0" marL="0">
              <a:buNone/>
            </a:pPr>
            <a:r>
              <a:rPr lang="en-US" sz="950" b="1" dirty="0">
                <a:solidFill>
                  <a:srgbClr val="2F8CFF"/>
                </a:solidFill>
                <a:latin typeface="Calibri" pitchFamily="34" charset="0"/>
                <a:ea typeface="Calibri" pitchFamily="34" charset="-122"/>
                <a:cs typeface="Calibri" pitchFamily="34" charset="-120"/>
              </a:rPr>
              <a:t>+19% Jan→Jul</a:t>
            </a:r>
            <a:endParaRPr lang="en-US" sz="950" dirty="0"/>
          </a:p>
        </p:txBody>
      </p:sp>
      <p:sp>
        <p:nvSpPr>
          <p:cNvPr id="13" name="Shape 10"/>
          <p:cNvSpPr/>
          <p:nvPr/>
        </p:nvSpPr>
        <p:spPr>
          <a:xfrm>
            <a:off x="8092440" y="2377440"/>
            <a:ext cx="3642055" cy="1005840"/>
          </a:xfrm>
          <a:prstGeom prst="roundRect">
            <a:avLst>
              <a:gd name="adj" fmla="val 5455"/>
            </a:avLst>
          </a:prstGeom>
          <a:solidFill>
            <a:srgbClr val="121B2D"/>
          </a:solidFill>
          <a:ln w="12700">
            <a:solidFill>
              <a:srgbClr val="23304A"/>
            </a:solidFill>
            <a:prstDash val="solid"/>
          </a:ln>
        </p:spPr>
      </p:sp>
      <p:sp>
        <p:nvSpPr>
          <p:cNvPr id="14" name="Text 11"/>
          <p:cNvSpPr/>
          <p:nvPr/>
        </p:nvSpPr>
        <p:spPr>
          <a:xfrm>
            <a:off x="8293608" y="2487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LARGEST SERVICE</a:t>
            </a:r>
            <a:endParaRPr lang="en-US" sz="1000" dirty="0"/>
          </a:p>
        </p:txBody>
      </p:sp>
      <p:sp>
        <p:nvSpPr>
          <p:cNvPr id="15" name="Text 12"/>
          <p:cNvSpPr/>
          <p:nvPr/>
        </p:nvSpPr>
        <p:spPr>
          <a:xfrm>
            <a:off x="8293608" y="2670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Virtual Machines</a:t>
            </a:r>
            <a:endParaRPr lang="en-US" sz="2600" dirty="0"/>
          </a:p>
        </p:txBody>
      </p:sp>
      <p:sp>
        <p:nvSpPr>
          <p:cNvPr id="16" name="Text 13"/>
          <p:cNvSpPr/>
          <p:nvPr/>
        </p:nvSpPr>
        <p:spPr>
          <a:xfrm>
            <a:off x="8293608" y="3090672"/>
            <a:ext cx="3239719"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33% of the total</a:t>
            </a:r>
            <a:endParaRPr lang="en-US" sz="950" dirty="0"/>
          </a:p>
        </p:txBody>
      </p:sp>
      <p:sp>
        <p:nvSpPr>
          <p:cNvPr id="17" name="Text 14"/>
          <p:cNvSpPr/>
          <p:nvPr/>
        </p:nvSpPr>
        <p:spPr>
          <a:xfrm>
            <a:off x="8110728" y="3657600"/>
            <a:ext cx="360547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WHAT MOVED</a:t>
            </a:r>
            <a:endParaRPr lang="en-US" sz="1000" dirty="0"/>
          </a:p>
        </p:txBody>
      </p:sp>
      <p:sp>
        <p:nvSpPr>
          <p:cNvPr id="18" name="Shape 15"/>
          <p:cNvSpPr/>
          <p:nvPr/>
        </p:nvSpPr>
        <p:spPr>
          <a:xfrm>
            <a:off x="8110728" y="4032504"/>
            <a:ext cx="64008" cy="64008"/>
          </a:xfrm>
          <a:prstGeom prst="rect">
            <a:avLst/>
          </a:prstGeom>
          <a:solidFill>
            <a:srgbClr val="2F8CFF"/>
          </a:solidFill>
          <a:ln w="12700">
            <a:solidFill>
              <a:srgbClr val="2F8CFF"/>
            </a:solidFill>
            <a:prstDash val="solid"/>
          </a:ln>
        </p:spPr>
      </p:sp>
      <p:sp>
        <p:nvSpPr>
          <p:cNvPr id="19" name="Text 16"/>
          <p:cNvSpPr/>
          <p:nvPr/>
        </p:nvSpPr>
        <p:spPr>
          <a:xfrm>
            <a:off x="8284464" y="3950208"/>
            <a:ext cx="3431743" cy="36576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GitHub and Copilot Studio drive most of the July step-up</a:t>
            </a:r>
            <a:endParaRPr lang="en-US" sz="1050" dirty="0"/>
          </a:p>
        </p:txBody>
      </p:sp>
      <p:sp>
        <p:nvSpPr>
          <p:cNvPr id="20" name="Shape 17"/>
          <p:cNvSpPr/>
          <p:nvPr/>
        </p:nvSpPr>
        <p:spPr>
          <a:xfrm>
            <a:off x="8110728" y="4517136"/>
            <a:ext cx="64008" cy="64008"/>
          </a:xfrm>
          <a:prstGeom prst="rect">
            <a:avLst/>
          </a:prstGeom>
          <a:solidFill>
            <a:srgbClr val="2F8CFF"/>
          </a:solidFill>
          <a:ln w="12700">
            <a:solidFill>
              <a:srgbClr val="2F8CFF"/>
            </a:solidFill>
            <a:prstDash val="solid"/>
          </a:ln>
        </p:spPr>
      </p:sp>
      <p:sp>
        <p:nvSpPr>
          <p:cNvPr id="21" name="Text 18"/>
          <p:cNvSpPr/>
          <p:nvPr/>
        </p:nvSpPr>
        <p:spPr>
          <a:xfrm>
            <a:off x="8284464" y="4434840"/>
            <a:ext cx="3431743" cy="36576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050" dirty="0"/>
          </a:p>
        </p:txBody>
      </p:sp>
      <p:sp>
        <p:nvSpPr>
          <p:cNvPr id="22" name="Shape 19"/>
          <p:cNvSpPr/>
          <p:nvPr/>
        </p:nvSpPr>
        <p:spPr>
          <a:xfrm>
            <a:off x="8110728" y="5001768"/>
            <a:ext cx="64008" cy="64008"/>
          </a:xfrm>
          <a:prstGeom prst="rect">
            <a:avLst/>
          </a:prstGeom>
          <a:solidFill>
            <a:srgbClr val="2F8CFF"/>
          </a:solidFill>
          <a:ln w="12700">
            <a:solidFill>
              <a:srgbClr val="2F8CFF"/>
            </a:solidFill>
            <a:prstDash val="solid"/>
          </a:ln>
        </p:spPr>
      </p:sp>
      <p:sp>
        <p:nvSpPr>
          <p:cNvPr id="23" name="Text 20"/>
          <p:cNvSpPr/>
          <p:nvPr/>
        </p:nvSpPr>
        <p:spPr>
          <a:xfrm>
            <a:off x="8284464" y="4919472"/>
            <a:ext cx="3431743" cy="365760"/>
          </a:xfrm>
          <a:prstGeom prst="rect">
            <a:avLst/>
          </a:prstGeom>
          <a:noFill/>
          <a:ln/>
        </p:spPr>
        <p:txBody>
          <a:bodyPr wrap="square" lIns="0" tIns="0" rIns="0" bIns="0" rtlCol="0" anchor="t"/>
          <a:lstStyle/>
          <a:p>
            <a:pPr indent="0" marL="0">
              <a:lnSpc>
                <a:spcPct val="110000"/>
              </a:lnSpc>
              <a:buNone/>
            </a:pPr>
            <a:r>
              <a:rPr lang="en-US" sz="10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2F8CFF"/>
                </a:solidFill>
                <a:latin typeface="Calibri" pitchFamily="34" charset="0"/>
                <a:ea typeface="Calibri" pitchFamily="34" charset="-122"/>
                <a:cs typeface="Calibri" pitchFamily="34" charset="-120"/>
              </a:rPr>
              <a:t>AZURE · DATACLOUD</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Cost centre — DataCloud</a:t>
            </a:r>
            <a:endParaRPr lang="en-US" sz="26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Databricks drops to zero from May — that is the reserved capacity purchase taking over, not a workload stopping. Foundry Models and Foundry Tools take its place as the growth line.</a:t>
            </a:r>
            <a:endParaRPr lang="en-US" sz="900" dirty="0"/>
          </a:p>
        </p:txBody>
      </p:sp>
      <p:sp>
        <p:nvSpPr>
          <p:cNvPr id="8" name="Shape 6"/>
          <p:cNvSpPr/>
          <p:nvPr/>
        </p:nvSpPr>
        <p:spPr>
          <a:xfrm>
            <a:off x="457200" y="1188720"/>
            <a:ext cx="3606698" cy="960120"/>
          </a:xfrm>
          <a:prstGeom prst="roundRect">
            <a:avLst>
              <a:gd name="adj" fmla="val 5714"/>
            </a:avLst>
          </a:prstGeom>
          <a:solidFill>
            <a:srgbClr val="121B2D"/>
          </a:solidFill>
          <a:ln w="12700">
            <a:solidFill>
              <a:srgbClr val="23304A"/>
            </a:solidFill>
            <a:prstDash val="solid"/>
          </a:ln>
        </p:spPr>
      </p:sp>
      <p:sp>
        <p:nvSpPr>
          <p:cNvPr id="9" name="Text 7"/>
          <p:cNvSpPr/>
          <p:nvPr/>
        </p:nvSpPr>
        <p:spPr>
          <a:xfrm>
            <a:off x="658368" y="129844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TOTAL, JAN–JUL</a:t>
            </a:r>
            <a:endParaRPr lang="en-US" sz="1000" dirty="0"/>
          </a:p>
        </p:txBody>
      </p:sp>
      <p:sp>
        <p:nvSpPr>
          <p:cNvPr id="10" name="Text 8"/>
          <p:cNvSpPr/>
          <p:nvPr/>
        </p:nvSpPr>
        <p:spPr>
          <a:xfrm>
            <a:off x="658368" y="148132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$339K</a:t>
            </a:r>
            <a:endParaRPr lang="en-US" sz="2600" dirty="0"/>
          </a:p>
        </p:txBody>
      </p:sp>
      <p:sp>
        <p:nvSpPr>
          <p:cNvPr id="11" name="Text 9"/>
          <p:cNvSpPr/>
          <p:nvPr/>
        </p:nvSpPr>
        <p:spPr>
          <a:xfrm>
            <a:off x="658368" y="1901952"/>
            <a:ext cx="3204362" cy="219456"/>
          </a:xfrm>
          <a:prstGeom prst="rect">
            <a:avLst/>
          </a:prstGeom>
          <a:noFill/>
          <a:ln/>
        </p:spPr>
        <p:txBody>
          <a:bodyPr wrap="square" lIns="0" tIns="0" rIns="0" bIns="0" rtlCol="0" anchor="ctr"/>
          <a:lstStyle/>
          <a:p>
            <a:pPr indent="0" marL="0">
              <a:buNone/>
            </a:pPr>
            <a:r>
              <a:rPr lang="en-US" sz="950" b="1" dirty="0">
                <a:solidFill>
                  <a:srgbClr val="2F8CFF"/>
                </a:solidFill>
                <a:latin typeface="Calibri" pitchFamily="34" charset="0"/>
                <a:ea typeface="Calibri" pitchFamily="34" charset="-122"/>
                <a:cs typeface="Calibri" pitchFamily="34" charset="-120"/>
              </a:rPr>
              <a:t>+3% Jan→Jul</a:t>
            </a:r>
            <a:endParaRPr lang="en-US" sz="950" dirty="0"/>
          </a:p>
        </p:txBody>
      </p:sp>
      <p:sp>
        <p:nvSpPr>
          <p:cNvPr id="12" name="Shape 10"/>
          <p:cNvSpPr/>
          <p:nvPr/>
        </p:nvSpPr>
        <p:spPr>
          <a:xfrm>
            <a:off x="4292498" y="1188720"/>
            <a:ext cx="3606698" cy="960120"/>
          </a:xfrm>
          <a:prstGeom prst="roundRect">
            <a:avLst>
              <a:gd name="adj" fmla="val 5714"/>
            </a:avLst>
          </a:prstGeom>
          <a:solidFill>
            <a:srgbClr val="121B2D"/>
          </a:solidFill>
          <a:ln w="12700">
            <a:solidFill>
              <a:srgbClr val="23304A"/>
            </a:solidFill>
            <a:prstDash val="solid"/>
          </a:ln>
        </p:spPr>
      </p:sp>
      <p:sp>
        <p:nvSpPr>
          <p:cNvPr id="13" name="Text 11"/>
          <p:cNvSpPr/>
          <p:nvPr/>
        </p:nvSpPr>
        <p:spPr>
          <a:xfrm>
            <a:off x="4493666" y="129844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LARGEST SUBSCRIPTION</a:t>
            </a:r>
            <a:endParaRPr lang="en-US" sz="1000" dirty="0"/>
          </a:p>
        </p:txBody>
      </p:sp>
      <p:sp>
        <p:nvSpPr>
          <p:cNvPr id="14" name="Text 12"/>
          <p:cNvSpPr/>
          <p:nvPr/>
        </p:nvSpPr>
        <p:spPr>
          <a:xfrm>
            <a:off x="4493666" y="148132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DataCloud prod</a:t>
            </a:r>
            <a:endParaRPr lang="en-US" sz="2600" dirty="0"/>
          </a:p>
        </p:txBody>
      </p:sp>
      <p:sp>
        <p:nvSpPr>
          <p:cNvPr id="15" name="Text 13"/>
          <p:cNvSpPr/>
          <p:nvPr/>
        </p:nvSpPr>
        <p:spPr>
          <a:xfrm>
            <a:off x="4493666" y="1901952"/>
            <a:ext cx="3204362"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80% of the total</a:t>
            </a:r>
            <a:endParaRPr lang="en-US" sz="950" dirty="0"/>
          </a:p>
        </p:txBody>
      </p:sp>
      <p:sp>
        <p:nvSpPr>
          <p:cNvPr id="16" name="Shape 14"/>
          <p:cNvSpPr/>
          <p:nvPr/>
        </p:nvSpPr>
        <p:spPr>
          <a:xfrm>
            <a:off x="8127797" y="1188720"/>
            <a:ext cx="3606698" cy="960120"/>
          </a:xfrm>
          <a:prstGeom prst="roundRect">
            <a:avLst>
              <a:gd name="adj" fmla="val 5714"/>
            </a:avLst>
          </a:prstGeom>
          <a:solidFill>
            <a:srgbClr val="121B2D"/>
          </a:solidFill>
          <a:ln w="12700">
            <a:solidFill>
              <a:srgbClr val="23304A"/>
            </a:solidFill>
            <a:prstDash val="solid"/>
          </a:ln>
        </p:spPr>
      </p:sp>
      <p:sp>
        <p:nvSpPr>
          <p:cNvPr id="17" name="Text 15"/>
          <p:cNvSpPr/>
          <p:nvPr/>
        </p:nvSpPr>
        <p:spPr>
          <a:xfrm>
            <a:off x="8328965" y="129844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LARGEST SERVICE</a:t>
            </a:r>
            <a:endParaRPr lang="en-US" sz="1000" dirty="0"/>
          </a:p>
        </p:txBody>
      </p:sp>
      <p:sp>
        <p:nvSpPr>
          <p:cNvPr id="18" name="Text 16"/>
          <p:cNvSpPr/>
          <p:nvPr/>
        </p:nvSpPr>
        <p:spPr>
          <a:xfrm>
            <a:off x="8328965" y="1481328"/>
            <a:ext cx="3204362" cy="457200"/>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901952"/>
            <a:ext cx="3204362"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20% of the total</a:t>
            </a:r>
            <a:endParaRPr lang="en-US" sz="950" dirty="0"/>
          </a:p>
        </p:txBody>
      </p:sp>
      <p:sp>
        <p:nvSpPr>
          <p:cNvPr id="20" name="Text 18"/>
          <p:cNvSpPr/>
          <p:nvPr/>
        </p:nvSpPr>
        <p:spPr>
          <a:xfrm>
            <a:off x="457200" y="2331720"/>
            <a:ext cx="5478628"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By service</a:t>
            </a:r>
            <a:endParaRPr lang="en-US" sz="1300" dirty="0"/>
          </a:p>
        </p:txBody>
      </p:sp>
      <p:graphicFrame>
        <p:nvGraphicFramePr>
          <p:cNvPr id="21" name="Chart 0" descr=""/>
          <p:cNvGraphicFramePr/>
          <p:nvPr/>
        </p:nvGraphicFramePr>
        <p:xfrm>
          <a:off x="411480" y="2606040"/>
          <a:ext cx="5478628" cy="342900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331720"/>
            <a:ext cx="5478628"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By subscription</a:t>
            </a:r>
            <a:endParaRPr lang="en-US" sz="1300" dirty="0"/>
          </a:p>
        </p:txBody>
      </p:sp>
      <p:graphicFrame>
        <p:nvGraphicFramePr>
          <p:cNvPr id="23" name="Chart 1" descr=""/>
          <p:cNvGraphicFramePr/>
          <p:nvPr/>
        </p:nvGraphicFramePr>
        <p:xfrm>
          <a:off x="6210148" y="2606040"/>
          <a:ext cx="5478628" cy="34290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2F8CFF"/>
                </a:solidFill>
                <a:latin typeface="Calibri" pitchFamily="34" charset="0"/>
                <a:ea typeface="Calibri" pitchFamily="34" charset="-122"/>
                <a:cs typeface="Calibri" pitchFamily="34" charset="-120"/>
              </a:rPr>
              <a:t>AZURE · SAP</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Cost centre — SAP</a:t>
            </a:r>
            <a:endParaRPr lang="en-US" sz="26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The most stable large workload in the estate — and the best candidate for reservations.</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 a flat, reservable profile.</a:t>
            </a:r>
            <a:endParaRPr lang="en-US" sz="900" dirty="0"/>
          </a:p>
        </p:txBody>
      </p:sp>
      <p:sp>
        <p:nvSpPr>
          <p:cNvPr id="8" name="Shape 6"/>
          <p:cNvSpPr/>
          <p:nvPr/>
        </p:nvSpPr>
        <p:spPr>
          <a:xfrm>
            <a:off x="457200" y="1188720"/>
            <a:ext cx="3606698" cy="960120"/>
          </a:xfrm>
          <a:prstGeom prst="roundRect">
            <a:avLst>
              <a:gd name="adj" fmla="val 5714"/>
            </a:avLst>
          </a:prstGeom>
          <a:solidFill>
            <a:srgbClr val="121B2D"/>
          </a:solidFill>
          <a:ln w="12700">
            <a:solidFill>
              <a:srgbClr val="23304A"/>
            </a:solidFill>
            <a:prstDash val="solid"/>
          </a:ln>
        </p:spPr>
      </p:sp>
      <p:sp>
        <p:nvSpPr>
          <p:cNvPr id="9" name="Text 7"/>
          <p:cNvSpPr/>
          <p:nvPr/>
        </p:nvSpPr>
        <p:spPr>
          <a:xfrm>
            <a:off x="658368" y="129844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TOTAL, JAN–JUL</a:t>
            </a:r>
            <a:endParaRPr lang="en-US" sz="1000" dirty="0"/>
          </a:p>
        </p:txBody>
      </p:sp>
      <p:sp>
        <p:nvSpPr>
          <p:cNvPr id="10" name="Text 8"/>
          <p:cNvSpPr/>
          <p:nvPr/>
        </p:nvSpPr>
        <p:spPr>
          <a:xfrm>
            <a:off x="658368" y="148132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$294K</a:t>
            </a:r>
            <a:endParaRPr lang="en-US" sz="2600" dirty="0"/>
          </a:p>
        </p:txBody>
      </p:sp>
      <p:sp>
        <p:nvSpPr>
          <p:cNvPr id="11" name="Text 9"/>
          <p:cNvSpPr/>
          <p:nvPr/>
        </p:nvSpPr>
        <p:spPr>
          <a:xfrm>
            <a:off x="658368" y="1901952"/>
            <a:ext cx="3204362" cy="219456"/>
          </a:xfrm>
          <a:prstGeom prst="rect">
            <a:avLst/>
          </a:prstGeom>
          <a:noFill/>
          <a:ln/>
        </p:spPr>
        <p:txBody>
          <a:bodyPr wrap="square" lIns="0" tIns="0" rIns="0" bIns="0" rtlCol="0" anchor="ctr"/>
          <a:lstStyle/>
          <a:p>
            <a:pPr indent="0" marL="0">
              <a:buNone/>
            </a:pPr>
            <a:r>
              <a:rPr lang="en-US" sz="950" b="1" dirty="0">
                <a:solidFill>
                  <a:srgbClr val="2F8CFF"/>
                </a:solidFill>
                <a:latin typeface="Calibri" pitchFamily="34" charset="0"/>
                <a:ea typeface="Calibri" pitchFamily="34" charset="-122"/>
                <a:cs typeface="Calibri" pitchFamily="34" charset="-120"/>
              </a:rPr>
              <a:t>-3% Jan→Jul</a:t>
            </a:r>
            <a:endParaRPr lang="en-US" sz="950" dirty="0"/>
          </a:p>
        </p:txBody>
      </p:sp>
      <p:sp>
        <p:nvSpPr>
          <p:cNvPr id="12" name="Shape 10"/>
          <p:cNvSpPr/>
          <p:nvPr/>
        </p:nvSpPr>
        <p:spPr>
          <a:xfrm>
            <a:off x="4292498" y="1188720"/>
            <a:ext cx="3606698" cy="960120"/>
          </a:xfrm>
          <a:prstGeom prst="roundRect">
            <a:avLst>
              <a:gd name="adj" fmla="val 5714"/>
            </a:avLst>
          </a:prstGeom>
          <a:solidFill>
            <a:srgbClr val="121B2D"/>
          </a:solidFill>
          <a:ln w="12700">
            <a:solidFill>
              <a:srgbClr val="23304A"/>
            </a:solidFill>
            <a:prstDash val="solid"/>
          </a:ln>
        </p:spPr>
      </p:sp>
      <p:sp>
        <p:nvSpPr>
          <p:cNvPr id="13" name="Text 11"/>
          <p:cNvSpPr/>
          <p:nvPr/>
        </p:nvSpPr>
        <p:spPr>
          <a:xfrm>
            <a:off x="4493666" y="129844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LARGEST SUBSCRIPTION</a:t>
            </a:r>
            <a:endParaRPr lang="en-US" sz="1000" dirty="0"/>
          </a:p>
        </p:txBody>
      </p:sp>
      <p:sp>
        <p:nvSpPr>
          <p:cNvPr id="14" name="Text 12"/>
          <p:cNvSpPr/>
          <p:nvPr/>
        </p:nvSpPr>
        <p:spPr>
          <a:xfrm>
            <a:off x="4493666" y="148132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SAP Dev/Test</a:t>
            </a:r>
            <a:endParaRPr lang="en-US" sz="2600" dirty="0"/>
          </a:p>
        </p:txBody>
      </p:sp>
      <p:sp>
        <p:nvSpPr>
          <p:cNvPr id="15" name="Text 13"/>
          <p:cNvSpPr/>
          <p:nvPr/>
        </p:nvSpPr>
        <p:spPr>
          <a:xfrm>
            <a:off x="4493666" y="1901952"/>
            <a:ext cx="3204362"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57% of the total</a:t>
            </a:r>
            <a:endParaRPr lang="en-US" sz="950" dirty="0"/>
          </a:p>
        </p:txBody>
      </p:sp>
      <p:sp>
        <p:nvSpPr>
          <p:cNvPr id="16" name="Shape 14"/>
          <p:cNvSpPr/>
          <p:nvPr/>
        </p:nvSpPr>
        <p:spPr>
          <a:xfrm>
            <a:off x="8127797" y="1188720"/>
            <a:ext cx="3606698" cy="960120"/>
          </a:xfrm>
          <a:prstGeom prst="roundRect">
            <a:avLst>
              <a:gd name="adj" fmla="val 5714"/>
            </a:avLst>
          </a:prstGeom>
          <a:solidFill>
            <a:srgbClr val="121B2D"/>
          </a:solidFill>
          <a:ln w="12700">
            <a:solidFill>
              <a:srgbClr val="23304A"/>
            </a:solidFill>
            <a:prstDash val="solid"/>
          </a:ln>
        </p:spPr>
      </p:sp>
      <p:sp>
        <p:nvSpPr>
          <p:cNvPr id="17" name="Text 15"/>
          <p:cNvSpPr/>
          <p:nvPr/>
        </p:nvSpPr>
        <p:spPr>
          <a:xfrm>
            <a:off x="8328965" y="129844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LARGEST SERVICE</a:t>
            </a:r>
            <a:endParaRPr lang="en-US" sz="1000" dirty="0"/>
          </a:p>
        </p:txBody>
      </p:sp>
      <p:sp>
        <p:nvSpPr>
          <p:cNvPr id="18" name="Text 16"/>
          <p:cNvSpPr/>
          <p:nvPr/>
        </p:nvSpPr>
        <p:spPr>
          <a:xfrm>
            <a:off x="8328965" y="1481328"/>
            <a:ext cx="3204362" cy="457200"/>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901952"/>
            <a:ext cx="3204362"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74% of the total</a:t>
            </a:r>
            <a:endParaRPr lang="en-US" sz="950" dirty="0"/>
          </a:p>
        </p:txBody>
      </p:sp>
      <p:sp>
        <p:nvSpPr>
          <p:cNvPr id="20" name="Text 18"/>
          <p:cNvSpPr/>
          <p:nvPr/>
        </p:nvSpPr>
        <p:spPr>
          <a:xfrm>
            <a:off x="457200" y="2331720"/>
            <a:ext cx="5478628"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By service</a:t>
            </a:r>
            <a:endParaRPr lang="en-US" sz="1300" dirty="0"/>
          </a:p>
        </p:txBody>
      </p:sp>
      <p:graphicFrame>
        <p:nvGraphicFramePr>
          <p:cNvPr id="21" name="Chart 0" descr=""/>
          <p:cNvGraphicFramePr/>
          <p:nvPr/>
        </p:nvGraphicFramePr>
        <p:xfrm>
          <a:off x="411480" y="2606040"/>
          <a:ext cx="5478628" cy="342900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331720"/>
            <a:ext cx="5478628"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By subscription</a:t>
            </a:r>
            <a:endParaRPr lang="en-US" sz="1300" dirty="0"/>
          </a:p>
        </p:txBody>
      </p:sp>
      <p:graphicFrame>
        <p:nvGraphicFramePr>
          <p:cNvPr id="23" name="Chart 1" descr=""/>
          <p:cNvGraphicFramePr/>
          <p:nvPr/>
        </p:nvGraphicFramePr>
        <p:xfrm>
          <a:off x="6210148" y="2606040"/>
          <a:ext cx="5478628" cy="34290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2F8CFF"/>
                </a:solidFill>
                <a:latin typeface="Calibri" pitchFamily="34" charset="0"/>
                <a:ea typeface="Calibri" pitchFamily="34" charset="-122"/>
                <a:cs typeface="Calibri" pitchFamily="34" charset="-120"/>
              </a:rPr>
              <a:t>AZURE · CLOUD IT</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Cost centre — Cloud IT</a:t>
            </a:r>
            <a:endParaRPr lang="en-US" sz="26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900" dirty="0"/>
          </a:p>
        </p:txBody>
      </p:sp>
      <p:sp>
        <p:nvSpPr>
          <p:cNvPr id="8" name="Shape 6"/>
          <p:cNvSpPr/>
          <p:nvPr/>
        </p:nvSpPr>
        <p:spPr>
          <a:xfrm>
            <a:off x="457200" y="1188720"/>
            <a:ext cx="3606698" cy="960120"/>
          </a:xfrm>
          <a:prstGeom prst="roundRect">
            <a:avLst>
              <a:gd name="adj" fmla="val 5714"/>
            </a:avLst>
          </a:prstGeom>
          <a:solidFill>
            <a:srgbClr val="121B2D"/>
          </a:solidFill>
          <a:ln w="12700">
            <a:solidFill>
              <a:srgbClr val="23304A"/>
            </a:solidFill>
            <a:prstDash val="solid"/>
          </a:ln>
        </p:spPr>
      </p:sp>
      <p:sp>
        <p:nvSpPr>
          <p:cNvPr id="9" name="Text 7"/>
          <p:cNvSpPr/>
          <p:nvPr/>
        </p:nvSpPr>
        <p:spPr>
          <a:xfrm>
            <a:off x="658368" y="129844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TOTAL, JAN–JUL</a:t>
            </a:r>
            <a:endParaRPr lang="en-US" sz="1000" dirty="0"/>
          </a:p>
        </p:txBody>
      </p:sp>
      <p:sp>
        <p:nvSpPr>
          <p:cNvPr id="10" name="Text 8"/>
          <p:cNvSpPr/>
          <p:nvPr/>
        </p:nvSpPr>
        <p:spPr>
          <a:xfrm>
            <a:off x="658368" y="148132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$216K</a:t>
            </a:r>
            <a:endParaRPr lang="en-US" sz="2600" dirty="0"/>
          </a:p>
        </p:txBody>
      </p:sp>
      <p:sp>
        <p:nvSpPr>
          <p:cNvPr id="11" name="Text 9"/>
          <p:cNvSpPr/>
          <p:nvPr/>
        </p:nvSpPr>
        <p:spPr>
          <a:xfrm>
            <a:off x="658368" y="1901952"/>
            <a:ext cx="3204362" cy="219456"/>
          </a:xfrm>
          <a:prstGeom prst="rect">
            <a:avLst/>
          </a:prstGeom>
          <a:noFill/>
          <a:ln/>
        </p:spPr>
        <p:txBody>
          <a:bodyPr wrap="square" lIns="0" tIns="0" rIns="0" bIns="0" rtlCol="0" anchor="ctr"/>
          <a:lstStyle/>
          <a:p>
            <a:pPr indent="0" marL="0">
              <a:buNone/>
            </a:pPr>
            <a:r>
              <a:rPr lang="en-US" sz="950" b="1" dirty="0">
                <a:solidFill>
                  <a:srgbClr val="2F8CFF"/>
                </a:solidFill>
                <a:latin typeface="Calibri" pitchFamily="34" charset="0"/>
                <a:ea typeface="Calibri" pitchFamily="34" charset="-122"/>
                <a:cs typeface="Calibri" pitchFamily="34" charset="-120"/>
              </a:rPr>
              <a:t>+8% Jan→Jul</a:t>
            </a:r>
            <a:endParaRPr lang="en-US" sz="950" dirty="0"/>
          </a:p>
        </p:txBody>
      </p:sp>
      <p:sp>
        <p:nvSpPr>
          <p:cNvPr id="12" name="Shape 10"/>
          <p:cNvSpPr/>
          <p:nvPr/>
        </p:nvSpPr>
        <p:spPr>
          <a:xfrm>
            <a:off x="4292498" y="1188720"/>
            <a:ext cx="3606698" cy="960120"/>
          </a:xfrm>
          <a:prstGeom prst="roundRect">
            <a:avLst>
              <a:gd name="adj" fmla="val 5714"/>
            </a:avLst>
          </a:prstGeom>
          <a:solidFill>
            <a:srgbClr val="121B2D"/>
          </a:solidFill>
          <a:ln w="12700">
            <a:solidFill>
              <a:srgbClr val="23304A"/>
            </a:solidFill>
            <a:prstDash val="solid"/>
          </a:ln>
        </p:spPr>
      </p:sp>
      <p:sp>
        <p:nvSpPr>
          <p:cNvPr id="13" name="Text 11"/>
          <p:cNvSpPr/>
          <p:nvPr/>
        </p:nvSpPr>
        <p:spPr>
          <a:xfrm>
            <a:off x="4493666" y="129844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LARGEST SUBSCRIPTION</a:t>
            </a:r>
            <a:endParaRPr lang="en-US" sz="1000" dirty="0"/>
          </a:p>
        </p:txBody>
      </p:sp>
      <p:sp>
        <p:nvSpPr>
          <p:cNvPr id="14" name="Text 12"/>
          <p:cNvSpPr/>
          <p:nvPr/>
        </p:nvSpPr>
        <p:spPr>
          <a:xfrm>
            <a:off x="4493666" y="1481328"/>
            <a:ext cx="3204362" cy="457200"/>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901952"/>
            <a:ext cx="3204362"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48% of the total</a:t>
            </a:r>
            <a:endParaRPr lang="en-US" sz="950" dirty="0"/>
          </a:p>
        </p:txBody>
      </p:sp>
      <p:sp>
        <p:nvSpPr>
          <p:cNvPr id="16" name="Shape 14"/>
          <p:cNvSpPr/>
          <p:nvPr/>
        </p:nvSpPr>
        <p:spPr>
          <a:xfrm>
            <a:off x="8127797" y="1188720"/>
            <a:ext cx="3606698" cy="960120"/>
          </a:xfrm>
          <a:prstGeom prst="roundRect">
            <a:avLst>
              <a:gd name="adj" fmla="val 5714"/>
            </a:avLst>
          </a:prstGeom>
          <a:solidFill>
            <a:srgbClr val="121B2D"/>
          </a:solidFill>
          <a:ln w="12700">
            <a:solidFill>
              <a:srgbClr val="23304A"/>
            </a:solidFill>
            <a:prstDash val="solid"/>
          </a:ln>
        </p:spPr>
      </p:sp>
      <p:sp>
        <p:nvSpPr>
          <p:cNvPr id="17" name="Text 15"/>
          <p:cNvSpPr/>
          <p:nvPr/>
        </p:nvSpPr>
        <p:spPr>
          <a:xfrm>
            <a:off x="8328965" y="129844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LARGEST SERVICE</a:t>
            </a:r>
            <a:endParaRPr lang="en-US" sz="1000" dirty="0"/>
          </a:p>
        </p:txBody>
      </p:sp>
      <p:sp>
        <p:nvSpPr>
          <p:cNvPr id="18" name="Text 16"/>
          <p:cNvSpPr/>
          <p:nvPr/>
        </p:nvSpPr>
        <p:spPr>
          <a:xfrm>
            <a:off x="8328965" y="148132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Virtual Network</a:t>
            </a:r>
            <a:endParaRPr lang="en-US" sz="2600" dirty="0"/>
          </a:p>
        </p:txBody>
      </p:sp>
      <p:sp>
        <p:nvSpPr>
          <p:cNvPr id="19" name="Text 17"/>
          <p:cNvSpPr/>
          <p:nvPr/>
        </p:nvSpPr>
        <p:spPr>
          <a:xfrm>
            <a:off x="8328965" y="1901952"/>
            <a:ext cx="3204362"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24% of the total</a:t>
            </a:r>
            <a:endParaRPr lang="en-US" sz="950" dirty="0"/>
          </a:p>
        </p:txBody>
      </p:sp>
      <p:sp>
        <p:nvSpPr>
          <p:cNvPr id="20" name="Text 18"/>
          <p:cNvSpPr/>
          <p:nvPr/>
        </p:nvSpPr>
        <p:spPr>
          <a:xfrm>
            <a:off x="457200" y="2331720"/>
            <a:ext cx="5478628"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By service</a:t>
            </a:r>
            <a:endParaRPr lang="en-US" sz="1300" dirty="0"/>
          </a:p>
        </p:txBody>
      </p:sp>
      <p:graphicFrame>
        <p:nvGraphicFramePr>
          <p:cNvPr id="21" name="Chart 0" descr=""/>
          <p:cNvGraphicFramePr/>
          <p:nvPr/>
        </p:nvGraphicFramePr>
        <p:xfrm>
          <a:off x="411480" y="2606040"/>
          <a:ext cx="5478628" cy="342900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331720"/>
            <a:ext cx="5478628"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By subscription</a:t>
            </a:r>
            <a:endParaRPr lang="en-US" sz="1300" dirty="0"/>
          </a:p>
        </p:txBody>
      </p:sp>
      <p:graphicFrame>
        <p:nvGraphicFramePr>
          <p:cNvPr id="23" name="Chart 1" descr=""/>
          <p:cNvGraphicFramePr/>
          <p:nvPr/>
        </p:nvGraphicFramePr>
        <p:xfrm>
          <a:off x="6210148" y="2606040"/>
          <a:ext cx="5478628" cy="34290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B07CFF"/>
                </a:solidFill>
                <a:latin typeface="Calibri" pitchFamily="34" charset="0"/>
                <a:ea typeface="Calibri" pitchFamily="34" charset="-122"/>
                <a:cs typeface="Calibri" pitchFamily="34" charset="-120"/>
              </a:rPr>
              <a:t>AI FACTORY · PROJECTS</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Consumption by project</a:t>
            </a:r>
            <a:endParaRPr lang="en-US" sz="26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 the first month the programme has not grown.</a:t>
            </a:r>
            <a:endParaRPr lang="en-US" sz="9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Monthly spend by project</a:t>
            </a:r>
            <a:endParaRPr lang="en-US" sz="13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05840"/>
          </a:xfrm>
          <a:prstGeom prst="roundRect">
            <a:avLst>
              <a:gd name="adj" fmla="val 5455"/>
            </a:avLst>
          </a:prstGeom>
          <a:solidFill>
            <a:srgbClr val="121B2D"/>
          </a:solidFill>
          <a:ln w="12700">
            <a:solidFill>
              <a:srgbClr val="23304A"/>
            </a:solidFill>
            <a:prstDash val="solid"/>
          </a:ln>
        </p:spPr>
      </p:sp>
      <p:sp>
        <p:nvSpPr>
          <p:cNvPr id="11" name="Text 8"/>
          <p:cNvSpPr/>
          <p:nvPr/>
        </p:nvSpPr>
        <p:spPr>
          <a:xfrm>
            <a:off x="8293608" y="1344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TOTAL, JAN–JUL</a:t>
            </a:r>
            <a:endParaRPr lang="en-US" sz="1000" dirty="0"/>
          </a:p>
        </p:txBody>
      </p:sp>
      <p:sp>
        <p:nvSpPr>
          <p:cNvPr id="12" name="Text 9"/>
          <p:cNvSpPr/>
          <p:nvPr/>
        </p:nvSpPr>
        <p:spPr>
          <a:xfrm>
            <a:off x="8293608" y="1527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$166K</a:t>
            </a:r>
            <a:endParaRPr lang="en-US" sz="2600" dirty="0"/>
          </a:p>
        </p:txBody>
      </p:sp>
      <p:sp>
        <p:nvSpPr>
          <p:cNvPr id="13" name="Text 10"/>
          <p:cNvSpPr/>
          <p:nvPr/>
        </p:nvSpPr>
        <p:spPr>
          <a:xfrm>
            <a:off x="8293608" y="1947672"/>
            <a:ext cx="3239719" cy="219456"/>
          </a:xfrm>
          <a:prstGeom prst="rect">
            <a:avLst/>
          </a:prstGeom>
          <a:noFill/>
          <a:ln/>
        </p:spPr>
        <p:txBody>
          <a:bodyPr wrap="square" lIns="0" tIns="0" rIns="0" bIns="0" rtlCol="0" anchor="ctr"/>
          <a:lstStyle/>
          <a:p>
            <a:pPr indent="0" marL="0">
              <a:buNone/>
            </a:pPr>
            <a:r>
              <a:rPr lang="en-US" sz="950" b="1" dirty="0">
                <a:solidFill>
                  <a:srgbClr val="B07CFF"/>
                </a:solidFill>
                <a:latin typeface="Calibri" pitchFamily="34" charset="0"/>
                <a:ea typeface="Calibri" pitchFamily="34" charset="-122"/>
                <a:cs typeface="Calibri" pitchFamily="34" charset="-120"/>
              </a:rPr>
              <a:t>+489% Jan→Jul</a:t>
            </a:r>
            <a:endParaRPr lang="en-US" sz="950" dirty="0"/>
          </a:p>
        </p:txBody>
      </p:sp>
      <p:sp>
        <p:nvSpPr>
          <p:cNvPr id="14" name="Shape 11"/>
          <p:cNvSpPr/>
          <p:nvPr/>
        </p:nvSpPr>
        <p:spPr>
          <a:xfrm>
            <a:off x="8092440" y="2377440"/>
            <a:ext cx="3642055" cy="1005840"/>
          </a:xfrm>
          <a:prstGeom prst="roundRect">
            <a:avLst>
              <a:gd name="adj" fmla="val 5455"/>
            </a:avLst>
          </a:prstGeom>
          <a:solidFill>
            <a:srgbClr val="121B2D"/>
          </a:solidFill>
          <a:ln w="12700">
            <a:solidFill>
              <a:srgbClr val="23304A"/>
            </a:solidFill>
            <a:prstDash val="solid"/>
          </a:ln>
        </p:spPr>
      </p:sp>
      <p:sp>
        <p:nvSpPr>
          <p:cNvPr id="15" name="Text 12"/>
          <p:cNvSpPr/>
          <p:nvPr/>
        </p:nvSpPr>
        <p:spPr>
          <a:xfrm>
            <a:off x="8293608" y="2487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LARGEST PROJECT</a:t>
            </a:r>
            <a:endParaRPr lang="en-US" sz="1000" dirty="0"/>
          </a:p>
        </p:txBody>
      </p:sp>
      <p:sp>
        <p:nvSpPr>
          <p:cNvPr id="16" name="Text 13"/>
          <p:cNvSpPr/>
          <p:nvPr/>
        </p:nvSpPr>
        <p:spPr>
          <a:xfrm>
            <a:off x="8293608" y="2670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Aifactory</a:t>
            </a:r>
            <a:endParaRPr lang="en-US" sz="2600" dirty="0"/>
          </a:p>
        </p:txBody>
      </p:sp>
      <p:sp>
        <p:nvSpPr>
          <p:cNvPr id="17" name="Text 14"/>
          <p:cNvSpPr/>
          <p:nvPr/>
        </p:nvSpPr>
        <p:spPr>
          <a:xfrm>
            <a:off x="8293608" y="3090672"/>
            <a:ext cx="3239719"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56% of the total</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B07CFF"/>
                </a:solidFill>
                <a:latin typeface="Calibri" pitchFamily="34" charset="0"/>
                <a:ea typeface="Calibri" pitchFamily="34" charset="-122"/>
                <a:cs typeface="Calibri" pitchFamily="34" charset="-120"/>
              </a:rPr>
              <a:t>AI FACTORY · CORE PROJECT</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AI Factory project</a:t>
            </a:r>
            <a:endParaRPr lang="en-US" sz="26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The tag covers far more than models — API Management and VMs are the two largest lines.</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 models need somewhere to run — but it is the part right-sizing can move.</a:t>
            </a:r>
            <a:endParaRPr lang="en-US" sz="900" dirty="0"/>
          </a:p>
        </p:txBody>
      </p:sp>
      <p:sp>
        <p:nvSpPr>
          <p:cNvPr id="8" name="Shape 6"/>
          <p:cNvSpPr/>
          <p:nvPr/>
        </p:nvSpPr>
        <p:spPr>
          <a:xfrm>
            <a:off x="457200" y="1188720"/>
            <a:ext cx="3606698" cy="960120"/>
          </a:xfrm>
          <a:prstGeom prst="roundRect">
            <a:avLst>
              <a:gd name="adj" fmla="val 5714"/>
            </a:avLst>
          </a:prstGeom>
          <a:solidFill>
            <a:srgbClr val="121B2D"/>
          </a:solidFill>
          <a:ln w="12700">
            <a:solidFill>
              <a:srgbClr val="23304A"/>
            </a:solidFill>
            <a:prstDash val="solid"/>
          </a:ln>
        </p:spPr>
      </p:sp>
      <p:sp>
        <p:nvSpPr>
          <p:cNvPr id="9" name="Text 7"/>
          <p:cNvSpPr/>
          <p:nvPr/>
        </p:nvSpPr>
        <p:spPr>
          <a:xfrm>
            <a:off x="658368" y="129844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TOTAL, JAN–JUL</a:t>
            </a:r>
            <a:endParaRPr lang="en-US" sz="1000" dirty="0"/>
          </a:p>
        </p:txBody>
      </p:sp>
      <p:sp>
        <p:nvSpPr>
          <p:cNvPr id="10" name="Text 8"/>
          <p:cNvSpPr/>
          <p:nvPr/>
        </p:nvSpPr>
        <p:spPr>
          <a:xfrm>
            <a:off x="658368" y="148132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$92K</a:t>
            </a:r>
            <a:endParaRPr lang="en-US" sz="2600" dirty="0"/>
          </a:p>
        </p:txBody>
      </p:sp>
      <p:sp>
        <p:nvSpPr>
          <p:cNvPr id="11" name="Text 9"/>
          <p:cNvSpPr/>
          <p:nvPr/>
        </p:nvSpPr>
        <p:spPr>
          <a:xfrm>
            <a:off x="658368" y="1901952"/>
            <a:ext cx="3204362" cy="219456"/>
          </a:xfrm>
          <a:prstGeom prst="rect">
            <a:avLst/>
          </a:prstGeom>
          <a:noFill/>
          <a:ln/>
        </p:spPr>
        <p:txBody>
          <a:bodyPr wrap="square" lIns="0" tIns="0" rIns="0" bIns="0" rtlCol="0" anchor="ctr"/>
          <a:lstStyle/>
          <a:p>
            <a:pPr indent="0" marL="0">
              <a:buNone/>
            </a:pPr>
            <a:r>
              <a:rPr lang="en-US" sz="950" b="1" dirty="0">
                <a:solidFill>
                  <a:srgbClr val="B07CFF"/>
                </a:solidFill>
                <a:latin typeface="Calibri" pitchFamily="34" charset="0"/>
                <a:ea typeface="Calibri" pitchFamily="34" charset="-122"/>
                <a:cs typeface="Calibri" pitchFamily="34" charset="-120"/>
              </a:rPr>
              <a:t>+2664% Jan→Jul</a:t>
            </a:r>
            <a:endParaRPr lang="en-US" sz="950" dirty="0"/>
          </a:p>
        </p:txBody>
      </p:sp>
      <p:sp>
        <p:nvSpPr>
          <p:cNvPr id="12" name="Shape 10"/>
          <p:cNvSpPr/>
          <p:nvPr/>
        </p:nvSpPr>
        <p:spPr>
          <a:xfrm>
            <a:off x="4292498" y="1188720"/>
            <a:ext cx="3606698" cy="960120"/>
          </a:xfrm>
          <a:prstGeom prst="roundRect">
            <a:avLst>
              <a:gd name="adj" fmla="val 5714"/>
            </a:avLst>
          </a:prstGeom>
          <a:solidFill>
            <a:srgbClr val="121B2D"/>
          </a:solidFill>
          <a:ln w="12700">
            <a:solidFill>
              <a:srgbClr val="23304A"/>
            </a:solidFill>
            <a:prstDash val="solid"/>
          </a:ln>
        </p:spPr>
      </p:sp>
      <p:sp>
        <p:nvSpPr>
          <p:cNvPr id="13" name="Text 11"/>
          <p:cNvSpPr/>
          <p:nvPr/>
        </p:nvSpPr>
        <p:spPr>
          <a:xfrm>
            <a:off x="4493666" y="129844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LARGEST SERVICE</a:t>
            </a:r>
            <a:endParaRPr lang="en-US" sz="1000" dirty="0"/>
          </a:p>
        </p:txBody>
      </p:sp>
      <p:sp>
        <p:nvSpPr>
          <p:cNvPr id="14" name="Text 12"/>
          <p:cNvSpPr/>
          <p:nvPr/>
        </p:nvSpPr>
        <p:spPr>
          <a:xfrm>
            <a:off x="4493666" y="148132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API Management</a:t>
            </a:r>
            <a:endParaRPr lang="en-US" sz="2600" dirty="0"/>
          </a:p>
        </p:txBody>
      </p:sp>
      <p:sp>
        <p:nvSpPr>
          <p:cNvPr id="15" name="Text 13"/>
          <p:cNvSpPr/>
          <p:nvPr/>
        </p:nvSpPr>
        <p:spPr>
          <a:xfrm>
            <a:off x="4493666" y="1901952"/>
            <a:ext cx="3204362"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26% of the total</a:t>
            </a:r>
            <a:endParaRPr lang="en-US" sz="950" dirty="0"/>
          </a:p>
        </p:txBody>
      </p:sp>
      <p:sp>
        <p:nvSpPr>
          <p:cNvPr id="16" name="Shape 14"/>
          <p:cNvSpPr/>
          <p:nvPr/>
        </p:nvSpPr>
        <p:spPr>
          <a:xfrm>
            <a:off x="8127797" y="1188720"/>
            <a:ext cx="3606698" cy="960120"/>
          </a:xfrm>
          <a:prstGeom prst="roundRect">
            <a:avLst>
              <a:gd name="adj" fmla="val 5714"/>
            </a:avLst>
          </a:prstGeom>
          <a:solidFill>
            <a:srgbClr val="121B2D"/>
          </a:solidFill>
          <a:ln w="12700">
            <a:solidFill>
              <a:srgbClr val="23304A"/>
            </a:solidFill>
            <a:prstDash val="solid"/>
          </a:ln>
        </p:spPr>
      </p:sp>
      <p:sp>
        <p:nvSpPr>
          <p:cNvPr id="17" name="Text 15"/>
          <p:cNvSpPr/>
          <p:nvPr/>
        </p:nvSpPr>
        <p:spPr>
          <a:xfrm>
            <a:off x="8328965" y="129844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FOUNDRY MODELS</a:t>
            </a:r>
            <a:endParaRPr lang="en-US" sz="1000" dirty="0"/>
          </a:p>
        </p:txBody>
      </p:sp>
      <p:sp>
        <p:nvSpPr>
          <p:cNvPr id="18" name="Text 16"/>
          <p:cNvSpPr/>
          <p:nvPr/>
        </p:nvSpPr>
        <p:spPr>
          <a:xfrm>
            <a:off x="8328965" y="148132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$24K</a:t>
            </a:r>
            <a:endParaRPr lang="en-US" sz="2600" dirty="0"/>
          </a:p>
        </p:txBody>
      </p:sp>
      <p:sp>
        <p:nvSpPr>
          <p:cNvPr id="19" name="Text 17"/>
          <p:cNvSpPr/>
          <p:nvPr/>
        </p:nvSpPr>
        <p:spPr>
          <a:xfrm>
            <a:off x="8328965" y="1901952"/>
            <a:ext cx="3204362" cy="219456"/>
          </a:xfrm>
          <a:prstGeom prst="rect">
            <a:avLst/>
          </a:prstGeom>
          <a:noFill/>
          <a:ln/>
        </p:spPr>
        <p:txBody>
          <a:bodyPr wrap="square" lIns="0" tIns="0" rIns="0" bIns="0" rtlCol="0" anchor="ctr"/>
          <a:lstStyle/>
          <a:p>
            <a:pPr indent="0" marL="0">
              <a:buNone/>
            </a:pPr>
            <a:r>
              <a:rPr lang="en-US" sz="950" b="1" dirty="0">
                <a:solidFill>
                  <a:srgbClr val="B07CFF"/>
                </a:solidFill>
                <a:latin typeface="Calibri" pitchFamily="34" charset="0"/>
                <a:ea typeface="Calibri" pitchFamily="34" charset="-122"/>
                <a:cs typeface="Calibri" pitchFamily="34" charset="-120"/>
              </a:rPr>
              <a:t>the actual model spend</a:t>
            </a:r>
            <a:endParaRPr lang="en-US" sz="950" dirty="0"/>
          </a:p>
        </p:txBody>
      </p:sp>
      <p:sp>
        <p:nvSpPr>
          <p:cNvPr id="20" name="Text 18"/>
          <p:cNvSpPr/>
          <p:nvPr/>
        </p:nvSpPr>
        <p:spPr>
          <a:xfrm>
            <a:off x="457200" y="2331720"/>
            <a:ext cx="5478628"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By service</a:t>
            </a:r>
            <a:endParaRPr lang="en-US" sz="1300" dirty="0"/>
          </a:p>
        </p:txBody>
      </p:sp>
      <p:graphicFrame>
        <p:nvGraphicFramePr>
          <p:cNvPr id="21" name="Chart 0" descr=""/>
          <p:cNvGraphicFramePr/>
          <p:nvPr/>
        </p:nvGraphicFramePr>
        <p:xfrm>
          <a:off x="411480" y="2606040"/>
          <a:ext cx="5478628" cy="342900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331720"/>
            <a:ext cx="5478628"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By subscription</a:t>
            </a:r>
            <a:endParaRPr lang="en-US" sz="1300" dirty="0"/>
          </a:p>
        </p:txBody>
      </p:sp>
      <p:graphicFrame>
        <p:nvGraphicFramePr>
          <p:cNvPr id="23" name="Chart 1" descr=""/>
          <p:cNvGraphicFramePr/>
          <p:nvPr/>
        </p:nvGraphicFramePr>
        <p:xfrm>
          <a:off x="6210148" y="2606040"/>
          <a:ext cx="5478628" cy="34290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B07CFF"/>
                </a:solidFill>
                <a:latin typeface="Calibri" pitchFamily="34" charset="0"/>
                <a:ea typeface="Calibri" pitchFamily="34" charset="-122"/>
                <a:cs typeface="Calibri" pitchFamily="34" charset="-120"/>
              </a:rPr>
              <a:t>AI FACTORY · MODELS</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Foundry models and tools</a:t>
            </a:r>
            <a:endParaRPr lang="en-US" sz="26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9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Monthly spend by model and meter</a:t>
            </a:r>
            <a:endParaRPr lang="en-US" sz="13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05840"/>
          </a:xfrm>
          <a:prstGeom prst="roundRect">
            <a:avLst>
              <a:gd name="adj" fmla="val 5455"/>
            </a:avLst>
          </a:prstGeom>
          <a:solidFill>
            <a:srgbClr val="121B2D"/>
          </a:solidFill>
          <a:ln w="12700">
            <a:solidFill>
              <a:srgbClr val="23304A"/>
            </a:solidFill>
            <a:prstDash val="solid"/>
          </a:ln>
        </p:spPr>
      </p:sp>
      <p:sp>
        <p:nvSpPr>
          <p:cNvPr id="11" name="Text 8"/>
          <p:cNvSpPr/>
          <p:nvPr/>
        </p:nvSpPr>
        <p:spPr>
          <a:xfrm>
            <a:off x="8293608" y="1344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TOTAL, JAN–JUL</a:t>
            </a:r>
            <a:endParaRPr lang="en-US" sz="1000" dirty="0"/>
          </a:p>
        </p:txBody>
      </p:sp>
      <p:sp>
        <p:nvSpPr>
          <p:cNvPr id="12" name="Text 9"/>
          <p:cNvSpPr/>
          <p:nvPr/>
        </p:nvSpPr>
        <p:spPr>
          <a:xfrm>
            <a:off x="8293608" y="1527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$87K</a:t>
            </a:r>
            <a:endParaRPr lang="en-US" sz="2600" dirty="0"/>
          </a:p>
        </p:txBody>
      </p:sp>
      <p:sp>
        <p:nvSpPr>
          <p:cNvPr id="13" name="Text 10"/>
          <p:cNvSpPr/>
          <p:nvPr/>
        </p:nvSpPr>
        <p:spPr>
          <a:xfrm>
            <a:off x="8293608" y="1947672"/>
            <a:ext cx="3239719" cy="219456"/>
          </a:xfrm>
          <a:prstGeom prst="rect">
            <a:avLst/>
          </a:prstGeom>
          <a:noFill/>
          <a:ln/>
        </p:spPr>
        <p:txBody>
          <a:bodyPr wrap="square" lIns="0" tIns="0" rIns="0" bIns="0" rtlCol="0" anchor="ctr"/>
          <a:lstStyle/>
          <a:p>
            <a:pPr indent="0" marL="0">
              <a:buNone/>
            </a:pPr>
            <a:r>
              <a:rPr lang="en-US" sz="950" b="1" dirty="0">
                <a:solidFill>
                  <a:srgbClr val="B07CFF"/>
                </a:solidFill>
                <a:latin typeface="Calibri" pitchFamily="34" charset="0"/>
                <a:ea typeface="Calibri" pitchFamily="34" charset="-122"/>
                <a:cs typeface="Calibri" pitchFamily="34" charset="-120"/>
              </a:rPr>
              <a:t>+240% Jan→Jul</a:t>
            </a:r>
            <a:endParaRPr lang="en-US" sz="950" dirty="0"/>
          </a:p>
        </p:txBody>
      </p:sp>
      <p:sp>
        <p:nvSpPr>
          <p:cNvPr id="14" name="Shape 11"/>
          <p:cNvSpPr/>
          <p:nvPr/>
        </p:nvSpPr>
        <p:spPr>
          <a:xfrm>
            <a:off x="8092440" y="2377440"/>
            <a:ext cx="3642055" cy="1005840"/>
          </a:xfrm>
          <a:prstGeom prst="roundRect">
            <a:avLst>
              <a:gd name="adj" fmla="val 5455"/>
            </a:avLst>
          </a:prstGeom>
          <a:solidFill>
            <a:srgbClr val="121B2D"/>
          </a:solidFill>
          <a:ln w="12700">
            <a:solidFill>
              <a:srgbClr val="23304A"/>
            </a:solidFill>
            <a:prstDash val="solid"/>
          </a:ln>
        </p:spPr>
      </p:sp>
      <p:sp>
        <p:nvSpPr>
          <p:cNvPr id="15" name="Text 12"/>
          <p:cNvSpPr/>
          <p:nvPr/>
        </p:nvSpPr>
        <p:spPr>
          <a:xfrm>
            <a:off x="8293608" y="2487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LARGEST METER</a:t>
            </a:r>
            <a:endParaRPr lang="en-US" sz="1000" dirty="0"/>
          </a:p>
        </p:txBody>
      </p:sp>
      <p:sp>
        <p:nvSpPr>
          <p:cNvPr id="16" name="Text 13"/>
          <p:cNvSpPr/>
          <p:nvPr/>
        </p:nvSpPr>
        <p:spPr>
          <a:xfrm>
            <a:off x="8293608" y="2670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S0 Custom Pages</a:t>
            </a:r>
            <a:endParaRPr lang="en-US" sz="2600" dirty="0"/>
          </a:p>
        </p:txBody>
      </p:sp>
      <p:sp>
        <p:nvSpPr>
          <p:cNvPr id="17" name="Text 14"/>
          <p:cNvSpPr/>
          <p:nvPr/>
        </p:nvSpPr>
        <p:spPr>
          <a:xfrm>
            <a:off x="8293608" y="3090672"/>
            <a:ext cx="3239719"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22% of the total</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FF9F43"/>
                </a:solidFill>
                <a:latin typeface="Calibri" pitchFamily="34" charset="0"/>
                <a:ea typeface="Calibri" pitchFamily="34" charset="-122"/>
                <a:cs typeface="Calibri" pitchFamily="34" charset="-120"/>
              </a:rPr>
              <a:t>AWS · BEDROCK</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Consumption by Bedrock service</a:t>
            </a:r>
            <a:endParaRPr lang="en-US" sz="26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 Opus 5 appears in July — which is exactly what a model policy is for.</a:t>
            </a:r>
            <a:endParaRPr lang="en-US" sz="9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Monthly spend by model</a:t>
            </a:r>
            <a:endParaRPr lang="en-US" sz="13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05840"/>
          </a:xfrm>
          <a:prstGeom prst="roundRect">
            <a:avLst>
              <a:gd name="adj" fmla="val 5455"/>
            </a:avLst>
          </a:prstGeom>
          <a:solidFill>
            <a:srgbClr val="121B2D"/>
          </a:solidFill>
          <a:ln w="12700">
            <a:solidFill>
              <a:srgbClr val="23304A"/>
            </a:solidFill>
            <a:prstDash val="solid"/>
          </a:ln>
        </p:spPr>
      </p:sp>
      <p:sp>
        <p:nvSpPr>
          <p:cNvPr id="11" name="Text 8"/>
          <p:cNvSpPr/>
          <p:nvPr/>
        </p:nvSpPr>
        <p:spPr>
          <a:xfrm>
            <a:off x="8293608" y="1344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TOTAL, MAR–JUL</a:t>
            </a:r>
            <a:endParaRPr lang="en-US" sz="1000" dirty="0"/>
          </a:p>
        </p:txBody>
      </p:sp>
      <p:sp>
        <p:nvSpPr>
          <p:cNvPr id="12" name="Text 9"/>
          <p:cNvSpPr/>
          <p:nvPr/>
        </p:nvSpPr>
        <p:spPr>
          <a:xfrm>
            <a:off x="8293608" y="1527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$42K</a:t>
            </a:r>
            <a:endParaRPr lang="en-US" sz="2600" dirty="0"/>
          </a:p>
        </p:txBody>
      </p:sp>
      <p:sp>
        <p:nvSpPr>
          <p:cNvPr id="13" name="Text 10"/>
          <p:cNvSpPr/>
          <p:nvPr/>
        </p:nvSpPr>
        <p:spPr>
          <a:xfrm>
            <a:off x="8293608" y="1947672"/>
            <a:ext cx="3239719" cy="219456"/>
          </a:xfrm>
          <a:prstGeom prst="rect">
            <a:avLst/>
          </a:prstGeom>
          <a:noFill/>
          <a:ln/>
        </p:spPr>
        <p:txBody>
          <a:bodyPr wrap="square" lIns="0" tIns="0" rIns="0" bIns="0" rtlCol="0" anchor="ctr"/>
          <a:lstStyle/>
          <a:p>
            <a:pPr indent="0" marL="0">
              <a:buNone/>
            </a:pPr>
            <a:r>
              <a:rPr lang="en-US" sz="950" b="1" dirty="0">
                <a:solidFill>
                  <a:srgbClr val="FF9F43"/>
                </a:solidFill>
                <a:latin typeface="Calibri" pitchFamily="34" charset="0"/>
                <a:ea typeface="Calibri" pitchFamily="34" charset="-122"/>
                <a:cs typeface="Calibri" pitchFamily="34" charset="-120"/>
              </a:rPr>
              <a:t>+2907% Mar→Jul</a:t>
            </a:r>
            <a:endParaRPr lang="en-US" sz="950" dirty="0"/>
          </a:p>
        </p:txBody>
      </p:sp>
      <p:sp>
        <p:nvSpPr>
          <p:cNvPr id="14" name="Shape 11"/>
          <p:cNvSpPr/>
          <p:nvPr/>
        </p:nvSpPr>
        <p:spPr>
          <a:xfrm>
            <a:off x="8092440" y="2377440"/>
            <a:ext cx="3642055" cy="1005840"/>
          </a:xfrm>
          <a:prstGeom prst="roundRect">
            <a:avLst>
              <a:gd name="adj" fmla="val 5455"/>
            </a:avLst>
          </a:prstGeom>
          <a:solidFill>
            <a:srgbClr val="121B2D"/>
          </a:solidFill>
          <a:ln w="12700">
            <a:solidFill>
              <a:srgbClr val="23304A"/>
            </a:solidFill>
            <a:prstDash val="solid"/>
          </a:ln>
        </p:spPr>
      </p:sp>
      <p:sp>
        <p:nvSpPr>
          <p:cNvPr id="15" name="Text 12"/>
          <p:cNvSpPr/>
          <p:nvPr/>
        </p:nvSpPr>
        <p:spPr>
          <a:xfrm>
            <a:off x="8293608" y="2487168"/>
            <a:ext cx="3239719"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LARGEST MODEL</a:t>
            </a:r>
            <a:endParaRPr lang="en-US" sz="1000" dirty="0"/>
          </a:p>
        </p:txBody>
      </p:sp>
      <p:sp>
        <p:nvSpPr>
          <p:cNvPr id="16" name="Text 13"/>
          <p:cNvSpPr/>
          <p:nvPr/>
        </p:nvSpPr>
        <p:spPr>
          <a:xfrm>
            <a:off x="8293608" y="2670048"/>
            <a:ext cx="3239719"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Claude Opus 4.6</a:t>
            </a:r>
            <a:endParaRPr lang="en-US" sz="2600" dirty="0"/>
          </a:p>
        </p:txBody>
      </p:sp>
      <p:sp>
        <p:nvSpPr>
          <p:cNvPr id="17" name="Text 14"/>
          <p:cNvSpPr/>
          <p:nvPr/>
        </p:nvSpPr>
        <p:spPr>
          <a:xfrm>
            <a:off x="8293608" y="3090672"/>
            <a:ext cx="3239719"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42% of the total</a:t>
            </a:r>
            <a:endParaRPr lang="en-US" sz="9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050" b="1" spc="200" kern="0" dirty="0">
                <a:solidFill>
                  <a:srgbClr val="B07CFF"/>
                </a:solidFill>
                <a:latin typeface="Calibri" pitchFamily="34" charset="0"/>
                <a:ea typeface="Calibri" pitchFamily="34" charset="-122"/>
                <a:cs typeface="Calibri" pitchFamily="34" charset="-120"/>
              </a:rPr>
              <a:t>AZURE · DEVELOPER AI</a:t>
            </a:r>
            <a:endParaRPr lang="en-US" sz="105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GitHub and Copilot</a:t>
            </a:r>
            <a:endParaRPr lang="en-US" sz="26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95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950" dirty="0"/>
          </a:p>
        </p:txBody>
      </p:sp>
      <p:sp>
        <p:nvSpPr>
          <p:cNvPr id="7" name="Text 5"/>
          <p:cNvSpPr/>
          <p:nvPr/>
        </p:nvSpPr>
        <p:spPr>
          <a:xfrm>
            <a:off x="457200" y="6355080"/>
            <a:ext cx="11277295" cy="365760"/>
          </a:xfrm>
          <a:prstGeom prst="rect">
            <a:avLst/>
          </a:prstGeom>
          <a:noFill/>
          <a:ln/>
        </p:spPr>
        <p:txBody>
          <a:bodyPr wrap="square" lIns="0" tIns="0" rIns="0" bIns="0" rtlCol="0" anchor="t"/>
          <a:lstStyle/>
          <a:p>
            <a:pPr indent="0" marL="0">
              <a:lnSpc>
                <a:spcPct val="115000"/>
              </a:lnSpc>
              <a:buNone/>
            </a:pPr>
            <a:r>
              <a:rPr lang="en-US" sz="900" dirty="0">
                <a:solidFill>
                  <a:srgbClr val="536078"/>
                </a:solidFill>
                <a:latin typeface="Calibri" pitchFamily="34" charset="0"/>
                <a:ea typeface="Calibri" pitchFamily="34" charset="-122"/>
                <a:cs typeface="Calibri" pitchFamily="34" charset="-120"/>
              </a:rPr>
              <a:t>GitHub triples between May and July. Copilot Studio credits appear for the first time in July at $8,919 — no credit applied, billed in full.</a:t>
            </a:r>
            <a:endParaRPr lang="en-US" sz="900" dirty="0"/>
          </a:p>
        </p:txBody>
      </p:sp>
      <p:sp>
        <p:nvSpPr>
          <p:cNvPr id="8" name="Shape 6"/>
          <p:cNvSpPr/>
          <p:nvPr/>
        </p:nvSpPr>
        <p:spPr>
          <a:xfrm>
            <a:off x="457200" y="1188720"/>
            <a:ext cx="3606698" cy="960120"/>
          </a:xfrm>
          <a:prstGeom prst="roundRect">
            <a:avLst>
              <a:gd name="adj" fmla="val 5714"/>
            </a:avLst>
          </a:prstGeom>
          <a:solidFill>
            <a:srgbClr val="121B2D"/>
          </a:solidFill>
          <a:ln w="12700">
            <a:solidFill>
              <a:srgbClr val="23304A"/>
            </a:solidFill>
            <a:prstDash val="solid"/>
          </a:ln>
        </p:spPr>
      </p:sp>
      <p:sp>
        <p:nvSpPr>
          <p:cNvPr id="9" name="Text 7"/>
          <p:cNvSpPr/>
          <p:nvPr/>
        </p:nvSpPr>
        <p:spPr>
          <a:xfrm>
            <a:off x="658368" y="129844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GITHUB, MAY–JUL</a:t>
            </a:r>
            <a:endParaRPr lang="en-US" sz="1000" dirty="0"/>
          </a:p>
        </p:txBody>
      </p:sp>
      <p:sp>
        <p:nvSpPr>
          <p:cNvPr id="10" name="Text 8"/>
          <p:cNvSpPr/>
          <p:nvPr/>
        </p:nvSpPr>
        <p:spPr>
          <a:xfrm>
            <a:off x="658368" y="148132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$42K</a:t>
            </a:r>
            <a:endParaRPr lang="en-US" sz="2600" dirty="0"/>
          </a:p>
        </p:txBody>
      </p:sp>
      <p:sp>
        <p:nvSpPr>
          <p:cNvPr id="11" name="Text 9"/>
          <p:cNvSpPr/>
          <p:nvPr/>
        </p:nvSpPr>
        <p:spPr>
          <a:xfrm>
            <a:off x="658368" y="1901952"/>
            <a:ext cx="3204362" cy="219456"/>
          </a:xfrm>
          <a:prstGeom prst="rect">
            <a:avLst/>
          </a:prstGeom>
          <a:noFill/>
          <a:ln/>
        </p:spPr>
        <p:txBody>
          <a:bodyPr wrap="square" lIns="0" tIns="0" rIns="0" bIns="0" rtlCol="0" anchor="ctr"/>
          <a:lstStyle/>
          <a:p>
            <a:pPr indent="0" marL="0">
              <a:buNone/>
            </a:pPr>
            <a:r>
              <a:rPr lang="en-US" sz="950" b="1" dirty="0">
                <a:solidFill>
                  <a:srgbClr val="B07CFF"/>
                </a:solidFill>
                <a:latin typeface="Calibri" pitchFamily="34" charset="0"/>
                <a:ea typeface="Calibri" pitchFamily="34" charset="-122"/>
                <a:cs typeface="Calibri" pitchFamily="34" charset="-120"/>
              </a:rPr>
              <a:t>+198% May→Jul</a:t>
            </a:r>
            <a:endParaRPr lang="en-US" sz="950" dirty="0"/>
          </a:p>
        </p:txBody>
      </p:sp>
      <p:sp>
        <p:nvSpPr>
          <p:cNvPr id="12" name="Shape 10"/>
          <p:cNvSpPr/>
          <p:nvPr/>
        </p:nvSpPr>
        <p:spPr>
          <a:xfrm>
            <a:off x="4292498" y="1188720"/>
            <a:ext cx="3606698" cy="960120"/>
          </a:xfrm>
          <a:prstGeom prst="roundRect">
            <a:avLst>
              <a:gd name="adj" fmla="val 5714"/>
            </a:avLst>
          </a:prstGeom>
          <a:solidFill>
            <a:srgbClr val="121B2D"/>
          </a:solidFill>
          <a:ln w="12700">
            <a:solidFill>
              <a:srgbClr val="23304A"/>
            </a:solidFill>
            <a:prstDash val="solid"/>
          </a:ln>
        </p:spPr>
      </p:sp>
      <p:sp>
        <p:nvSpPr>
          <p:cNvPr id="13" name="Text 11"/>
          <p:cNvSpPr/>
          <p:nvPr/>
        </p:nvSpPr>
        <p:spPr>
          <a:xfrm>
            <a:off x="4493666" y="129844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COPILOT STUDIO, JULY</a:t>
            </a:r>
            <a:endParaRPr lang="en-US" sz="1000" dirty="0"/>
          </a:p>
        </p:txBody>
      </p:sp>
      <p:sp>
        <p:nvSpPr>
          <p:cNvPr id="14" name="Text 12"/>
          <p:cNvSpPr/>
          <p:nvPr/>
        </p:nvSpPr>
        <p:spPr>
          <a:xfrm>
            <a:off x="4493666" y="148132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$8,919</a:t>
            </a:r>
            <a:endParaRPr lang="en-US" sz="2600" dirty="0"/>
          </a:p>
        </p:txBody>
      </p:sp>
      <p:sp>
        <p:nvSpPr>
          <p:cNvPr id="15" name="Text 13"/>
          <p:cNvSpPr/>
          <p:nvPr/>
        </p:nvSpPr>
        <p:spPr>
          <a:xfrm>
            <a:off x="4493666" y="1901952"/>
            <a:ext cx="3204362" cy="219456"/>
          </a:xfrm>
          <a:prstGeom prst="rect">
            <a:avLst/>
          </a:prstGeom>
          <a:noFill/>
          <a:ln/>
        </p:spPr>
        <p:txBody>
          <a:bodyPr wrap="square" lIns="0" tIns="0" rIns="0" bIns="0" rtlCol="0" anchor="ctr"/>
          <a:lstStyle/>
          <a:p>
            <a:pPr indent="0" marL="0">
              <a:buNone/>
            </a:pPr>
            <a:r>
              <a:rPr lang="en-US" sz="950" b="1" dirty="0">
                <a:solidFill>
                  <a:srgbClr val="3DD9EB"/>
                </a:solidFill>
                <a:latin typeface="Calibri" pitchFamily="34" charset="0"/>
                <a:ea typeface="Calibri" pitchFamily="34" charset="-122"/>
                <a:cs typeface="Calibri" pitchFamily="34" charset="-120"/>
              </a:rPr>
              <a:t>first full month billed</a:t>
            </a:r>
            <a:endParaRPr lang="en-US" sz="950" dirty="0"/>
          </a:p>
        </p:txBody>
      </p:sp>
      <p:sp>
        <p:nvSpPr>
          <p:cNvPr id="16" name="Shape 14"/>
          <p:cNvSpPr/>
          <p:nvPr/>
        </p:nvSpPr>
        <p:spPr>
          <a:xfrm>
            <a:off x="8127797" y="1188720"/>
            <a:ext cx="3606698" cy="960120"/>
          </a:xfrm>
          <a:prstGeom prst="roundRect">
            <a:avLst>
              <a:gd name="adj" fmla="val 5714"/>
            </a:avLst>
          </a:prstGeom>
          <a:solidFill>
            <a:srgbClr val="121B2D"/>
          </a:solidFill>
          <a:ln w="12700">
            <a:solidFill>
              <a:srgbClr val="23304A"/>
            </a:solidFill>
            <a:prstDash val="solid"/>
          </a:ln>
        </p:spPr>
      </p:sp>
      <p:sp>
        <p:nvSpPr>
          <p:cNvPr id="17" name="Text 15"/>
          <p:cNvSpPr/>
          <p:nvPr/>
        </p:nvSpPr>
        <p:spPr>
          <a:xfrm>
            <a:off x="8328965" y="1298448"/>
            <a:ext cx="3204362" cy="219456"/>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COMBINED</a:t>
            </a:r>
            <a:endParaRPr lang="en-US" sz="1000" dirty="0"/>
          </a:p>
        </p:txBody>
      </p:sp>
      <p:sp>
        <p:nvSpPr>
          <p:cNvPr id="18" name="Text 16"/>
          <p:cNvSpPr/>
          <p:nvPr/>
        </p:nvSpPr>
        <p:spPr>
          <a:xfrm>
            <a:off x="8328965" y="1481328"/>
            <a:ext cx="3204362" cy="457200"/>
          </a:xfrm>
          <a:prstGeom prst="rect">
            <a:avLst/>
          </a:prstGeom>
          <a:noFill/>
          <a:ln/>
        </p:spPr>
        <p:txBody>
          <a:bodyPr wrap="square" lIns="0" tIns="0" rIns="0" bIns="0" rtlCol="0" anchor="ctr"/>
          <a:lstStyle/>
          <a:p>
            <a:pPr indent="0" marL="0">
              <a:buNone/>
            </a:pPr>
            <a:r>
              <a:rPr lang="en-US" sz="2600" b="1" dirty="0">
                <a:solidFill>
                  <a:srgbClr val="F4F7FB"/>
                </a:solidFill>
                <a:latin typeface="Calibri" pitchFamily="34" charset="0"/>
                <a:ea typeface="Calibri" pitchFamily="34" charset="-122"/>
                <a:cs typeface="Calibri" pitchFamily="34" charset="-120"/>
              </a:rPr>
              <a:t>$51K</a:t>
            </a:r>
            <a:endParaRPr lang="en-US" sz="2600" dirty="0"/>
          </a:p>
        </p:txBody>
      </p:sp>
      <p:sp>
        <p:nvSpPr>
          <p:cNvPr id="19" name="Text 17"/>
          <p:cNvSpPr/>
          <p:nvPr/>
        </p:nvSpPr>
        <p:spPr>
          <a:xfrm>
            <a:off x="8328965" y="1901952"/>
            <a:ext cx="3204362" cy="219456"/>
          </a:xfrm>
          <a:prstGeom prst="rect">
            <a:avLst/>
          </a:prstGeom>
          <a:noFill/>
          <a:ln/>
        </p:spPr>
        <p:txBody>
          <a:bodyPr wrap="square" lIns="0" tIns="0" rIns="0" bIns="0" rtlCol="0" anchor="ctr"/>
          <a:lstStyle/>
          <a:p>
            <a:pPr indent="0" marL="0">
              <a:buNone/>
            </a:pPr>
            <a:r>
              <a:rPr lang="en-US" sz="950" b="1" dirty="0">
                <a:solidFill>
                  <a:srgbClr val="91A0B7"/>
                </a:solidFill>
                <a:latin typeface="Calibri" pitchFamily="34" charset="0"/>
                <a:ea typeface="Calibri" pitchFamily="34" charset="-122"/>
                <a:cs typeface="Calibri" pitchFamily="34" charset="-120"/>
              </a:rPr>
              <a:t>developer AI, three months</a:t>
            </a:r>
            <a:endParaRPr lang="en-US" sz="950" dirty="0"/>
          </a:p>
        </p:txBody>
      </p:sp>
      <p:sp>
        <p:nvSpPr>
          <p:cNvPr id="20" name="Text 18"/>
          <p:cNvSpPr/>
          <p:nvPr/>
        </p:nvSpPr>
        <p:spPr>
          <a:xfrm>
            <a:off x="457200" y="2331720"/>
            <a:ext cx="5478628"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GitHub, by subscription</a:t>
            </a:r>
            <a:endParaRPr lang="en-US" sz="1300" dirty="0"/>
          </a:p>
        </p:txBody>
      </p:sp>
      <p:graphicFrame>
        <p:nvGraphicFramePr>
          <p:cNvPr id="21" name="Chart 0" descr=""/>
          <p:cNvGraphicFramePr/>
          <p:nvPr/>
        </p:nvGraphicFramePr>
        <p:xfrm>
          <a:off x="411480" y="2606040"/>
          <a:ext cx="5478628" cy="342900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331720"/>
            <a:ext cx="5478628" cy="237744"/>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Copilot Studio, by subscription</a:t>
            </a:r>
            <a:endParaRPr lang="en-US" sz="1300" dirty="0"/>
          </a:p>
        </p:txBody>
      </p:sp>
      <p:graphicFrame>
        <p:nvGraphicFramePr>
          <p:cNvPr id="23" name="Chart 1" descr=""/>
          <p:cNvGraphicFramePr/>
          <p:nvPr/>
        </p:nvGraphicFramePr>
        <p:xfrm>
          <a:off x="6210148" y="2606040"/>
          <a:ext cx="5478628" cy="342900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2026-08-16T19:03:30Z</dcterms:created>
  <dcterms:modified xsi:type="dcterms:W3CDTF">2026-08-16T19:03:30Z</dcterms:modified>
</cp:coreProperties>
</file>