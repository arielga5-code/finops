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2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Jan-Jul pace / +3.2%/mo</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293160</c:v>
                </c:pt>
                <c:pt idx="8">
                  <c:v>303026</c:v>
                </c:pt>
                <c:pt idx="9">
                  <c:v>313158</c:v>
                </c:pt>
                <c:pt idx="10">
                  <c:v>323566</c:v>
                </c:pt>
                <c:pt idx="11">
                  <c:v>334256</c:v>
                </c:pt>
              </c:numCache>
            </c:numRef>
          </c:val>
          <c:smooth val="0"/>
        </c:ser>
        <c:ser>
          <c:idx val="2"/>
          <c:order val="2"/>
          <c:tx>
            <c:strRef>
              <c:f>Sheet1!$D$1</c:f>
              <c:strCache>
                <c:ptCount val="1"/>
                <c:pt idx="0">
                  <c:v>May-Jul pace / Azure +13.3%/mo</c:v>
                </c:pt>
              </c:strCache>
            </c:strRef>
          </c:tx>
          <c:spPr>
            <a:solidFill>
              <a:srgbClr val="FF6B7A"/>
            </a:solidFill>
            <a:ln w="31750" cap="flat">
              <a:solidFill>
                <a:srgbClr val="FF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6B7A"/>
              </a:solidFill>
              <a:ln w="9525" cap="flat">
                <a:solidFill>
                  <a:srgbClr val="FF6B7A"/>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
                </c:pt>
                <c:pt idx="1">
                  <c:v/>
                </c:pt>
                <c:pt idx="2">
                  <c:v/>
                </c:pt>
                <c:pt idx="3">
                  <c:v/>
                </c:pt>
                <c:pt idx="4">
                  <c:v/>
                </c:pt>
                <c:pt idx="5">
                  <c:v/>
                </c:pt>
                <c:pt idx="6">
                  <c:v>283554</c:v>
                </c:pt>
                <c:pt idx="7">
                  <c:v>314904</c:v>
                </c:pt>
                <c:pt idx="8">
                  <c:v>349873</c:v>
                </c:pt>
                <c:pt idx="9">
                  <c:v>388919</c:v>
                </c:pt>
                <c:pt idx="10">
                  <c:v>432559</c:v>
                </c:pt>
                <c:pt idx="11">
                  <c:v>481378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dPt>
            <c:idx val="0"/>
            <c:invertIfNegative val="0"/>
            <c:bubble3D val="0"/>
            <c:spPr>
              <a:solidFill>
                <a:srgbClr val="2F8CFF"/>
              </a:solidFill>
              <a:effectLst/>
            </c:spPr>
          </c:dPt>
          <c:dPt>
            <c:idx val="1"/>
            <c:invertIfNegative val="0"/>
            <c:bubble3D val="0"/>
            <c:spPr>
              <a:solidFill>
                <a:srgbClr val="3DD9EB"/>
              </a:solidFill>
              <a:effectLst/>
            </c:spPr>
          </c:dPt>
          <c:dPt>
            <c:idx val="2"/>
            <c:invertIfNegative val="0"/>
            <c:bubble3D val="0"/>
            <c:spPr>
              <a:solidFill>
                <a:srgbClr val="FF9F43"/>
              </a:solidFill>
              <a:effectLst/>
            </c:spPr>
          </c:dPt>
          <c:dPt>
            <c:idx val="3"/>
            <c:invertIfNegative val="0"/>
            <c:bubble3D val="0"/>
            <c:spPr>
              <a:solidFill>
                <a:srgbClr val="B07CFF"/>
              </a:solidFill>
              <a:effectLst/>
            </c:spPr>
          </c:dPt>
          <c:dPt>
            <c:idx val="4"/>
            <c:invertIfNegative val="0"/>
            <c:bubble3D val="0"/>
            <c:spPr>
              <a:solidFill>
                <a:srgbClr val="3DDC97"/>
              </a:solidFill>
              <a:effectLst/>
            </c:spPr>
          </c:dPt>
          <c:dPt>
            <c:idx val="5"/>
            <c:invertIfNegative val="0"/>
            <c:bubble3D val="0"/>
            <c:spPr>
              <a:solidFill>
                <a:srgbClr val="FF6B7A"/>
              </a:solidFill>
              <a:effectLst/>
            </c:spPr>
          </c:dPt>
          <c:dPt>
            <c:idx val="6"/>
            <c:invertIfNegative val="0"/>
            <c:bubble3D val="0"/>
            <c:spPr>
              <a:solidFill>
                <a:srgbClr val="2AD38C"/>
              </a:solidFill>
              <a:effectLst/>
            </c:spPr>
          </c:dPt>
          <c:dPt>
            <c:idx val="7"/>
            <c:invertIfNegative val="0"/>
            <c:bubble3D val="0"/>
            <c:spPr>
              <a:solidFill>
                <a:srgbClr val="FFB84D"/>
              </a:solidFill>
              <a:effectLst/>
            </c:spPr>
          </c:dPt>
          <c:dPt>
            <c:idx val="8"/>
            <c:invertIfNegative val="0"/>
            <c:bubble3D val="0"/>
            <c:spPr>
              <a:solidFill>
                <a:srgbClr val="6C8CFF"/>
              </a:solidFill>
              <a:effectLst/>
            </c:spPr>
          </c:dPt>
          <c:dPt>
            <c:idx val="9"/>
            <c:invertIfNegative val="0"/>
            <c:bubble3D val="0"/>
            <c:spPr>
              <a:solidFill>
                <a:srgbClr val="8FD8E8"/>
              </a:solidFill>
              <a:effectLst/>
            </c:spPr>
          </c:dPt>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Azure  +13.3% per month
  AWS     +5.8% per month
  GCP     +$1.1K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Foundry Models, Foundry Tools, GitHub Copilot and
Cowork.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Cowork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ITEM 3 ON THE NEXT SLIDE IS TWO JOBS, NOT ONE.
Resource tagging, owner, application, environment, cost centre, business
unit,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OpenTelemetry
spans carry token counts and tool activity. This is the missing half.
IF ASKED WHAT IT COSTS: nothing new to buy. It is a schema decision plus
gateway configuration, done once, enforced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you can
then neither limit nor attribute.
HARD LIMITS IN APIM,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July consumption x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base case: the pace measured across the full seven months, 3.2% a month. The next slide carries the faster May-July pace instead, that is where the $5.8M in the July briefing comes from, and it is the top of the range rather than the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 to Jul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the only window with project-level meter splits. $152,402 of AI meter spend across tagged projects.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inference needs somewhere to run,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ahead of Foundry Models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July Bedrock consumption, two sources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Opus 5, Sonnet 4.6, Haiku 4.5,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2.6x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199" b="1" spc="120" kern="0" dirty="0">
                <a:solidFill>
                  <a:srgbClr val="91A0B7"/>
                </a:solidFill>
                <a:latin typeface="Calibri" pitchFamily="34" charset="0"/>
                <a:ea typeface="Calibri" pitchFamily="34" charset="-122"/>
                <a:cs typeface="Calibri" pitchFamily="34" charset="-120"/>
              </a:rPr>
              <a:t>AZURE MARKETPLACE, JAN-JUL</a:t>
            </a:r>
            <a:endParaRPr lang="en-US" sz="1199"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Azure buys 59% at a discount, AWS 93%</a:t>
            </a:r>
            <a:endParaRPr lang="en-US" sz="227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about 19% of annualised consumption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its logs are the financial record.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Resource tags answer which subscription. Only per-request metadata answers which use case.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3DD9EB"/>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863840" cy="914400"/>
        </p:xfrm>
        <a:graphic>
          <a:graphicData uri="http://schemas.openxmlformats.org/drawingml/2006/table">
            <a:tbl>
              <a:tblPr/>
              <a:tblGrid>
                <a:gridCol w="2468880"/>
                <a:gridCol w="21031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887968" y="1325880"/>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887968" y="2551176"/>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887968" y="3776472"/>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sp>
      <p:sp>
        <p:nvSpPr>
          <p:cNvPr id="20" name="Text 18"/>
          <p:cNvSpPr/>
          <p:nvPr/>
        </p:nvSpPr>
        <p:spPr>
          <a:xfrm>
            <a:off x="457200" y="3511296"/>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sp>
      <p:sp>
        <p:nvSpPr>
          <p:cNvPr id="24" name="Text 22"/>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sp>
      <p:sp>
        <p:nvSpPr>
          <p:cNvPr id="28" name="Text 26"/>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sp>
      <p:sp>
        <p:nvSpPr>
          <p:cNvPr id="32" name="Text 30"/>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sp>
      <p:sp>
        <p:nvSpPr>
          <p:cNvPr id="36" name="Text 34"/>
          <p:cNvSpPr/>
          <p:nvPr/>
        </p:nvSpPr>
        <p:spPr>
          <a:xfrm>
            <a:off x="685800" y="440740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16" name="Text 14"/>
          <p:cNvSpPr/>
          <p:nvPr/>
        </p:nvSpPr>
        <p:spPr>
          <a:xfrm>
            <a:off x="3541700"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2" name="Text 20"/>
          <p:cNvSpPr/>
          <p:nvPr/>
        </p:nvSpPr>
        <p:spPr>
          <a:xfrm>
            <a:off x="6425032"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8" name="Text 26"/>
          <p:cNvSpPr/>
          <p:nvPr/>
        </p:nvSpPr>
        <p:spPr>
          <a:xfrm>
            <a:off x="9308363"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34" name="Text 32"/>
          <p:cNvSpPr/>
          <p:nvPr/>
        </p:nvSpPr>
        <p:spPr>
          <a:xfrm>
            <a:off x="658368"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to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 to 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183" b="1" spc="120" kern="0" dirty="0">
                <a:solidFill>
                  <a:srgbClr val="91A0B7"/>
                </a:solidFill>
                <a:latin typeface="Calibri" pitchFamily="34" charset="0"/>
                <a:ea typeface="Calibri" pitchFamily="34" charset="-122"/>
                <a:cs typeface="Calibri" pitchFamily="34" charset="-120"/>
              </a:rPr>
              <a:t>AWS BEDROCK, OPUS SHARE</a:t>
            </a:r>
            <a:endParaRPr lang="en-US" sz="1183"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Cowork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a flat and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since models need somewhere to run,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with Opus 5 appearing in July,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Cowork credits appear for the first time in July at $8,919,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COWORK,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Cowork,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2026-08-18T15:14:08Z</dcterms:created>
  <dcterms:modified xsi:type="dcterms:W3CDTF">2026-08-18T15:14:08Z</dcterms:modified>
</cp:coreProperties>
</file>