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7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8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9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10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17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20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21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4F7FB"/>
            </a:solidFill>
            <a:ln w="31750" cap="flat">
              <a:solidFill>
                <a:srgbClr val="F4F7F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4F7FB"/>
              </a:solidFill>
              <a:ln w="9525" cap="flat">
                <a:solidFill>
                  <a:srgbClr val="F4F7F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229908</c:v>
                </c:pt>
                <c:pt idx="1">
                  <c:v>257413</c:v>
                </c:pt>
                <c:pt idx="2">
                  <c:v>283322</c:v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Projected — May–Jul rates</c:v>
                </c:pt>
              </c:strCache>
            </c:strRef>
          </c:tx>
          <c:spPr>
            <a:solidFill>
              <a:srgbClr val="FF6B7A"/>
            </a:solidFill>
            <a:ln w="31750" cap="flat">
              <a:solidFill>
                <a:srgbClr val="FF6B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6B7A"/>
              </a:solidFill>
              <a:ln w="9525" cap="flat">
                <a:solidFill>
                  <a:srgbClr val="FF6B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314660</c:v>
                </c:pt>
                <c:pt idx="4">
                  <c:v>349617</c:v>
                </c:pt>
                <c:pt idx="5">
                  <c:v>388652</c:v>
                </c:pt>
                <c:pt idx="6">
                  <c:v>432284</c:v>
                </c:pt>
                <c:pt idx="7">
                  <c:v>481097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Projected — Jan–Jul rates</c:v>
                </c:pt>
              </c:strCache>
            </c:strRef>
          </c:tx>
          <c:spPr>
            <a:solidFill>
              <a:srgbClr val="E0A030"/>
            </a:solidFill>
            <a:ln w="31750" cap="flat">
              <a:solidFill>
                <a:srgbClr val="E0A0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0A030"/>
              </a:solidFill>
              <a:ln w="9525" cap="flat">
                <a:solidFill>
                  <a:srgbClr val="E0A0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  <c:pt idx="3">
                    <c:v>Aug</c:v>
                  </c:pt>
                  <c:pt idx="4">
                    <c:v>Sep</c:v>
                  </c:pt>
                  <c:pt idx="5">
                    <c:v>Oct</c:v>
                  </c:pt>
                  <c:pt idx="6">
                    <c:v>Nov</c:v>
                  </c:pt>
                  <c:pt idx="7">
                    <c:v>Dec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>283322</c:v>
                </c:pt>
                <c:pt idx="3">
                  <c:v>292400</c:v>
                </c:pt>
                <c:pt idx="4">
                  <c:v>301800</c:v>
                </c:pt>
                <c:pt idx="5">
                  <c:v>311500</c:v>
                </c:pt>
                <c:pt idx="6">
                  <c:v>321500</c:v>
                </c:pt>
                <c:pt idx="7">
                  <c:v>333900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Invoiced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145254</c:v>
                </c:pt>
                <c:pt idx="1">
                  <c:v>168421</c:v>
                </c:pt>
                <c:pt idx="2">
                  <c:v>186541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</c:v>
                </c:pt>
              </c:strCache>
            </c:strRef>
          </c:tx>
          <c:spPr>
            <a:solidFill>
              <a:srgbClr val="2F8CFF"/>
            </a:solidFill>
            <a:ln w="31750" cap="flat">
              <a:solidFill>
                <a:srgbClr val="2F8CF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F8CFF"/>
              </a:solidFill>
              <a:ln w="9525" cap="flat">
                <a:solidFill>
                  <a:srgbClr val="2F8CF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156990</c:v>
                </c:pt>
                <c:pt idx="1">
                  <c:v>135742</c:v>
                </c:pt>
                <c:pt idx="2">
                  <c:v>165199</c:v>
                </c:pt>
                <c:pt idx="3">
                  <c:v>152577</c:v>
                </c:pt>
                <c:pt idx="4">
                  <c:v>152263</c:v>
                </c:pt>
                <c:pt idx="5">
                  <c:v>167406</c:v>
                </c:pt>
                <c:pt idx="6">
                  <c:v>186917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</c:v>
                </c:pt>
              </c:strCache>
            </c:strRef>
          </c:tx>
          <c:spPr>
            <a:solidFill>
              <a:srgbClr val="FF9F43"/>
            </a:solidFill>
            <a:ln w="31750" cap="flat">
              <a:solidFill>
                <a:srgbClr val="FF9F4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F9F43"/>
              </a:solidFill>
              <a:ln w="9525" cap="flat">
                <a:solidFill>
                  <a:srgbClr val="FF9F4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77126</c:v>
                </c:pt>
                <c:pt idx="1">
                  <c:v>82582</c:v>
                </c:pt>
                <c:pt idx="2">
                  <c:v>95860</c:v>
                </c:pt>
                <c:pt idx="3">
                  <c:v>81929</c:v>
                </c:pt>
                <c:pt idx="4">
                  <c:v>83062</c:v>
                </c:pt>
                <c:pt idx="5">
                  <c:v>86581</c:v>
                </c:pt>
                <c:pt idx="6">
                  <c:v>92930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GCP</c:v>
                </c:pt>
              </c:strCache>
            </c:strRef>
          </c:tx>
          <c:spPr>
            <a:solidFill>
              <a:srgbClr val="3DDC97"/>
            </a:solidFill>
            <a:ln w="31750" cap="flat">
              <a:solidFill>
                <a:srgbClr val="3DDC9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DDC97"/>
              </a:solidFill>
              <a:ln w="9525" cap="flat">
                <a:solidFill>
                  <a:srgbClr val="3DDC9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396</c:v>
                </c:pt>
                <c:pt idx="3">
                  <c:v>440</c:v>
                </c:pt>
                <c:pt idx="4">
                  <c:v>1449</c:v>
                </c:pt>
                <c:pt idx="5">
                  <c:v>2220</c:v>
                </c:pt>
                <c:pt idx="6">
                  <c:v>3707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Azure AI Services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16933</c:v>
                </c:pt>
                <c:pt idx="1">
                  <c:v>25370</c:v>
                </c:pt>
                <c:pt idx="2">
                  <c:v>23301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GitHub Copilot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4760</c:v>
                </c:pt>
                <c:pt idx="1">
                  <c:v>11445</c:v>
                </c:pt>
                <c:pt idx="2">
                  <c:v>13460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Copilot Studio (Cowork)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8920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Google Vertex AI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 2026</c:v>
                  </c:pt>
                  <c:pt idx="1">
                    <c:v>Jun 2026</c:v>
                  </c:pt>
                  <c:pt idx="2">
                    <c:v>Jul 2026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366</c:v>
                </c:pt>
                <c:pt idx="1">
                  <c:v>958</c:v>
                </c:pt>
                <c:pt idx="2">
                  <c:v>1069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&quot;$&quot;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F4F7F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8C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DD9E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9F4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07C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DDC97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FF6B7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2AD38C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FFB84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6C8CFF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D8E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F5 Distributed Cloud Bot Defense</c:v>
                  </c:pt>
                  <c:pt idx="1">
                    <c:v>Fortinet Cloud Security Platform</c:v>
                  </c:pt>
                  <c:pt idx="2">
                    <c:v>Trellix_Private Offer Only</c:v>
                  </c:pt>
                  <c:pt idx="3">
                    <c:v>All other</c:v>
                  </c:pt>
                  <c:pt idx="4">
                    <c:v>(Private) Cortex</c:v>
                  </c:pt>
                  <c:pt idx="5">
                    <c:v>MongoDB Atlas on AWS - Contract …</c:v>
                  </c:pt>
                  <c:pt idx="6">
                    <c:v>F5 Distributed Cloud Services</c:v>
                  </c:pt>
                  <c:pt idx="7">
                    <c:v>CrowdStrike Falcon Identity Prot…</c:v>
                  </c:pt>
                  <c:pt idx="8">
                    <c:v>TrendAI Enterprise Security Solu…</c:v>
                  </c:pt>
                  <c:pt idx="9">
                    <c:v>Splunk Private Offer Session 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43307.51</c:v>
                </c:pt>
                <c:pt idx="1">
                  <c:v>61998.34</c:v>
                </c:pt>
                <c:pt idx="2">
                  <c:v>70680</c:v>
                </c:pt>
                <c:pt idx="3">
                  <c:v>101662.59</c:v>
                </c:pt>
                <c:pt idx="4">
                  <c:v>142960.14</c:v>
                </c:pt>
                <c:pt idx="5">
                  <c:v>163240.16999999998</c:v>
                </c:pt>
                <c:pt idx="6">
                  <c:v>166293</c:v>
                </c:pt>
                <c:pt idx="7">
                  <c:v>171303</c:v>
                </c:pt>
                <c:pt idx="8">
                  <c:v>257323</c:v>
                </c:pt>
                <c:pt idx="9">
                  <c:v>365018</c:v>
                </c:pt>
              </c:numCache>
            </c:numRef>
          </c:val>
        </c:ser>
        <c:dLbls>
          <c:numFmt formatCode="&quot;$&quot;#,##0" sourceLinked="0"/>
          <c:txPr>
            <a:bodyPr/>
            <a:lstStyle/>
            <a:p>
              <a:pPr>
                <a:defRPr b="0" i="0" strike="noStrike" sz="850" u="none">
                  <a:solidFill>
                    <a:srgbClr val="F4F7F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Vertex AI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0.01</c:v>
                </c:pt>
                <c:pt idx="2">
                  <c:v>378.84</c:v>
                </c:pt>
                <c:pt idx="3">
                  <c:v>957.52</c:v>
                </c:pt>
                <c:pt idx="4">
                  <c:v>2359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Compute Engine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221.73</c:v>
                </c:pt>
                <c:pt idx="2">
                  <c:v>714.24</c:v>
                </c:pt>
                <c:pt idx="3">
                  <c:v>977.33</c:v>
                </c:pt>
                <c:pt idx="4">
                  <c:v>1011.51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Networking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74.48</c:v>
                </c:pt>
                <c:pt idx="2">
                  <c:v>311.42</c:v>
                </c:pt>
                <c:pt idx="3">
                  <c:v>303.73</c:v>
                </c:pt>
                <c:pt idx="4">
                  <c:v>310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Gemini API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395.81</c:v>
                </c:pt>
                <c:pt idx="1">
                  <c:v>134.71</c:v>
                </c:pt>
                <c:pt idx="2">
                  <c:v>92.38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Support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26.43</c:v>
                </c:pt>
                <c:pt idx="3">
                  <c:v>98.24</c:v>
                </c:pt>
                <c:pt idx="4">
                  <c:v>141.65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0.06</c:v>
                </c:pt>
                <c:pt idx="1">
                  <c:v>9.23</c:v>
                </c:pt>
                <c:pt idx="2">
                  <c:v>-73.96</c:v>
                </c:pt>
                <c:pt idx="3">
                  <c:v>-117.27</c:v>
                </c:pt>
                <c:pt idx="4">
                  <c:v>-115.11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aws-prod-Digital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22332.66</c:v>
                </c:pt>
                <c:pt idx="1">
                  <c:v>21140.47</c:v>
                </c:pt>
                <c:pt idx="2">
                  <c:v>21628.91</c:v>
                </c:pt>
                <c:pt idx="3">
                  <c:v>21144.81</c:v>
                </c:pt>
                <c:pt idx="4">
                  <c:v>21545.74</c:v>
                </c:pt>
                <c:pt idx="5">
                  <c:v>21516.36</c:v>
                </c:pt>
                <c:pt idx="6">
                  <c:v>22251.5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aws-devTest-digital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9774.69</c:v>
                </c:pt>
                <c:pt idx="1">
                  <c:v>9293.5</c:v>
                </c:pt>
                <c:pt idx="2">
                  <c:v>13019.52</c:v>
                </c:pt>
                <c:pt idx="3">
                  <c:v>12889.08</c:v>
                </c:pt>
                <c:pt idx="4">
                  <c:v>14478.53</c:v>
                </c:pt>
                <c:pt idx="5">
                  <c:v>13223.96</c:v>
                </c:pt>
                <c:pt idx="6">
                  <c:v>13679.04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aws-preProd-digital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10763.47</c:v>
                </c:pt>
                <c:pt idx="1">
                  <c:v>9195.09</c:v>
                </c:pt>
                <c:pt idx="2">
                  <c:v>10753.11</c:v>
                </c:pt>
                <c:pt idx="3">
                  <c:v>10593.41</c:v>
                </c:pt>
                <c:pt idx="4">
                  <c:v>11424.85</c:v>
                </c:pt>
                <c:pt idx="5">
                  <c:v>10158.6</c:v>
                </c:pt>
                <c:pt idx="6">
                  <c:v>10824.22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aws-foundation-security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8241.01</c:v>
                </c:pt>
                <c:pt idx="1">
                  <c:v>7426.22</c:v>
                </c:pt>
                <c:pt idx="2">
                  <c:v>8018.52</c:v>
                </c:pt>
                <c:pt idx="3">
                  <c:v>7844.99</c:v>
                </c:pt>
                <c:pt idx="4">
                  <c:v>8595.8</c:v>
                </c:pt>
                <c:pt idx="5">
                  <c:v>8586.64</c:v>
                </c:pt>
                <c:pt idx="6">
                  <c:v>8752.36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customers3-prod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886.84</c:v>
                </c:pt>
                <c:pt idx="1">
                  <c:v>13482.36</c:v>
                </c:pt>
                <c:pt idx="2">
                  <c:v>11082.36</c:v>
                </c:pt>
                <c:pt idx="3">
                  <c:v>2357.5</c:v>
                </c:pt>
                <c:pt idx="4">
                  <c:v>4222.21</c:v>
                </c:pt>
                <c:pt idx="5">
                  <c:v>6507.56</c:v>
                </c:pt>
                <c:pt idx="6">
                  <c:v>9065.77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cloudops-network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6243.55</c:v>
                </c:pt>
                <c:pt idx="1">
                  <c:v>5752.81</c:v>
                </c:pt>
                <c:pt idx="2">
                  <c:v>7021.84</c:v>
                </c:pt>
                <c:pt idx="3">
                  <c:v>6897.91</c:v>
                </c:pt>
                <c:pt idx="4">
                  <c:v>7152.27</c:v>
                </c:pt>
                <c:pt idx="5">
                  <c:v>7100.37</c:v>
                </c:pt>
                <c:pt idx="6">
                  <c:v>7373.13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aws-foundation-sharedservices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6557.18</c:v>
                </c:pt>
                <c:pt idx="1">
                  <c:v>5506.82</c:v>
                </c:pt>
                <c:pt idx="2">
                  <c:v>5796.97</c:v>
                </c:pt>
                <c:pt idx="3">
                  <c:v>5754.82</c:v>
                </c:pt>
                <c:pt idx="4">
                  <c:v>6022.6</c:v>
                </c:pt>
                <c:pt idx="5">
                  <c:v>6015.61</c:v>
                </c:pt>
                <c:pt idx="6">
                  <c:v>6067.45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Harel Insurance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6065.71</c:v>
                </c:pt>
                <c:pt idx="1">
                  <c:v>3782.04</c:v>
                </c:pt>
                <c:pt idx="2">
                  <c:v>6397.95</c:v>
                </c:pt>
                <c:pt idx="3">
                  <c:v>8584.51</c:v>
                </c:pt>
                <c:pt idx="4">
                  <c:v>3830.37</c:v>
                </c:pt>
                <c:pt idx="5">
                  <c:v>6197.57</c:v>
                </c:pt>
                <c:pt idx="6">
                  <c:v>5139.86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6260.39</c:v>
                </c:pt>
                <c:pt idx="1">
                  <c:v>7002.899999999999</c:v>
                </c:pt>
                <c:pt idx="2">
                  <c:v>12141.12</c:v>
                </c:pt>
                <c:pt idx="3">
                  <c:v>5862.049999999999</c:v>
                </c:pt>
                <c:pt idx="4">
                  <c:v>5790.1100000000015</c:v>
                </c:pt>
                <c:pt idx="5">
                  <c:v>7274.5199999999995</c:v>
                </c:pt>
                <c:pt idx="6">
                  <c:v>-6323.640000000001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EC2 - Compute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31180.69</c:v>
                </c:pt>
                <c:pt idx="1">
                  <c:v>28236.72</c:v>
                </c:pt>
                <c:pt idx="2">
                  <c:v>32994.93</c:v>
                </c:pt>
                <c:pt idx="3">
                  <c:v>32045.93</c:v>
                </c:pt>
                <c:pt idx="4">
                  <c:v>35082.64</c:v>
                </c:pt>
                <c:pt idx="5">
                  <c:v>33427.89</c:v>
                </c:pt>
                <c:pt idx="6">
                  <c:v>35426.33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Business Support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3876.88</c:v>
                </c:pt>
                <c:pt idx="1">
                  <c:v>4268.96</c:v>
                </c:pt>
                <c:pt idx="2">
                  <c:v>4581.17</c:v>
                </c:pt>
                <c:pt idx="3">
                  <c:v>4108.04</c:v>
                </c:pt>
                <c:pt idx="4">
                  <c:v>4478.1</c:v>
                </c:pt>
                <c:pt idx="5">
                  <c:v>4839.14</c:v>
                </c:pt>
                <c:pt idx="6">
                  <c:v>5893.49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S3 - 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1978.49</c:v>
                </c:pt>
                <c:pt idx="1">
                  <c:v>13276.31</c:v>
                </c:pt>
                <c:pt idx="2">
                  <c:v>5868.01</c:v>
                </c:pt>
                <c:pt idx="3">
                  <c:v>2134.47</c:v>
                </c:pt>
                <c:pt idx="4">
                  <c:v>2249.46</c:v>
                </c:pt>
                <c:pt idx="5">
                  <c:v>2370.09</c:v>
                </c:pt>
                <c:pt idx="6">
                  <c:v>2324.71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Private Cloud - Transit Gateway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3925.73</c:v>
                </c:pt>
                <c:pt idx="1">
                  <c:v>3570.88</c:v>
                </c:pt>
                <c:pt idx="2">
                  <c:v>3963.99</c:v>
                </c:pt>
                <c:pt idx="3">
                  <c:v>3878.04</c:v>
                </c:pt>
                <c:pt idx="4">
                  <c:v>4428.68</c:v>
                </c:pt>
                <c:pt idx="5">
                  <c:v>4573.6</c:v>
                </c:pt>
                <c:pt idx="6">
                  <c:v>4657.27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RDS - Compute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4939.68</c:v>
                </c:pt>
                <c:pt idx="1">
                  <c:v>3272.18</c:v>
                </c:pt>
                <c:pt idx="2">
                  <c:v>3522.03</c:v>
                </c:pt>
                <c:pt idx="3">
                  <c:v>3408.12</c:v>
                </c:pt>
                <c:pt idx="4">
                  <c:v>3521.72</c:v>
                </c:pt>
                <c:pt idx="5">
                  <c:v>4011.45</c:v>
                </c:pt>
                <c:pt idx="6">
                  <c:v>4355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Direct Connect - Port Hours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3794.4</c:v>
                </c:pt>
                <c:pt idx="1">
                  <c:v>3427.2</c:v>
                </c:pt>
                <c:pt idx="2">
                  <c:v>3794.4</c:v>
                </c:pt>
                <c:pt idx="3">
                  <c:v>3672</c:v>
                </c:pt>
                <c:pt idx="4">
                  <c:v>3794.4</c:v>
                </c:pt>
                <c:pt idx="5">
                  <c:v>3672</c:v>
                </c:pt>
                <c:pt idx="6">
                  <c:v>3794.4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CloudWatch Log Groups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2791.6</c:v>
                </c:pt>
                <c:pt idx="1">
                  <c:v>2486.91</c:v>
                </c:pt>
                <c:pt idx="2">
                  <c:v>2914.14</c:v>
                </c:pt>
                <c:pt idx="3">
                  <c:v>2895.9</c:v>
                </c:pt>
                <c:pt idx="4">
                  <c:v>3040.1</c:v>
                </c:pt>
                <c:pt idx="5">
                  <c:v>3061.85</c:v>
                </c:pt>
                <c:pt idx="6">
                  <c:v>2991.11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all other services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2981.34</c:v>
                </c:pt>
                <c:pt idx="1">
                  <c:v>4394.96</c:v>
                </c:pt>
                <c:pt idx="2">
                  <c:v>3697.84</c:v>
                </c:pt>
                <c:pt idx="3">
                  <c:v>2273.25</c:v>
                </c:pt>
                <c:pt idx="4">
                  <c:v>2037.07</c:v>
                </c:pt>
                <c:pt idx="5">
                  <c:v>1889.52</c:v>
                </c:pt>
                <c:pt idx="6">
                  <c:v>1276.28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21656.71000000001</c:v>
                </c:pt>
                <c:pt idx="1">
                  <c:v>19648.1</c:v>
                </c:pt>
                <c:pt idx="2">
                  <c:v>34523.78</c:v>
                </c:pt>
                <c:pt idx="3">
                  <c:v>27513.360000000008</c:v>
                </c:pt>
                <c:pt idx="4">
                  <c:v>24430.3</c:v>
                </c:pt>
                <c:pt idx="5">
                  <c:v>28735.639999999996</c:v>
                </c:pt>
                <c:pt idx="6">
                  <c:v>16111.090000000006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47462</c:v>
                </c:pt>
                <c:pt idx="1">
                  <c:v>49198.19</c:v>
                </c:pt>
                <c:pt idx="2">
                  <c:v>54536</c:v>
                </c:pt>
                <c:pt idx="3">
                  <c:v>50235.01</c:v>
                </c:pt>
                <c:pt idx="4">
                  <c:v>43924.46</c:v>
                </c:pt>
                <c:pt idx="5">
                  <c:v>44390</c:v>
                </c:pt>
                <c:pt idx="6">
                  <c:v>49118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42266</c:v>
                </c:pt>
                <c:pt idx="1">
                  <c:v>39098.06</c:v>
                </c:pt>
                <c:pt idx="2">
                  <c:v>41546</c:v>
                </c:pt>
                <c:pt idx="3">
                  <c:v>40825.4</c:v>
                </c:pt>
                <c:pt idx="4">
                  <c:v>46601</c:v>
                </c:pt>
                <c:pt idx="5">
                  <c:v>42665</c:v>
                </c:pt>
                <c:pt idx="6">
                  <c:v>40925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cloudit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30915</c:v>
                </c:pt>
                <c:pt idx="1">
                  <c:v>24680.95</c:v>
                </c:pt>
                <c:pt idx="2">
                  <c:v>40730</c:v>
                </c:pt>
                <c:pt idx="3">
                  <c:v>29195.48</c:v>
                </c:pt>
                <c:pt idx="4">
                  <c:v>28615</c:v>
                </c:pt>
                <c:pt idx="5">
                  <c:v>28585</c:v>
                </c:pt>
                <c:pt idx="6">
                  <c:v>33421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854</c:v>
                </c:pt>
                <c:pt idx="1">
                  <c:v>3477.58</c:v>
                </c:pt>
                <c:pt idx="2">
                  <c:v>12632</c:v>
                </c:pt>
                <c:pt idx="3">
                  <c:v>11675.62</c:v>
                </c:pt>
                <c:pt idx="4">
                  <c:v>13656</c:v>
                </c:pt>
                <c:pt idx="5">
                  <c:v>26476</c:v>
                </c:pt>
                <c:pt idx="6">
                  <c:v>24531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4371</c:v>
                </c:pt>
                <c:pt idx="1">
                  <c:v>5240</c:v>
                </c:pt>
                <c:pt idx="2">
                  <c:v>5614</c:v>
                </c:pt>
                <c:pt idx="3">
                  <c:v>5760</c:v>
                </c:pt>
                <c:pt idx="4">
                  <c:v>8681.34</c:v>
                </c:pt>
                <c:pt idx="5">
                  <c:v>18094</c:v>
                </c:pt>
                <c:pt idx="6">
                  <c:v>22410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actuary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15102</c:v>
                </c:pt>
                <c:pt idx="1">
                  <c:v>4959.24</c:v>
                </c:pt>
                <c:pt idx="2">
                  <c:v>3549</c:v>
                </c:pt>
                <c:pt idx="3">
                  <c:v>5341</c:v>
                </c:pt>
                <c:pt idx="4">
                  <c:v>4672</c:v>
                </c:pt>
                <c:pt idx="5">
                  <c:v>2733</c:v>
                </c:pt>
                <c:pt idx="6">
                  <c:v>4058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Risk Agility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13063</c:v>
                </c:pt>
                <c:pt idx="1">
                  <c:v>5274</c:v>
                </c:pt>
                <c:pt idx="2">
                  <c:v>2617</c:v>
                </c:pt>
                <c:pt idx="3">
                  <c:v>5768</c:v>
                </c:pt>
                <c:pt idx="4">
                  <c:v>2842</c:v>
                </c:pt>
                <c:pt idx="5">
                  <c:v>1031</c:v>
                </c:pt>
                <c:pt idx="6">
                  <c:v>1032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itsec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2082</c:v>
                </c:pt>
                <c:pt idx="1">
                  <c:v>1733.66</c:v>
                </c:pt>
                <c:pt idx="2">
                  <c:v>1908</c:v>
                </c:pt>
                <c:pt idx="3">
                  <c:v>1897.79</c:v>
                </c:pt>
                <c:pt idx="4">
                  <c:v>2047</c:v>
                </c:pt>
                <c:pt idx="5">
                  <c:v>2059</c:v>
                </c:pt>
                <c:pt idx="6">
                  <c:v>2221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874.61</c:v>
                </c:pt>
                <c:pt idx="1">
                  <c:v>2079.7999999999997</c:v>
                </c:pt>
                <c:pt idx="2">
                  <c:v>2067</c:v>
                </c:pt>
                <c:pt idx="3">
                  <c:v>1879.0600000000002</c:v>
                </c:pt>
                <c:pt idx="4">
                  <c:v>1224.2</c:v>
                </c:pt>
                <c:pt idx="5">
                  <c:v>1373</c:v>
                </c:pt>
                <c:pt idx="6">
                  <c:v>9201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58546.14</c:v>
                </c:pt>
                <c:pt idx="1">
                  <c:v>48277</c:v>
                </c:pt>
                <c:pt idx="2">
                  <c:v>52579.27</c:v>
                </c:pt>
                <c:pt idx="3">
                  <c:v>51502.75</c:v>
                </c:pt>
                <c:pt idx="4">
                  <c:v>57465.99</c:v>
                </c:pt>
                <c:pt idx="5">
                  <c:v>52188.55</c:v>
                </c:pt>
                <c:pt idx="6">
                  <c:v>53314.28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24139.41</c:v>
                </c:pt>
                <c:pt idx="1">
                  <c:v>22951</c:v>
                </c:pt>
                <c:pt idx="2">
                  <c:v>22458.08</c:v>
                </c:pt>
                <c:pt idx="3">
                  <c:v>22680.51</c:v>
                </c:pt>
                <c:pt idx="4">
                  <c:v>24615.18</c:v>
                </c:pt>
                <c:pt idx="5">
                  <c:v>25022.53</c:v>
                </c:pt>
                <c:pt idx="6">
                  <c:v>26364.22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12726.23</c:v>
                </c:pt>
                <c:pt idx="1">
                  <c:v>12145</c:v>
                </c:pt>
                <c:pt idx="2">
                  <c:v>14087.61</c:v>
                </c:pt>
                <c:pt idx="3">
                  <c:v>15311.83</c:v>
                </c:pt>
                <c:pt idx="4">
                  <c:v>18338.27</c:v>
                </c:pt>
                <c:pt idx="5">
                  <c:v>18564.99</c:v>
                </c:pt>
                <c:pt idx="6">
                  <c:v>21999.6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11748.56</c:v>
                </c:pt>
                <c:pt idx="1">
                  <c:v>10773</c:v>
                </c:pt>
                <c:pt idx="2">
                  <c:v>12318.12</c:v>
                </c:pt>
                <c:pt idx="3">
                  <c:v>12412.59</c:v>
                </c:pt>
                <c:pt idx="4">
                  <c:v>15149.61</c:v>
                </c:pt>
                <c:pt idx="5">
                  <c:v>18338.58</c:v>
                </c:pt>
                <c:pt idx="6">
                  <c:v>20600.18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24556.13</c:v>
                </c:pt>
                <c:pt idx="1">
                  <c:v>18645</c:v>
                </c:pt>
                <c:pt idx="2">
                  <c:v>22427.89</c:v>
                </c:pt>
                <c:pt idx="3">
                  <c:v>19936.33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GitHub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2778.52</c:v>
                </c:pt>
                <c:pt idx="1">
                  <c:v>3618</c:v>
                </c:pt>
                <c:pt idx="2">
                  <c:v>4319.13</c:v>
                </c:pt>
                <c:pt idx="3">
                  <c:v>4079.57</c:v>
                </c:pt>
                <c:pt idx="4">
                  <c:v>6467.04</c:v>
                </c:pt>
                <c:pt idx="5">
                  <c:v>16654.2</c:v>
                </c:pt>
                <c:pt idx="6">
                  <c:v>19259.78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1353.37</c:v>
                </c:pt>
                <c:pt idx="1">
                  <c:v>2260</c:v>
                </c:pt>
                <c:pt idx="2">
                  <c:v>4236.35</c:v>
                </c:pt>
                <c:pt idx="3">
                  <c:v>8369.39</c:v>
                </c:pt>
                <c:pt idx="4">
                  <c:v>11512.76</c:v>
                </c:pt>
                <c:pt idx="5">
                  <c:v>15453.34</c:v>
                </c:pt>
                <c:pt idx="6">
                  <c:v>12291.25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7521.92</c:v>
                </c:pt>
                <c:pt idx="1">
                  <c:v>3955</c:v>
                </c:pt>
                <c:pt idx="2">
                  <c:v>10858.98</c:v>
                </c:pt>
                <c:pt idx="3">
                  <c:v>3911.97</c:v>
                </c:pt>
                <c:pt idx="4">
                  <c:v>2204.52</c:v>
                </c:pt>
                <c:pt idx="5">
                  <c:v>2318.73</c:v>
                </c:pt>
                <c:pt idx="6">
                  <c:v>2680.5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13619.52</c:v>
                </c:pt>
                <c:pt idx="1">
                  <c:v>13118</c:v>
                </c:pt>
                <c:pt idx="2">
                  <c:v>21913.22</c:v>
                </c:pt>
                <c:pt idx="3">
                  <c:v>14372.410000000002</c:v>
                </c:pt>
                <c:pt idx="4">
                  <c:v>16509.63</c:v>
                </c:pt>
                <c:pt idx="5">
                  <c:v>18865.080000000005</c:v>
                </c:pt>
                <c:pt idx="6">
                  <c:v>30407.2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8001.69</c:v>
                </c:pt>
                <c:pt idx="1">
                  <c:v>8851</c:v>
                </c:pt>
                <c:pt idx="2">
                  <c:v>9977</c:v>
                </c:pt>
                <c:pt idx="3">
                  <c:v>8938.34</c:v>
                </c:pt>
                <c:pt idx="4">
                  <c:v>10192.34</c:v>
                </c:pt>
                <c:pt idx="5">
                  <c:v>10365.58</c:v>
                </c:pt>
                <c:pt idx="6">
                  <c:v>11078.33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Azure Databricks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13661.81</c:v>
                </c:pt>
                <c:pt idx="1">
                  <c:v>14023</c:v>
                </c:pt>
                <c:pt idx="2">
                  <c:v>19412</c:v>
                </c:pt>
                <c:pt idx="3">
                  <c:v>16633.53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5134.31</c:v>
                </c:pt>
                <c:pt idx="1">
                  <c:v>5630</c:v>
                </c:pt>
                <c:pt idx="2">
                  <c:v>5747</c:v>
                </c:pt>
                <c:pt idx="3">
                  <c:v>5515.42</c:v>
                </c:pt>
                <c:pt idx="4">
                  <c:v>6124.59</c:v>
                </c:pt>
                <c:pt idx="5">
                  <c:v>6488.31</c:v>
                </c:pt>
                <c:pt idx="6">
                  <c:v>6847.08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4756.18</c:v>
                </c:pt>
                <c:pt idx="1">
                  <c:v>4988</c:v>
                </c:pt>
                <c:pt idx="2">
                  <c:v>5905.3</c:v>
                </c:pt>
                <c:pt idx="3">
                  <c:v>5036.83</c:v>
                </c:pt>
                <c:pt idx="4">
                  <c:v>5067.49</c:v>
                </c:pt>
                <c:pt idx="5">
                  <c:v>6698.63</c:v>
                </c:pt>
                <c:pt idx="6">
                  <c:v>7400.62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1347.06</c:v>
                </c:pt>
                <c:pt idx="1">
                  <c:v>2243</c:v>
                </c:pt>
                <c:pt idx="2">
                  <c:v>1274.47</c:v>
                </c:pt>
                <c:pt idx="3">
                  <c:v>4218.08</c:v>
                </c:pt>
                <c:pt idx="4">
                  <c:v>10329.63</c:v>
                </c:pt>
                <c:pt idx="5">
                  <c:v>5769.96</c:v>
                </c:pt>
                <c:pt idx="6">
                  <c:v>6649.77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Foundry Tools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4271.49</c:v>
                </c:pt>
                <c:pt idx="1">
                  <c:v>4337</c:v>
                </c:pt>
                <c:pt idx="2">
                  <c:v>3298.75</c:v>
                </c:pt>
                <c:pt idx="3">
                  <c:v>1922.73</c:v>
                </c:pt>
                <c:pt idx="4">
                  <c:v>3305.17</c:v>
                </c:pt>
                <c:pt idx="5">
                  <c:v>5675.5</c:v>
                </c:pt>
                <c:pt idx="6">
                  <c:v>6603.58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10289.35</c:v>
                </c:pt>
                <c:pt idx="1">
                  <c:v>9126</c:v>
                </c:pt>
                <c:pt idx="2">
                  <c:v>8921.980000000001</c:v>
                </c:pt>
                <c:pt idx="3">
                  <c:v>7970.080000000001</c:v>
                </c:pt>
                <c:pt idx="4">
                  <c:v>8905.24</c:v>
                </c:pt>
                <c:pt idx="5">
                  <c:v>9392.630000000001</c:v>
                </c:pt>
                <c:pt idx="6">
                  <c:v>10538.439999999999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40269.8</c:v>
                </c:pt>
                <c:pt idx="1">
                  <c:v>41870.09</c:v>
                </c:pt>
                <c:pt idx="2">
                  <c:v>48649</c:v>
                </c:pt>
                <c:pt idx="3">
                  <c:v>42196.41</c:v>
                </c:pt>
                <c:pt idx="4">
                  <c:v>29317.96</c:v>
                </c:pt>
                <c:pt idx="5">
                  <c:v>33038.95</c:v>
                </c:pt>
                <c:pt idx="6">
                  <c:v>36010.25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854.16</c:v>
                </c:pt>
                <c:pt idx="1">
                  <c:v>702.78</c:v>
                </c:pt>
                <c:pt idx="2">
                  <c:v>620.89</c:v>
                </c:pt>
                <c:pt idx="3">
                  <c:v>1545.48</c:v>
                </c:pt>
                <c:pt idx="4">
                  <c:v>10021.98</c:v>
                </c:pt>
                <c:pt idx="5">
                  <c:v>6749.23</c:v>
                </c:pt>
                <c:pt idx="6">
                  <c:v>8415.87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3242.73</c:v>
                </c:pt>
                <c:pt idx="1">
                  <c:v>2995.17</c:v>
                </c:pt>
                <c:pt idx="2">
                  <c:v>2380</c:v>
                </c:pt>
                <c:pt idx="3">
                  <c:v>3985.63</c:v>
                </c:pt>
                <c:pt idx="4">
                  <c:v>1715.02</c:v>
                </c:pt>
                <c:pt idx="5">
                  <c:v>1838.65</c:v>
                </c:pt>
                <c:pt idx="6">
                  <c:v>1579.05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 Production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1914.41</c:v>
                </c:pt>
                <c:pt idx="2">
                  <c:v>1364.48</c:v>
                </c:pt>
                <c:pt idx="3">
                  <c:v>1354.4</c:v>
                </c:pt>
                <c:pt idx="4">
                  <c:v>1456.6</c:v>
                </c:pt>
                <c:pt idx="5">
                  <c:v>1604.48</c:v>
                </c:pt>
                <c:pt idx="6">
                  <c:v>1983.38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 1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324.17</c:v>
                </c:pt>
                <c:pt idx="1">
                  <c:v>275</c:v>
                </c:pt>
                <c:pt idx="2">
                  <c:v>285.86</c:v>
                </c:pt>
                <c:pt idx="3">
                  <c:v>269.84</c:v>
                </c:pt>
                <c:pt idx="4">
                  <c:v>281.57</c:v>
                </c:pt>
                <c:pt idx="5">
                  <c:v>269.21</c:v>
                </c:pt>
                <c:pt idx="6">
                  <c:v>278.23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Sandbox System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263.89</c:v>
                </c:pt>
                <c:pt idx="1">
                  <c:v>308.03</c:v>
                </c:pt>
                <c:pt idx="2">
                  <c:v>265</c:v>
                </c:pt>
                <c:pt idx="3">
                  <c:v>260.07</c:v>
                </c:pt>
                <c:pt idx="4">
                  <c:v>335.75</c:v>
                </c:pt>
                <c:pt idx="5">
                  <c:v>256.14</c:v>
                </c:pt>
                <c:pt idx="6">
                  <c:v>267.43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1443.54</c:v>
                </c:pt>
                <c:pt idx="1">
                  <c:v>1132.52</c:v>
                </c:pt>
                <c:pt idx="2">
                  <c:v>971.1200000000001</c:v>
                </c:pt>
                <c:pt idx="3">
                  <c:v>623.1899999999998</c:v>
                </c:pt>
                <c:pt idx="4">
                  <c:v>796.0699999999999</c:v>
                </c:pt>
                <c:pt idx="5">
                  <c:v>633.9499999999999</c:v>
                </c:pt>
                <c:pt idx="6">
                  <c:v>583.62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30152.87</c:v>
                </c:pt>
                <c:pt idx="1">
                  <c:v>28348</c:v>
                </c:pt>
                <c:pt idx="2">
                  <c:v>31348</c:v>
                </c:pt>
                <c:pt idx="3">
                  <c:v>30597</c:v>
                </c:pt>
                <c:pt idx="4">
                  <c:v>35586.32</c:v>
                </c:pt>
                <c:pt idx="5">
                  <c:v>31413</c:v>
                </c:pt>
                <c:pt idx="6">
                  <c:v>30117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11916.96</c:v>
                </c:pt>
                <c:pt idx="1">
                  <c:v>10639</c:v>
                </c:pt>
                <c:pt idx="2">
                  <c:v>10074</c:v>
                </c:pt>
                <c:pt idx="3">
                  <c:v>10076</c:v>
                </c:pt>
                <c:pt idx="4">
                  <c:v>10811.81</c:v>
                </c:pt>
                <c:pt idx="5">
                  <c:v>11077</c:v>
                </c:pt>
                <c:pt idx="6">
                  <c:v>10526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195.78</c:v>
                </c:pt>
                <c:pt idx="1">
                  <c:v>112</c:v>
                </c:pt>
                <c:pt idx="2">
                  <c:v>124</c:v>
                </c:pt>
                <c:pt idx="3">
                  <c:v>153</c:v>
                </c:pt>
                <c:pt idx="4">
                  <c:v>166.67</c:v>
                </c:pt>
                <c:pt idx="5">
                  <c:v>134</c:v>
                </c:pt>
                <c:pt idx="6">
                  <c:v>238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 Licenses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36.53</c:v>
                </c:pt>
                <c:pt idx="5">
                  <c:v>41</c:v>
                </c:pt>
                <c:pt idx="6">
                  <c:v>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Bandwidth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0.01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SAP Dev/Test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23275.74</c:v>
                </c:pt>
                <c:pt idx="1">
                  <c:v>22687</c:v>
                </c:pt>
                <c:pt idx="2">
                  <c:v>24090</c:v>
                </c:pt>
                <c:pt idx="3">
                  <c:v>23647</c:v>
                </c:pt>
                <c:pt idx="4">
                  <c:v>26321.74</c:v>
                </c:pt>
                <c:pt idx="5">
                  <c:v>24985</c:v>
                </c:pt>
                <c:pt idx="6">
                  <c:v>23467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SAP Production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18989.88</c:v>
                </c:pt>
                <c:pt idx="1">
                  <c:v>16411</c:v>
                </c:pt>
                <c:pt idx="2">
                  <c:v>17456</c:v>
                </c:pt>
                <c:pt idx="3">
                  <c:v>17178</c:v>
                </c:pt>
                <c:pt idx="4">
                  <c:v>20279.59</c:v>
                </c:pt>
                <c:pt idx="5">
                  <c:v>17680</c:v>
                </c:pt>
                <c:pt idx="6">
                  <c:v>17457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Virtual Network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5740.91</c:v>
                </c:pt>
                <c:pt idx="1">
                  <c:v>5286</c:v>
                </c:pt>
                <c:pt idx="2">
                  <c:v>5960.04</c:v>
                </c:pt>
                <c:pt idx="3">
                  <c:v>7306.9</c:v>
                </c:pt>
                <c:pt idx="4">
                  <c:v>8900.5</c:v>
                </c:pt>
                <c:pt idx="5">
                  <c:v>8855.65</c:v>
                </c:pt>
                <c:pt idx="6">
                  <c:v>10913.22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Storage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5000.41</c:v>
                </c:pt>
                <c:pt idx="1">
                  <c:v>4756</c:v>
                </c:pt>
                <c:pt idx="2">
                  <c:v>4679.66</c:v>
                </c:pt>
                <c:pt idx="3">
                  <c:v>4663.37</c:v>
                </c:pt>
                <c:pt idx="4">
                  <c:v>4758.84</c:v>
                </c:pt>
                <c:pt idx="5">
                  <c:v>4887.15</c:v>
                </c:pt>
                <c:pt idx="6">
                  <c:v>6077.62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Log Analytics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7300.46</c:v>
                </c:pt>
                <c:pt idx="1">
                  <c:v>3692</c:v>
                </c:pt>
                <c:pt idx="2">
                  <c:v>10596.09</c:v>
                </c:pt>
                <c:pt idx="3">
                  <c:v>3911.97</c:v>
                </c:pt>
                <c:pt idx="4">
                  <c:v>1966.89</c:v>
                </c:pt>
                <c:pt idx="5">
                  <c:v>2066.7</c:v>
                </c:pt>
                <c:pt idx="6">
                  <c:v>2306.05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4242.88</c:v>
                </c:pt>
                <c:pt idx="1">
                  <c:v>3549</c:v>
                </c:pt>
                <c:pt idx="2">
                  <c:v>4067.07</c:v>
                </c:pt>
                <c:pt idx="3">
                  <c:v>3938.6</c:v>
                </c:pt>
                <c:pt idx="4">
                  <c:v>4539.7</c:v>
                </c:pt>
                <c:pt idx="5">
                  <c:v>4344.13</c:v>
                </c:pt>
                <c:pt idx="6">
                  <c:v>4847.43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Sentinel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1732.05</c:v>
                </c:pt>
                <c:pt idx="1">
                  <c:v>1468</c:v>
                </c:pt>
                <c:pt idx="2">
                  <c:v>8874.9</c:v>
                </c:pt>
                <c:pt idx="3">
                  <c:v>3278.03</c:v>
                </c:pt>
                <c:pt idx="4">
                  <c:v>1333.2</c:v>
                </c:pt>
                <c:pt idx="5">
                  <c:v>1369.67</c:v>
                </c:pt>
                <c:pt idx="6">
                  <c:v>1467.73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Other services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2265</c:v>
                </c:pt>
                <c:pt idx="1">
                  <c:v>1965</c:v>
                </c:pt>
                <c:pt idx="2">
                  <c:v>2206</c:v>
                </c:pt>
                <c:pt idx="3">
                  <c:v>2059</c:v>
                </c:pt>
                <c:pt idx="4">
                  <c:v>2253.46</c:v>
                </c:pt>
                <c:pt idx="5">
                  <c:v>2467.09</c:v>
                </c:pt>
                <c:pt idx="6">
                  <c:v>2528.47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4634.13</c:v>
                </c:pt>
                <c:pt idx="1">
                  <c:v>3962</c:v>
                </c:pt>
                <c:pt idx="2">
                  <c:v>4345.76</c:v>
                </c:pt>
                <c:pt idx="3">
                  <c:v>4241.64</c:v>
                </c:pt>
                <c:pt idx="4">
                  <c:v>4862.66</c:v>
                </c:pt>
                <c:pt idx="5">
                  <c:v>4595.34</c:v>
                </c:pt>
                <c:pt idx="6">
                  <c:v>5280.59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16903.74</c:v>
                </c:pt>
                <c:pt idx="1">
                  <c:v>12321</c:v>
                </c:pt>
                <c:pt idx="2">
                  <c:v>26897.08</c:v>
                </c:pt>
                <c:pt idx="3">
                  <c:v>14231</c:v>
                </c:pt>
                <c:pt idx="4">
                  <c:v>10755.39</c:v>
                </c:pt>
                <c:pt idx="5">
                  <c:v>10557</c:v>
                </c:pt>
                <c:pt idx="6">
                  <c:v>11092.99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12493.49</c:v>
                </c:pt>
                <c:pt idx="1">
                  <c:v>11171</c:v>
                </c:pt>
                <c:pt idx="2">
                  <c:v>12360.07</c:v>
                </c:pt>
                <c:pt idx="3">
                  <c:v>13593</c:v>
                </c:pt>
                <c:pt idx="4">
                  <c:v>15743.11</c:v>
                </c:pt>
                <c:pt idx="5">
                  <c:v>15398</c:v>
                </c:pt>
                <c:pt idx="6">
                  <c:v>19303.29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CloudOps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872.66</c:v>
                </c:pt>
                <c:pt idx="1">
                  <c:v>555</c:v>
                </c:pt>
                <c:pt idx="2">
                  <c:v>768.67</c:v>
                </c:pt>
                <c:pt idx="3">
                  <c:v>737</c:v>
                </c:pt>
                <c:pt idx="4">
                  <c:v>971.96</c:v>
                </c:pt>
                <c:pt idx="5">
                  <c:v>1089</c:v>
                </c:pt>
                <c:pt idx="6">
                  <c:v>1225.74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DataCloud prod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363.16</c:v>
                </c:pt>
                <c:pt idx="1">
                  <c:v>357</c:v>
                </c:pt>
                <c:pt idx="2">
                  <c:v>397.3</c:v>
                </c:pt>
                <c:pt idx="3">
                  <c:v>336</c:v>
                </c:pt>
                <c:pt idx="4">
                  <c:v>370.22</c:v>
                </c:pt>
                <c:pt idx="5">
                  <c:v>550</c:v>
                </c:pt>
                <c:pt idx="6">
                  <c:v>818.11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DataCloud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188.97</c:v>
                </c:pt>
                <c:pt idx="1">
                  <c:v>169</c:v>
                </c:pt>
                <c:pt idx="2">
                  <c:v>189.53</c:v>
                </c:pt>
                <c:pt idx="3">
                  <c:v>184</c:v>
                </c:pt>
                <c:pt idx="4">
                  <c:v>506.65</c:v>
                </c:pt>
                <c:pt idx="5">
                  <c:v>582</c:v>
                </c:pt>
                <c:pt idx="6">
                  <c:v>573.9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93.22</c:v>
                </c:pt>
                <c:pt idx="1">
                  <c:v>107</c:v>
                </c:pt>
                <c:pt idx="2">
                  <c:v>117.14</c:v>
                </c:pt>
                <c:pt idx="3">
                  <c:v>114</c:v>
                </c:pt>
                <c:pt idx="4">
                  <c:v>268.11</c:v>
                </c:pt>
                <c:pt idx="5">
                  <c:v>407</c:v>
                </c:pt>
                <c:pt idx="6">
                  <c:v>406.88000000000005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Aifactory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854.31</c:v>
                </c:pt>
                <c:pt idx="1">
                  <c:v>3477</c:v>
                </c:pt>
                <c:pt idx="2">
                  <c:v>12632</c:v>
                </c:pt>
                <c:pt idx="3">
                  <c:v>11676</c:v>
                </c:pt>
                <c:pt idx="4">
                  <c:v>13656</c:v>
                </c:pt>
                <c:pt idx="5">
                  <c:v>26342</c:v>
                </c:pt>
                <c:pt idx="6">
                  <c:v>23610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Solugen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936.63</c:v>
                </c:pt>
                <c:pt idx="1">
                  <c:v>917</c:v>
                </c:pt>
                <c:pt idx="2">
                  <c:v>1027</c:v>
                </c:pt>
                <c:pt idx="3">
                  <c:v>2005</c:v>
                </c:pt>
                <c:pt idx="4">
                  <c:v>10657</c:v>
                </c:pt>
                <c:pt idx="5">
                  <c:v>7230.21</c:v>
                </c:pt>
                <c:pt idx="6">
                  <c:v>8858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Document Intelligence (OCR Services)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4231</c:v>
                </c:pt>
                <c:pt idx="1">
                  <c:v>4282</c:v>
                </c:pt>
                <c:pt idx="2">
                  <c:v>3552</c:v>
                </c:pt>
                <c:pt idx="3">
                  <c:v>2152</c:v>
                </c:pt>
                <c:pt idx="4">
                  <c:v>3362</c:v>
                </c:pt>
                <c:pt idx="5">
                  <c:v>6114</c:v>
                </c:pt>
                <c:pt idx="6">
                  <c:v>7277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INSAIT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1063.63</c:v>
                </c:pt>
                <c:pt idx="1">
                  <c:v>1914</c:v>
                </c:pt>
                <c:pt idx="2">
                  <c:v>1365</c:v>
                </c:pt>
                <c:pt idx="3">
                  <c:v>1354</c:v>
                </c:pt>
                <c:pt idx="4">
                  <c:v>1456</c:v>
                </c:pt>
                <c:pt idx="5">
                  <c:v>1604.28</c:v>
                </c:pt>
                <c:pt idx="6">
                  <c:v>1983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API Management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406</c:v>
                </c:pt>
                <c:pt idx="2">
                  <c:v>2848.78</c:v>
                </c:pt>
                <c:pt idx="3">
                  <c:v>3097.66</c:v>
                </c:pt>
                <c:pt idx="4">
                  <c:v>5693.72</c:v>
                </c:pt>
                <c:pt idx="5">
                  <c:v>5513.76</c:v>
                </c:pt>
                <c:pt idx="6">
                  <c:v>6103.43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Foundry Models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6</c:v>
                </c:pt>
                <c:pt idx="2">
                  <c:v>2961.34</c:v>
                </c:pt>
                <c:pt idx="3">
                  <c:v>4151.25</c:v>
                </c:pt>
                <c:pt idx="4">
                  <c:v>1183.1</c:v>
                </c:pt>
                <c:pt idx="5">
                  <c:v>9682.8</c:v>
                </c:pt>
                <c:pt idx="6">
                  <c:v>5641.2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Virtual Machines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487.69</c:v>
                </c:pt>
                <c:pt idx="1">
                  <c:v>1951</c:v>
                </c:pt>
                <c:pt idx="2">
                  <c:v>4361.9</c:v>
                </c:pt>
                <c:pt idx="3">
                  <c:v>1724.33</c:v>
                </c:pt>
                <c:pt idx="4">
                  <c:v>2887.44</c:v>
                </c:pt>
                <c:pt idx="5">
                  <c:v>4556.63</c:v>
                </c:pt>
                <c:pt idx="6">
                  <c:v>4865.47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Azure Cognitive Search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23.43</c:v>
                </c:pt>
                <c:pt idx="1">
                  <c:v>68</c:v>
                </c:pt>
                <c:pt idx="2">
                  <c:v>305.51</c:v>
                </c:pt>
                <c:pt idx="3">
                  <c:v>629.28</c:v>
                </c:pt>
                <c:pt idx="4">
                  <c:v>1166.49</c:v>
                </c:pt>
                <c:pt idx="5">
                  <c:v>1582.03</c:v>
                </c:pt>
                <c:pt idx="6">
                  <c:v>1825.03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Microsoft Defender for Cloud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83.58</c:v>
                </c:pt>
                <c:pt idx="1">
                  <c:v>237</c:v>
                </c:pt>
                <c:pt idx="2">
                  <c:v>535.5</c:v>
                </c:pt>
                <c:pt idx="3">
                  <c:v>143.21</c:v>
                </c:pt>
                <c:pt idx="4">
                  <c:v>401.16</c:v>
                </c:pt>
                <c:pt idx="5">
                  <c:v>1574.44</c:v>
                </c:pt>
                <c:pt idx="6">
                  <c:v>1166.17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Azure Database for PostgreSQL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46.79</c:v>
                </c:pt>
                <c:pt idx="1">
                  <c:v>141</c:v>
                </c:pt>
                <c:pt idx="2">
                  <c:v>356.15</c:v>
                </c:pt>
                <c:pt idx="3">
                  <c:v>489.68</c:v>
                </c:pt>
                <c:pt idx="4">
                  <c:v>790.07</c:v>
                </c:pt>
                <c:pt idx="5">
                  <c:v>1068.76</c:v>
                </c:pt>
                <c:pt idx="6">
                  <c:v>1101.71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212.84999999999997</c:v>
                </c:pt>
                <c:pt idx="1">
                  <c:v>669</c:v>
                </c:pt>
                <c:pt idx="2">
                  <c:v>1260.73</c:v>
                </c:pt>
                <c:pt idx="3">
                  <c:v>1440.16</c:v>
                </c:pt>
                <c:pt idx="4">
                  <c:v>1534.08</c:v>
                </c:pt>
                <c:pt idx="5">
                  <c:v>2364.1500000000005</c:v>
                </c:pt>
                <c:pt idx="6">
                  <c:v>2907.3499999999995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 Subscription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798.75</c:v>
                </c:pt>
                <c:pt idx="1">
                  <c:v>2844</c:v>
                </c:pt>
                <c:pt idx="2">
                  <c:v>10910</c:v>
                </c:pt>
                <c:pt idx="3">
                  <c:v>9522</c:v>
                </c:pt>
                <c:pt idx="4">
                  <c:v>7610.56</c:v>
                </c:pt>
                <c:pt idx="5">
                  <c:v>17286</c:v>
                </c:pt>
                <c:pt idx="6">
                  <c:v>13714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Dev/Test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464</c:v>
                </c:pt>
                <c:pt idx="2">
                  <c:v>1031</c:v>
                </c:pt>
                <c:pt idx="3">
                  <c:v>1368</c:v>
                </c:pt>
                <c:pt idx="4">
                  <c:v>4874.39</c:v>
                </c:pt>
                <c:pt idx="5">
                  <c:v>7063</c:v>
                </c:pt>
                <c:pt idx="6">
                  <c:v>6454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AI Factory prod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55.56</c:v>
                </c:pt>
                <c:pt idx="1">
                  <c:v>169</c:v>
                </c:pt>
                <c:pt idx="2">
                  <c:v>460</c:v>
                </c:pt>
                <c:pt idx="3">
                  <c:v>454</c:v>
                </c:pt>
                <c:pt idx="4">
                  <c:v>575.07</c:v>
                </c:pt>
                <c:pt idx="5">
                  <c:v>814</c:v>
                </c:pt>
                <c:pt idx="6">
                  <c:v>1160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 Factory dev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231</c:v>
                </c:pt>
                <c:pt idx="3">
                  <c:v>332</c:v>
                </c:pt>
                <c:pt idx="4">
                  <c:v>347.57</c:v>
                </c:pt>
                <c:pt idx="5">
                  <c:v>497</c:v>
                </c:pt>
                <c:pt idx="6">
                  <c:v>458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INSAIT Dev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193.18</c:v>
                </c:pt>
                <c:pt idx="5">
                  <c:v>239</c:v>
                </c:pt>
                <c:pt idx="6">
                  <c:v>1339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55.57</c:v>
                </c:pt>
                <c:pt idx="5">
                  <c:v>443</c:v>
                </c:pt>
                <c:pt idx="6">
                  <c:v>485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S0 Custom Pages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3312</c:v>
                </c:pt>
                <c:pt idx="1">
                  <c:v>3720</c:v>
                </c:pt>
                <c:pt idx="2">
                  <c:v>2846</c:v>
                </c:pt>
                <c:pt idx="3">
                  <c:v>1523.49</c:v>
                </c:pt>
                <c:pt idx="4">
                  <c:v>2246.94</c:v>
                </c:pt>
                <c:pt idx="5">
                  <c:v>2764.98</c:v>
                </c:pt>
                <c:pt idx="6">
                  <c:v>2392.32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5.4 opt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941.41</c:v>
                </c:pt>
                <c:pt idx="5">
                  <c:v>6273.8</c:v>
                </c:pt>
                <c:pt idx="6">
                  <c:v>3893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5.4 inp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1056.29</c:v>
                </c:pt>
                <c:pt idx="5">
                  <c:v>4877.16</c:v>
                </c:pt>
                <c:pt idx="6">
                  <c:v>4947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S0 Pre-built Pages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804</c:v>
                </c:pt>
                <c:pt idx="1">
                  <c:v>385</c:v>
                </c:pt>
                <c:pt idx="2">
                  <c:v>521</c:v>
                </c:pt>
                <c:pt idx="3">
                  <c:v>336.11</c:v>
                </c:pt>
                <c:pt idx="4">
                  <c:v>627.22</c:v>
                </c:pt>
                <c:pt idx="5">
                  <c:v>2035.82</c:v>
                </c:pt>
                <c:pt idx="6">
                  <c:v>3385.11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gpt 4o 0513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1145</c:v>
                </c:pt>
                <c:pt idx="1">
                  <c:v>1300</c:v>
                </c:pt>
                <c:pt idx="2">
                  <c:v>1060.02</c:v>
                </c:pt>
                <c:pt idx="3">
                  <c:v>3220.28</c:v>
                </c:pt>
                <c:pt idx="4">
                  <c:v>917</c:v>
                </c:pt>
                <c:pt idx="5">
                  <c:v>261</c:v>
                </c:pt>
                <c:pt idx="6">
                  <c:v>188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gpt 4o 1120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Sheet1!$G$2:$G$8</c:f>
              <c:numCache>
                <c:formatCode>General</c:formatCode>
                <c:ptCount val="7"/>
                <c:pt idx="0">
                  <c:v>6.11</c:v>
                </c:pt>
                <c:pt idx="1">
                  <c:v>524</c:v>
                </c:pt>
                <c:pt idx="2">
                  <c:v>2563.76</c:v>
                </c:pt>
                <c:pt idx="3">
                  <c:v>3081.82</c:v>
                </c:pt>
                <c:pt idx="4">
                  <c:v>253</c:v>
                </c:pt>
                <c:pt idx="5">
                  <c:v>663</c:v>
                </c:pt>
                <c:pt idx="6">
                  <c:v>107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GPT 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Sheet1!$H$2:$H$8</c:f>
              <c:numCache>
                <c:formatCode>General</c:formatCode>
                <c:ptCount val="7"/>
                <c:pt idx="0">
                  <c:v>13.65</c:v>
                </c:pt>
                <c:pt idx="1">
                  <c:v>17</c:v>
                </c:pt>
                <c:pt idx="2">
                  <c:v>272.95</c:v>
                </c:pt>
                <c:pt idx="3">
                  <c:v>971.26</c:v>
                </c:pt>
                <c:pt idx="4">
                  <c:v>5056</c:v>
                </c:pt>
                <c:pt idx="5">
                  <c:v>494</c:v>
                </c:pt>
                <c:pt idx="6">
                  <c:v>1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GPT 5.1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22.62</c:v>
                </c:pt>
                <c:pt idx="3">
                  <c:v>0.21</c:v>
                </c:pt>
                <c:pt idx="4">
                  <c:v>220</c:v>
                </c:pt>
                <c:pt idx="5">
                  <c:v>1946</c:v>
                </c:pt>
                <c:pt idx="6">
                  <c:v>1204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Sheet1!$J$2:$J$8</c:f>
              <c:numCache>
                <c:formatCode>General</c:formatCode>
                <c:ptCount val="7"/>
                <c:pt idx="0">
                  <c:v>481.32</c:v>
                </c:pt>
                <c:pt idx="1">
                  <c:v>846</c:v>
                </c:pt>
                <c:pt idx="2">
                  <c:v>552.18</c:v>
                </c:pt>
                <c:pt idx="3">
                  <c:v>1410.55</c:v>
                </c:pt>
                <c:pt idx="4">
                  <c:v>3611.5500000000006</c:v>
                </c:pt>
                <c:pt idx="5">
                  <c:v>2292.8399999999997</c:v>
                </c:pt>
                <c:pt idx="6">
                  <c:v>3491.7999999999997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Claude Opus 4.6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2866.65</c:v>
                </c:pt>
                <c:pt idx="3">
                  <c:v>4806.49</c:v>
                </c:pt>
                <c:pt idx="4">
                  <c:v>9873.22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Claude Opus 4.8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76.7</c:v>
                </c:pt>
                <c:pt idx="3">
                  <c:v>2024.12</c:v>
                </c:pt>
                <c:pt idx="4">
                  <c:v>11361.86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Claude Opus 4.7</c:v>
                </c:pt>
              </c:strCache>
            </c:strRef>
          </c:tx>
          <c:spPr>
            <a:solidFill>
              <a:srgbClr val="FF9F4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786.79</c:v>
                </c:pt>
                <c:pt idx="3">
                  <c:v>2917.83</c:v>
                </c:pt>
                <c:pt idx="4">
                  <c:v>2438.48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Amazon Bedrock Edition</c:v>
                </c:pt>
              </c:strCache>
            </c:strRef>
          </c:tx>
          <c:spPr>
            <a:solidFill>
              <a:srgbClr val="B07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841</c:v>
                </c:pt>
                <c:pt idx="1">
                  <c:v>1609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Claude Sonnet 4.6</c:v>
                </c:pt>
              </c:strCache>
            </c:strRef>
          </c:tx>
          <c:spPr>
            <a:solidFill>
              <a:srgbClr val="3DDC9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14.53</c:v>
                </c:pt>
                <c:pt idx="3">
                  <c:v>540.41</c:v>
                </c:pt>
                <c:pt idx="4">
                  <c:v>688.26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Claude Opus 5</c:v>
                </c:pt>
              </c:strCache>
            </c:strRef>
          </c:tx>
          <c:spPr>
            <a:solidFill>
              <a:srgbClr val="FF6B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691.45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Claude Haiku 4.5</c:v>
                </c:pt>
              </c:strCache>
            </c:strRef>
          </c:tx>
          <c:spPr>
            <a:solidFill>
              <a:srgbClr val="2AD3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57.15</c:v>
                </c:pt>
                <c:pt idx="3">
                  <c:v>159.32</c:v>
                </c:pt>
                <c:pt idx="4">
                  <c:v>157.37</c:v>
                </c:pt>
              </c:numCache>
            </c:numRef>
          </c:val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Claude Sonnet 4.5</c:v>
                </c:pt>
              </c:strCache>
            </c:strRef>
          </c:tx>
          <c:spPr>
            <a:solidFill>
              <a:srgbClr val="FFB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Sheet1!$I$2:$I$6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9.63</c:v>
                </c:pt>
                <c:pt idx="3">
                  <c:v>58.63</c:v>
                </c:pt>
                <c:pt idx="4">
                  <c:v>77.41</c:v>
                </c:pt>
              </c:numCache>
            </c:numRef>
          </c:val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All other</c:v>
                </c:pt>
              </c:strCache>
            </c:strRef>
          </c:tx>
          <c:spPr>
            <a:solidFill>
              <a:srgbClr val="6C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Mar</c:v>
                  </c:pt>
                  <c:pt idx="1">
                    <c:v>Apr</c:v>
                  </c:pt>
                  <c:pt idx="2">
                    <c:v>May</c:v>
                  </c:pt>
                  <c:pt idx="3">
                    <c:v>Jun</c:v>
                  </c:pt>
                  <c:pt idx="4">
                    <c:v>Jul</c:v>
                  </c:pt>
                </c:lvl>
              </c:multiLvlStrCache>
            </c:multiLvlStrRef>
          </c:cat>
          <c:val>
            <c:numRef>
              <c:f>Sheet1!$J$2:$J$6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0.01</c:v>
                </c:pt>
                <c:pt idx="3">
                  <c:v>0</c:v>
                </c:pt>
                <c:pt idx="4">
                  <c:v>0.28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6467</c:v>
                </c:pt>
                <c:pt idx="1">
                  <c:v>16654</c:v>
                </c:pt>
                <c:pt idx="2">
                  <c:v>19260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Shared resources</c:v>
                </c:pt>
              </c:strCache>
            </c:strRef>
          </c:tx>
          <c:spPr>
            <a:solidFill>
              <a:srgbClr val="2F8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8919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VdiHorizion Prod</c:v>
                </c:pt>
              </c:strCache>
            </c:strRef>
          </c:tx>
          <c:spPr>
            <a:solidFill>
              <a:srgbClr val="3DD9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May</c:v>
                  </c:pt>
                  <c:pt idx="1">
                    <c:v>Jun</c:v>
                  </c:pt>
                  <c:pt idx="2">
                    <c:v>Jul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3304A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1A0B7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70A12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91A0B7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070A12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chart" Target="/ppt/charts/chart1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chart" Target="/ppt/charts/chart16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chart" Target="/ppt/charts/chart19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2.xml"/><Relationship Id="rId2" Type="http://schemas.openxmlformats.org/officeDocument/2006/relationships/chart" Target="/ppt/charts/chart2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spend, the AI shift,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we have taken out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May–July 2026 run-rate, against seven months of consumption · CIO briefing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run-rate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annualised, all three clouds. A pace, not a budget.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only — Marketplace purchases are excluded here and reported separately. AWS is shown gross of the $16,100 July credit, which is explained later in this deck.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691640"/>
            <a:ext cx="5669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$3.4M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457200" y="306324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run-rate today  ·  July consumption × 12, across Azure, AWS and GCP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5643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$641K in three months  ·  +23.2%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92240" y="155448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168249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9340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$186,541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9113368" y="197510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66% of the bill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92240" y="260604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273405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69340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13368" y="302666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bill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492240" y="3657600"/>
            <a:ext cx="524225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3785616"/>
            <a:ext cx="48399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69340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$3,850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9113368" y="4078224"/>
            <a:ext cx="2419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bill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4069080"/>
            <a:ext cx="5669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 IN THREE MONTHS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443984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4361688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added $41,287 a month — AI and data platforms are two thirds of that increase.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" y="4928616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4846320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added $9,868 a month of usage, before Marketplace, which is reported separately.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5413248"/>
            <a:ext cx="64008" cy="64008"/>
          </a:xfrm>
          <a:prstGeom prst="rect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" y="5330952"/>
            <a:ext cx="54955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is a rounding error in absolute terms and the fastest-growing line in percentage terms.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THIS GOES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December is between $3.4M and $5.8M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honest readings of the same data. Which one lands depends on whether May–July was a trend or a rebound.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$5.8M figure annualises Azure growing 13.3% a month, measured May to July. Over the full seven months Azure has grown 3.0% a month — May was a local low, so the short window reads a rebound as a trend. Aug and Sep will tell us which it is. Planning against the middle case is the defensible position.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to December, on each basis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MAY–JUL REPEATS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$5.78M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+70% on today — the v33 projection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SEVEN-MONTH TREND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$4.01M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+18% on today — Azure at 3.0%/mo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JULY SIMPLY REPEATS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$3.40M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— no growth at all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2F8CFF">
              <a:alpha val="8000"/>
            </a:srgbClr>
          </a:solidFill>
          <a:ln w="12700">
            <a:solidFill>
              <a:srgbClr val="2F8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money is doing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sits, where it grew, and one number that did not add up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THE ESTATE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9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 climbing, and AI is climbing faster</a:t>
            </a:r>
            <a:endParaRPr lang="en-US" sz="1909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totals from Azure Cost Management, Commvault annual prepayment excluded so the trend reads as run-rate.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is growing at more than twice the rate of everything else. That is the shift this briefing is about — not the absolute number, but the mix moving underneath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invoiced spend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$500,216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 over the three months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AND DATA PLATFORMS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$192,935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+62.5% — twice the pace of the bill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SHARE OF CONSUMPTION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32.1%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26.4% in May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· SEVEN MONTHS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estate, over seven months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review covers January onwards. It changes how the last three months read.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was already $261K a month. July is $284K. The three-month view starts at April–May, the softest point of the year, which is why it reads so steep. Both are true; only one is a trend.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consumption by cloud, Jan–Jul 2026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$1.71M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$2.9M annualised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TO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+8.5%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months, barely moved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TO JULY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+19.7%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v33 projects from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PROVIDERS ·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spend actually sits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platforms, three clouds, bought separately. Stacked to total AI spend per month.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is not in the chart because it is not split by month on the Azure enrollment. Its July figure is shown here at the gross $25,288 — see the reconciliation two slides on.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platform spend by month — Azure and GCP platforms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SERVICES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$65,604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+38% May to 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+183% May to Jul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 — CLAUDE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$25,288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alone, gross of MAP credit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8092440" y="4663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93608" y="4773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8293608" y="4956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$9,000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8293608" y="5376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in July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AI DEEP DIVE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45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AI bill is not models</a:t>
            </a:r>
            <a:endParaRPr lang="en-US" sz="2545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$152,402 of AI meter spend across tagged projects. Each project's split between models and the infrastructure billed under the same tag.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automatically wrong — inference needs somewhere to run — but it is the part of the AI bill that right-sizing can actually move, and it is the part nobody is looking at.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spend by project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Three-month totals, with the infrastructure share of each tag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772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1188720"/>
                <a:gridCol w="3291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meter spend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AI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Largest driver inside the tag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DataCloud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$43,840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47.3%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$28,358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69.3%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Solugen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$23,855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Models 61.1%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AIFactory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64.8%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Actuary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$13,887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Databricks 55.3%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Research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$12,090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55.8%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595360" y="1234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96528" y="1344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OF THE TOP SIX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796528" y="1527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 50%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96528" y="1947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more on infrastructure than on models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95360" y="2377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96528" y="2487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 TAG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796528" y="2670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$63,609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96528" y="3090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which 64.8% is infrastructure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595360" y="3520440"/>
            <a:ext cx="313913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96528" y="3630168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SINGLE LINE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96528" y="3813048"/>
            <a:ext cx="27367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$17,311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8796528" y="4233672"/>
            <a:ext cx="27367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 — ahead of Foundry Models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THE $16,100 QUESTION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undocumented credit, identified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v33 flagged a $16,100.27 charge on ai-factory-dev that was reversed and never itemised. Cross-referencing the operational data identifies it exactly.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reversed charge is Claude Opus 4.8 in full plus part of Opus 4.6, on ai-factory-dev — and the operational deck names the reason: a MAP contract credit. v33 concluded it was 'not a discount on Claude consumption'; the line-level match says otherwise. Worth confirming with Comm-IT before it is treated as settled, but it is no longer an open mystery.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AWS USAGE, JULY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$92,930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58368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usage as metered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383938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85106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APPLIED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85106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4585106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contract credit, ai-factory-dev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881018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310677" y="1234440"/>
            <a:ext cx="3423818" cy="1188720"/>
          </a:xfrm>
          <a:prstGeom prst="roundRect">
            <a:avLst>
              <a:gd name="adj" fmla="val 4615"/>
            </a:avLst>
          </a:prstGeom>
          <a:solidFill>
            <a:srgbClr val="121B2D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511845" y="1380744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INVOICED BY COMM-IT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11845" y="1655064"/>
            <a:ext cx="30214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$76,830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8511845" y="2093976"/>
            <a:ext cx="30214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actually paid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807757" y="16002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57200" y="2834640"/>
            <a:ext cx="1127729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$16,100.27 sits — July Bedrock consumption, two sources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145536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03120"/>
                <a:gridCol w="1920240"/>
                <a:gridCol w="1554480"/>
                <a:gridCol w="2770632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model, July 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 data (gross)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v33 CIO deck (net)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$11,361.86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entire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$9,873.22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$5,134.81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9F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$4,738.41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 of the line reversed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4.7 · Opus 5 · Sonnet 4.6 · Haiku 4.5 · Sonnet 4.5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$3,362.97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identical in both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$25,288.33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$9,188.06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$16,100.27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matches the credit to the cent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457200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58368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58368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$16,100.27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658368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 4.8 in full, plus part of Opus 4.6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4292498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493666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TO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493666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4493666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88.6% of all July AWS credits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8127797" y="4631436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28965" y="4741164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8328965" y="4924044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</a:t>
            </a:r>
            <a:endParaRPr lang="en-US" sz="2600" dirty="0"/>
          </a:p>
        </p:txBody>
      </p:sp>
      <p:sp>
        <p:nvSpPr>
          <p:cNvPr id="35" name="Text 32"/>
          <p:cNvSpPr/>
          <p:nvPr/>
        </p:nvSpPr>
        <p:spPr>
          <a:xfrm>
            <a:off x="8328965" y="53446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with Comm-IT, then close the v33 item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dwarfs the usage underneath it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is consumption. Security vendors bought, replaced and retired inside the year.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Splunk, CrowdStrike and Trellix land in Q1; TrendAI and Fortinet in June and gone by July; Cortex replaces them. Treating Marketplace as part of the cloud bill makes the trend unreadable — it belongs on its own line in the budget.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 purchases by product, Jan–Jul total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MARKETPLACE,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$1.54M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2.6× regular AWS usage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MARKETPLACE, JAN–JUL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mostly the Databricks prepayment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RECURRING, OF ALL OF IT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~$14K/mo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 and the small tools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and entirely AI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smallest provider by a wide margin, and the fastest growing. All three statements reconcile to their invoices exactly.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passed Compute Engine in July. Every dollar of GCP growth this year is AI — which makes it the cleanest illustration of the shift happening more expensively elsewhere.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GCP, JULY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$3,707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1.4% of the total cloud bill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AI, JULY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$2,359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largest GCP service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8092440" y="3520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93608" y="3630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293608" y="3813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8293608" y="4233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Compute, networking and DNS unchanged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E0A030">
              <a:alpha val="8000"/>
            </a:srgbClr>
          </a:solidFill>
          <a:ln w="12700">
            <a:solidFill>
              <a:srgbClr val="E0A030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waiting costs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gaps that are already priced, and already being paid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buys 59% at a discount — AWS buys 93%</a:t>
            </a:r>
            <a:endParaRPr lang="en-US" sz="195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cloud's compute is actually purchased — the single biggest lever on unit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is the obvious first candidate: it is the largest Azure workload, it has not moved more than a few percent in seven months, and it is almost entirely virtual machines — the flattest, most reservable profile in the estate.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$16,559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$16,364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$35,425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577840" y="123444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77840" y="15087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by purchase option</a:t>
            </a:r>
            <a:endParaRPr lang="en-US" sz="950" dirty="0"/>
          </a:p>
        </p:txBody>
      </p:sp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764792"/>
          <a:ext cx="47548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371600"/>
                <a:gridCol w="10058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Purchase option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$21,690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$21,463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Savings Plan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Spot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$53,314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$21,690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at list price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AZURE MATCHED AWS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~$7,600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monthly saving at 93% coverage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384048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395020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413308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~$91,000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455371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compute alone, nothing switched off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5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 paid in April. 18% of it used.</a:t>
            </a:r>
            <a:endParaRPr lang="en-US" sz="2154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three-year, 600,000 DBU-hour pre-purchase made on 28 April 2026.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$504,000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P3 pre-purchase, 28 Apr 2026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33674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34842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34842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534842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600,000 DBU hours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210148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11316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DRAWN TO JULY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11316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$88,666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411316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not new cash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86621" y="1234440"/>
            <a:ext cx="2647874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7789" y="1344168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 UNDERNEATH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287789" y="1527048"/>
            <a:ext cx="22455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$63,501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287789" y="1947672"/>
            <a:ext cx="224553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 — this part still bills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6600" dirty="0"/>
          </a:p>
        </p:txBody>
      </p:sp>
      <p:sp>
        <p:nvSpPr>
          <p:cNvPr id="25" name="Text 23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utilisation of the Databricks commitment as at July. Databricks compute bills at $0 because it draws against a balance already paid — so it disappears from every consumption report while the money is already gone.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current pace the commitment finishes its three-year term substantially unused — the choice is to drive utilisation up or to renegotiate.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VMs, networking and storage that Databricks runs on are not covered by the pre-purchase and cost $63,501 across May to July alone.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7200" y="5120640"/>
            <a:ext cx="64008" cy="64008"/>
          </a:xfrm>
          <a:prstGeom prst="rect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0936" y="5038344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invisible in a consumption-only view, which is exactly why it belongs in a CIO briefing rather than an operations report.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quarter of the bill has no owner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Project tag on each resource, Azure enrollment.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UNTAGGED, JULY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58368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8.4% in May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92498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3666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AI SPEND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93666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$51,381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493666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$96,843 untagged in total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8127797" y="123444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28965" y="134416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FIELD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328965" y="152704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328965" y="194767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line of the enrollment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468880"/>
            <a:ext cx="11277295" cy="1691640"/>
          </a:xfrm>
          <a:prstGeom prst="roundRect">
            <a:avLst>
              <a:gd name="adj" fmla="val 3243"/>
            </a:avLst>
          </a:prstGeom>
          <a:solidFill>
            <a:srgbClr val="121B2D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2651760"/>
            <a:ext cx="31089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23.4%</a:t>
            </a:r>
            <a:endParaRPr lang="en-US" sz="6600" dirty="0"/>
          </a:p>
        </p:txBody>
      </p:sp>
      <p:sp>
        <p:nvSpPr>
          <p:cNvPr id="21" name="Text 19"/>
          <p:cNvSpPr/>
          <p:nvPr/>
        </p:nvSpPr>
        <p:spPr>
          <a:xfrm>
            <a:off x="4023360" y="2724912"/>
            <a:ext cx="7345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July's Azure spend carries no project tag — up from 8.4% in May. Nearly a quarter of the bill cannot be attributed to a team, which means it cannot be charged back, questioned, or defended.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517136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0936" y="4434840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untagged share tripled in three months — it is getting worse, not better, and it is worst in exactly the AI workloads that are growing fastest.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7200" y="4818888"/>
            <a:ext cx="64008" cy="64008"/>
          </a:xfrm>
          <a:prstGeom prst="rect">
            <a:avLst/>
          </a:prstGeom>
          <a:solidFill>
            <a:srgbClr val="FF6B7A"/>
          </a:solidFill>
          <a:ln w="12700">
            <a:solidFill>
              <a:srgbClr val="FF6B7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" y="4736592"/>
            <a:ext cx="111035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 is the dependency under everything else: no chargeback, no per-consumer budget, and no gateway quota can be enforced without it.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C97">
              <a:alpha val="8000"/>
            </a:srgbClr>
          </a:solidFill>
          <a:ln w="12700">
            <a:solidFill>
              <a:srgbClr val="3DDC9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have already taken out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banked, $193,000 identified and waiting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C97"/>
          </a:solidFill>
          <a:ln w="12700">
            <a:solidFill>
              <a:srgbClr val="3DDC9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 of annual saving, already actioned</a:t>
            </a:r>
            <a:endParaRPr lang="en-US" sz="195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during 2026.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half of the story the previous briefing did not tell: the bill grew 23% in three months, and it would have grown considerably more without these.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savings, by type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53035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630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type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Decommission North Europe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$70,452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$66,783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plan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$65,335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$28,105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$20,576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renewal — blob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$9,432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$7,944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Retire two unused SQL instances on expiring RI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preprod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Service — reserved instance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refund to reach 100% utilisation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126480" y="1234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327648" y="1344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ANNUAL SAVINGS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327648" y="1527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$278,868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327648" y="1947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implemented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126480" y="2377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27648" y="2487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ANNUALISED SPEND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327648" y="2670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9.5%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6327648" y="3090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~$2.9M consumption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6126480" y="3520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27648" y="3630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ACTION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6327648" y="3813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$70,452</a:t>
            </a:r>
            <a:endParaRPr lang="en-US" sz="2600" dirty="0"/>
          </a:p>
        </p:txBody>
      </p:sp>
      <p:sp>
        <p:nvSpPr>
          <p:cNvPr id="21" name="Text 18"/>
          <p:cNvSpPr/>
          <p:nvPr/>
        </p:nvSpPr>
        <p:spPr>
          <a:xfrm>
            <a:off x="6327648" y="4233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Europe decommission — $5,871/mo removed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26480" y="4663440"/>
            <a:ext cx="560801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27648" y="4773168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COMMITMENT-BASED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6327648" y="4956048"/>
            <a:ext cx="5205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$132,118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6327648" y="5376672"/>
            <a:ext cx="52056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reservations and savings plans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E0A030"/>
          </a:solidFill>
          <a:ln w="12700">
            <a:solidFill>
              <a:srgbClr val="E0A03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$193,000 more, costed and waiting on a decision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Identified, not yet implemented. Annualised figures.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this changes what runs — it changes how it is bought and how long it stays on. The ask is a decision on the top four items, which are 66% of the value.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$44,592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 shutdown for 24/7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$36,741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reserved instance purchase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$26,758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$19,854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Azure Database for PostgreSQL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$17,037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reserved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$13,464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unnecessary VMs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$13,147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Idle unattached disks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$7,656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 — Redis Cache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$2,664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 DB right-size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5349240" y="1234440"/>
            <a:ext cx="4526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49240" y="1508760"/>
            <a:ext cx="4526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saving if implemented</a:t>
            </a:r>
            <a:endParaRPr lang="en-US" sz="950" dirty="0"/>
          </a:p>
        </p:txBody>
      </p:sp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1764792"/>
          <a:ext cx="45262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2588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Recommendation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saving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EKS extended support 1.33 — prod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$4,526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SageMaker — check necessity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4" name="Shape 10"/>
          <p:cNvSpPr/>
          <p:nvPr/>
        </p:nvSpPr>
        <p:spPr>
          <a:xfrm>
            <a:off x="457200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58368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POTENTIAL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658368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$193K</a:t>
            </a:r>
            <a:endParaRPr lang="en-US" sz="2600" dirty="0"/>
          </a:p>
        </p:txBody>
      </p:sp>
      <p:sp>
        <p:nvSpPr>
          <p:cNvPr id="17" name="Text 13"/>
          <p:cNvSpPr/>
          <p:nvPr/>
        </p:nvSpPr>
        <p:spPr>
          <a:xfrm>
            <a:off x="658368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annualised, both clouds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4292498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93666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THE COVERAGE GAP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4493666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~$91K</a:t>
            </a:r>
            <a:endParaRPr lang="en-US" sz="2600" dirty="0"/>
          </a:p>
        </p:txBody>
      </p:sp>
      <p:sp>
        <p:nvSpPr>
          <p:cNvPr id="21" name="Text 17"/>
          <p:cNvSpPr/>
          <p:nvPr/>
        </p:nvSpPr>
        <p:spPr>
          <a:xfrm>
            <a:off x="4493666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on-demand at AWS's discount rate</a:t>
            </a:r>
            <a:endParaRPr lang="en-US" sz="950" dirty="0"/>
          </a:p>
        </p:txBody>
      </p:sp>
      <p:sp>
        <p:nvSpPr>
          <p:cNvPr id="22" name="Shape 18"/>
          <p:cNvSpPr/>
          <p:nvPr/>
        </p:nvSpPr>
        <p:spPr>
          <a:xfrm>
            <a:off x="8127797" y="480060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8965" y="491032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BANKED PLUS IDENTIFIED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328965" y="509320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$563K</a:t>
            </a:r>
            <a:endParaRPr lang="en-US" sz="2600" dirty="0"/>
          </a:p>
        </p:txBody>
      </p:sp>
      <p:sp>
        <p:nvSpPr>
          <p:cNvPr id="25" name="Text 21"/>
          <p:cNvSpPr/>
          <p:nvPr/>
        </p:nvSpPr>
        <p:spPr>
          <a:xfrm>
            <a:off x="8328965" y="551383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19% of annualised consumption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B07CFF">
              <a:alpha val="8000"/>
            </a:srgbClr>
          </a:solidFill>
          <a:ln w="12700">
            <a:solidFill>
              <a:srgbClr val="B07C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Stopping it recurring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is a one-off. Governance is what stops the next $600K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MECHANISM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gateway for every AI request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enforcement point, not a reporting layer bolted on afterwards — its logs are the financial record.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every business unit buys AI separately, on shared keys, with no owner per consumer — which is why 23.4% of the bill has no name against it.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DEVELOPERS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applications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Copilots and assistants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agents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SaaS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71255" y="1115568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ESTATE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671255" y="1463040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854135" y="14630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Copilot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671255" y="2121408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54135" y="2121408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Foundry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671255" y="2779776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54135" y="2779776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671255" y="3438144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54135" y="3438144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Vertex AI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671255" y="4096512"/>
            <a:ext cx="3063240" cy="548640"/>
          </a:xfrm>
          <a:prstGeom prst="roundRect">
            <a:avLst>
              <a:gd name="adj" fmla="val 10000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4135" y="4096512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/ OpenAI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840480" y="1463040"/>
            <a:ext cx="4510735" cy="3182112"/>
          </a:xfrm>
          <a:prstGeom prst="roundRect">
            <a:avLst>
              <a:gd name="adj" fmla="val 1724"/>
            </a:avLst>
          </a:prstGeom>
          <a:solidFill>
            <a:srgbClr val="1D2D42"/>
          </a:solidFill>
          <a:ln w="15875">
            <a:solidFill>
              <a:srgbClr val="B07C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23360" y="1627632"/>
            <a:ext cx="414497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Command Center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4023360" y="1956816"/>
            <a:ext cx="4144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enforcement point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023360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87288" y="23317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7288" y="23317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per unit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023360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23360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187288" y="27889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87288" y="27889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023360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023360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187288" y="32461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187288" y="32461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023360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23360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Chargeback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87288" y="3703320"/>
            <a:ext cx="1981048" cy="365760"/>
          </a:xfrm>
          <a:prstGeom prst="roundRect">
            <a:avLst>
              <a:gd name="adj" fmla="val 25000"/>
            </a:avLst>
          </a:prstGeom>
          <a:solidFill>
            <a:srgbClr val="121B2D"/>
          </a:solidFill>
          <a:ln w="9525">
            <a:solidFill>
              <a:srgbClr val="23304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187288" y="3703320"/>
            <a:ext cx="1981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dashboard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4023360" y="4078224"/>
            <a:ext cx="41449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Unauthorised or over-budget requests are filtered out. Governed, cost-allocated requests pass through.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71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reaches production unowned</a:t>
            </a:r>
            <a:endParaRPr lang="en-US" sz="2471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workload goes live without explicit business ownership and financial allocation.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57200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owner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 for the use case and its return.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owner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914400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Deployment, model choice and system health.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14400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financial exposure, set before anything runs.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3511296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5112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3456432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14400" y="3712464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API spam, runaway loops and overload.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78728" y="1536192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78728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735928" y="1481328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735928" y="1737360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 consumption per consumer, independent of budget.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278728" y="2194560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78728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35928" y="2139696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6735928" y="2395728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chargeback possible at month end.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78728" y="2852928"/>
            <a:ext cx="329184" cy="329184"/>
          </a:xfrm>
          <a:prstGeom prst="ellipse">
            <a:avLst/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78728" y="28529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35928" y="2798064"/>
            <a:ext cx="49985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approval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6735928" y="30540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Sign-off before launch, not after the first invoice.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279392"/>
            <a:ext cx="11277295" cy="914400"/>
          </a:xfrm>
          <a:prstGeom prst="roundRect">
            <a:avLst>
              <a:gd name="adj" fmla="val 6000"/>
            </a:avLst>
          </a:prstGeom>
          <a:solidFill>
            <a:srgbClr val="121B2D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40740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shadow AI structurally impossible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85800" y="4700016"/>
            <a:ext cx="108200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at the gateway, these criteria mean an unowned or unfunded workload cannot obtain a key — so it never reaches a provider inside the enterprise network.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gated path from proposal to report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hard checkpoints sit before deployment. A request that cannot clear them does not reach a provider at all.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02 to 05 are the gates. Everything after them is observation, not permission.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case, expected volume and business justification submitted.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340532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41700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126584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6584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3541700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approval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41700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business owner accepts the outcome and the cost.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23864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25032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8009915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09915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6425032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allocation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25032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envelope assigned against a cost centre.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107195" y="1508760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08363" y="1655064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10893247" y="1691640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893247" y="1691640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9308363" y="2039112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assignment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308363" y="2478024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quota and rate limit set per consumer.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7200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2243252" y="3822192"/>
            <a:ext cx="640080" cy="237744"/>
          </a:xfrm>
          <a:prstGeom prst="roundRect">
            <a:avLst>
              <a:gd name="adj" fmla="val 50000"/>
            </a:avLst>
          </a:prstGeom>
          <a:solidFill>
            <a:srgbClr val="3D2B0C"/>
          </a:solidFill>
          <a:ln w="9525">
            <a:solidFill>
              <a:srgbClr val="FF9F4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243252" y="3822192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8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658368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policy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8368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issued, model tier pinned, policy applied.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40532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41700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3541700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3541700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Workload goes live through the gateway, never around it.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23864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25032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900" dirty="0"/>
          </a:p>
        </p:txBody>
      </p:sp>
      <p:sp>
        <p:nvSpPr>
          <p:cNvPr id="42" name="Text 40"/>
          <p:cNvSpPr/>
          <p:nvPr/>
        </p:nvSpPr>
        <p:spPr>
          <a:xfrm>
            <a:off x="6425032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425032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Usage, anomalies and unit cost tracked continuously.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9107195" y="3639312"/>
            <a:ext cx="2627300" cy="1874520"/>
          </a:xfrm>
          <a:prstGeom prst="roundRect">
            <a:avLst>
              <a:gd name="adj" fmla="val 2927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08363" y="378561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900" dirty="0"/>
          </a:p>
        </p:txBody>
      </p:sp>
      <p:sp>
        <p:nvSpPr>
          <p:cNvPr id="46" name="Text 44"/>
          <p:cNvSpPr/>
          <p:nvPr/>
        </p:nvSpPr>
        <p:spPr>
          <a:xfrm>
            <a:off x="9308363" y="4169664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report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9308363" y="4608576"/>
            <a:ext cx="22249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Consumption, variance and value reported monthly.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POLICY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33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Sonnet by default, Opus by exception</a:t>
            </a:r>
            <a:endParaRPr lang="en-US" sz="2333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model selection is the one AI lever that needs no new platform — only a policy.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policy applies to Bedrock: 82% of AWS AI spend is Opus-class, and the model mix changes month to month — Opus 4.8 ran and stopped, Opus 5 appeared in July. That is a policy gap, not a usage pattern.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pricing and intended use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1508760"/>
            <a:ext cx="7680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pricing, valid through 31 August 2026</a:t>
            </a:r>
            <a:endParaRPr lang="en-US" sz="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64792"/>
          <a:ext cx="768096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051560"/>
                <a:gridCol w="1143000"/>
                <a:gridCol w="1188720"/>
                <a:gridCol w="2377440"/>
              </a:tblGrid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 / 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Relative cost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Recommended usage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Sonnet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3DDC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model — routine coding, SQL, debugging, documentation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4.8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 tasks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Claude Opus 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~2.5×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 reasoning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Opus 4.8 Fast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F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~5×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Exception only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8503920" y="1234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05088" y="1344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SAVING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705088" y="1527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8705088" y="1947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C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model token cost, routine work Opus → Sonnet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503920" y="2377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705088" y="2487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SPEND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8705088" y="2670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$29,664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705088" y="3090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May–Jul, growing 183%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8503920" y="3520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705088" y="3630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BEDROCK, OPUS SHARE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705088" y="3813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82.1%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8705088" y="4233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AWS AI spend is Opus-class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8503920" y="4663440"/>
            <a:ext cx="323057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705088" y="4773168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PROMOTIONAL PRICING ENDS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8705088" y="4956048"/>
            <a:ext cx="2828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Aug 2026</a:t>
            </a:r>
            <a:endParaRPr lang="en-US" sz="2600" dirty="0"/>
          </a:p>
        </p:txBody>
      </p:sp>
      <p:sp>
        <p:nvSpPr>
          <p:cNvPr id="26" name="Text 23"/>
          <p:cNvSpPr/>
          <p:nvPr/>
        </p:nvSpPr>
        <p:spPr>
          <a:xfrm>
            <a:off x="8705088" y="5376672"/>
            <a:ext cx="28282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reassess before the date, not after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3DD9EB"/>
          </a:solidFill>
          <a:ln w="12700">
            <a:solidFill>
              <a:srgbClr val="3DD9E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are asking for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items, owners and status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items</a:t>
            </a:r>
            <a:endParaRPr lang="en-US" sz="13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097280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2651760"/>
                <a:gridCol w="5303520"/>
                <a:gridCol w="105156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80" kern="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Savings and efficiency programme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Deliver the Cloud FinOps savings plan — right-sizing, auto-shutdown, reserved instances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Division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WIV.AI rollout (free tier)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the WIV.AI platform for governance, cost and usage monitoring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Tagging by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Complete resource tagging by Service, Application, Cost Center and Environment for chargeback and showback, including AI Gateway and AWS Bedrock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3DD9E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progress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 Oral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FinOps agent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cost analysis, savings recommendations and AWS service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E0A0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Ariel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4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Databricks commitment optimisation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Raise DBU commitment utilisation from 18%, track it monthly, and tune Classic vs Serverless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91A0B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scope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F4F7F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330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B2D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57200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8368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NEEDED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658368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items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658368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$193K recommendation list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4292498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493666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493666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Tagging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4493666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3 blocks chargeback and gateway quotas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127797" y="4361688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328965" y="4471416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CONFIRM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8328965" y="4654296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$16,100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8328965" y="5074920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credit, with Comm-IT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91A0B7">
              <a:alpha val="8000"/>
            </a:srgbClr>
          </a:solidFill>
          <a:ln w="12700">
            <a:solidFill>
              <a:srgbClr val="91A0B7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2651760"/>
            <a:ext cx="8412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operational detail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and project breakdowns, January to July 2026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ACCOUNTS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account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payers sit under AWS. Charges exclude Marketplace purchases, which are shown separately.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linked account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$77K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MAP credit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customers3-prod and horizon-prod both stepped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harel-org-02-root and aws-devTest-digital grew on EC2 and S3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ai-factory-dev carries a MAP contract credit, which is why July nets down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$584K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EC2 - Compute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compute keeps rising month over month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storage and Glacier Deep Archive both up sharply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July dip in 'Other' is the MAP credit, not a usage change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COST CENTRES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cost centre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CostCenter tag.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cost centre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COST CENTRE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cloudops, datacloud and cloudit all 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33425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25196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is the fastest-growing centre in the period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481888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736592"/>
            <a:ext cx="3431743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Agility and Actuary fell back after Q1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SERVICES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service name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total, cut by service. Charges exclude Marketplace purchases.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service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$1.12M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+19% Jan→Jul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33% of the total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110728" y="3657600"/>
            <a:ext cx="360547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MOVED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110728" y="4032504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284464" y="3950208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 Studio drive most of the July step-up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110728" y="4517136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84464" y="4434840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Foundry Tools rise every month from April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110728" y="5001768"/>
            <a:ext cx="64008" cy="64008"/>
          </a:xfrm>
          <a:prstGeom prst="rect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4919472"/>
            <a:ext cx="343174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Network, Log Analytics and Sentinel add to the base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DATACLOUD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DataCloud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largest Azure cost centre, by service and by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Databricks drops to zero from May — that is the reserved capacity purchase taking over, not a workload stopping. Foundry Models and Foundry Tools take its place as the growth line.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$339K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DataCloud prod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SAP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SAP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stable large workload in the estate — and the best candidate for reservations.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Dev/Test costs more than Production every month of the period. Virtual machines are roughly three quarters of the bill and barely vary — a flat, reservable profile.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$294K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Dev/Test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Machines</a:t>
            </a:r>
            <a:endParaRPr lang="en-US" sz="2584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2F8CFF"/>
          </a:solidFill>
          <a:ln w="12700">
            <a:solidFill>
              <a:srgbClr val="2F8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CLOUD IT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centre — Cloud IT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platform services: network, monitoring and security for everyone else.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Analytics and Sentinel drive the March spike; virtual network and storage carry the underlying growth.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$216K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F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SUBSCRIPTION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84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Resources</a:t>
            </a:r>
            <a:endParaRPr lang="en-US" sz="2584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Virtual Network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24% of the total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PROJECTS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projects make up the AI Factory programme. AIFactory itself is more than half of it.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roughly quadruples between January and July. June and July are flat against each other — the first month the programme has not grown.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project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$166K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+489%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PROJECT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Aifactory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CORE PROJECT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project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tag covers far more than models — API Management and VMs are the two largest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what is tagged AI Factory is infrastructure rather than inference. That is not automatically wrong — models need somewhere to run — but it is the part right-sizing can move.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+2664% Jan→Jul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SERVICE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Management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 of the total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actual model spend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service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FACTORY · MODELS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models and tools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model and meter. This is the closest view of what the models themselves cost.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GPT-5.4 input and output become the dominant meters from June. Document intelligence page meters (S0 Custom / Pre-built / Add-on) are the steady base underneath them.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 and meter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JAN–JUL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$87K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+240% Jan→Jul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METER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S0 Custom Pages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FF9F43"/>
          </a:solidFill>
          <a:ln w="12700">
            <a:solidFill>
              <a:srgbClr val="FF9F4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BEDROCK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 by Bedrock service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 consumed through Bedrock by the engineering teams, billed as Marketplace lines.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Opus-class models are the overwhelming majority of Bedrock spend. Model mix changes month to month — Opus 5 appears in July — which is exactly what a model policy is for.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234440"/>
            <a:ext cx="7360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spend by model</a:t>
            </a:r>
            <a:endParaRPr lang="en-US" sz="13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411480" y="1508760"/>
          <a:ext cx="7360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092440" y="1234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93608" y="1344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TOTAL, MAR–JUL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293608" y="1527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8293608" y="1947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9F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+2907% Mar→Jul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92440" y="2377440"/>
            <a:ext cx="3642055" cy="1005840"/>
          </a:xfrm>
          <a:prstGeom prst="roundRect">
            <a:avLst>
              <a:gd name="adj" fmla="val 5455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93608" y="2487168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MODEL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8293608" y="2670048"/>
            <a:ext cx="3239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Opus 4.6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93608" y="3090672"/>
            <a:ext cx="323971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 of the total</a:t>
            </a:r>
            <a:endParaRPr lang="en-US" sz="9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06324"/>
            <a:ext cx="109728" cy="109728"/>
          </a:xfrm>
          <a:prstGeom prst="ellipse">
            <a:avLst/>
          </a:prstGeom>
          <a:solidFill>
            <a:srgbClr val="B07CFF"/>
          </a:solidFill>
          <a:ln w="12700">
            <a:solidFill>
              <a:srgbClr val="B07C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74320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· DEVELOPER AI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and Copilot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321040" y="493776"/>
            <a:ext cx="34134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Developer-facing AI, billed through the Shared Resources subscription.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6355080"/>
            <a:ext cx="112772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36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triples between May and July. Copilot Studio credits appear for the first time in July at $8,919 — no credit applied, billed in full.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MAY–JUL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$42K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658368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7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+198% May→Jul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2498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93666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JULY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3666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$8,919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493666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 month billed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27797" y="1188720"/>
            <a:ext cx="3606698" cy="960120"/>
          </a:xfrm>
          <a:prstGeom prst="roundRect">
            <a:avLst>
              <a:gd name="adj" fmla="val 5714"/>
            </a:avLst>
          </a:prstGeom>
          <a:solidFill>
            <a:srgbClr val="121B2D"/>
          </a:solidFill>
          <a:ln w="12700">
            <a:solidFill>
              <a:srgbClr val="23304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28965" y="1298448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328965" y="1481328"/>
            <a:ext cx="320436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$51K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8328965" y="1901952"/>
            <a:ext cx="320436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1A0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AI, three months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GitHub, by subscription</a:t>
            </a:r>
            <a:endParaRPr lang="en-US" sz="13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411480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/>
          <p:nvPr/>
        </p:nvSpPr>
        <p:spPr>
          <a:xfrm>
            <a:off x="6255868" y="2331720"/>
            <a:ext cx="54786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Studio, by subscription</a:t>
            </a:r>
            <a:endParaRPr lang="en-US" sz="1300" dirty="0"/>
          </a:p>
        </p:txBody>
      </p:sp>
      <p:graphicFrame>
        <p:nvGraphicFramePr>
          <p:cNvPr id="23" name="Chart 1" descr=""/>
          <p:cNvGraphicFramePr/>
          <p:nvPr/>
        </p:nvGraphicFramePr>
        <p:xfrm>
          <a:off x="6210148" y="2606040"/>
          <a:ext cx="5478628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70A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2"/>
          </a:solidFill>
          <a:ln w="12700">
            <a:solidFill>
              <a:srgbClr val="070A1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0" y="-1280160"/>
            <a:ext cx="5852160" cy="5852160"/>
          </a:xfrm>
          <a:prstGeom prst="ellipse">
            <a:avLst/>
          </a:prstGeom>
          <a:solidFill>
            <a:srgbClr val="3DD9EB">
              <a:alpha val="8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0" y="2377440"/>
            <a:ext cx="4754880" cy="4754880"/>
          </a:xfrm>
          <a:prstGeom prst="ellipse">
            <a:avLst/>
          </a:prstGeom>
          <a:solidFill>
            <a:srgbClr val="3DD9EB">
              <a:alpha val="7000"/>
            </a:srgbClr>
          </a:solidFill>
          <a:ln w="12700">
            <a:solidFill>
              <a:srgbClr val="3DD9E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0" y="228600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3DD9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HAREL INSURANCE · CLOUD FINOPS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0" y="2651760"/>
            <a:ext cx="1219169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4F7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8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Harel Insurance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Harel Cloud Cost — CIO briefing, v34</dc:title>
  <dc:subject>PptxGenJS Presentation</dc:subject>
  <dc:creator>Cloud Infrastructure, DevOps &amp; Databases</dc:creator>
  <cp:lastModifiedBy>Cloud Infrastructure, DevOps &amp; Databases</cp:lastModifiedBy>
  <cp:revision>1</cp:revision>
  <dcterms:created xsi:type="dcterms:W3CDTF">2026-08-16T15:49:36Z</dcterms:created>
  <dcterms:modified xsi:type="dcterms:W3CDTF">2026-08-16T15:49:36Z</dcterms:modified>
</cp:coreProperties>
</file>