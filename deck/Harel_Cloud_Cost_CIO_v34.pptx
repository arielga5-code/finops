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Foundry Models, Foundry Tools, GitHub Copilot and
Cowork.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Cowork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 to 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inference needs somewhere to run,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Azure buys 59% at a discount, AWS 93%</a:t>
            </a:r>
            <a:endParaRPr lang="en-US" sz="227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17904"/>
            <a:ext cx="409766" cy="409766"/>
          </a:xfrm>
          <a:prstGeom prst="ellipse">
            <a:avLst/>
          </a:prstGeom>
          <a:solidFill>
            <a:srgbClr val="121B2D"/>
          </a:solidFill>
          <a:ln w="15875">
            <a:solidFill>
              <a:srgbClr val="B07CFF"/>
            </a:solidFill>
            <a:prstDash val="solid"/>
          </a:ln>
        </p:spPr>
      </p:sp>
      <p:sp>
        <p:nvSpPr>
          <p:cNvPr id="8" name="Text 6"/>
          <p:cNvSpPr/>
          <p:nvPr/>
        </p:nvSpPr>
        <p:spPr>
          <a:xfrm>
            <a:off x="457200"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1</a:t>
            </a:r>
            <a:endParaRPr lang="en-US" sz="1618" dirty="0"/>
          </a:p>
        </p:txBody>
      </p:sp>
      <p:sp>
        <p:nvSpPr>
          <p:cNvPr id="9" name="Text 7"/>
          <p:cNvSpPr/>
          <p:nvPr/>
        </p:nvSpPr>
        <p:spPr>
          <a:xfrm>
            <a:off x="1013270" y="1463040"/>
            <a:ext cx="4899698" cy="233122"/>
          </a:xfrm>
          <a:prstGeom prst="rect">
            <a:avLst/>
          </a:prstGeom>
          <a:noFill/>
          <a:ln/>
        </p:spPr>
        <p:txBody>
          <a:bodyPr wrap="square" lIns="0" tIns="0" rIns="0" bIns="0" rtlCol="0" anchor="ctr"/>
          <a:lstStyle/>
          <a:p>
            <a:pPr indent="0" marL="0">
              <a:buNone/>
            </a:pPr>
            <a:r>
              <a:rPr lang="en-US" sz="1468" b="1" dirty="0">
                <a:solidFill>
                  <a:srgbClr val="F4F7FB"/>
                </a:solidFill>
                <a:latin typeface="Calibri" pitchFamily="34" charset="0"/>
                <a:ea typeface="Calibri" pitchFamily="34" charset="-122"/>
                <a:cs typeface="Calibri" pitchFamily="34" charset="-120"/>
              </a:rPr>
              <a:t>Business owner</a:t>
            </a:r>
            <a:endParaRPr lang="en-US" sz="1468" dirty="0"/>
          </a:p>
        </p:txBody>
      </p:sp>
      <p:sp>
        <p:nvSpPr>
          <p:cNvPr id="10" name="Text 8"/>
          <p:cNvSpPr/>
          <p:nvPr/>
        </p:nvSpPr>
        <p:spPr>
          <a:xfrm>
            <a:off x="1013270" y="1741882"/>
            <a:ext cx="4899698" cy="199819"/>
          </a:xfrm>
          <a:prstGeom prst="rect">
            <a:avLst/>
          </a:prstGeom>
          <a:noFill/>
          <a:ln/>
        </p:spPr>
        <p:txBody>
          <a:bodyPr wrap="square" lIns="0" tIns="0" rIns="0" bIns="0" rtlCol="0" anchor="t"/>
          <a:lstStyle/>
          <a:p>
            <a:pPr indent="0" marL="0">
              <a:lnSpc>
                <a:spcPct val="112000"/>
              </a:lnSpc>
              <a:buNone/>
            </a:pPr>
            <a:r>
              <a:rPr lang="en-US" sz="1259" dirty="0">
                <a:solidFill>
                  <a:srgbClr val="91A0B7"/>
                </a:solidFill>
                <a:latin typeface="Calibri" pitchFamily="34" charset="0"/>
                <a:ea typeface="Calibri" pitchFamily="34" charset="-122"/>
                <a:cs typeface="Calibri" pitchFamily="34" charset="-120"/>
              </a:rPr>
              <a:t>Accountability for the use case and its return.</a:t>
            </a:r>
            <a:endParaRPr lang="en-US" sz="1259" dirty="0"/>
          </a:p>
        </p:txBody>
      </p:sp>
      <p:sp>
        <p:nvSpPr>
          <p:cNvPr id="11" name="Text 9"/>
          <p:cNvSpPr/>
          <p:nvPr/>
        </p:nvSpPr>
        <p:spPr>
          <a:xfrm>
            <a:off x="1013270" y="1987421"/>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Record it with the cost centre, so it survives a reorg.</a:t>
            </a:r>
            <a:endParaRPr lang="en-US" sz="1200" dirty="0"/>
          </a:p>
        </p:txBody>
      </p:sp>
      <p:sp>
        <p:nvSpPr>
          <p:cNvPr id="12" name="Shape 10"/>
          <p:cNvSpPr/>
          <p:nvPr/>
        </p:nvSpPr>
        <p:spPr>
          <a:xfrm>
            <a:off x="457200" y="2337435"/>
            <a:ext cx="409766" cy="409766"/>
          </a:xfrm>
          <a:prstGeom prst="ellipse">
            <a:avLst/>
          </a:prstGeom>
          <a:solidFill>
            <a:srgbClr val="121B2D"/>
          </a:solidFill>
          <a:ln w="15875">
            <a:solidFill>
              <a:srgbClr val="B07CFF"/>
            </a:solidFill>
            <a:prstDash val="solid"/>
          </a:ln>
        </p:spPr>
      </p:sp>
      <p:sp>
        <p:nvSpPr>
          <p:cNvPr id="13" name="Text 11"/>
          <p:cNvSpPr/>
          <p:nvPr/>
        </p:nvSpPr>
        <p:spPr>
          <a:xfrm>
            <a:off x="457200"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2</a:t>
            </a:r>
            <a:endParaRPr lang="en-US" sz="1618" dirty="0"/>
          </a:p>
        </p:txBody>
      </p:sp>
      <p:sp>
        <p:nvSpPr>
          <p:cNvPr id="14" name="Text 12"/>
          <p:cNvSpPr/>
          <p:nvPr/>
        </p:nvSpPr>
        <p:spPr>
          <a:xfrm>
            <a:off x="1013270" y="2282571"/>
            <a:ext cx="4899698" cy="233122"/>
          </a:xfrm>
          <a:prstGeom prst="rect">
            <a:avLst/>
          </a:prstGeom>
          <a:noFill/>
          <a:ln/>
        </p:spPr>
        <p:txBody>
          <a:bodyPr wrap="square" lIns="0" tIns="0" rIns="0" bIns="0" rtlCol="0" anchor="ctr"/>
          <a:lstStyle/>
          <a:p>
            <a:pPr indent="0" marL="0">
              <a:buNone/>
            </a:pPr>
            <a:r>
              <a:rPr lang="en-US" sz="1468" b="1" dirty="0">
                <a:solidFill>
                  <a:srgbClr val="F4F7FB"/>
                </a:solidFill>
                <a:latin typeface="Calibri" pitchFamily="34" charset="0"/>
                <a:ea typeface="Calibri" pitchFamily="34" charset="-122"/>
                <a:cs typeface="Calibri" pitchFamily="34" charset="-120"/>
              </a:rPr>
              <a:t>Technical owner</a:t>
            </a:r>
            <a:endParaRPr lang="en-US" sz="1468" dirty="0"/>
          </a:p>
        </p:txBody>
      </p:sp>
      <p:sp>
        <p:nvSpPr>
          <p:cNvPr id="15" name="Text 13"/>
          <p:cNvSpPr/>
          <p:nvPr/>
        </p:nvSpPr>
        <p:spPr>
          <a:xfrm>
            <a:off x="1013270" y="2561413"/>
            <a:ext cx="4899698" cy="199819"/>
          </a:xfrm>
          <a:prstGeom prst="rect">
            <a:avLst/>
          </a:prstGeom>
          <a:noFill/>
          <a:ln/>
        </p:spPr>
        <p:txBody>
          <a:bodyPr wrap="square" lIns="0" tIns="0" rIns="0" bIns="0" rtlCol="0" anchor="t"/>
          <a:lstStyle/>
          <a:p>
            <a:pPr indent="0" marL="0">
              <a:lnSpc>
                <a:spcPct val="112000"/>
              </a:lnSpc>
              <a:buNone/>
            </a:pPr>
            <a:r>
              <a:rPr lang="en-US" sz="1259" dirty="0">
                <a:solidFill>
                  <a:srgbClr val="91A0B7"/>
                </a:solidFill>
                <a:latin typeface="Calibri" pitchFamily="34" charset="0"/>
                <a:ea typeface="Calibri" pitchFamily="34" charset="-122"/>
                <a:cs typeface="Calibri" pitchFamily="34" charset="-120"/>
              </a:rPr>
              <a:t>Deployment, model choice and system health.</a:t>
            </a:r>
            <a:endParaRPr lang="en-US" sz="1259" dirty="0"/>
          </a:p>
        </p:txBody>
      </p:sp>
      <p:sp>
        <p:nvSpPr>
          <p:cNvPr id="16" name="Text 14"/>
          <p:cNvSpPr/>
          <p:nvPr/>
        </p:nvSpPr>
        <p:spPr>
          <a:xfrm>
            <a:off x="1013270" y="2806952"/>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 call for the model, not just the pipeline.</a:t>
            </a:r>
            <a:endParaRPr lang="en-US" sz="1200" dirty="0"/>
          </a:p>
        </p:txBody>
      </p:sp>
      <p:sp>
        <p:nvSpPr>
          <p:cNvPr id="17" name="Shape 15"/>
          <p:cNvSpPr/>
          <p:nvPr/>
        </p:nvSpPr>
        <p:spPr>
          <a:xfrm>
            <a:off x="457200" y="3156966"/>
            <a:ext cx="409766" cy="409766"/>
          </a:xfrm>
          <a:prstGeom prst="ellipse">
            <a:avLst/>
          </a:prstGeom>
          <a:solidFill>
            <a:srgbClr val="121B2D"/>
          </a:solidFill>
          <a:ln w="15875">
            <a:solidFill>
              <a:srgbClr val="B07CFF"/>
            </a:solidFill>
            <a:prstDash val="solid"/>
          </a:ln>
        </p:spPr>
      </p:sp>
      <p:sp>
        <p:nvSpPr>
          <p:cNvPr id="18" name="Text 16"/>
          <p:cNvSpPr/>
          <p:nvPr/>
        </p:nvSpPr>
        <p:spPr>
          <a:xfrm>
            <a:off x="457200"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3</a:t>
            </a:r>
            <a:endParaRPr lang="en-US" sz="1618" dirty="0"/>
          </a:p>
        </p:txBody>
      </p:sp>
      <p:sp>
        <p:nvSpPr>
          <p:cNvPr id="19" name="Text 17"/>
          <p:cNvSpPr/>
          <p:nvPr/>
        </p:nvSpPr>
        <p:spPr>
          <a:xfrm>
            <a:off x="1013270" y="3102102"/>
            <a:ext cx="4899698" cy="233122"/>
          </a:xfrm>
          <a:prstGeom prst="rect">
            <a:avLst/>
          </a:prstGeom>
          <a:noFill/>
          <a:ln/>
        </p:spPr>
        <p:txBody>
          <a:bodyPr wrap="square" lIns="0" tIns="0" rIns="0" bIns="0" rtlCol="0" anchor="ctr"/>
          <a:lstStyle/>
          <a:p>
            <a:pPr indent="0" marL="0">
              <a:buNone/>
            </a:pPr>
            <a:r>
              <a:rPr lang="en-US" sz="1468" b="1" dirty="0">
                <a:solidFill>
                  <a:srgbClr val="F4F7FB"/>
                </a:solidFill>
                <a:latin typeface="Calibri" pitchFamily="34" charset="0"/>
                <a:ea typeface="Calibri" pitchFamily="34" charset="-122"/>
                <a:cs typeface="Calibri" pitchFamily="34" charset="-120"/>
              </a:rPr>
              <a:t>Budget</a:t>
            </a:r>
            <a:endParaRPr lang="en-US" sz="1468" dirty="0"/>
          </a:p>
        </p:txBody>
      </p:sp>
      <p:sp>
        <p:nvSpPr>
          <p:cNvPr id="20" name="Text 18"/>
          <p:cNvSpPr/>
          <p:nvPr/>
        </p:nvSpPr>
        <p:spPr>
          <a:xfrm>
            <a:off x="1013270" y="3380944"/>
            <a:ext cx="4899698" cy="199819"/>
          </a:xfrm>
          <a:prstGeom prst="rect">
            <a:avLst/>
          </a:prstGeom>
          <a:noFill/>
          <a:ln/>
        </p:spPr>
        <p:txBody>
          <a:bodyPr wrap="square" lIns="0" tIns="0" rIns="0" bIns="0" rtlCol="0" anchor="t"/>
          <a:lstStyle/>
          <a:p>
            <a:pPr indent="0" marL="0">
              <a:lnSpc>
                <a:spcPct val="112000"/>
              </a:lnSpc>
              <a:buNone/>
            </a:pPr>
            <a:r>
              <a:rPr lang="en-US" sz="1259" dirty="0">
                <a:solidFill>
                  <a:srgbClr val="91A0B7"/>
                </a:solidFill>
                <a:latin typeface="Calibri" pitchFamily="34" charset="0"/>
                <a:ea typeface="Calibri" pitchFamily="34" charset="-122"/>
                <a:cs typeface="Calibri" pitchFamily="34" charset="-120"/>
              </a:rPr>
              <a:t>Maximum financial exposure, set before anything runs.</a:t>
            </a:r>
            <a:endParaRPr lang="en-US" sz="1259" dirty="0"/>
          </a:p>
        </p:txBody>
      </p:sp>
      <p:sp>
        <p:nvSpPr>
          <p:cNvPr id="21" name="Text 19"/>
          <p:cNvSpPr/>
          <p:nvPr/>
        </p:nvSpPr>
        <p:spPr>
          <a:xfrm>
            <a:off x="1013270" y="3626483"/>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Set the hard quota at 75-85% of budget.</a:t>
            </a:r>
            <a:endParaRPr lang="en-US" sz="1200" dirty="0"/>
          </a:p>
        </p:txBody>
      </p:sp>
      <p:sp>
        <p:nvSpPr>
          <p:cNvPr id="22" name="Shape 20"/>
          <p:cNvSpPr/>
          <p:nvPr/>
        </p:nvSpPr>
        <p:spPr>
          <a:xfrm>
            <a:off x="457200" y="3976497"/>
            <a:ext cx="409766" cy="409766"/>
          </a:xfrm>
          <a:prstGeom prst="ellipse">
            <a:avLst/>
          </a:prstGeom>
          <a:solidFill>
            <a:srgbClr val="121B2D"/>
          </a:solidFill>
          <a:ln w="15875">
            <a:solidFill>
              <a:srgbClr val="B07CFF"/>
            </a:solidFill>
            <a:prstDash val="solid"/>
          </a:ln>
        </p:spPr>
      </p:sp>
      <p:sp>
        <p:nvSpPr>
          <p:cNvPr id="23" name="Text 21"/>
          <p:cNvSpPr/>
          <p:nvPr/>
        </p:nvSpPr>
        <p:spPr>
          <a:xfrm>
            <a:off x="457200" y="3976497"/>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4</a:t>
            </a:r>
            <a:endParaRPr lang="en-US" sz="1618" dirty="0"/>
          </a:p>
        </p:txBody>
      </p:sp>
      <p:sp>
        <p:nvSpPr>
          <p:cNvPr id="24" name="Text 22"/>
          <p:cNvSpPr/>
          <p:nvPr/>
        </p:nvSpPr>
        <p:spPr>
          <a:xfrm>
            <a:off x="1013270" y="3921633"/>
            <a:ext cx="4899698" cy="233122"/>
          </a:xfrm>
          <a:prstGeom prst="rect">
            <a:avLst/>
          </a:prstGeom>
          <a:noFill/>
          <a:ln/>
        </p:spPr>
        <p:txBody>
          <a:bodyPr wrap="square" lIns="0" tIns="0" rIns="0" bIns="0" rtlCol="0" anchor="ctr"/>
          <a:lstStyle/>
          <a:p>
            <a:pPr indent="0" marL="0">
              <a:buNone/>
            </a:pPr>
            <a:r>
              <a:rPr lang="en-US" sz="1468" b="1" dirty="0">
                <a:solidFill>
                  <a:srgbClr val="F4F7FB"/>
                </a:solidFill>
                <a:latin typeface="Calibri" pitchFamily="34" charset="0"/>
                <a:ea typeface="Calibri" pitchFamily="34" charset="-122"/>
                <a:cs typeface="Calibri" pitchFamily="34" charset="-120"/>
              </a:rPr>
              <a:t>Rate limit</a:t>
            </a:r>
            <a:endParaRPr lang="en-US" sz="1468" dirty="0"/>
          </a:p>
        </p:txBody>
      </p:sp>
      <p:sp>
        <p:nvSpPr>
          <p:cNvPr id="25" name="Text 23"/>
          <p:cNvSpPr/>
          <p:nvPr/>
        </p:nvSpPr>
        <p:spPr>
          <a:xfrm>
            <a:off x="1013270" y="4200475"/>
            <a:ext cx="4899698" cy="199819"/>
          </a:xfrm>
          <a:prstGeom prst="rect">
            <a:avLst/>
          </a:prstGeom>
          <a:noFill/>
          <a:ln/>
        </p:spPr>
        <p:txBody>
          <a:bodyPr wrap="square" lIns="0" tIns="0" rIns="0" bIns="0" rtlCol="0" anchor="t"/>
          <a:lstStyle/>
          <a:p>
            <a:pPr indent="0" marL="0">
              <a:lnSpc>
                <a:spcPct val="112000"/>
              </a:lnSpc>
              <a:buNone/>
            </a:pPr>
            <a:r>
              <a:rPr lang="en-US" sz="1259" dirty="0">
                <a:solidFill>
                  <a:srgbClr val="91A0B7"/>
                </a:solidFill>
                <a:latin typeface="Calibri" pitchFamily="34" charset="0"/>
                <a:ea typeface="Calibri" pitchFamily="34" charset="-122"/>
                <a:cs typeface="Calibri" pitchFamily="34" charset="-120"/>
              </a:rPr>
              <a:t>Prevents API spam, runaway loops and overload.</a:t>
            </a:r>
            <a:endParaRPr lang="en-US" sz="1259" dirty="0"/>
          </a:p>
        </p:txBody>
      </p:sp>
      <p:sp>
        <p:nvSpPr>
          <p:cNvPr id="26" name="Text 24"/>
          <p:cNvSpPr/>
          <p:nvPr/>
        </p:nvSpPr>
        <p:spPr>
          <a:xfrm>
            <a:off x="1013270" y="4446014"/>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One key per application, never shared.</a:t>
            </a:r>
            <a:endParaRPr lang="en-US" sz="1200" dirty="0"/>
          </a:p>
        </p:txBody>
      </p:sp>
      <p:sp>
        <p:nvSpPr>
          <p:cNvPr id="27" name="Shape 25"/>
          <p:cNvSpPr/>
          <p:nvPr/>
        </p:nvSpPr>
        <p:spPr>
          <a:xfrm>
            <a:off x="6278728" y="1517904"/>
            <a:ext cx="409766" cy="409766"/>
          </a:xfrm>
          <a:prstGeom prst="ellipse">
            <a:avLst/>
          </a:prstGeom>
          <a:solidFill>
            <a:srgbClr val="121B2D"/>
          </a:solidFill>
          <a:ln w="15875">
            <a:solidFill>
              <a:srgbClr val="B07CFF"/>
            </a:solidFill>
            <a:prstDash val="solid"/>
          </a:ln>
        </p:spPr>
      </p:sp>
      <p:sp>
        <p:nvSpPr>
          <p:cNvPr id="28" name="Text 26"/>
          <p:cNvSpPr/>
          <p:nvPr/>
        </p:nvSpPr>
        <p:spPr>
          <a:xfrm>
            <a:off x="6278728"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5</a:t>
            </a:r>
            <a:endParaRPr lang="en-US" sz="1618" dirty="0"/>
          </a:p>
        </p:txBody>
      </p:sp>
      <p:sp>
        <p:nvSpPr>
          <p:cNvPr id="29" name="Text 27"/>
          <p:cNvSpPr/>
          <p:nvPr/>
        </p:nvSpPr>
        <p:spPr>
          <a:xfrm>
            <a:off x="6834797" y="1463040"/>
            <a:ext cx="4899698" cy="233122"/>
          </a:xfrm>
          <a:prstGeom prst="rect">
            <a:avLst/>
          </a:prstGeom>
          <a:noFill/>
          <a:ln/>
        </p:spPr>
        <p:txBody>
          <a:bodyPr wrap="square" lIns="0" tIns="0" rIns="0" bIns="0" rtlCol="0" anchor="ctr"/>
          <a:lstStyle/>
          <a:p>
            <a:pPr indent="0" marL="0">
              <a:buNone/>
            </a:pPr>
            <a:r>
              <a:rPr lang="en-US" sz="1468" b="1" dirty="0">
                <a:solidFill>
                  <a:srgbClr val="F4F7FB"/>
                </a:solidFill>
                <a:latin typeface="Calibri" pitchFamily="34" charset="0"/>
                <a:ea typeface="Calibri" pitchFamily="34" charset="-122"/>
                <a:cs typeface="Calibri" pitchFamily="34" charset="-120"/>
              </a:rPr>
              <a:t>Token quota</a:t>
            </a:r>
            <a:endParaRPr lang="en-US" sz="1468" dirty="0"/>
          </a:p>
        </p:txBody>
      </p:sp>
      <p:sp>
        <p:nvSpPr>
          <p:cNvPr id="30" name="Text 28"/>
          <p:cNvSpPr/>
          <p:nvPr/>
        </p:nvSpPr>
        <p:spPr>
          <a:xfrm>
            <a:off x="6834797" y="1741882"/>
            <a:ext cx="4899698" cy="199819"/>
          </a:xfrm>
          <a:prstGeom prst="rect">
            <a:avLst/>
          </a:prstGeom>
          <a:noFill/>
          <a:ln/>
        </p:spPr>
        <p:txBody>
          <a:bodyPr wrap="square" lIns="0" tIns="0" rIns="0" bIns="0" rtlCol="0" anchor="t"/>
          <a:lstStyle/>
          <a:p>
            <a:pPr indent="0" marL="0">
              <a:lnSpc>
                <a:spcPct val="112000"/>
              </a:lnSpc>
              <a:buNone/>
            </a:pPr>
            <a:r>
              <a:rPr lang="en-US" sz="1259" dirty="0">
                <a:solidFill>
                  <a:srgbClr val="91A0B7"/>
                </a:solidFill>
                <a:latin typeface="Calibri" pitchFamily="34" charset="0"/>
                <a:ea typeface="Calibri" pitchFamily="34" charset="-122"/>
                <a:cs typeface="Calibri" pitchFamily="34" charset="-120"/>
              </a:rPr>
              <a:t>Caps consumption per consumer, independent of budget.</a:t>
            </a:r>
            <a:endParaRPr lang="en-US" sz="1259" dirty="0"/>
          </a:p>
        </p:txBody>
      </p:sp>
      <p:sp>
        <p:nvSpPr>
          <p:cNvPr id="31" name="Text 29"/>
          <p:cNvSpPr/>
          <p:nvPr/>
        </p:nvSpPr>
        <p:spPr>
          <a:xfrm>
            <a:off x="6834797" y="1987421"/>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Split it by region; each APIM gateway counts alone.</a:t>
            </a:r>
            <a:endParaRPr lang="en-US" sz="1200" dirty="0"/>
          </a:p>
        </p:txBody>
      </p:sp>
      <p:sp>
        <p:nvSpPr>
          <p:cNvPr id="32" name="Shape 30"/>
          <p:cNvSpPr/>
          <p:nvPr/>
        </p:nvSpPr>
        <p:spPr>
          <a:xfrm>
            <a:off x="6278728" y="2337435"/>
            <a:ext cx="409766" cy="409766"/>
          </a:xfrm>
          <a:prstGeom prst="ellipse">
            <a:avLst/>
          </a:prstGeom>
          <a:solidFill>
            <a:srgbClr val="121B2D"/>
          </a:solidFill>
          <a:ln w="15875">
            <a:solidFill>
              <a:srgbClr val="B07CFF"/>
            </a:solidFill>
            <a:prstDash val="solid"/>
          </a:ln>
        </p:spPr>
      </p:sp>
      <p:sp>
        <p:nvSpPr>
          <p:cNvPr id="33" name="Text 31"/>
          <p:cNvSpPr/>
          <p:nvPr/>
        </p:nvSpPr>
        <p:spPr>
          <a:xfrm>
            <a:off x="6278728"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6</a:t>
            </a:r>
            <a:endParaRPr lang="en-US" sz="1618" dirty="0"/>
          </a:p>
        </p:txBody>
      </p:sp>
      <p:sp>
        <p:nvSpPr>
          <p:cNvPr id="34" name="Text 32"/>
          <p:cNvSpPr/>
          <p:nvPr/>
        </p:nvSpPr>
        <p:spPr>
          <a:xfrm>
            <a:off x="6834797" y="2282571"/>
            <a:ext cx="4899698" cy="233122"/>
          </a:xfrm>
          <a:prstGeom prst="rect">
            <a:avLst/>
          </a:prstGeom>
          <a:noFill/>
          <a:ln/>
        </p:spPr>
        <p:txBody>
          <a:bodyPr wrap="square" lIns="0" tIns="0" rIns="0" bIns="0" rtlCol="0" anchor="ctr"/>
          <a:lstStyle/>
          <a:p>
            <a:pPr indent="0" marL="0">
              <a:buNone/>
            </a:pPr>
            <a:r>
              <a:rPr lang="en-US" sz="1468" b="1" dirty="0">
                <a:solidFill>
                  <a:srgbClr val="F4F7FB"/>
                </a:solidFill>
                <a:latin typeface="Calibri" pitchFamily="34" charset="0"/>
                <a:ea typeface="Calibri" pitchFamily="34" charset="-122"/>
                <a:cs typeface="Calibri" pitchFamily="34" charset="-120"/>
              </a:rPr>
              <a:t>Cost centre</a:t>
            </a:r>
            <a:endParaRPr lang="en-US" sz="1468" dirty="0"/>
          </a:p>
        </p:txBody>
      </p:sp>
      <p:sp>
        <p:nvSpPr>
          <p:cNvPr id="35" name="Text 33"/>
          <p:cNvSpPr/>
          <p:nvPr/>
        </p:nvSpPr>
        <p:spPr>
          <a:xfrm>
            <a:off x="6834797" y="2561413"/>
            <a:ext cx="4899698" cy="199819"/>
          </a:xfrm>
          <a:prstGeom prst="rect">
            <a:avLst/>
          </a:prstGeom>
          <a:noFill/>
          <a:ln/>
        </p:spPr>
        <p:txBody>
          <a:bodyPr wrap="square" lIns="0" tIns="0" rIns="0" bIns="0" rtlCol="0" anchor="t"/>
          <a:lstStyle/>
          <a:p>
            <a:pPr indent="0" marL="0">
              <a:lnSpc>
                <a:spcPct val="112000"/>
              </a:lnSpc>
              <a:buNone/>
            </a:pPr>
            <a:r>
              <a:rPr lang="en-US" sz="1259" dirty="0">
                <a:solidFill>
                  <a:srgbClr val="91A0B7"/>
                </a:solidFill>
                <a:latin typeface="Calibri" pitchFamily="34" charset="0"/>
                <a:ea typeface="Calibri" pitchFamily="34" charset="-122"/>
                <a:cs typeface="Calibri" pitchFamily="34" charset="-120"/>
              </a:rPr>
              <a:t>Makes chargeback possible at month end.</a:t>
            </a:r>
            <a:endParaRPr lang="en-US" sz="1259" dirty="0"/>
          </a:p>
        </p:txBody>
      </p:sp>
      <p:sp>
        <p:nvSpPr>
          <p:cNvPr id="36" name="Text 34"/>
          <p:cNvSpPr/>
          <p:nvPr/>
        </p:nvSpPr>
        <p:spPr>
          <a:xfrm>
            <a:off x="6834797" y="2806952"/>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Tag the request at the gateway, not just the resource.</a:t>
            </a:r>
            <a:endParaRPr lang="en-US" sz="1200" dirty="0"/>
          </a:p>
        </p:txBody>
      </p:sp>
      <p:sp>
        <p:nvSpPr>
          <p:cNvPr id="37" name="Shape 35"/>
          <p:cNvSpPr/>
          <p:nvPr/>
        </p:nvSpPr>
        <p:spPr>
          <a:xfrm>
            <a:off x="6278728" y="3156966"/>
            <a:ext cx="409766" cy="409766"/>
          </a:xfrm>
          <a:prstGeom prst="ellipse">
            <a:avLst/>
          </a:prstGeom>
          <a:solidFill>
            <a:srgbClr val="121B2D"/>
          </a:solidFill>
          <a:ln w="15875">
            <a:solidFill>
              <a:srgbClr val="B07CFF"/>
            </a:solidFill>
            <a:prstDash val="solid"/>
          </a:ln>
        </p:spPr>
      </p:sp>
      <p:sp>
        <p:nvSpPr>
          <p:cNvPr id="38" name="Text 36"/>
          <p:cNvSpPr/>
          <p:nvPr/>
        </p:nvSpPr>
        <p:spPr>
          <a:xfrm>
            <a:off x="6278728"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7</a:t>
            </a:r>
            <a:endParaRPr lang="en-US" sz="1618" dirty="0"/>
          </a:p>
        </p:txBody>
      </p:sp>
      <p:sp>
        <p:nvSpPr>
          <p:cNvPr id="39" name="Text 37"/>
          <p:cNvSpPr/>
          <p:nvPr/>
        </p:nvSpPr>
        <p:spPr>
          <a:xfrm>
            <a:off x="6834797" y="3102102"/>
            <a:ext cx="4899698" cy="233122"/>
          </a:xfrm>
          <a:prstGeom prst="rect">
            <a:avLst/>
          </a:prstGeom>
          <a:noFill/>
          <a:ln/>
        </p:spPr>
        <p:txBody>
          <a:bodyPr wrap="square" lIns="0" tIns="0" rIns="0" bIns="0" rtlCol="0" anchor="ctr"/>
          <a:lstStyle/>
          <a:p>
            <a:pPr indent="0" marL="0">
              <a:buNone/>
            </a:pPr>
            <a:r>
              <a:rPr lang="en-US" sz="1468" b="1" dirty="0">
                <a:solidFill>
                  <a:srgbClr val="F4F7FB"/>
                </a:solidFill>
                <a:latin typeface="Calibri" pitchFamily="34" charset="0"/>
                <a:ea typeface="Calibri" pitchFamily="34" charset="-122"/>
                <a:cs typeface="Calibri" pitchFamily="34" charset="-120"/>
              </a:rPr>
              <a:t>Executive approval</a:t>
            </a:r>
            <a:endParaRPr lang="en-US" sz="1468" dirty="0"/>
          </a:p>
        </p:txBody>
      </p:sp>
      <p:sp>
        <p:nvSpPr>
          <p:cNvPr id="40" name="Text 38"/>
          <p:cNvSpPr/>
          <p:nvPr/>
        </p:nvSpPr>
        <p:spPr>
          <a:xfrm>
            <a:off x="6834797" y="3380944"/>
            <a:ext cx="4899698" cy="199819"/>
          </a:xfrm>
          <a:prstGeom prst="rect">
            <a:avLst/>
          </a:prstGeom>
          <a:noFill/>
          <a:ln/>
        </p:spPr>
        <p:txBody>
          <a:bodyPr wrap="square" lIns="0" tIns="0" rIns="0" bIns="0" rtlCol="0" anchor="t"/>
          <a:lstStyle/>
          <a:p>
            <a:pPr indent="0" marL="0">
              <a:lnSpc>
                <a:spcPct val="112000"/>
              </a:lnSpc>
              <a:buNone/>
            </a:pPr>
            <a:r>
              <a:rPr lang="en-US" sz="1259" dirty="0">
                <a:solidFill>
                  <a:srgbClr val="91A0B7"/>
                </a:solidFill>
                <a:latin typeface="Calibri" pitchFamily="34" charset="0"/>
                <a:ea typeface="Calibri" pitchFamily="34" charset="-122"/>
                <a:cs typeface="Calibri" pitchFamily="34" charset="-120"/>
              </a:rPr>
              <a:t>Sign-off before launch, not after the first invoice.</a:t>
            </a:r>
            <a:endParaRPr lang="en-US" sz="1259" dirty="0"/>
          </a:p>
        </p:txBody>
      </p:sp>
      <p:sp>
        <p:nvSpPr>
          <p:cNvPr id="41" name="Text 39"/>
          <p:cNvSpPr/>
          <p:nvPr/>
        </p:nvSpPr>
        <p:spPr>
          <a:xfrm>
            <a:off x="6834797" y="3626483"/>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Re-approve at every model-tier change.</a:t>
            </a:r>
            <a:endParaRPr lang="en-US" sz="1200" dirty="0"/>
          </a:p>
        </p:txBody>
      </p:sp>
      <p:sp>
        <p:nvSpPr>
          <p:cNvPr id="42" name="Shape 40"/>
          <p:cNvSpPr/>
          <p:nvPr/>
        </p:nvSpPr>
        <p:spPr>
          <a:xfrm>
            <a:off x="457200" y="5015484"/>
            <a:ext cx="11277295" cy="1248156"/>
          </a:xfrm>
          <a:prstGeom prst="roundRect">
            <a:avLst>
              <a:gd name="adj" fmla="val 4396"/>
            </a:avLst>
          </a:prstGeom>
          <a:solidFill>
            <a:srgbClr val="121B2D"/>
          </a:solidFill>
          <a:ln w="12700">
            <a:solidFill>
              <a:srgbClr val="B07CFF"/>
            </a:solidFill>
            <a:prstDash val="solid"/>
          </a:ln>
        </p:spPr>
      </p:sp>
      <p:sp>
        <p:nvSpPr>
          <p:cNvPr id="43" name="Text 41"/>
          <p:cNvSpPr/>
          <p:nvPr/>
        </p:nvSpPr>
        <p:spPr>
          <a:xfrm>
            <a:off x="713232" y="5161788"/>
            <a:ext cx="10765231" cy="389329"/>
          </a:xfrm>
          <a:prstGeom prst="rect">
            <a:avLst/>
          </a:prstGeom>
          <a:noFill/>
          <a:ln/>
        </p:spPr>
        <p:txBody>
          <a:bodyPr wrap="square" lIns="0" tIns="0" rIns="0" bIns="0" rtlCol="0" anchor="ctr"/>
          <a:lstStyle/>
          <a:p>
            <a:pPr indent="0" marL="0">
              <a:buNone/>
            </a:pPr>
            <a:r>
              <a:rPr lang="en-US" sz="1992" b="1" dirty="0">
                <a:solidFill>
                  <a:srgbClr val="F4F7FB"/>
                </a:solidFill>
                <a:latin typeface="Calibri" pitchFamily="34" charset="0"/>
                <a:ea typeface="Calibri" pitchFamily="34" charset="-122"/>
                <a:cs typeface="Calibri" pitchFamily="34" charset="-120"/>
              </a:rPr>
              <a:t>This is what makes shadow AI structurally impossible</a:t>
            </a:r>
            <a:endParaRPr lang="en-US" sz="1992" dirty="0"/>
          </a:p>
        </p:txBody>
      </p:sp>
      <p:sp>
        <p:nvSpPr>
          <p:cNvPr id="44" name="Text 42"/>
          <p:cNvSpPr/>
          <p:nvPr/>
        </p:nvSpPr>
        <p:spPr>
          <a:xfrm>
            <a:off x="713232" y="5551117"/>
            <a:ext cx="10765231" cy="566219"/>
          </a:xfrm>
          <a:prstGeom prst="rect">
            <a:avLst/>
          </a:prstGeom>
          <a:noFill/>
          <a:ln/>
        </p:spPr>
        <p:txBody>
          <a:bodyPr wrap="square" lIns="0" tIns="0" rIns="0" bIns="0" rtlCol="0" anchor="t"/>
          <a:lstStyle/>
          <a:p>
            <a:pPr indent="0" marL="0">
              <a:lnSpc>
                <a:spcPct val="118000"/>
              </a:lnSpc>
              <a:buNone/>
            </a:pPr>
            <a:r>
              <a:rPr lang="en-US" sz="1556"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556"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Cowork credits appear for the first time in July at $8,919,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COWORK,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Cowork,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2026-08-18T20:04:54Z</dcterms:created>
  <dcterms:modified xsi:type="dcterms:W3CDTF">2026-08-18T20:04:54Z</dcterms:modified>
</cp:coreProperties>
</file>