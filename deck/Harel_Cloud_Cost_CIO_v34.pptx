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6.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7.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8.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9.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4.xml" ContentType="application/vnd.openxmlformats-officedocument.drawingml.chart+xml"/>
  <Override PartName="/ppt/charts/chart1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6.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9.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20.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Projected at the Jan–Jul pace</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293102</c:v>
                </c:pt>
                <c:pt idx="8">
                  <c:v>302905</c:v>
                </c:pt>
                <c:pt idx="9">
                  <c:v>312972</c:v>
                </c:pt>
                <c:pt idx="10">
                  <c:v>323309</c:v>
                </c:pt>
                <c:pt idx="11">
                  <c:v>333925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Azure</c:v>
                </c:pt>
              </c:strCache>
            </c:strRef>
          </c:tx>
          <c:spPr>
            <a:solidFill>
              <a:srgbClr val="2F8CFF"/>
            </a:solidFill>
            <a:ln w="31750" cap="flat">
              <a:solidFill>
                <a:srgbClr val="2F8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F8CFF"/>
              </a:solidFill>
              <a:ln w="9525" cap="flat">
                <a:solidFill>
                  <a:srgbClr val="2F8CFF"/>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156990</c:v>
                </c:pt>
                <c:pt idx="1">
                  <c:v>135742</c:v>
                </c:pt>
                <c:pt idx="2">
                  <c:v>165199</c:v>
                </c:pt>
                <c:pt idx="3">
                  <c:v>152577</c:v>
                </c:pt>
                <c:pt idx="4">
                  <c:v>152263</c:v>
                </c:pt>
                <c:pt idx="5">
                  <c:v>167406</c:v>
                </c:pt>
                <c:pt idx="6">
                  <c:v>186917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5764</c:v>
                </c:pt>
                <c:pt idx="1">
                  <c:v>6875</c:v>
                </c:pt>
                <c:pt idx="2">
                  <c:v>7840</c:v>
                </c:pt>
                <c:pt idx="3">
                  <c:v>10544</c:v>
                </c:pt>
                <c:pt idx="4">
                  <c:v>14913</c:v>
                </c:pt>
                <c:pt idx="5">
                  <c:v>21609</c:v>
                </c:pt>
                <c:pt idx="6">
                  <c:v>19613</c:v>
                </c:pt>
              </c:numCache>
            </c:numRef>
          </c:val>
        </c:ser>
        <c:ser>
          <c:idx val="1"/>
          <c:order val="1"/>
          <c:tx>
            <c:strRef>
              <c:f>Sheet1!$C$1</c:f>
              <c:strCache>
                <c:ptCount val="1"/>
                <c:pt idx="0">
                  <c:v>GitHub Copilot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2779</c:v>
                </c:pt>
                <c:pt idx="1">
                  <c:v>3618</c:v>
                </c:pt>
                <c:pt idx="2">
                  <c:v>4319</c:v>
                </c:pt>
                <c:pt idx="3">
                  <c:v>4080</c:v>
                </c:pt>
                <c:pt idx="4">
                  <c:v>6467</c:v>
                </c:pt>
                <c:pt idx="5">
                  <c:v>16654</c:v>
                </c:pt>
                <c:pt idx="6">
                  <c:v>19260</c:v>
                </c:pt>
              </c:numCache>
            </c:numRef>
          </c:val>
        </c:ser>
        <c:ser>
          <c:idx val="2"/>
          <c:order val="2"/>
          <c:tx>
            <c:strRef>
              <c:f>Sheet1!$D$1</c:f>
              <c:strCache>
                <c:ptCount val="1"/>
                <c:pt idx="0">
                  <c:v>AWS Bedrock — Claude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841</c:v>
                </c:pt>
                <c:pt idx="3">
                  <c:v>1609</c:v>
                </c:pt>
                <c:pt idx="4">
                  <c:v>3811</c:v>
                </c:pt>
                <c:pt idx="5">
                  <c:v>10507</c:v>
                </c:pt>
                <c:pt idx="6">
                  <c:v>25288</c:v>
                </c:pt>
              </c:numCache>
            </c:numRef>
          </c:val>
        </c:ser>
        <c:ser>
          <c:idx val="3"/>
          <c:order val="3"/>
          <c:tx>
            <c:strRef>
              <c:f>Sheet1!$E$1</c:f>
              <c:strCache>
                <c:ptCount val="1"/>
                <c:pt idx="0">
                  <c:v>Copilot Studio (Cowork)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97</c:v>
                </c:pt>
                <c:pt idx="1">
                  <c:v>100</c:v>
                </c:pt>
                <c:pt idx="2">
                  <c:v>117</c:v>
                </c:pt>
                <c:pt idx="3">
                  <c:v>130</c:v>
                </c:pt>
                <c:pt idx="4">
                  <c:v>80</c:v>
                </c:pt>
                <c:pt idx="5">
                  <c:v>0</c:v>
                </c:pt>
                <c:pt idx="6">
                  <c:v>8920</c:v>
                </c:pt>
              </c:numCache>
            </c:numRef>
          </c:val>
        </c:ser>
        <c:ser>
          <c:idx val="4"/>
          <c:order val="4"/>
          <c:tx>
            <c:strRef>
              <c:f>Sheet1!$F$1</c:f>
              <c:strCache>
                <c:ptCount val="1"/>
                <c:pt idx="0">
                  <c:v>Google Vertex AI</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379</c:v>
                </c:pt>
                <c:pt idx="5">
                  <c:v>958</c:v>
                </c:pt>
                <c:pt idx="6">
                  <c:v>2359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dPt>
            <c:idx val="0"/>
            <c:invertIfNegative val="0"/>
            <c:bubble3D val="0"/>
            <c:spPr>
              <a:solidFill>
                <a:srgbClr val="2F8CFF"/>
              </a:solidFill>
              <a:effectLst/>
            </c:spPr>
          </c:dPt>
          <c:dPt>
            <c:idx val="1"/>
            <c:invertIfNegative val="0"/>
            <c:bubble3D val="0"/>
            <c:spPr>
              <a:solidFill>
                <a:srgbClr val="3DD9EB"/>
              </a:solidFill>
              <a:effectLst/>
            </c:spPr>
          </c:dPt>
          <c:dPt>
            <c:idx val="2"/>
            <c:invertIfNegative val="0"/>
            <c:bubble3D val="0"/>
            <c:spPr>
              <a:solidFill>
                <a:srgbClr val="FF9F43"/>
              </a:solidFill>
              <a:effectLst/>
            </c:spPr>
          </c:dPt>
          <c:dPt>
            <c:idx val="3"/>
            <c:invertIfNegative val="0"/>
            <c:bubble3D val="0"/>
            <c:spPr>
              <a:solidFill>
                <a:srgbClr val="B07CFF"/>
              </a:solidFill>
              <a:effectLst/>
            </c:spPr>
          </c:dPt>
          <c:dPt>
            <c:idx val="4"/>
            <c:invertIfNegative val="0"/>
            <c:bubble3D val="0"/>
            <c:spPr>
              <a:solidFill>
                <a:srgbClr val="3DDC97"/>
              </a:solidFill>
              <a:effectLst/>
            </c:spPr>
          </c:dPt>
          <c:dPt>
            <c:idx val="5"/>
            <c:invertIfNegative val="0"/>
            <c:bubble3D val="0"/>
            <c:spPr>
              <a:solidFill>
                <a:srgbClr val="FF6B7A"/>
              </a:solidFill>
              <a:effectLst/>
            </c:spPr>
          </c:dPt>
          <c:dPt>
            <c:idx val="6"/>
            <c:invertIfNegative val="0"/>
            <c:bubble3D val="0"/>
            <c:spPr>
              <a:solidFill>
                <a:srgbClr val="2AD38C"/>
              </a:solidFill>
              <a:effectLst/>
            </c:spPr>
          </c:dPt>
          <c:dPt>
            <c:idx val="7"/>
            <c:invertIfNegative val="0"/>
            <c:bubble3D val="0"/>
            <c:spPr>
              <a:solidFill>
                <a:srgbClr val="FFB84D"/>
              </a:solidFill>
              <a:effectLst/>
            </c:spPr>
          </c:dPt>
          <c:dPt>
            <c:idx val="8"/>
            <c:invertIfNegative val="0"/>
            <c:bubble3D val="0"/>
            <c:spPr>
              <a:solidFill>
                <a:srgbClr val="6C8CFF"/>
              </a:solidFill>
              <a:effectLst/>
            </c:spPr>
          </c:dPt>
          <c:dPt>
            <c:idx val="9"/>
            <c:invertIfNegative val="0"/>
            <c:bubble3D val="0"/>
            <c:spPr>
              <a:solidFill>
                <a:srgbClr val="8FD8E8"/>
              </a:solidFill>
              <a:effectLst/>
            </c:spPr>
          </c:dPt>
          <c:cat>
            <c:multiLvlStrRef>
              <c:f>Sheet1!$A$2:$A$11</c:f>
              <c:multiLvlStrCache>
                <c:ptCount val="10"/>
                <c:lvl>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lvl>
              </c:multiLvlStrCache>
            </c:multiLvlStrRef>
          </c:cat>
          <c:val>
            <c:numRef>
              <c:f>Sheet1!$B$2:$B$11</c:f>
              <c:numCache>
                <c:formatCode>General</c:formatCode>
                <c:ptCount val="10"/>
                <c:pt idx="0">
                  <c:v>43307.51</c:v>
                </c:pt>
                <c:pt idx="1">
                  <c:v>61998.34</c:v>
                </c:pt>
                <c:pt idx="2">
                  <c:v>70680</c:v>
                </c:pt>
                <c:pt idx="3">
                  <c:v>101662.59</c:v>
                </c:pt>
                <c:pt idx="4">
                  <c:v>142960.14</c:v>
                </c:pt>
                <c:pt idx="5">
                  <c:v>163240.16999999998</c:v>
                </c:pt>
                <c:pt idx="6">
                  <c:v>166293</c:v>
                </c:pt>
                <c:pt idx="7">
                  <c:v>171303</c:v>
                </c:pt>
                <c:pt idx="8">
                  <c:v>257323</c:v>
                </c:pt>
                <c:pt idx="9">
                  <c:v>365018</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0.01</c:v>
                </c:pt>
                <c:pt idx="2">
                  <c:v>378.84</c:v>
                </c:pt>
                <c:pt idx="3">
                  <c:v>957.52</c:v>
                </c:pt>
                <c:pt idx="4">
                  <c:v>2359</c:v>
                </c:pt>
              </c:numCache>
            </c:numRef>
          </c:val>
        </c:ser>
        <c:ser>
          <c:idx val="1"/>
          <c:order val="1"/>
          <c:tx>
            <c:strRef>
              <c:f>Sheet1!$C$1</c:f>
              <c:strCache>
                <c:ptCount val="1"/>
                <c:pt idx="0">
                  <c:v>Compute Engine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221.73</c:v>
                </c:pt>
                <c:pt idx="2">
                  <c:v>714.24</c:v>
                </c:pt>
                <c:pt idx="3">
                  <c:v>977.33</c:v>
                </c:pt>
                <c:pt idx="4">
                  <c:v>1011.51</c:v>
                </c:pt>
              </c:numCache>
            </c:numRef>
          </c:val>
        </c:ser>
        <c:ser>
          <c:idx val="2"/>
          <c:order val="2"/>
          <c:tx>
            <c:strRef>
              <c:f>Sheet1!$D$1</c:f>
              <c:strCache>
                <c:ptCount val="1"/>
                <c:pt idx="0">
                  <c:v>Networking</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74.48</c:v>
                </c:pt>
                <c:pt idx="2">
                  <c:v>311.42</c:v>
                </c:pt>
                <c:pt idx="3">
                  <c:v>303.73</c:v>
                </c:pt>
                <c:pt idx="4">
                  <c:v>310</c:v>
                </c:pt>
              </c:numCache>
            </c:numRef>
          </c:val>
        </c:ser>
        <c:ser>
          <c:idx val="3"/>
          <c:order val="3"/>
          <c:tx>
            <c:strRef>
              <c:f>Sheet1!$E$1</c:f>
              <c:strCache>
                <c:ptCount val="1"/>
                <c:pt idx="0">
                  <c:v>Gemini API</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395.81</c:v>
                </c:pt>
                <c:pt idx="1">
                  <c:v>134.71</c:v>
                </c:pt>
                <c:pt idx="2">
                  <c:v>92.38</c:v>
                </c:pt>
                <c:pt idx="3">
                  <c:v>0</c:v>
                </c:pt>
                <c:pt idx="4">
                  <c:v>0</c:v>
                </c:pt>
              </c:numCache>
            </c:numRef>
          </c:val>
        </c:ser>
        <c:ser>
          <c:idx val="4"/>
          <c:order val="4"/>
          <c:tx>
            <c:strRef>
              <c:f>Sheet1!$F$1</c:f>
              <c:strCache>
                <c:ptCount val="1"/>
                <c:pt idx="0">
                  <c:v>Support</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26.43</c:v>
                </c:pt>
                <c:pt idx="3">
                  <c:v>98.24</c:v>
                </c:pt>
                <c:pt idx="4">
                  <c:v>141.65</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0.06</c:v>
                </c:pt>
                <c:pt idx="1">
                  <c:v>9.23</c:v>
                </c:pt>
                <c:pt idx="2">
                  <c:v>-73.96</c:v>
                </c:pt>
                <c:pt idx="3">
                  <c:v>-117.27</c:v>
                </c:pt>
                <c:pt idx="4">
                  <c:v>-115.11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ser>
        <c:ser>
          <c:idx val="1"/>
          <c:order val="1"/>
          <c:tx>
            <c:strRef>
              <c:f>Sheet1!$C$1</c:f>
              <c:strCache>
                <c:ptCount val="1"/>
                <c:pt idx="0">
                  <c:v>aws-devTest-digital</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ser>
        <c:ser>
          <c:idx val="2"/>
          <c:order val="2"/>
          <c:tx>
            <c:strRef>
              <c:f>Sheet1!$D$1</c:f>
              <c:strCache>
                <c:ptCount val="1"/>
                <c:pt idx="0">
                  <c:v>aws-preProd-digital</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ser>
        <c:ser>
          <c:idx val="3"/>
          <c:order val="3"/>
          <c:tx>
            <c:strRef>
              <c:f>Sheet1!$E$1</c:f>
              <c:strCache>
                <c:ptCount val="1"/>
                <c:pt idx="0">
                  <c:v>aws-foundation-security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8241.01</c:v>
                </c:pt>
                <c:pt idx="1">
                  <c:v>7426.22</c:v>
                </c:pt>
                <c:pt idx="2">
                  <c:v>8018.52</c:v>
                </c:pt>
                <c:pt idx="3">
                  <c:v>7844.99</c:v>
                </c:pt>
                <c:pt idx="4">
                  <c:v>8595.8</c:v>
                </c:pt>
                <c:pt idx="5">
                  <c:v>8586.64</c:v>
                </c:pt>
                <c:pt idx="6">
                  <c:v>8752.36</c:v>
                </c:pt>
              </c:numCache>
            </c:numRef>
          </c:val>
        </c:ser>
        <c:ser>
          <c:idx val="4"/>
          <c:order val="4"/>
          <c:tx>
            <c:strRef>
              <c:f>Sheet1!$F$1</c:f>
              <c:strCache>
                <c:ptCount val="1"/>
                <c:pt idx="0">
                  <c:v>customers3-prod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ser>
        <c:ser>
          <c:idx val="5"/>
          <c:order val="5"/>
          <c:tx>
            <c:strRef>
              <c:f>Sheet1!$G$1</c:f>
              <c:strCache>
                <c:ptCount val="1"/>
                <c:pt idx="0">
                  <c:v>cloudops-network</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ser>
        <c:ser>
          <c:idx val="6"/>
          <c:order val="6"/>
          <c:tx>
            <c:strRef>
              <c:f>Sheet1!$H$1</c:f>
              <c:strCache>
                <c:ptCount val="1"/>
                <c:pt idx="0">
                  <c:v>aws-foundation-sharedservices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ser>
        <c:ser>
          <c:idx val="7"/>
          <c:order val="7"/>
          <c:tx>
            <c:strRef>
              <c:f>Sheet1!$I$1</c:f>
              <c:strCache>
                <c:ptCount val="1"/>
                <c:pt idx="0">
                  <c:v>Harel Insurance</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6065.71</c:v>
                </c:pt>
                <c:pt idx="1">
                  <c:v>3782.04</c:v>
                </c:pt>
                <c:pt idx="2">
                  <c:v>6397.95</c:v>
                </c:pt>
                <c:pt idx="3">
                  <c:v>8584.51</c:v>
                </c:pt>
                <c:pt idx="4">
                  <c:v>3830.37</c:v>
                </c:pt>
                <c:pt idx="5">
                  <c:v>6197.57</c:v>
                </c:pt>
                <c:pt idx="6">
                  <c:v>5139.86</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6260.39</c:v>
                </c:pt>
                <c:pt idx="1">
                  <c:v>7002.899999999999</c:v>
                </c:pt>
                <c:pt idx="2">
                  <c:v>12141.12</c:v>
                </c:pt>
                <c:pt idx="3">
                  <c:v>5862.049999999999</c:v>
                </c:pt>
                <c:pt idx="4">
                  <c:v>5790.1100000000015</c:v>
                </c:pt>
                <c:pt idx="5">
                  <c:v>7274.5199999999995</c:v>
                </c:pt>
                <c:pt idx="6">
                  <c:v>-6323.640000000001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31180.69</c:v>
                </c:pt>
                <c:pt idx="1">
                  <c:v>28236.72</c:v>
                </c:pt>
                <c:pt idx="2">
                  <c:v>32994.93</c:v>
                </c:pt>
                <c:pt idx="3">
                  <c:v>32045.93</c:v>
                </c:pt>
                <c:pt idx="4">
                  <c:v>35082.64</c:v>
                </c:pt>
                <c:pt idx="5">
                  <c:v>33427.89</c:v>
                </c:pt>
                <c:pt idx="6">
                  <c:v>35426.33</c:v>
                </c:pt>
              </c:numCache>
            </c:numRef>
          </c:val>
        </c:ser>
        <c:ser>
          <c:idx val="1"/>
          <c:order val="1"/>
          <c:tx>
            <c:strRef>
              <c:f>Sheet1!$C$1</c:f>
              <c:strCache>
                <c:ptCount val="1"/>
                <c:pt idx="0">
                  <c:v>Business Support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3876.88</c:v>
                </c:pt>
                <c:pt idx="1">
                  <c:v>4268.96</c:v>
                </c:pt>
                <c:pt idx="2">
                  <c:v>4581.17</c:v>
                </c:pt>
                <c:pt idx="3">
                  <c:v>4108.04</c:v>
                </c:pt>
                <c:pt idx="4">
                  <c:v>4478.1</c:v>
                </c:pt>
                <c:pt idx="5">
                  <c:v>4839.14</c:v>
                </c:pt>
                <c:pt idx="6">
                  <c:v>5893.49</c:v>
                </c:pt>
              </c:numCache>
            </c:numRef>
          </c:val>
        </c:ser>
        <c:ser>
          <c:idx val="2"/>
          <c:order val="2"/>
          <c:tx>
            <c:strRef>
              <c:f>Sheet1!$D$1</c:f>
              <c:strCache>
                <c:ptCount val="1"/>
                <c:pt idx="0">
                  <c:v>S3 - 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1978.49</c:v>
                </c:pt>
                <c:pt idx="1">
                  <c:v>13276.31</c:v>
                </c:pt>
                <c:pt idx="2">
                  <c:v>5868.01</c:v>
                </c:pt>
                <c:pt idx="3">
                  <c:v>2134.47</c:v>
                </c:pt>
                <c:pt idx="4">
                  <c:v>2249.46</c:v>
                </c:pt>
                <c:pt idx="5">
                  <c:v>2370.09</c:v>
                </c:pt>
                <c:pt idx="6">
                  <c:v>2324.71</c:v>
                </c:pt>
              </c:numCache>
            </c:numRef>
          </c:val>
        </c:ser>
        <c:ser>
          <c:idx val="3"/>
          <c:order val="3"/>
          <c:tx>
            <c:strRef>
              <c:f>Sheet1!$E$1</c:f>
              <c:strCache>
                <c:ptCount val="1"/>
                <c:pt idx="0">
                  <c:v>Virtual Private Cloud - Transit Gateway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3925.73</c:v>
                </c:pt>
                <c:pt idx="1">
                  <c:v>3570.88</c:v>
                </c:pt>
                <c:pt idx="2">
                  <c:v>3963.99</c:v>
                </c:pt>
                <c:pt idx="3">
                  <c:v>3878.04</c:v>
                </c:pt>
                <c:pt idx="4">
                  <c:v>4428.68</c:v>
                </c:pt>
                <c:pt idx="5">
                  <c:v>4573.6</c:v>
                </c:pt>
                <c:pt idx="6">
                  <c:v>4657.27</c:v>
                </c:pt>
              </c:numCache>
            </c:numRef>
          </c:val>
        </c:ser>
        <c:ser>
          <c:idx val="4"/>
          <c:order val="4"/>
          <c:tx>
            <c:strRef>
              <c:f>Sheet1!$F$1</c:f>
              <c:strCache>
                <c:ptCount val="1"/>
                <c:pt idx="0">
                  <c:v>RDS - Compute</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ser>
        <c:ser>
          <c:idx val="5"/>
          <c:order val="5"/>
          <c:tx>
            <c:strRef>
              <c:f>Sheet1!$G$1</c:f>
              <c:strCache>
                <c:ptCount val="1"/>
                <c:pt idx="0">
                  <c:v>Direct Connect - Port Hours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3794.4</c:v>
                </c:pt>
                <c:pt idx="1">
                  <c:v>3427.2</c:v>
                </c:pt>
                <c:pt idx="2">
                  <c:v>3794.4</c:v>
                </c:pt>
                <c:pt idx="3">
                  <c:v>3672</c:v>
                </c:pt>
                <c:pt idx="4">
                  <c:v>3794.4</c:v>
                </c:pt>
                <c:pt idx="5">
                  <c:v>3672</c:v>
                </c:pt>
                <c:pt idx="6">
                  <c:v>3794.4</c:v>
                </c:pt>
              </c:numCache>
            </c:numRef>
          </c:val>
        </c:ser>
        <c:ser>
          <c:idx val="6"/>
          <c:order val="6"/>
          <c:tx>
            <c:strRef>
              <c:f>Sheet1!$H$1</c:f>
              <c:strCache>
                <c:ptCount val="1"/>
                <c:pt idx="0">
                  <c:v>CloudWatch Log Groups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ser>
        <c:ser>
          <c:idx val="7"/>
          <c:order val="7"/>
          <c:tx>
            <c:strRef>
              <c:f>Sheet1!$I$1</c:f>
              <c:strCache>
                <c:ptCount val="1"/>
                <c:pt idx="0">
                  <c:v>all other services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21656.71000000001</c:v>
                </c:pt>
                <c:pt idx="1">
                  <c:v>19648.1</c:v>
                </c:pt>
                <c:pt idx="2">
                  <c:v>34523.78</c:v>
                </c:pt>
                <c:pt idx="3">
                  <c:v>27513.360000000008</c:v>
                </c:pt>
                <c:pt idx="4">
                  <c:v>24430.3</c:v>
                </c:pt>
                <c:pt idx="5">
                  <c:v>28735.639999999996</c:v>
                </c:pt>
                <c:pt idx="6">
                  <c:v>16111.090000000006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ser>
        <c:ser>
          <c:idx val="1"/>
          <c:order val="1"/>
          <c:tx>
            <c:strRef>
              <c:f>Sheet1!$C$1</c:f>
              <c:strCache>
                <c:ptCount val="1"/>
                <c:pt idx="0">
                  <c:v>sap</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ser>
        <c:ser>
          <c:idx val="2"/>
          <c:order val="2"/>
          <c:tx>
            <c:strRef>
              <c:f>Sheet1!$D$1</c:f>
              <c:strCache>
                <c:ptCount val="1"/>
                <c:pt idx="0">
                  <c:v>cloudit</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ser>
        <c:ser>
          <c:idx val="3"/>
          <c:order val="3"/>
          <c:tx>
            <c:strRef>
              <c:f>Sheet1!$E$1</c:f>
              <c:strCache>
                <c:ptCount val="1"/>
                <c:pt idx="0">
                  <c:v>aifactory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ser>
        <c:ser>
          <c:idx val="4"/>
          <c:order val="4"/>
          <c:tx>
            <c:strRef>
              <c:f>Sheet1!$F$1</c:f>
              <c:strCache>
                <c:ptCount val="1"/>
                <c:pt idx="0">
                  <c:v>other</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4371</c:v>
                </c:pt>
                <c:pt idx="1">
                  <c:v>5240</c:v>
                </c:pt>
                <c:pt idx="2">
                  <c:v>5614</c:v>
                </c:pt>
                <c:pt idx="3">
                  <c:v>5760</c:v>
                </c:pt>
                <c:pt idx="4">
                  <c:v>8681.34</c:v>
                </c:pt>
                <c:pt idx="5">
                  <c:v>18094</c:v>
                </c:pt>
                <c:pt idx="6">
                  <c:v>22410</c:v>
                </c:pt>
              </c:numCache>
            </c:numRef>
          </c:val>
        </c:ser>
        <c:ser>
          <c:idx val="5"/>
          <c:order val="5"/>
          <c:tx>
            <c:strRef>
              <c:f>Sheet1!$G$1</c:f>
              <c:strCache>
                <c:ptCount val="1"/>
                <c:pt idx="0">
                  <c:v>actuary</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15102</c:v>
                </c:pt>
                <c:pt idx="1">
                  <c:v>4959.24</c:v>
                </c:pt>
                <c:pt idx="2">
                  <c:v>3549</c:v>
                </c:pt>
                <c:pt idx="3">
                  <c:v>5341</c:v>
                </c:pt>
                <c:pt idx="4">
                  <c:v>4672</c:v>
                </c:pt>
                <c:pt idx="5">
                  <c:v>2733</c:v>
                </c:pt>
                <c:pt idx="6">
                  <c:v>4058</c:v>
                </c:pt>
              </c:numCache>
            </c:numRef>
          </c:val>
        </c:ser>
        <c:ser>
          <c:idx val="6"/>
          <c:order val="6"/>
          <c:tx>
            <c:strRef>
              <c:f>Sheet1!$H$1</c:f>
              <c:strCache>
                <c:ptCount val="1"/>
                <c:pt idx="0">
                  <c:v>Risk Agility</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13063</c:v>
                </c:pt>
                <c:pt idx="1">
                  <c:v>5274</c:v>
                </c:pt>
                <c:pt idx="2">
                  <c:v>2617</c:v>
                </c:pt>
                <c:pt idx="3">
                  <c:v>5768</c:v>
                </c:pt>
                <c:pt idx="4">
                  <c:v>2842</c:v>
                </c:pt>
                <c:pt idx="5">
                  <c:v>1031</c:v>
                </c:pt>
                <c:pt idx="6">
                  <c:v>1032</c:v>
                </c:pt>
              </c:numCache>
            </c:numRef>
          </c:val>
        </c:ser>
        <c:ser>
          <c:idx val="7"/>
          <c:order val="7"/>
          <c:tx>
            <c:strRef>
              <c:f>Sheet1!$I$1</c:f>
              <c:strCache>
                <c:ptCount val="1"/>
                <c:pt idx="0">
                  <c:v>itsec</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2082</c:v>
                </c:pt>
                <c:pt idx="1">
                  <c:v>1733.66</c:v>
                </c:pt>
                <c:pt idx="2">
                  <c:v>1908</c:v>
                </c:pt>
                <c:pt idx="3">
                  <c:v>1897.79</c:v>
                </c:pt>
                <c:pt idx="4">
                  <c:v>2047</c:v>
                </c:pt>
                <c:pt idx="5">
                  <c:v>2059</c:v>
                </c:pt>
                <c:pt idx="6">
                  <c:v>2221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24139.41</c:v>
                </c:pt>
                <c:pt idx="1">
                  <c:v>22951</c:v>
                </c:pt>
                <c:pt idx="2">
                  <c:v>22458.08</c:v>
                </c:pt>
                <c:pt idx="3">
                  <c:v>22680.51</c:v>
                </c:pt>
                <c:pt idx="4">
                  <c:v>24615.18</c:v>
                </c:pt>
                <c:pt idx="5">
                  <c:v>25022.53</c:v>
                </c:pt>
                <c:pt idx="6">
                  <c:v>26364.22</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12726.23</c:v>
                </c:pt>
                <c:pt idx="1">
                  <c:v>12145</c:v>
                </c:pt>
                <c:pt idx="2">
                  <c:v>14087.61</c:v>
                </c:pt>
                <c:pt idx="3">
                  <c:v>15311.83</c:v>
                </c:pt>
                <c:pt idx="4">
                  <c:v>18338.27</c:v>
                </c:pt>
                <c:pt idx="5">
                  <c:v>18564.99</c:v>
                </c:pt>
                <c:pt idx="6">
                  <c:v>21999.6</c:v>
                </c:pt>
              </c:numCache>
            </c:numRef>
          </c:val>
        </c:ser>
        <c:ser>
          <c:idx val="3"/>
          <c:order val="3"/>
          <c:tx>
            <c:strRef>
              <c:f>Sheet1!$E$1</c:f>
              <c:strCache>
                <c:ptCount val="1"/>
                <c:pt idx="0">
                  <c:v>Other services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11748.56</c:v>
                </c:pt>
                <c:pt idx="1">
                  <c:v>10773</c:v>
                </c:pt>
                <c:pt idx="2">
                  <c:v>12318.12</c:v>
                </c:pt>
                <c:pt idx="3">
                  <c:v>12412.59</c:v>
                </c:pt>
                <c:pt idx="4">
                  <c:v>15149.61</c:v>
                </c:pt>
                <c:pt idx="5">
                  <c:v>18338.58</c:v>
                </c:pt>
                <c:pt idx="6">
                  <c:v>20600.18</c:v>
                </c:pt>
              </c:numCache>
            </c:numRef>
          </c:val>
        </c:ser>
        <c:ser>
          <c:idx val="4"/>
          <c:order val="4"/>
          <c:tx>
            <c:strRef>
              <c:f>Sheet1!$F$1</c:f>
              <c:strCache>
                <c:ptCount val="1"/>
                <c:pt idx="0">
                  <c:v>Azure Databricks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24556.13</c:v>
                </c:pt>
                <c:pt idx="1">
                  <c:v>18645</c:v>
                </c:pt>
                <c:pt idx="2">
                  <c:v>22427.89</c:v>
                </c:pt>
                <c:pt idx="3">
                  <c:v>19936.33</c:v>
                </c:pt>
                <c:pt idx="4">
                  <c:v>0</c:v>
                </c:pt>
                <c:pt idx="5">
                  <c:v>0</c:v>
                </c:pt>
                <c:pt idx="6">
                  <c:v>0</c:v>
                </c:pt>
              </c:numCache>
            </c:numRef>
          </c:val>
        </c:ser>
        <c:ser>
          <c:idx val="5"/>
          <c:order val="5"/>
          <c:tx>
            <c:strRef>
              <c:f>Sheet1!$G$1</c:f>
              <c:strCache>
                <c:ptCount val="1"/>
                <c:pt idx="0">
                  <c:v>GitHub</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ser>
        <c:ser>
          <c:idx val="6"/>
          <c:order val="6"/>
          <c:tx>
            <c:strRef>
              <c:f>Sheet1!$H$1</c:f>
              <c:strCache>
                <c:ptCount val="1"/>
                <c:pt idx="0">
                  <c:v>Foundry Models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1353.37</c:v>
                </c:pt>
                <c:pt idx="1">
                  <c:v>2260</c:v>
                </c:pt>
                <c:pt idx="2">
                  <c:v>4236.35</c:v>
                </c:pt>
                <c:pt idx="3">
                  <c:v>8369.39</c:v>
                </c:pt>
                <c:pt idx="4">
                  <c:v>11512.76</c:v>
                </c:pt>
                <c:pt idx="5">
                  <c:v>15453.34</c:v>
                </c:pt>
                <c:pt idx="6">
                  <c:v>12291.25</c:v>
                </c:pt>
              </c:numCache>
            </c:numRef>
          </c:val>
        </c:ser>
        <c:ser>
          <c:idx val="7"/>
          <c:order val="7"/>
          <c:tx>
            <c:strRef>
              <c:f>Sheet1!$I$1</c:f>
              <c:strCache>
                <c:ptCount val="1"/>
                <c:pt idx="0">
                  <c:v>Log Analytics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13619.52</c:v>
                </c:pt>
                <c:pt idx="1">
                  <c:v>13118</c:v>
                </c:pt>
                <c:pt idx="2">
                  <c:v>21913.22</c:v>
                </c:pt>
                <c:pt idx="3">
                  <c:v>14372.410000000002</c:v>
                </c:pt>
                <c:pt idx="4">
                  <c:v>16509.63</c:v>
                </c:pt>
                <c:pt idx="5">
                  <c:v>18865.080000000005</c:v>
                </c:pt>
                <c:pt idx="6">
                  <c:v>30407.2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ser>
        <c:ser>
          <c:idx val="1"/>
          <c:order val="1"/>
          <c:tx>
            <c:strRef>
              <c:f>Sheet1!$C$1</c:f>
              <c:strCache>
                <c:ptCount val="1"/>
                <c:pt idx="0">
                  <c:v>Azure Databricks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13661.81</c:v>
                </c:pt>
                <c:pt idx="1">
                  <c:v>14023</c:v>
                </c:pt>
                <c:pt idx="2">
                  <c:v>19412</c:v>
                </c:pt>
                <c:pt idx="3">
                  <c:v>16633.53</c:v>
                </c:pt>
                <c:pt idx="4">
                  <c:v>0</c:v>
                </c:pt>
                <c:pt idx="5">
                  <c:v>0</c:v>
                </c:pt>
                <c:pt idx="6">
                  <c:v>0</c:v>
                </c:pt>
              </c:numCache>
            </c:numRef>
          </c:val>
        </c:ser>
        <c:ser>
          <c:idx val="2"/>
          <c:order val="2"/>
          <c:tx>
            <c:strRef>
              <c:f>Sheet1!$D$1</c:f>
              <c:strCache>
                <c:ptCount val="1"/>
                <c:pt idx="0">
                  <c:v>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5134.31</c:v>
                </c:pt>
                <c:pt idx="1">
                  <c:v>5630</c:v>
                </c:pt>
                <c:pt idx="2">
                  <c:v>5747</c:v>
                </c:pt>
                <c:pt idx="3">
                  <c:v>5515.42</c:v>
                </c:pt>
                <c:pt idx="4">
                  <c:v>6124.59</c:v>
                </c:pt>
                <c:pt idx="5">
                  <c:v>6488.31</c:v>
                </c:pt>
                <c:pt idx="6">
                  <c:v>6847.08</c:v>
                </c:pt>
              </c:numCache>
            </c:numRef>
          </c:val>
        </c:ser>
        <c:ser>
          <c:idx val="3"/>
          <c:order val="3"/>
          <c:tx>
            <c:strRef>
              <c:f>Sheet1!$E$1</c:f>
              <c:strCache>
                <c:ptCount val="1"/>
                <c:pt idx="0">
                  <c:v>Virtual Network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ser>
        <c:ser>
          <c:idx val="4"/>
          <c:order val="4"/>
          <c:tx>
            <c:strRef>
              <c:f>Sheet1!$F$1</c:f>
              <c:strCache>
                <c:ptCount val="1"/>
                <c:pt idx="0">
                  <c:v>Foundry Models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1347.06</c:v>
                </c:pt>
                <c:pt idx="1">
                  <c:v>2243</c:v>
                </c:pt>
                <c:pt idx="2">
                  <c:v>1274.47</c:v>
                </c:pt>
                <c:pt idx="3">
                  <c:v>4218.08</c:v>
                </c:pt>
                <c:pt idx="4">
                  <c:v>10329.63</c:v>
                </c:pt>
                <c:pt idx="5">
                  <c:v>5769.96</c:v>
                </c:pt>
                <c:pt idx="6">
                  <c:v>6649.77</c:v>
                </c:pt>
              </c:numCache>
            </c:numRef>
          </c:val>
        </c:ser>
        <c:ser>
          <c:idx val="5"/>
          <c:order val="5"/>
          <c:tx>
            <c:strRef>
              <c:f>Sheet1!$G$1</c:f>
              <c:strCache>
                <c:ptCount val="1"/>
                <c:pt idx="0">
                  <c:v>Foundry Tools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10289.35</c:v>
                </c:pt>
                <c:pt idx="1">
                  <c:v>9126</c:v>
                </c:pt>
                <c:pt idx="2">
                  <c:v>8921.980000000001</c:v>
                </c:pt>
                <c:pt idx="3">
                  <c:v>7970.080000000001</c:v>
                </c:pt>
                <c:pt idx="4">
                  <c:v>8905.24</c:v>
                </c:pt>
                <c:pt idx="5">
                  <c:v>9392.630000000001</c:v>
                </c:pt>
                <c:pt idx="6">
                  <c:v>10538.439999999999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40269.8</c:v>
                </c:pt>
                <c:pt idx="1">
                  <c:v>41870.09</c:v>
                </c:pt>
                <c:pt idx="2">
                  <c:v>48649</c:v>
                </c:pt>
                <c:pt idx="3">
                  <c:v>42196.41</c:v>
                </c:pt>
                <c:pt idx="4">
                  <c:v>29317.96</c:v>
                </c:pt>
                <c:pt idx="5">
                  <c:v>33038.95</c:v>
                </c:pt>
                <c:pt idx="6">
                  <c:v>36010.25</c:v>
                </c:pt>
              </c:numCache>
            </c:numRef>
          </c:val>
        </c:ser>
        <c:ser>
          <c:idx val="1"/>
          <c:order val="1"/>
          <c:tx>
            <c:strRef>
              <c:f>Sheet1!$C$1</c:f>
              <c:strCache>
                <c:ptCount val="1"/>
                <c:pt idx="0">
                  <c:v>Solugen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854.16</c:v>
                </c:pt>
                <c:pt idx="1">
                  <c:v>702.78</c:v>
                </c:pt>
                <c:pt idx="2">
                  <c:v>620.89</c:v>
                </c:pt>
                <c:pt idx="3">
                  <c:v>1545.48</c:v>
                </c:pt>
                <c:pt idx="4">
                  <c:v>10021.98</c:v>
                </c:pt>
                <c:pt idx="5">
                  <c:v>6749.23</c:v>
                </c:pt>
                <c:pt idx="6">
                  <c:v>8415.87</c:v>
                </c:pt>
              </c:numCache>
            </c:numRef>
          </c:val>
        </c:ser>
        <c:ser>
          <c:idx val="2"/>
          <c:order val="2"/>
          <c:tx>
            <c:strRef>
              <c:f>Sheet1!$D$1</c:f>
              <c:strCache>
                <c:ptCount val="1"/>
                <c:pt idx="0">
                  <c:v>DataCloud dev</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ser>
        <c:ser>
          <c:idx val="3"/>
          <c:order val="3"/>
          <c:tx>
            <c:strRef>
              <c:f>Sheet1!$E$1</c:f>
              <c:strCache>
                <c:ptCount val="1"/>
                <c:pt idx="0">
                  <c:v>INSAIT Production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1914.41</c:v>
                </c:pt>
                <c:pt idx="2">
                  <c:v>1364.48</c:v>
                </c:pt>
                <c:pt idx="3">
                  <c:v>1354.4</c:v>
                </c:pt>
                <c:pt idx="4">
                  <c:v>1456.6</c:v>
                </c:pt>
                <c:pt idx="5">
                  <c:v>1604.48</c:v>
                </c:pt>
                <c:pt idx="6">
                  <c:v>1983.38</c:v>
                </c:pt>
              </c:numCache>
            </c:numRef>
          </c:val>
        </c:ser>
        <c:ser>
          <c:idx val="4"/>
          <c:order val="4"/>
          <c:tx>
            <c:strRef>
              <c:f>Sheet1!$F$1</c:f>
              <c:strCache>
                <c:ptCount val="1"/>
                <c:pt idx="0">
                  <c:v>DataCloud dev 1</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324.17</c:v>
                </c:pt>
                <c:pt idx="1">
                  <c:v>275</c:v>
                </c:pt>
                <c:pt idx="2">
                  <c:v>285.86</c:v>
                </c:pt>
                <c:pt idx="3">
                  <c:v>269.84</c:v>
                </c:pt>
                <c:pt idx="4">
                  <c:v>281.57</c:v>
                </c:pt>
                <c:pt idx="5">
                  <c:v>269.21</c:v>
                </c:pt>
                <c:pt idx="6">
                  <c:v>278.23</c:v>
                </c:pt>
              </c:numCache>
            </c:numRef>
          </c:val>
        </c:ser>
        <c:ser>
          <c:idx val="5"/>
          <c:order val="5"/>
          <c:tx>
            <c:strRef>
              <c:f>Sheet1!$G$1</c:f>
              <c:strCache>
                <c:ptCount val="1"/>
                <c:pt idx="0">
                  <c:v>Sandbox System</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263.89</c:v>
                </c:pt>
                <c:pt idx="1">
                  <c:v>308.03</c:v>
                </c:pt>
                <c:pt idx="2">
                  <c:v>265</c:v>
                </c:pt>
                <c:pt idx="3">
                  <c:v>260.07</c:v>
                </c:pt>
                <c:pt idx="4">
                  <c:v>335.75</c:v>
                </c:pt>
                <c:pt idx="5">
                  <c:v>256.14</c:v>
                </c:pt>
                <c:pt idx="6">
                  <c:v>267.43</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1443.54</c:v>
                </c:pt>
                <c:pt idx="1">
                  <c:v>1132.52</c:v>
                </c:pt>
                <c:pt idx="2">
                  <c:v>971.1200000000001</c:v>
                </c:pt>
                <c:pt idx="3">
                  <c:v>623.1899999999998</c:v>
                </c:pt>
                <c:pt idx="4">
                  <c:v>796.0699999999999</c:v>
                </c:pt>
                <c:pt idx="5">
                  <c:v>633.9499999999999</c:v>
                </c:pt>
                <c:pt idx="6">
                  <c:v>583.62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195.78</c:v>
                </c:pt>
                <c:pt idx="1">
                  <c:v>112</c:v>
                </c:pt>
                <c:pt idx="2">
                  <c:v>124</c:v>
                </c:pt>
                <c:pt idx="3">
                  <c:v>153</c:v>
                </c:pt>
                <c:pt idx="4">
                  <c:v>166.67</c:v>
                </c:pt>
                <c:pt idx="5">
                  <c:v>134</c:v>
                </c:pt>
                <c:pt idx="6">
                  <c:v>238</c:v>
                </c:pt>
              </c:numCache>
            </c:numRef>
          </c:val>
        </c:ser>
        <c:ser>
          <c:idx val="3"/>
          <c:order val="3"/>
          <c:tx>
            <c:strRef>
              <c:f>Sheet1!$E$1</c:f>
              <c:strCache>
                <c:ptCount val="1"/>
                <c:pt idx="0">
                  <c:v>Virtual Machines Licenses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0</c:v>
                </c:pt>
                <c:pt idx="3">
                  <c:v>0</c:v>
                </c:pt>
                <c:pt idx="4">
                  <c:v>36.53</c:v>
                </c:pt>
                <c:pt idx="5">
                  <c:v>41</c:v>
                </c:pt>
                <c:pt idx="6">
                  <c:v>43</c:v>
                </c:pt>
              </c:numCache>
            </c:numRef>
          </c:val>
        </c:ser>
        <c:ser>
          <c:idx val="4"/>
          <c:order val="4"/>
          <c:tx>
            <c:strRef>
              <c:f>Sheet1!$F$1</c:f>
              <c:strCache>
                <c:ptCount val="1"/>
                <c:pt idx="0">
                  <c:v>Bandwidth</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0.01</c:v>
                </c:pt>
                <c:pt idx="5">
                  <c:v>0</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ser>
        <c:ser>
          <c:idx val="1"/>
          <c:order val="1"/>
          <c:tx>
            <c:strRef>
              <c:f>Sheet1!$C$1</c:f>
              <c:strCache>
                <c:ptCount val="1"/>
                <c:pt idx="0">
                  <c:v>SAP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5000.41</c:v>
                </c:pt>
                <c:pt idx="1">
                  <c:v>4756</c:v>
                </c:pt>
                <c:pt idx="2">
                  <c:v>4679.66</c:v>
                </c:pt>
                <c:pt idx="3">
                  <c:v>4663.37</c:v>
                </c:pt>
                <c:pt idx="4">
                  <c:v>4758.84</c:v>
                </c:pt>
                <c:pt idx="5">
                  <c:v>4887.15</c:v>
                </c:pt>
                <c:pt idx="6">
                  <c:v>6077.62</c:v>
                </c:pt>
              </c:numCache>
            </c:numRef>
          </c:val>
        </c:ser>
        <c:ser>
          <c:idx val="2"/>
          <c:order val="2"/>
          <c:tx>
            <c:strRef>
              <c:f>Sheet1!$D$1</c:f>
              <c:strCache>
                <c:ptCount val="1"/>
                <c:pt idx="0">
                  <c:v>Log Analytics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7300.46</c:v>
                </c:pt>
                <c:pt idx="1">
                  <c:v>3692</c:v>
                </c:pt>
                <c:pt idx="2">
                  <c:v>10596.09</c:v>
                </c:pt>
                <c:pt idx="3">
                  <c:v>3911.97</c:v>
                </c:pt>
                <c:pt idx="4">
                  <c:v>1966.89</c:v>
                </c:pt>
                <c:pt idx="5">
                  <c:v>2066.7</c:v>
                </c:pt>
                <c:pt idx="6">
                  <c:v>2306.05</c:v>
                </c:pt>
              </c:numCache>
            </c:numRef>
          </c:val>
        </c:ser>
        <c:ser>
          <c:idx val="3"/>
          <c:order val="3"/>
          <c:tx>
            <c:strRef>
              <c:f>Sheet1!$E$1</c:f>
              <c:strCache>
                <c:ptCount val="1"/>
                <c:pt idx="0">
                  <c:v>Virtual Machines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ser>
        <c:ser>
          <c:idx val="4"/>
          <c:order val="4"/>
          <c:tx>
            <c:strRef>
              <c:f>Sheet1!$F$1</c:f>
              <c:strCache>
                <c:ptCount val="1"/>
                <c:pt idx="0">
                  <c:v>Sentinel</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2265</c:v>
                </c:pt>
                <c:pt idx="1">
                  <c:v>1965</c:v>
                </c:pt>
                <c:pt idx="2">
                  <c:v>2206</c:v>
                </c:pt>
                <c:pt idx="3">
                  <c:v>2059</c:v>
                </c:pt>
                <c:pt idx="4">
                  <c:v>2253.46</c:v>
                </c:pt>
                <c:pt idx="5">
                  <c:v>2467.09</c:v>
                </c:pt>
                <c:pt idx="6">
                  <c:v>2528.47</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4634.13</c:v>
                </c:pt>
                <c:pt idx="1">
                  <c:v>3962</c:v>
                </c:pt>
                <c:pt idx="2">
                  <c:v>4345.76</c:v>
                </c:pt>
                <c:pt idx="3">
                  <c:v>4241.64</c:v>
                </c:pt>
                <c:pt idx="4">
                  <c:v>4862.66</c:v>
                </c:pt>
                <c:pt idx="5">
                  <c:v>4595.34</c:v>
                </c:pt>
                <c:pt idx="6">
                  <c:v>5280.59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16903.74</c:v>
                </c:pt>
                <c:pt idx="1">
                  <c:v>12321</c:v>
                </c:pt>
                <c:pt idx="2">
                  <c:v>26897.08</c:v>
                </c:pt>
                <c:pt idx="3">
                  <c:v>14231</c:v>
                </c:pt>
                <c:pt idx="4">
                  <c:v>10755.39</c:v>
                </c:pt>
                <c:pt idx="5">
                  <c:v>10557</c:v>
                </c:pt>
                <c:pt idx="6">
                  <c:v>11092.99</c:v>
                </c:pt>
              </c:numCache>
            </c:numRef>
          </c:val>
        </c:ser>
        <c:ser>
          <c:idx val="1"/>
          <c:order val="1"/>
          <c:tx>
            <c:strRef>
              <c:f>Sheet1!$C$1</c:f>
              <c:strCache>
                <c:ptCount val="1"/>
                <c:pt idx="0">
                  <c:v>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ser>
        <c:ser>
          <c:idx val="2"/>
          <c:order val="2"/>
          <c:tx>
            <c:strRef>
              <c:f>Sheet1!$D$1</c:f>
              <c:strCache>
                <c:ptCount val="1"/>
                <c:pt idx="0">
                  <c:v>CloudOps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872.66</c:v>
                </c:pt>
                <c:pt idx="1">
                  <c:v>555</c:v>
                </c:pt>
                <c:pt idx="2">
                  <c:v>768.67</c:v>
                </c:pt>
                <c:pt idx="3">
                  <c:v>737</c:v>
                </c:pt>
                <c:pt idx="4">
                  <c:v>971.96</c:v>
                </c:pt>
                <c:pt idx="5">
                  <c:v>1089</c:v>
                </c:pt>
                <c:pt idx="6">
                  <c:v>1225.74</c:v>
                </c:pt>
              </c:numCache>
            </c:numRef>
          </c:val>
        </c:ser>
        <c:ser>
          <c:idx val="3"/>
          <c:order val="3"/>
          <c:tx>
            <c:strRef>
              <c:f>Sheet1!$E$1</c:f>
              <c:strCache>
                <c:ptCount val="1"/>
                <c:pt idx="0">
                  <c:v>DataCloud prod</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363.16</c:v>
                </c:pt>
                <c:pt idx="1">
                  <c:v>357</c:v>
                </c:pt>
                <c:pt idx="2">
                  <c:v>397.3</c:v>
                </c:pt>
                <c:pt idx="3">
                  <c:v>336</c:v>
                </c:pt>
                <c:pt idx="4">
                  <c:v>370.22</c:v>
                </c:pt>
                <c:pt idx="5">
                  <c:v>550</c:v>
                </c:pt>
                <c:pt idx="6">
                  <c:v>818.11</c:v>
                </c:pt>
              </c:numCache>
            </c:numRef>
          </c:val>
        </c:ser>
        <c:ser>
          <c:idx val="4"/>
          <c:order val="4"/>
          <c:tx>
            <c:strRef>
              <c:f>Sheet1!$F$1</c:f>
              <c:strCache>
                <c:ptCount val="1"/>
                <c:pt idx="0">
                  <c:v>DataCloud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188.97</c:v>
                </c:pt>
                <c:pt idx="1">
                  <c:v>169</c:v>
                </c:pt>
                <c:pt idx="2">
                  <c:v>189.53</c:v>
                </c:pt>
                <c:pt idx="3">
                  <c:v>184</c:v>
                </c:pt>
                <c:pt idx="4">
                  <c:v>506.65</c:v>
                </c:pt>
                <c:pt idx="5">
                  <c:v>582</c:v>
                </c:pt>
                <c:pt idx="6">
                  <c:v>573.9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854.31</c:v>
                </c:pt>
                <c:pt idx="1">
                  <c:v>3477</c:v>
                </c:pt>
                <c:pt idx="2">
                  <c:v>12632</c:v>
                </c:pt>
                <c:pt idx="3">
                  <c:v>11676</c:v>
                </c:pt>
                <c:pt idx="4">
                  <c:v>13656</c:v>
                </c:pt>
                <c:pt idx="5">
                  <c:v>26342</c:v>
                </c:pt>
                <c:pt idx="6">
                  <c:v>23610</c:v>
                </c:pt>
              </c:numCache>
            </c:numRef>
          </c:val>
        </c:ser>
        <c:ser>
          <c:idx val="1"/>
          <c:order val="1"/>
          <c:tx>
            <c:strRef>
              <c:f>Sheet1!$C$1</c:f>
              <c:strCache>
                <c:ptCount val="1"/>
                <c:pt idx="0">
                  <c:v>Solugen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936.63</c:v>
                </c:pt>
                <c:pt idx="1">
                  <c:v>917</c:v>
                </c:pt>
                <c:pt idx="2">
                  <c:v>1027</c:v>
                </c:pt>
                <c:pt idx="3">
                  <c:v>2005</c:v>
                </c:pt>
                <c:pt idx="4">
                  <c:v>10657</c:v>
                </c:pt>
                <c:pt idx="5">
                  <c:v>7230.21</c:v>
                </c:pt>
                <c:pt idx="6">
                  <c:v>8858</c:v>
                </c:pt>
              </c:numCache>
            </c:numRef>
          </c:val>
        </c:ser>
        <c:ser>
          <c:idx val="2"/>
          <c:order val="2"/>
          <c:tx>
            <c:strRef>
              <c:f>Sheet1!$D$1</c:f>
              <c:strCache>
                <c:ptCount val="1"/>
                <c:pt idx="0">
                  <c:v>Document Intelligence (OCR Services)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4231</c:v>
                </c:pt>
                <c:pt idx="1">
                  <c:v>4282</c:v>
                </c:pt>
                <c:pt idx="2">
                  <c:v>3552</c:v>
                </c:pt>
                <c:pt idx="3">
                  <c:v>2152</c:v>
                </c:pt>
                <c:pt idx="4">
                  <c:v>3362</c:v>
                </c:pt>
                <c:pt idx="5">
                  <c:v>6114</c:v>
                </c:pt>
                <c:pt idx="6">
                  <c:v>7277</c:v>
                </c:pt>
              </c:numCache>
            </c:numRef>
          </c:val>
        </c:ser>
        <c:ser>
          <c:idx val="3"/>
          <c:order val="3"/>
          <c:tx>
            <c:strRef>
              <c:f>Sheet1!$E$1</c:f>
              <c:strCache>
                <c:ptCount val="1"/>
                <c:pt idx="0">
                  <c:v>INSAIT</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c:v>
                </c:pt>
                <c:pt idx="2">
                  <c:v>1365</c:v>
                </c:pt>
                <c:pt idx="3">
                  <c:v>1354</c:v>
                </c:pt>
                <c:pt idx="4">
                  <c:v>1456</c:v>
                </c:pt>
                <c:pt idx="5">
                  <c:v>1604.28</c:v>
                </c:pt>
                <c:pt idx="6">
                  <c:v>1983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0</c:v>
                </c:pt>
                <c:pt idx="1">
                  <c:v>406</c:v>
                </c:pt>
                <c:pt idx="2">
                  <c:v>2848.78</c:v>
                </c:pt>
                <c:pt idx="3">
                  <c:v>3097.66</c:v>
                </c:pt>
                <c:pt idx="4">
                  <c:v>5693.72</c:v>
                </c:pt>
                <c:pt idx="5">
                  <c:v>5513.76</c:v>
                </c:pt>
                <c:pt idx="6">
                  <c:v>6103.43</c:v>
                </c:pt>
              </c:numCache>
            </c:numRef>
          </c:val>
        </c:ser>
        <c:ser>
          <c:idx val="1"/>
          <c:order val="1"/>
          <c:tx>
            <c:strRef>
              <c:f>Sheet1!$C$1</c:f>
              <c:strCache>
                <c:ptCount val="1"/>
                <c:pt idx="0">
                  <c:v>Foundry Models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6</c:v>
                </c:pt>
                <c:pt idx="2">
                  <c:v>2961.34</c:v>
                </c:pt>
                <c:pt idx="3">
                  <c:v>4151.25</c:v>
                </c:pt>
                <c:pt idx="4">
                  <c:v>1183.1</c:v>
                </c:pt>
                <c:pt idx="5">
                  <c:v>9682.8</c:v>
                </c:pt>
                <c:pt idx="6">
                  <c:v>5641.2</c:v>
                </c:pt>
              </c:numCache>
            </c:numRef>
          </c:val>
        </c:ser>
        <c:ser>
          <c:idx val="2"/>
          <c:order val="2"/>
          <c:tx>
            <c:strRef>
              <c:f>Sheet1!$D$1</c:f>
              <c:strCache>
                <c:ptCount val="1"/>
                <c:pt idx="0">
                  <c:v>Virtual Machines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487.69</c:v>
                </c:pt>
                <c:pt idx="1">
                  <c:v>1951</c:v>
                </c:pt>
                <c:pt idx="2">
                  <c:v>4361.9</c:v>
                </c:pt>
                <c:pt idx="3">
                  <c:v>1724.33</c:v>
                </c:pt>
                <c:pt idx="4">
                  <c:v>2887.44</c:v>
                </c:pt>
                <c:pt idx="5">
                  <c:v>4556.63</c:v>
                </c:pt>
                <c:pt idx="6">
                  <c:v>4865.47</c:v>
                </c:pt>
              </c:numCache>
            </c:numRef>
          </c:val>
        </c:ser>
        <c:ser>
          <c:idx val="3"/>
          <c:order val="3"/>
          <c:tx>
            <c:strRef>
              <c:f>Sheet1!$E$1</c:f>
              <c:strCache>
                <c:ptCount val="1"/>
                <c:pt idx="0">
                  <c:v>Azure Cognitive Search</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23.43</c:v>
                </c:pt>
                <c:pt idx="1">
                  <c:v>68</c:v>
                </c:pt>
                <c:pt idx="2">
                  <c:v>305.51</c:v>
                </c:pt>
                <c:pt idx="3">
                  <c:v>629.28</c:v>
                </c:pt>
                <c:pt idx="4">
                  <c:v>1166.49</c:v>
                </c:pt>
                <c:pt idx="5">
                  <c:v>1582.03</c:v>
                </c:pt>
                <c:pt idx="6">
                  <c:v>1825.03</c:v>
                </c:pt>
              </c:numCache>
            </c:numRef>
          </c:val>
        </c:ser>
        <c:ser>
          <c:idx val="4"/>
          <c:order val="4"/>
          <c:tx>
            <c:strRef>
              <c:f>Sheet1!$F$1</c:f>
              <c:strCache>
                <c:ptCount val="1"/>
                <c:pt idx="0">
                  <c:v>Microsoft Defender for Cloud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83.58</c:v>
                </c:pt>
                <c:pt idx="1">
                  <c:v>237</c:v>
                </c:pt>
                <c:pt idx="2">
                  <c:v>535.5</c:v>
                </c:pt>
                <c:pt idx="3">
                  <c:v>143.21</c:v>
                </c:pt>
                <c:pt idx="4">
                  <c:v>401.16</c:v>
                </c:pt>
                <c:pt idx="5">
                  <c:v>1574.44</c:v>
                </c:pt>
                <c:pt idx="6">
                  <c:v>1166.17</c:v>
                </c:pt>
              </c:numCache>
            </c:numRef>
          </c:val>
        </c:ser>
        <c:ser>
          <c:idx val="5"/>
          <c:order val="5"/>
          <c:tx>
            <c:strRef>
              <c:f>Sheet1!$G$1</c:f>
              <c:strCache>
                <c:ptCount val="1"/>
                <c:pt idx="0">
                  <c:v>Azure Database for PostgreSQL</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46.79</c:v>
                </c:pt>
                <c:pt idx="1">
                  <c:v>141</c:v>
                </c:pt>
                <c:pt idx="2">
                  <c:v>356.15</c:v>
                </c:pt>
                <c:pt idx="3">
                  <c:v>489.68</c:v>
                </c:pt>
                <c:pt idx="4">
                  <c:v>790.07</c:v>
                </c:pt>
                <c:pt idx="5">
                  <c:v>1068.76</c:v>
                </c:pt>
                <c:pt idx="6">
                  <c:v>1101.71</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798.75</c:v>
                </c:pt>
                <c:pt idx="1">
                  <c:v>2844</c:v>
                </c:pt>
                <c:pt idx="2">
                  <c:v>10910</c:v>
                </c:pt>
                <c:pt idx="3">
                  <c:v>9522</c:v>
                </c:pt>
                <c:pt idx="4">
                  <c:v>7610.56</c:v>
                </c:pt>
                <c:pt idx="5">
                  <c:v>17286</c:v>
                </c:pt>
                <c:pt idx="6">
                  <c:v>13714</c:v>
                </c:pt>
              </c:numCache>
            </c:numRef>
          </c:val>
        </c:ser>
        <c:ser>
          <c:idx val="1"/>
          <c:order val="1"/>
          <c:tx>
            <c:strRef>
              <c:f>Sheet1!$C$1</c:f>
              <c:strCache>
                <c:ptCount val="1"/>
                <c:pt idx="0">
                  <c:v>Dev/Test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464</c:v>
                </c:pt>
                <c:pt idx="2">
                  <c:v>1031</c:v>
                </c:pt>
                <c:pt idx="3">
                  <c:v>1368</c:v>
                </c:pt>
                <c:pt idx="4">
                  <c:v>4874.39</c:v>
                </c:pt>
                <c:pt idx="5">
                  <c:v>7063</c:v>
                </c:pt>
                <c:pt idx="6">
                  <c:v>6454</c:v>
                </c:pt>
              </c:numCache>
            </c:numRef>
          </c:val>
        </c:ser>
        <c:ser>
          <c:idx val="2"/>
          <c:order val="2"/>
          <c:tx>
            <c:strRef>
              <c:f>Sheet1!$D$1</c:f>
              <c:strCache>
                <c:ptCount val="1"/>
                <c:pt idx="0">
                  <c:v>AI Factory prod</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55.56</c:v>
                </c:pt>
                <c:pt idx="1">
                  <c:v>169</c:v>
                </c:pt>
                <c:pt idx="2">
                  <c:v>460</c:v>
                </c:pt>
                <c:pt idx="3">
                  <c:v>454</c:v>
                </c:pt>
                <c:pt idx="4">
                  <c:v>575.07</c:v>
                </c:pt>
                <c:pt idx="5">
                  <c:v>814</c:v>
                </c:pt>
                <c:pt idx="6">
                  <c:v>1160</c:v>
                </c:pt>
              </c:numCache>
            </c:numRef>
          </c:val>
        </c:ser>
        <c:ser>
          <c:idx val="3"/>
          <c:order val="3"/>
          <c:tx>
            <c:strRef>
              <c:f>Sheet1!$E$1</c:f>
              <c:strCache>
                <c:ptCount val="1"/>
                <c:pt idx="0">
                  <c:v>AI Factory dev</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231</c:v>
                </c:pt>
                <c:pt idx="3">
                  <c:v>332</c:v>
                </c:pt>
                <c:pt idx="4">
                  <c:v>347.57</c:v>
                </c:pt>
                <c:pt idx="5">
                  <c:v>497</c:v>
                </c:pt>
                <c:pt idx="6">
                  <c:v>458</c:v>
                </c:pt>
              </c:numCache>
            </c:numRef>
          </c:val>
        </c:ser>
        <c:ser>
          <c:idx val="4"/>
          <c:order val="4"/>
          <c:tx>
            <c:strRef>
              <c:f>Sheet1!$F$1</c:f>
              <c:strCache>
                <c:ptCount val="1"/>
                <c:pt idx="0">
                  <c:v>INSAIT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193.18</c:v>
                </c:pt>
                <c:pt idx="5">
                  <c:v>239</c:v>
                </c:pt>
                <c:pt idx="6">
                  <c:v>1339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0</c:v>
                </c:pt>
                <c:pt idx="1">
                  <c:v>0</c:v>
                </c:pt>
                <c:pt idx="2">
                  <c:v>0</c:v>
                </c:pt>
                <c:pt idx="3">
                  <c:v>0</c:v>
                </c:pt>
                <c:pt idx="4">
                  <c:v>55.57</c:v>
                </c:pt>
                <c:pt idx="5">
                  <c:v>443</c:v>
                </c:pt>
                <c:pt idx="6">
                  <c:v>485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3312</c:v>
                </c:pt>
                <c:pt idx="1">
                  <c:v>3720</c:v>
                </c:pt>
                <c:pt idx="2">
                  <c:v>2846</c:v>
                </c:pt>
                <c:pt idx="3">
                  <c:v>1523.49</c:v>
                </c:pt>
                <c:pt idx="4">
                  <c:v>2246.94</c:v>
                </c:pt>
                <c:pt idx="5">
                  <c:v>2764.98</c:v>
                </c:pt>
                <c:pt idx="6">
                  <c:v>2392.32</c:v>
                </c:pt>
              </c:numCache>
            </c:numRef>
          </c:val>
        </c:ser>
        <c:ser>
          <c:idx val="1"/>
          <c:order val="1"/>
          <c:tx>
            <c:strRef>
              <c:f>Sheet1!$C$1</c:f>
              <c:strCache>
                <c:ptCount val="1"/>
                <c:pt idx="0">
                  <c:v>5.4 opt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0</c:v>
                </c:pt>
                <c:pt idx="2">
                  <c:v>0</c:v>
                </c:pt>
                <c:pt idx="3">
                  <c:v>0</c:v>
                </c:pt>
                <c:pt idx="4">
                  <c:v>941.41</c:v>
                </c:pt>
                <c:pt idx="5">
                  <c:v>6273.8</c:v>
                </c:pt>
                <c:pt idx="6">
                  <c:v>3893</c:v>
                </c:pt>
              </c:numCache>
            </c:numRef>
          </c:val>
        </c:ser>
        <c:ser>
          <c:idx val="2"/>
          <c:order val="2"/>
          <c:tx>
            <c:strRef>
              <c:f>Sheet1!$D$1</c:f>
              <c:strCache>
                <c:ptCount val="1"/>
                <c:pt idx="0">
                  <c:v>5.4 inp</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0</c:v>
                </c:pt>
                <c:pt idx="3">
                  <c:v>0</c:v>
                </c:pt>
                <c:pt idx="4">
                  <c:v>1056.29</c:v>
                </c:pt>
                <c:pt idx="5">
                  <c:v>4877.16</c:v>
                </c:pt>
                <c:pt idx="6">
                  <c:v>4947</c:v>
                </c:pt>
              </c:numCache>
            </c:numRef>
          </c:val>
        </c:ser>
        <c:ser>
          <c:idx val="3"/>
          <c:order val="3"/>
          <c:tx>
            <c:strRef>
              <c:f>Sheet1!$E$1</c:f>
              <c:strCache>
                <c:ptCount val="1"/>
                <c:pt idx="0">
                  <c:v>S0 Pre-built Pages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804</c:v>
                </c:pt>
                <c:pt idx="1">
                  <c:v>385</c:v>
                </c:pt>
                <c:pt idx="2">
                  <c:v>521</c:v>
                </c:pt>
                <c:pt idx="3">
                  <c:v>336.11</c:v>
                </c:pt>
                <c:pt idx="4">
                  <c:v>627.22</c:v>
                </c:pt>
                <c:pt idx="5">
                  <c:v>2035.82</c:v>
                </c:pt>
                <c:pt idx="6">
                  <c:v>3385.11</c:v>
                </c:pt>
              </c:numCache>
            </c:numRef>
          </c:val>
        </c:ser>
        <c:ser>
          <c:idx val="4"/>
          <c:order val="4"/>
          <c:tx>
            <c:strRef>
              <c:f>Sheet1!$F$1</c:f>
              <c:strCache>
                <c:ptCount val="1"/>
                <c:pt idx="0">
                  <c:v>gpt 4o 0513</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1145</c:v>
                </c:pt>
                <c:pt idx="1">
                  <c:v>1300</c:v>
                </c:pt>
                <c:pt idx="2">
                  <c:v>1060.02</c:v>
                </c:pt>
                <c:pt idx="3">
                  <c:v>3220.28</c:v>
                </c:pt>
                <c:pt idx="4">
                  <c:v>917</c:v>
                </c:pt>
                <c:pt idx="5">
                  <c:v>261</c:v>
                </c:pt>
                <c:pt idx="6">
                  <c:v>188</c:v>
                </c:pt>
              </c:numCache>
            </c:numRef>
          </c:val>
        </c:ser>
        <c:ser>
          <c:idx val="5"/>
          <c:order val="5"/>
          <c:tx>
            <c:strRef>
              <c:f>Sheet1!$G$1</c:f>
              <c:strCache>
                <c:ptCount val="1"/>
                <c:pt idx="0">
                  <c:v>gpt 4o 1120</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6.11</c:v>
                </c:pt>
                <c:pt idx="1">
                  <c:v>524</c:v>
                </c:pt>
                <c:pt idx="2">
                  <c:v>2563.76</c:v>
                </c:pt>
                <c:pt idx="3">
                  <c:v>3081.82</c:v>
                </c:pt>
                <c:pt idx="4">
                  <c:v>253</c:v>
                </c:pt>
                <c:pt idx="5">
                  <c:v>663</c:v>
                </c:pt>
                <c:pt idx="6">
                  <c:v>107</c:v>
                </c:pt>
              </c:numCache>
            </c:numRef>
          </c:val>
        </c:ser>
        <c:ser>
          <c:idx val="6"/>
          <c:order val="6"/>
          <c:tx>
            <c:strRef>
              <c:f>Sheet1!$H$1</c:f>
              <c:strCache>
                <c:ptCount val="1"/>
                <c:pt idx="0">
                  <c:v>GPT 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13.65</c:v>
                </c:pt>
                <c:pt idx="1">
                  <c:v>17</c:v>
                </c:pt>
                <c:pt idx="2">
                  <c:v>272.95</c:v>
                </c:pt>
                <c:pt idx="3">
                  <c:v>971.26</c:v>
                </c:pt>
                <c:pt idx="4">
                  <c:v>5056</c:v>
                </c:pt>
                <c:pt idx="5">
                  <c:v>494</c:v>
                </c:pt>
                <c:pt idx="6">
                  <c:v>1</c:v>
                </c:pt>
              </c:numCache>
            </c:numRef>
          </c:val>
        </c:ser>
        <c:ser>
          <c:idx val="7"/>
          <c:order val="7"/>
          <c:tx>
            <c:strRef>
              <c:f>Sheet1!$I$1</c:f>
              <c:strCache>
                <c:ptCount val="1"/>
                <c:pt idx="0">
                  <c:v>GPT 5.1</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0</c:v>
                </c:pt>
                <c:pt idx="1">
                  <c:v>0</c:v>
                </c:pt>
                <c:pt idx="2">
                  <c:v>22.62</c:v>
                </c:pt>
                <c:pt idx="3">
                  <c:v>0.21</c:v>
                </c:pt>
                <c:pt idx="4">
                  <c:v>220</c:v>
                </c:pt>
                <c:pt idx="5">
                  <c:v>1946</c:v>
                </c:pt>
                <c:pt idx="6">
                  <c:v>1204</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481.32</c:v>
                </c:pt>
                <c:pt idx="1">
                  <c:v>846</c:v>
                </c:pt>
                <c:pt idx="2">
                  <c:v>552.18</c:v>
                </c:pt>
                <c:pt idx="3">
                  <c:v>1410.55</c:v>
                </c:pt>
                <c:pt idx="4">
                  <c:v>3611.5500000000006</c:v>
                </c:pt>
                <c:pt idx="5">
                  <c:v>2292.8399999999997</c:v>
                </c:pt>
                <c:pt idx="6">
                  <c:v>3491.7999999999997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c:v>
                </c:pt>
                <c:pt idx="2">
                  <c:v>2866.65</c:v>
                </c:pt>
                <c:pt idx="3">
                  <c:v>4806.49</c:v>
                </c:pt>
                <c:pt idx="4">
                  <c:v>9873.22</c:v>
                </c:pt>
              </c:numCache>
            </c:numRef>
          </c:val>
        </c:ser>
        <c:ser>
          <c:idx val="1"/>
          <c:order val="1"/>
          <c:tx>
            <c:strRef>
              <c:f>Sheet1!$C$1</c:f>
              <c:strCache>
                <c:ptCount val="1"/>
                <c:pt idx="0">
                  <c:v>Claude Opus 4.8</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0</c:v>
                </c:pt>
                <c:pt idx="2">
                  <c:v>76.7</c:v>
                </c:pt>
                <c:pt idx="3">
                  <c:v>2024.12</c:v>
                </c:pt>
                <c:pt idx="4">
                  <c:v>11361.86</c:v>
                </c:pt>
              </c:numCache>
            </c:numRef>
          </c:val>
        </c:ser>
        <c:ser>
          <c:idx val="2"/>
          <c:order val="2"/>
          <c:tx>
            <c:strRef>
              <c:f>Sheet1!$D$1</c:f>
              <c:strCache>
                <c:ptCount val="1"/>
                <c:pt idx="0">
                  <c:v>Claude Opus 4.7</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0</c:v>
                </c:pt>
                <c:pt idx="2">
                  <c:v>786.79</c:v>
                </c:pt>
                <c:pt idx="3">
                  <c:v>2917.83</c:v>
                </c:pt>
                <c:pt idx="4">
                  <c:v>2438.48</c:v>
                </c:pt>
              </c:numCache>
            </c:numRef>
          </c:val>
        </c:ser>
        <c:ser>
          <c:idx val="3"/>
          <c:order val="3"/>
          <c:tx>
            <c:strRef>
              <c:f>Sheet1!$E$1</c:f>
              <c:strCache>
                <c:ptCount val="1"/>
                <c:pt idx="0">
                  <c:v>Amazon Bedrock Edition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841</c:v>
                </c:pt>
                <c:pt idx="1">
                  <c:v>1609</c:v>
                </c:pt>
                <c:pt idx="2">
                  <c:v>0</c:v>
                </c:pt>
                <c:pt idx="3">
                  <c:v>0</c:v>
                </c:pt>
                <c:pt idx="4">
                  <c:v>0</c:v>
                </c:pt>
              </c:numCache>
            </c:numRef>
          </c:val>
        </c:ser>
        <c:ser>
          <c:idx val="4"/>
          <c:order val="4"/>
          <c:tx>
            <c:strRef>
              <c:f>Sheet1!$F$1</c:f>
              <c:strCache>
                <c:ptCount val="1"/>
                <c:pt idx="0">
                  <c:v>Claude Sonnet 4.6</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14.53</c:v>
                </c:pt>
                <c:pt idx="3">
                  <c:v>540.41</c:v>
                </c:pt>
                <c:pt idx="4">
                  <c:v>688.26</c:v>
                </c:pt>
              </c:numCache>
            </c:numRef>
          </c:val>
        </c:ser>
        <c:ser>
          <c:idx val="5"/>
          <c:order val="5"/>
          <c:tx>
            <c:strRef>
              <c:f>Sheet1!$G$1</c:f>
              <c:strCache>
                <c:ptCount val="1"/>
                <c:pt idx="0">
                  <c:v>Claude Opus 5</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c:v>
                </c:pt>
                <c:pt idx="1">
                  <c:v>0</c:v>
                </c:pt>
                <c:pt idx="2">
                  <c:v>0</c:v>
                </c:pt>
                <c:pt idx="3">
                  <c:v>0</c:v>
                </c:pt>
                <c:pt idx="4">
                  <c:v>691.45</c:v>
                </c:pt>
              </c:numCache>
            </c:numRef>
          </c:val>
        </c:ser>
        <c:ser>
          <c:idx val="6"/>
          <c:order val="6"/>
          <c:tx>
            <c:strRef>
              <c:f>Sheet1!$H$1</c:f>
              <c:strCache>
                <c:ptCount val="1"/>
                <c:pt idx="0">
                  <c:v>Claude Haiku 4.5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Sheet1!$H$2:$H$6</c:f>
              <c:numCache>
                <c:formatCode>General</c:formatCode>
                <c:ptCount val="5"/>
                <c:pt idx="0">
                  <c:v>0</c:v>
                </c:pt>
                <c:pt idx="1">
                  <c:v>0</c:v>
                </c:pt>
                <c:pt idx="2">
                  <c:v>57.15</c:v>
                </c:pt>
                <c:pt idx="3">
                  <c:v>159.32</c:v>
                </c:pt>
                <c:pt idx="4">
                  <c:v>157.37</c:v>
                </c:pt>
              </c:numCache>
            </c:numRef>
          </c:val>
        </c:ser>
        <c:ser>
          <c:idx val="7"/>
          <c:order val="7"/>
          <c:tx>
            <c:strRef>
              <c:f>Sheet1!$I$1</c:f>
              <c:strCache>
                <c:ptCount val="1"/>
                <c:pt idx="0">
                  <c:v>Claude Sonnet 4.5</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Sheet1!$I$2:$I$6</c:f>
              <c:numCache>
                <c:formatCode>General</c:formatCode>
                <c:ptCount val="5"/>
                <c:pt idx="0">
                  <c:v>0</c:v>
                </c:pt>
                <c:pt idx="1">
                  <c:v>0</c:v>
                </c:pt>
                <c:pt idx="2">
                  <c:v>9.63</c:v>
                </c:pt>
                <c:pt idx="3">
                  <c:v>58.63</c:v>
                </c:pt>
                <c:pt idx="4">
                  <c:v>77.41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Sheet1!$J$2:$J$6</c:f>
              <c:numCache>
                <c:formatCode>General</c:formatCode>
                <c:ptCount val="5"/>
                <c:pt idx="0">
                  <c:v>0</c:v>
                </c:pt>
                <c:pt idx="1">
                  <c:v>0</c:v>
                </c:pt>
                <c:pt idx="2">
                  <c:v>0.01</c:v>
                </c:pt>
                <c:pt idx="3">
                  <c:v>0</c:v>
                </c:pt>
                <c:pt idx="4">
                  <c:v>0.28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6467</c:v>
                </c:pt>
                <c:pt idx="1">
                  <c:v>16654</c:v>
                </c:pt>
                <c:pt idx="2">
                  <c:v>19260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0</c:v>
                </c:pt>
                <c:pt idx="1">
                  <c:v>0</c:v>
                </c:pt>
                <c:pt idx="2">
                  <c:v>8919</c:v>
                </c:pt>
              </c:numCache>
            </c:numRef>
          </c:val>
        </c:ser>
        <c:ser>
          <c:idx val="1"/>
          <c:order val="1"/>
          <c:tx>
            <c:strRef>
              <c:f>Sheet1!$C$1</c:f>
              <c:strCache>
                <c:ptCount val="1"/>
                <c:pt idx="0">
                  <c:v>VdiHorizion 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Sheet1!$C$2:$C$4</c:f>
              <c:numCache>
                <c:formatCode>General</c:formatCode>
                <c:ptCount val="3"/>
                <c:pt idx="0">
                  <c:v>80</c:v>
                </c:pt>
                <c:pt idx="1">
                  <c:v>0</c:v>
                </c:pt>
                <c:pt idx="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$3.4M IS BUILT —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PROJECTION, BUILT IN THREE STEPS.
1. Measure the pace over the whole period, not a corner of it:
     Jan 234,115  -&gt;  Jul 283,554
     six months, compounding  =  +3.2% per month
2. Carry July forward five months at that pace:
     Aug 293,102   Sep 302,905   Oct 312,972   Nov 323,309   Dec 333,925
3. Annualise December:  333,925 x 12  =  $4.01M
The floor is $3.40M — July repeating with no growth at all.
IF ASKED ABOUT THE $5.8M IN THE JULY BRIEFING
That used May-&gt;Jul only: Azure 145,254 -&gt; 186,541 = +13.3% a month. Two months,
starting from the softest month of the year, so a rebound read as a trend.
Nothing was wrong with the arithmetic; the window was too short. Seven months
of data now says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SEVEN MONTHS OF METERED CONSUMPTION.
  Jan 156,990   Feb 135,742   Mar 165,199   Apr 152,577
  May 152,263   Jun 167,406   Jul 186,917
  Jan-Jul total  1,117,094
  +19% = 186,917 / 156,990 - 1
BILLED AI INSIDE THAT — Foundry Models, Foundry Tools, GitHub Copilot and
Copilot Studio. Databricks is excluded: it draws on the pre-purchase and
bills at $0, so counting it would overstate what we actually pay.
  Jan   8,640   ( 5.5% of Azure )
  Jul  47,792   (25.6% of Azure )
  Jan-Jul total  153,779      growth  +453%
The line to use out loud: Azure grew 19%, its AI bill grew 453%.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Copilot Studio arriving at
8,920 in its first full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chart" Target="/ppt/charts/chart15.xml"/><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have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Seven months of consumption, January to July 2026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July annualised, all three clouds. A pace, not a budget.</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Consumption only — Marketplace purchases are excluded here and reported separately. AWS is shown gross of the $16,100 July credit, which is explained later in this deck.</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run-rate today  ·  July consumption ×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up $593K since January  ·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WHERE THIS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December is a $4.0M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Seven months of actuals, carried forward at the pace those seven months actually set.</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July briefing projected $5.8M by December. That number carried a 13.3% monthly rate measured across May–July alone, and May was the softest month of the year. Over the full seven months the pace is 3.2% a month, which puts December at $4.0M. Same estate, same data, longer window.</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 actual January to July, projected to December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$4.01M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PACE BEING CARRIED</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+3.2%</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month, measured Jan→Jul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JULY SIMPLY REPEATS</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$3.40M</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the floor — no growth at all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THE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Azure grew 19%. Its AI bill grew 453%.</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Metered consumption, January to July. Marketplace and the Databricks prepayment are excluded so the line reads as usage.</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Azure itself is growing modestly. What is changing underneath it is the mix: in January AI was one dollar in twenty of the Azure bill, in July it is one in four. The total is not the story — the composition is.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Azure consumption,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$153,779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+453% Jan→Jul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SHARE OF AZURE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25.6%</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5.5% in January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SHIFT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 and today nothing sits between a team and a provider.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Billed AI spend by platform,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$75,439</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was $8,640 in January</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SHARE OF THE CLOUD BILL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26.6%</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3.7% in January</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$199,531</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+773% Jan→Jul</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AI DEEP DIVE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Most of the AI bill is not models</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May–Jul invoiced — the only window with project-level meter splits. $152,402 of AI meter spend across tagged projects.</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Not automatically wrong — inference needs somewhere to run — but it is the part of the AI bill that right-sizing can actually move, and it is the part nobody is looking at.</a:t>
            </a:r>
            <a:endParaRPr lang="en-US" sz="1200" dirty="0"/>
          </a:p>
        </p:txBody>
      </p:sp>
      <p:sp>
        <p:nvSpPr>
          <p:cNvPr id="8" name="Text 6"/>
          <p:cNvSpPr/>
          <p:nvPr/>
        </p:nvSpPr>
        <p:spPr>
          <a:xfrm>
            <a:off x="457200" y="1234440"/>
            <a:ext cx="7772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AI spend by project</a:t>
            </a:r>
            <a:endParaRPr lang="en-US" sz="1500" dirty="0"/>
          </a:p>
        </p:txBody>
      </p:sp>
      <p:sp>
        <p:nvSpPr>
          <p:cNvPr id="9" name="Text 7"/>
          <p:cNvSpPr/>
          <p:nvPr/>
        </p:nvSpPr>
        <p:spPr>
          <a:xfrm>
            <a:off x="457200" y="1508760"/>
            <a:ext cx="7772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Three-month totals, with the infrastructure share of each tag</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772400" cy="914400"/>
        </p:xfrm>
        <a:graphic>
          <a:graphicData uri="http://schemas.openxmlformats.org/drawingml/2006/table">
            <a:tbl>
              <a:tblPr/>
              <a:tblGrid>
                <a:gridCol w="1828800"/>
                <a:gridCol w="1463040"/>
                <a:gridCol w="11887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Project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AI meter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Share of 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driver inside the tag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DataCloud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$43,840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47.3%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$28,358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$23,855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Foundry Models 61.1%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$22,374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Actuary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$13,887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55.3%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Research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55.8%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95360" y="1234440"/>
            <a:ext cx="313913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96528" y="1325880"/>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THREE OF THE TOP SIX</a:t>
            </a:r>
            <a:endParaRPr lang="en-US" sz="1200" dirty="0"/>
          </a:p>
        </p:txBody>
      </p:sp>
      <p:sp>
        <p:nvSpPr>
          <p:cNvPr id="13" name="Text 10"/>
          <p:cNvSpPr/>
          <p:nvPr/>
        </p:nvSpPr>
        <p:spPr>
          <a:xfrm>
            <a:off x="8796528" y="1527048"/>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&gt; 50%</a:t>
            </a:r>
            <a:endParaRPr lang="en-US" sz="2800" dirty="0"/>
          </a:p>
        </p:txBody>
      </p:sp>
      <p:sp>
        <p:nvSpPr>
          <p:cNvPr id="14" name="Text 11"/>
          <p:cNvSpPr/>
          <p:nvPr/>
        </p:nvSpPr>
        <p:spPr>
          <a:xfrm>
            <a:off x="8796528" y="1929384"/>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spend more on infrastructure than on models</a:t>
            </a:r>
            <a:endParaRPr lang="en-US" sz="1200" dirty="0"/>
          </a:p>
        </p:txBody>
      </p:sp>
      <p:sp>
        <p:nvSpPr>
          <p:cNvPr id="15" name="Shape 12"/>
          <p:cNvSpPr/>
          <p:nvPr/>
        </p:nvSpPr>
        <p:spPr>
          <a:xfrm>
            <a:off x="8595360" y="2459736"/>
            <a:ext cx="313913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96528" y="2551176"/>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AIFACTORY TAG</a:t>
            </a:r>
            <a:endParaRPr lang="en-US" sz="1200" dirty="0"/>
          </a:p>
        </p:txBody>
      </p:sp>
      <p:sp>
        <p:nvSpPr>
          <p:cNvPr id="17" name="Text 14"/>
          <p:cNvSpPr/>
          <p:nvPr/>
        </p:nvSpPr>
        <p:spPr>
          <a:xfrm>
            <a:off x="8796528" y="2752344"/>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$63,609</a:t>
            </a:r>
            <a:endParaRPr lang="en-US" sz="2800" dirty="0"/>
          </a:p>
        </p:txBody>
      </p:sp>
      <p:sp>
        <p:nvSpPr>
          <p:cNvPr id="18" name="Text 15"/>
          <p:cNvSpPr/>
          <p:nvPr/>
        </p:nvSpPr>
        <p:spPr>
          <a:xfrm>
            <a:off x="8796528" y="3154680"/>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which 64.8% is infrastructure</a:t>
            </a:r>
            <a:endParaRPr lang="en-US" sz="1200" dirty="0"/>
          </a:p>
        </p:txBody>
      </p:sp>
      <p:sp>
        <p:nvSpPr>
          <p:cNvPr id="19" name="Shape 16"/>
          <p:cNvSpPr/>
          <p:nvPr/>
        </p:nvSpPr>
        <p:spPr>
          <a:xfrm>
            <a:off x="8595360" y="3685032"/>
            <a:ext cx="313913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96528" y="3776472"/>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SINGLE LINE</a:t>
            </a:r>
            <a:endParaRPr lang="en-US" sz="1200" dirty="0"/>
          </a:p>
        </p:txBody>
      </p:sp>
      <p:sp>
        <p:nvSpPr>
          <p:cNvPr id="21" name="Text 18"/>
          <p:cNvSpPr/>
          <p:nvPr/>
        </p:nvSpPr>
        <p:spPr>
          <a:xfrm>
            <a:off x="8796528" y="3977640"/>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$17,311</a:t>
            </a:r>
            <a:endParaRPr lang="en-US" sz="2800" dirty="0"/>
          </a:p>
        </p:txBody>
      </p:sp>
      <p:sp>
        <p:nvSpPr>
          <p:cNvPr id="22" name="Text 19"/>
          <p:cNvSpPr/>
          <p:nvPr/>
        </p:nvSpPr>
        <p:spPr>
          <a:xfrm>
            <a:off x="8796528" y="4379976"/>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 — ahead of Foundry Models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THE $16,100 QUESTION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The undocumented credit, identified</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v33 flagged a $16,100.27 charge on ai-factory-dev that was reversed and never itemised. Cross-referencing the operational data identifies it exactly.</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reversed charge is Claude Opus 4.8 in full plus part of Opus 4.6, on ai-factory-dev — and the operational deck names the reason: a MAP contract credit. v33 concluded it was 'not a discount on Claude consumption'; the line-level match says otherwise. Worth confirming with Comm-IT before it is treated as settled, but it is no longer an open mystery.</a:t>
            </a: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sp>
      <p:sp>
        <p:nvSpPr>
          <p:cNvPr id="9" name="Text 7"/>
          <p:cNvSpPr/>
          <p:nvPr/>
        </p:nvSpPr>
        <p:spPr>
          <a:xfrm>
            <a:off x="658368"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sp>
      <p:sp>
        <p:nvSpPr>
          <p:cNvPr id="13" name="Text 11"/>
          <p:cNvSpPr/>
          <p:nvPr/>
        </p:nvSpPr>
        <p:spPr>
          <a:xfrm>
            <a:off x="4585106"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indent="0" marL="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sp>
      <p:sp>
        <p:nvSpPr>
          <p:cNvPr id="18" name="Text 16"/>
          <p:cNvSpPr/>
          <p:nvPr/>
        </p:nvSpPr>
        <p:spPr>
          <a:xfrm>
            <a:off x="8511845"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indent="0" marL="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Where the $16,100.27 sits — July Bedrock consumption, two sources</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914400"/>
        </p:xfrm>
        <a:graphic>
          <a:graphicData uri="http://schemas.openxmlformats.org/drawingml/2006/table">
            <a:tbl>
              <a:tblPr/>
              <a:tblGrid>
                <a:gridCol w="2926080"/>
                <a:gridCol w="2103120"/>
                <a:gridCol w="1920240"/>
                <a:gridCol w="1554480"/>
                <a:gridCol w="2770632"/>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4.7 · Opus 5 · Sonnet 4.6 · Haiku 4.5 ·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25" name="Text 22"/>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29" name="Text 26"/>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33" name="Text 30"/>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raise with Comm-IT, then close the v33 item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2.6×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MARKETPLACE,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Azure buys 59% at a discount — AWS buys 93%</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 the single biggest lever on unit cost.</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4"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3534842"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6411316"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sp>
      <p:sp>
        <p:nvSpPr>
          <p:cNvPr id="20" name="Text 18"/>
          <p:cNvSpPr/>
          <p:nvPr/>
        </p:nvSpPr>
        <p:spPr>
          <a:xfrm>
            <a:off x="9287789"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May–Jul —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sp>
      <p:sp>
        <p:nvSpPr>
          <p:cNvPr id="24" name="Text 22"/>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 so it disappears from every consumption report while the money is already gone.</a:t>
            </a:r>
            <a:endParaRPr lang="en-US" sz="1550" dirty="0"/>
          </a:p>
        </p:txBody>
      </p:sp>
      <p:sp>
        <p:nvSpPr>
          <p:cNvPr id="26" name="Shape 24"/>
          <p:cNvSpPr/>
          <p:nvPr/>
        </p:nvSpPr>
        <p:spPr>
          <a:xfrm>
            <a:off x="457200" y="4517136"/>
            <a:ext cx="64008" cy="64008"/>
          </a:xfrm>
          <a:prstGeom prst="rect">
            <a:avLst/>
          </a:prstGeom>
          <a:solidFill>
            <a:srgbClr val="B07CFF"/>
          </a:solidFill>
          <a:ln w="12700">
            <a:solidFill>
              <a:srgbClr val="B07CFF"/>
            </a:solidFill>
            <a:prstDash val="solid"/>
          </a:ln>
        </p:spPr>
      </p:sp>
      <p:sp>
        <p:nvSpPr>
          <p:cNvPr id="27" name="Text 25"/>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the current pace the commitment finishes its three-year term substantially unused — the choice is to drive utilisation up or to renegotiate.</a:t>
            </a: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sp>
      <p:sp>
        <p:nvSpPr>
          <p:cNvPr id="29" name="Text 27"/>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0" name="Shape 28"/>
          <p:cNvSpPr/>
          <p:nvPr/>
        </p:nvSpPr>
        <p:spPr>
          <a:xfrm>
            <a:off x="457200" y="5650992"/>
            <a:ext cx="64008" cy="64008"/>
          </a:xfrm>
          <a:prstGeom prst="rect">
            <a:avLst/>
          </a:prstGeom>
          <a:solidFill>
            <a:srgbClr val="B07CFF"/>
          </a:solidFill>
          <a:ln w="12700">
            <a:solidFill>
              <a:srgbClr val="B07CFF"/>
            </a:solidFill>
            <a:prstDash val="solid"/>
          </a:ln>
        </p:spPr>
      </p:sp>
      <p:sp>
        <p:nvSpPr>
          <p:cNvPr id="31" name="Text 29"/>
          <p:cNvSpPr/>
          <p:nvPr/>
        </p:nvSpPr>
        <p:spPr>
          <a:xfrm>
            <a:off x="630936" y="5568696"/>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invisible in a consumption-only view, which is exactly why it belongs in a CIO briefing rather than an operations report.</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sp>
      <p:sp>
        <p:nvSpPr>
          <p:cNvPr id="25" name="Text 23"/>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914400"/>
        </p:xfrm>
        <a:graphic>
          <a:graphicData uri="http://schemas.openxmlformats.org/drawingml/2006/table">
            <a:tbl>
              <a:tblPr/>
              <a:tblGrid>
                <a:gridCol w="384048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renewal —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 Service —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6327648" y="1325880"/>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6327648" y="2551176"/>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18"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6327648" y="3776472"/>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North Europe —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sp>
      <p:sp>
        <p:nvSpPr>
          <p:cNvPr id="23" name="Text 20"/>
          <p:cNvSpPr/>
          <p:nvPr/>
        </p:nvSpPr>
        <p:spPr>
          <a:xfrm>
            <a:off x="6327648" y="5001768"/>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Identified, not yet implemented. Annualised figures.</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changes what runs — it changes how it is bought and how long it stays on. The ask is a decision on the top four items, which are 66% of the value.</a:t>
            </a: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534924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SageMaker —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 19% of annualised consumption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Stopping it recurring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Optimisation is a one-off. Governance is what stops the next $600K</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enforcement point, not a reporting layer bolted on afterwards — its logs are the financial record.</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15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B07CFF"/>
            </a:solidFill>
            <a:prstDash val="solid"/>
          </a:ln>
        </p:spPr>
      </p:sp>
      <p:sp>
        <p:nvSpPr>
          <p:cNvPr id="8" name="Text 6"/>
          <p:cNvSpPr/>
          <p:nvPr/>
        </p:nvSpPr>
        <p:spPr>
          <a:xfrm>
            <a:off x="457200"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Business owner</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B07CFF"/>
            </a:solidFill>
            <a:prstDash val="solid"/>
          </a:ln>
        </p:spPr>
      </p:sp>
      <p:sp>
        <p:nvSpPr>
          <p:cNvPr id="12" name="Text 10"/>
          <p:cNvSpPr/>
          <p:nvPr/>
        </p:nvSpPr>
        <p:spPr>
          <a:xfrm>
            <a:off x="457200"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Technical owner</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B07CFF"/>
            </a:solidFill>
            <a:prstDash val="solid"/>
          </a:ln>
        </p:spPr>
      </p:sp>
      <p:sp>
        <p:nvSpPr>
          <p:cNvPr id="16" name="Text 14"/>
          <p:cNvSpPr/>
          <p:nvPr/>
        </p:nvSpPr>
        <p:spPr>
          <a:xfrm>
            <a:off x="457200"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Budget</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19" name="Shape 17"/>
          <p:cNvSpPr/>
          <p:nvPr/>
        </p:nvSpPr>
        <p:spPr>
          <a:xfrm>
            <a:off x="457200" y="3511296"/>
            <a:ext cx="329184" cy="329184"/>
          </a:xfrm>
          <a:prstGeom prst="ellipse">
            <a:avLst/>
          </a:prstGeom>
          <a:solidFill>
            <a:srgbClr val="121B2D"/>
          </a:solidFill>
          <a:ln w="12700">
            <a:solidFill>
              <a:srgbClr val="B07CFF"/>
            </a:solidFill>
            <a:prstDash val="solid"/>
          </a:ln>
        </p:spPr>
      </p:sp>
      <p:sp>
        <p:nvSpPr>
          <p:cNvPr id="20" name="Text 18"/>
          <p:cNvSpPr/>
          <p:nvPr/>
        </p:nvSpPr>
        <p:spPr>
          <a:xfrm>
            <a:off x="457200" y="3511296"/>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914400" y="3456432"/>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Rate limit</a:t>
            </a:r>
            <a:endParaRPr lang="en-US" sz="1400" dirty="0"/>
          </a:p>
        </p:txBody>
      </p:sp>
      <p:sp>
        <p:nvSpPr>
          <p:cNvPr id="22" name="Text 20"/>
          <p:cNvSpPr/>
          <p:nvPr/>
        </p:nvSpPr>
        <p:spPr>
          <a:xfrm>
            <a:off x="914400" y="3712464"/>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3" name="Shape 21"/>
          <p:cNvSpPr/>
          <p:nvPr/>
        </p:nvSpPr>
        <p:spPr>
          <a:xfrm>
            <a:off x="6278728" y="1536192"/>
            <a:ext cx="329184" cy="329184"/>
          </a:xfrm>
          <a:prstGeom prst="ellipse">
            <a:avLst/>
          </a:prstGeom>
          <a:solidFill>
            <a:srgbClr val="121B2D"/>
          </a:solidFill>
          <a:ln w="12700">
            <a:solidFill>
              <a:srgbClr val="B07CFF"/>
            </a:solidFill>
            <a:prstDash val="solid"/>
          </a:ln>
        </p:spPr>
      </p:sp>
      <p:sp>
        <p:nvSpPr>
          <p:cNvPr id="24" name="Text 22"/>
          <p:cNvSpPr/>
          <p:nvPr/>
        </p:nvSpPr>
        <p:spPr>
          <a:xfrm>
            <a:off x="6278728"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Token quota</a:t>
            </a:r>
            <a:endParaRPr lang="en-US" sz="1400" dirty="0"/>
          </a:p>
        </p:txBody>
      </p:sp>
      <p:sp>
        <p:nvSpPr>
          <p:cNvPr id="26" name="Text 24"/>
          <p:cNvSpPr/>
          <p:nvPr/>
        </p:nvSpPr>
        <p:spPr>
          <a:xfrm>
            <a:off x="6735928"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27" name="Shape 25"/>
          <p:cNvSpPr/>
          <p:nvPr/>
        </p:nvSpPr>
        <p:spPr>
          <a:xfrm>
            <a:off x="6278728" y="2194560"/>
            <a:ext cx="329184" cy="329184"/>
          </a:xfrm>
          <a:prstGeom prst="ellipse">
            <a:avLst/>
          </a:prstGeom>
          <a:solidFill>
            <a:srgbClr val="121B2D"/>
          </a:solidFill>
          <a:ln w="12700">
            <a:solidFill>
              <a:srgbClr val="B07CFF"/>
            </a:solidFill>
            <a:prstDash val="solid"/>
          </a:ln>
        </p:spPr>
      </p:sp>
      <p:sp>
        <p:nvSpPr>
          <p:cNvPr id="28" name="Text 26"/>
          <p:cNvSpPr/>
          <p:nvPr/>
        </p:nvSpPr>
        <p:spPr>
          <a:xfrm>
            <a:off x="6278728"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Cost centre</a:t>
            </a:r>
            <a:endParaRPr lang="en-US" sz="1400" dirty="0"/>
          </a:p>
        </p:txBody>
      </p:sp>
      <p:sp>
        <p:nvSpPr>
          <p:cNvPr id="30" name="Text 28"/>
          <p:cNvSpPr/>
          <p:nvPr/>
        </p:nvSpPr>
        <p:spPr>
          <a:xfrm>
            <a:off x="6735928"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1" name="Shape 29"/>
          <p:cNvSpPr/>
          <p:nvPr/>
        </p:nvSpPr>
        <p:spPr>
          <a:xfrm>
            <a:off x="6278728" y="2852928"/>
            <a:ext cx="329184" cy="329184"/>
          </a:xfrm>
          <a:prstGeom prst="ellipse">
            <a:avLst/>
          </a:prstGeom>
          <a:solidFill>
            <a:srgbClr val="121B2D"/>
          </a:solidFill>
          <a:ln w="12700">
            <a:solidFill>
              <a:srgbClr val="B07CFF"/>
            </a:solidFill>
            <a:prstDash val="solid"/>
          </a:ln>
        </p:spPr>
      </p:sp>
      <p:sp>
        <p:nvSpPr>
          <p:cNvPr id="32" name="Text 30"/>
          <p:cNvSpPr/>
          <p:nvPr/>
        </p:nvSpPr>
        <p:spPr>
          <a:xfrm>
            <a:off x="6278728"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7</a:t>
            </a:r>
            <a:endParaRPr lang="en-US" sz="1300" dirty="0"/>
          </a:p>
        </p:txBody>
      </p:sp>
      <p:sp>
        <p:nvSpPr>
          <p:cNvPr id="33" name="Text 31"/>
          <p:cNvSpPr/>
          <p:nvPr/>
        </p:nvSpPr>
        <p:spPr>
          <a:xfrm>
            <a:off x="6735928"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Executive approval</a:t>
            </a:r>
            <a:endParaRPr lang="en-US" sz="1400" dirty="0"/>
          </a:p>
        </p:txBody>
      </p:sp>
      <p:sp>
        <p:nvSpPr>
          <p:cNvPr id="34" name="Text 32"/>
          <p:cNvSpPr/>
          <p:nvPr/>
        </p:nvSpPr>
        <p:spPr>
          <a:xfrm>
            <a:off x="6735928"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35" name="Shape 33"/>
          <p:cNvSpPr/>
          <p:nvPr/>
        </p:nvSpPr>
        <p:spPr>
          <a:xfrm>
            <a:off x="457200" y="4279392"/>
            <a:ext cx="11277295" cy="914400"/>
          </a:xfrm>
          <a:prstGeom prst="roundRect">
            <a:avLst>
              <a:gd name="adj" fmla="val 6000"/>
            </a:avLst>
          </a:prstGeom>
          <a:solidFill>
            <a:srgbClr val="121B2D"/>
          </a:solidFill>
          <a:ln w="12700">
            <a:solidFill>
              <a:srgbClr val="B07CFF"/>
            </a:solidFill>
            <a:prstDash val="solid"/>
          </a:ln>
        </p:spPr>
      </p:sp>
      <p:sp>
        <p:nvSpPr>
          <p:cNvPr id="36" name="Text 34"/>
          <p:cNvSpPr/>
          <p:nvPr/>
        </p:nvSpPr>
        <p:spPr>
          <a:xfrm>
            <a:off x="685800" y="440740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This is what makes shadow AI structurally impossible</a:t>
            </a:r>
            <a:endParaRPr lang="en-US" sz="1600" dirty="0"/>
          </a:p>
        </p:txBody>
      </p:sp>
      <p:sp>
        <p:nvSpPr>
          <p:cNvPr id="37" name="Text 35"/>
          <p:cNvSpPr/>
          <p:nvPr/>
        </p:nvSpPr>
        <p:spPr>
          <a:xfrm>
            <a:off x="685800" y="4700016"/>
            <a:ext cx="10820095" cy="402336"/>
          </a:xfrm>
          <a:prstGeom prst="rect">
            <a:avLst/>
          </a:prstGeom>
          <a:noFill/>
          <a:ln/>
        </p:spPr>
        <p:txBody>
          <a:bodyPr wrap="square" lIns="0" tIns="0" rIns="0" bIns="0" rtlCol="0" anchor="t"/>
          <a:lstStyle/>
          <a:p>
            <a:pPr indent="0" marL="0">
              <a:lnSpc>
                <a:spcPct val="115000"/>
              </a:lnSpc>
              <a:buNone/>
            </a:pPr>
            <a:r>
              <a:rPr lang="en-US" sz="1250"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 so it never reaches a provider inside the enterprise network.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478024"/>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sp>
      <p:sp>
        <p:nvSpPr>
          <p:cNvPr id="13" name="Text 11"/>
          <p:cNvSpPr/>
          <p:nvPr/>
        </p:nvSpPr>
        <p:spPr>
          <a:xfrm>
            <a:off x="3541700"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sp>
      <p:sp>
        <p:nvSpPr>
          <p:cNvPr id="15" name="Text 13"/>
          <p:cNvSpPr/>
          <p:nvPr/>
        </p:nvSpPr>
        <p:spPr>
          <a:xfrm>
            <a:off x="5126584" y="1691640"/>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16" name="Text 14"/>
          <p:cNvSpPr/>
          <p:nvPr/>
        </p:nvSpPr>
        <p:spPr>
          <a:xfrm>
            <a:off x="3541700" y="2039112"/>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478024"/>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sp>
      <p:sp>
        <p:nvSpPr>
          <p:cNvPr id="19" name="Text 17"/>
          <p:cNvSpPr/>
          <p:nvPr/>
        </p:nvSpPr>
        <p:spPr>
          <a:xfrm>
            <a:off x="6425032"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sp>
      <p:sp>
        <p:nvSpPr>
          <p:cNvPr id="21" name="Text 19"/>
          <p:cNvSpPr/>
          <p:nvPr/>
        </p:nvSpPr>
        <p:spPr>
          <a:xfrm>
            <a:off x="8009915" y="1691640"/>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22" name="Text 20"/>
          <p:cNvSpPr/>
          <p:nvPr/>
        </p:nvSpPr>
        <p:spPr>
          <a:xfrm>
            <a:off x="6425032" y="2039112"/>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478024"/>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sp>
      <p:sp>
        <p:nvSpPr>
          <p:cNvPr id="25" name="Text 23"/>
          <p:cNvSpPr/>
          <p:nvPr/>
        </p:nvSpPr>
        <p:spPr>
          <a:xfrm>
            <a:off x="9308363"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sp>
      <p:sp>
        <p:nvSpPr>
          <p:cNvPr id="27" name="Text 25"/>
          <p:cNvSpPr/>
          <p:nvPr/>
        </p:nvSpPr>
        <p:spPr>
          <a:xfrm>
            <a:off x="10893247" y="1691640"/>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28" name="Text 26"/>
          <p:cNvSpPr/>
          <p:nvPr/>
        </p:nvSpPr>
        <p:spPr>
          <a:xfrm>
            <a:off x="9308363" y="2039112"/>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478024"/>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sp>
      <p:sp>
        <p:nvSpPr>
          <p:cNvPr id="31" name="Text 29"/>
          <p:cNvSpPr/>
          <p:nvPr/>
        </p:nvSpPr>
        <p:spPr>
          <a:xfrm>
            <a:off x="658368" y="3785616"/>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sp>
      <p:sp>
        <p:nvSpPr>
          <p:cNvPr id="33" name="Text 31"/>
          <p:cNvSpPr/>
          <p:nvPr/>
        </p:nvSpPr>
        <p:spPr>
          <a:xfrm>
            <a:off x="2243252" y="3822192"/>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34" name="Text 32"/>
          <p:cNvSpPr/>
          <p:nvPr/>
        </p:nvSpPr>
        <p:spPr>
          <a:xfrm>
            <a:off x="658368" y="4169664"/>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608576"/>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sp>
      <p:sp>
        <p:nvSpPr>
          <p:cNvPr id="37" name="Text 35"/>
          <p:cNvSpPr/>
          <p:nvPr/>
        </p:nvSpPr>
        <p:spPr>
          <a:xfrm>
            <a:off x="3541700"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608576"/>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sp>
      <p:sp>
        <p:nvSpPr>
          <p:cNvPr id="41" name="Text 39"/>
          <p:cNvSpPr/>
          <p:nvPr/>
        </p:nvSpPr>
        <p:spPr>
          <a:xfrm>
            <a:off x="6425032"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608576"/>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sp>
      <p:sp>
        <p:nvSpPr>
          <p:cNvPr id="45" name="Text 43"/>
          <p:cNvSpPr/>
          <p:nvPr/>
        </p:nvSpPr>
        <p:spPr>
          <a:xfrm>
            <a:off x="9308363"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608576"/>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 only a policy.</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680960" cy="914400"/>
        </p:xfrm>
        <a:graphic>
          <a:graphicData uri="http://schemas.openxmlformats.org/drawingml/2006/table">
            <a:tbl>
              <a:tblPr/>
              <a:tblGrid>
                <a:gridCol w="1920240"/>
                <a:gridCol w="1051560"/>
                <a:gridCol w="1143000"/>
                <a:gridCol w="1188720"/>
                <a:gridCol w="23774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model —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05088" y="1325880"/>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05088" y="2551176"/>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Jan–Jul, +593% Jan→Jul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05088" y="3776472"/>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AWS BEDROCK, OPUS SHARE</a:t>
            </a:r>
            <a:endParaRPr lang="en-US" sz="1200"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sp>
      <p:sp>
        <p:nvSpPr>
          <p:cNvPr id="24" name="Text 21"/>
          <p:cNvSpPr/>
          <p:nvPr/>
        </p:nvSpPr>
        <p:spPr>
          <a:xfrm>
            <a:off x="8705088" y="5001768"/>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26" name="Text 23"/>
          <p:cNvSpPr/>
          <p:nvPr/>
        </p:nvSpPr>
        <p:spPr>
          <a:xfrm>
            <a:off x="8705088" y="5605272"/>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are asking for</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Open items, owners and status</a:t>
            </a: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10972800" cy="914400"/>
        </p:xfrm>
        <a:graphic>
          <a:graphicData uri="http://schemas.openxmlformats.org/drawingml/2006/table">
            <a:tbl>
              <a:tblPr/>
              <a:tblGrid>
                <a:gridCol w="411480"/>
                <a:gridCol w="2651760"/>
                <a:gridCol w="5303520"/>
                <a:gridCol w="1051560"/>
                <a:gridCol w="1554480"/>
              </a:tblGrid>
              <a:tr h="475488">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Deliver the Cloud FinOps savings plan —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Infrastructure 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WIV.AI rollout (free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Tagging by service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Complete resource tagging by Service, Application, Cost Center and Environment for chargeback and showback, including AI Gateway and AWS Bedrock</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9" name="Shape 6"/>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10" name="Text 7"/>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14" name="Text 11"/>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7" name="Shape 14"/>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18" name="Text 15"/>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 CONFIRM</a:t>
            </a:r>
            <a:endParaRPr lang="en-US" sz="1200" dirty="0"/>
          </a:p>
        </p:txBody>
      </p:sp>
      <p:sp>
        <p:nvSpPr>
          <p:cNvPr id="19" name="Text 16"/>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a:t>
            </a:r>
            <a:endParaRPr lang="en-US" sz="2800" dirty="0"/>
          </a:p>
        </p:txBody>
      </p:sp>
      <p:sp>
        <p:nvSpPr>
          <p:cNvPr id="20" name="Text 17"/>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MAP credit, with Comm-IT</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payers sit under AWS. Charges exclude Marketplace purchases, which are shown separately.</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GitHub and Copilot Studio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 DataCloud</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 SAP</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 and the best candidate for reservations.</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 a flat,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 Cloud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+8%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+489%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 API Management and VMs are the two largest lines.</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 models need somewhere to run —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+2664%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+240%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 Opus 5 appears in July —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+2907% Mar→Jul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DEVELOPER AI</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GitHub and Copilot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Developer-facing AI, billed through the Shared Resources subscription.</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GitHub triples between May and July. Copilot Studio credits appear for the first time in July at $8,919 — no credit applied, billed in full.</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MAY–JUL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+198% May→Jul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COPILOT STUDIO, JULY</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$8,919</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first full month billed</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COMBINED</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developer AI, three months</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GitHub, by subscription</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Copilot Studio, 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Cloud Infrastructure, DevOps &amp; Databases</cp:lastModifiedBy>
  <cp:revision>1</cp:revision>
  <dcterms:created xsi:type="dcterms:W3CDTF">2026-08-16T19:29:49Z</dcterms:created>
  <dcterms:modified xsi:type="dcterms:W3CDTF">2026-08-16T19:29:49Z</dcterms:modified>
</cp:coreProperties>
</file>