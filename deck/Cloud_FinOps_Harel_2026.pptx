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2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3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32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33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34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35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3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3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3348</c:v>
                </c:pt>
                <c:pt idx="1">
                  <c:v>3024</c:v>
                </c:pt>
                <c:pt idx="2">
                  <c:v>3348</c:v>
                </c:pt>
                <c:pt idx="3">
                  <c:v>3240</c:v>
                </c:pt>
                <c:pt idx="4">
                  <c:v>3348</c:v>
                </c:pt>
                <c:pt idx="5">
                  <c:v>3240</c:v>
                </c:pt>
                <c:pt idx="6">
                  <c:v>3348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783.56</c:v>
                </c:pt>
                <c:pt idx="1">
                  <c:v>11973.08</c:v>
                </c:pt>
                <c:pt idx="2">
                  <c:v>4451.25</c:v>
                </c:pt>
                <c:pt idx="3">
                  <c:v>605.97</c:v>
                </c:pt>
                <c:pt idx="4">
                  <c:v>608.41</c:v>
                </c:pt>
                <c:pt idx="5">
                  <c:v>610.59</c:v>
                </c:pt>
                <c:pt idx="6">
                  <c:v>445.65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Glacier Deep Archive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10.25</c:v>
                </c:pt>
                <c:pt idx="2">
                  <c:v>942.33</c:v>
                </c:pt>
                <c:pt idx="3">
                  <c:v>1640.29</c:v>
                </c:pt>
                <c:pt idx="4">
                  <c:v>3099.65</c:v>
                </c:pt>
                <c:pt idx="5">
                  <c:v>5289.06</c:v>
                </c:pt>
                <c:pt idx="6">
                  <c:v>7425.01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626.43</c:v>
                </c:pt>
                <c:pt idx="1">
                  <c:v>1282.22</c:v>
                </c:pt>
                <c:pt idx="2">
                  <c:v>1254.01</c:v>
                </c:pt>
                <c:pt idx="3">
                  <c:v>818.19</c:v>
                </c:pt>
                <c:pt idx="4">
                  <c:v>1014.34</c:v>
                </c:pt>
                <c:pt idx="5">
                  <c:v>1515.39</c:v>
                </c:pt>
                <c:pt idx="6">
                  <c:v>2450.98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1479.17</c:v>
                </c:pt>
                <c:pt idx="1">
                  <c:v>1813.31</c:v>
                </c:pt>
                <c:pt idx="2">
                  <c:v>2021.43</c:v>
                </c:pt>
                <c:pt idx="3">
                  <c:v>805.46</c:v>
                </c:pt>
                <c:pt idx="4">
                  <c:v>581.17</c:v>
                </c:pt>
                <c:pt idx="5">
                  <c:v>696.11</c:v>
                </c:pt>
                <c:pt idx="6">
                  <c:v>1227.01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961.14</c:v>
                </c:pt>
                <c:pt idx="1">
                  <c:v>1066.03</c:v>
                </c:pt>
                <c:pt idx="2">
                  <c:v>1105.86</c:v>
                </c:pt>
                <c:pt idx="3">
                  <c:v>1049.64</c:v>
                </c:pt>
                <c:pt idx="4">
                  <c:v>1084.62</c:v>
                </c:pt>
                <c:pt idx="5">
                  <c:v>1351.58</c:v>
                </c:pt>
                <c:pt idx="6">
                  <c:v>1548.76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2377.13</c:v>
                </c:pt>
                <c:pt idx="1">
                  <c:v>3477.18</c:v>
                </c:pt>
                <c:pt idx="2">
                  <c:v>13523.920000000002</c:v>
                </c:pt>
                <c:pt idx="3">
                  <c:v>3163.2000000000003</c:v>
                </c:pt>
                <c:pt idx="4">
                  <c:v>3698.9300000000003</c:v>
                </c:pt>
                <c:pt idx="5">
                  <c:v>4769.22</c:v>
                </c:pt>
                <c:pt idx="6">
                  <c:v>-10070.119999999999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harel-org-02-root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735.25</c:v>
                </c:pt>
                <c:pt idx="1">
                  <c:v>1397.47</c:v>
                </c:pt>
                <c:pt idx="2">
                  <c:v>4084.35</c:v>
                </c:pt>
                <c:pt idx="3">
                  <c:v>1072.23</c:v>
                </c:pt>
                <c:pt idx="4">
                  <c:v>1196.87</c:v>
                </c:pt>
                <c:pt idx="5">
                  <c:v>1715.78</c:v>
                </c:pt>
                <c:pt idx="6">
                  <c:v>2450.58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horizon-prod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6.64</c:v>
                </c:pt>
                <c:pt idx="5">
                  <c:v>980.7</c:v>
                </c:pt>
                <c:pt idx="6">
                  <c:v>2057.37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harel-digital-lab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245.07</c:v>
                </c:pt>
                <c:pt idx="1">
                  <c:v>541.29</c:v>
                </c:pt>
                <c:pt idx="2">
                  <c:v>2834.51</c:v>
                </c:pt>
                <c:pt idx="3">
                  <c:v>-180.55</c:v>
                </c:pt>
                <c:pt idx="4">
                  <c:v>-174.62</c:v>
                </c:pt>
                <c:pt idx="5">
                  <c:v>-168.85</c:v>
                </c:pt>
                <c:pt idx="6">
                  <c:v>-168.49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harel-commit-sandbox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824.75</c:v>
                </c:pt>
                <c:pt idx="1">
                  <c:v>748.73</c:v>
                </c:pt>
                <c:pt idx="2">
                  <c:v>594.45</c:v>
                </c:pt>
                <c:pt idx="3">
                  <c:v>0.73</c:v>
                </c:pt>
                <c:pt idx="4">
                  <c:v>0.7</c:v>
                </c:pt>
                <c:pt idx="5">
                  <c:v>0.68</c:v>
                </c:pt>
                <c:pt idx="6">
                  <c:v>0.64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639.99</c:v>
                </c:pt>
                <c:pt idx="1">
                  <c:v>723.4099999999999</c:v>
                </c:pt>
                <c:pt idx="2">
                  <c:v>1029.28</c:v>
                </c:pt>
                <c:pt idx="3">
                  <c:v>1174.9199999999998</c:v>
                </c:pt>
                <c:pt idx="4">
                  <c:v>1031.0500000000002</c:v>
                </c:pt>
                <c:pt idx="5">
                  <c:v>1335.72</c:v>
                </c:pt>
                <c:pt idx="6">
                  <c:v>-14403.47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C76B00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Amazon Bedrock Edition</c:v>
                  </c:pt>
                  <c:pt idx="1">
                    <c:v>F5 Distributed Cloud Bot Defense</c:v>
                  </c:pt>
                  <c:pt idx="2">
                    <c:v>All other</c:v>
                  </c:pt>
                  <c:pt idx="3">
                    <c:v>Fortinet Cloud Security Platform</c:v>
                  </c:pt>
                  <c:pt idx="4">
                    <c:v>Trellix_Private Offer Only</c:v>
                  </c:pt>
                  <c:pt idx="5">
                    <c:v>(Private) Cortex</c:v>
                  </c:pt>
                  <c:pt idx="6">
                    <c:v>MongoDB Atlas on AWS - Contract ...</c:v>
                  </c:pt>
                  <c:pt idx="7">
                    <c:v>F5 Distributed Cloud Services</c:v>
                  </c:pt>
                  <c:pt idx="8">
                    <c:v>CrowdStrike Falcon Identity Prot...</c:v>
                  </c:pt>
                  <c:pt idx="9">
                    <c:v>TrendAI Enterprise Security Solu...</c:v>
                  </c:pt>
                  <c:pt idx="10">
                    <c:v>Splunk Private Offer Session 3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42056.44</c:v>
                </c:pt>
                <c:pt idx="1">
                  <c:v>43307.51</c:v>
                </c:pt>
                <c:pt idx="2">
                  <c:v>59606.15</c:v>
                </c:pt>
                <c:pt idx="3">
                  <c:v>61998.34</c:v>
                </c:pt>
                <c:pt idx="4">
                  <c:v>70680</c:v>
                </c:pt>
                <c:pt idx="5">
                  <c:v>142960.14</c:v>
                </c:pt>
                <c:pt idx="6">
                  <c:v>163240.16999999998</c:v>
                </c:pt>
                <c:pt idx="7">
                  <c:v>166293</c:v>
                </c:pt>
                <c:pt idx="8">
                  <c:v>171303</c:v>
                </c:pt>
                <c:pt idx="9">
                  <c:v>257323</c:v>
                </c:pt>
                <c:pt idx="10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Elastic Search (Elasticsearch) –...</c:v>
                  </c:pt>
                  <c:pt idx="1">
                    <c:v>Elasticsearch – An Azure Native ...</c:v>
                  </c:pt>
                  <c:pt idx="2">
                    <c:v>Gem Security-Gem Security</c:v>
                  </c:pt>
                  <c:pt idx="3">
                    <c:v>commvault cloud: backup &amp;recover...</c:v>
                  </c:pt>
                  <c:pt idx="4">
                    <c:v>All other</c:v>
                  </c:pt>
                  <c:pt idx="5">
                    <c:v>commvault cloud: backup &amp;recover...</c:v>
                  </c:pt>
                  <c:pt idx="6">
                    <c:v>Elasticsearch –Search &amp; Vector D...</c:v>
                  </c:pt>
                  <c:pt idx="7">
                    <c:v>Commvault Cloud: Backup &amp; Recove...</c:v>
                  </c:pt>
                  <c:pt idx="8">
                    <c:v>Databricks commit contract - Azu...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4092.3</c:v>
                </c:pt>
                <c:pt idx="6">
                  <c:v>20852.46</c:v>
                </c:pt>
                <c:pt idx="7">
                  <c:v>22030.5</c:v>
                </c:pt>
                <c:pt idx="8">
                  <c:v>504000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1518</c:v>
                </c:pt>
                <c:pt idx="1">
                  <c:v>1372</c:v>
                </c:pt>
                <c:pt idx="2">
                  <c:v>1518</c:v>
                </c:pt>
                <c:pt idx="3">
                  <c:v>1469</c:v>
                </c:pt>
                <c:pt idx="4">
                  <c:v>1518.55</c:v>
                </c:pt>
                <c:pt idx="5">
                  <c:v>1469</c:v>
                </c:pt>
                <c:pt idx="6">
                  <c:v>1519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1267</c:v>
                </c:pt>
                <c:pt idx="1">
                  <c:v>1269</c:v>
                </c:pt>
                <c:pt idx="2">
                  <c:v>1261</c:v>
                </c:pt>
                <c:pt idx="3">
                  <c:v>1249</c:v>
                </c:pt>
                <c:pt idx="4">
                  <c:v>1264.52</c:v>
                </c:pt>
                <c:pt idx="5">
                  <c:v>1267</c:v>
                </c:pt>
                <c:pt idx="6">
                  <c:v>1267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26</c:v>
                </c:pt>
                <c:pt idx="1">
                  <c:v>25</c:v>
                </c:pt>
                <c:pt idx="2">
                  <c:v>26</c:v>
                </c:pt>
                <c:pt idx="3">
                  <c:v>24</c:v>
                </c:pt>
                <c:pt idx="4">
                  <c:v>26.47</c:v>
                </c:pt>
                <c:pt idx="5">
                  <c:v>26</c:v>
                </c:pt>
                <c:pt idx="6">
                  <c:v>27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20</c:v>
                </c:pt>
                <c:pt idx="1">
                  <c:v>19</c:v>
                </c:pt>
                <c:pt idx="2">
                  <c:v>18</c:v>
                </c:pt>
                <c:pt idx="3">
                  <c:v>15</c:v>
                </c:pt>
                <c:pt idx="4">
                  <c:v>18.72</c:v>
                </c:pt>
                <c:pt idx="5">
                  <c:v>20</c:v>
                </c:pt>
                <c:pt idx="6">
                  <c:v>20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1.15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10852</c:v>
                </c:pt>
                <c:pt idx="1">
                  <c:v>3478</c:v>
                </c:pt>
                <c:pt idx="2">
                  <c:v>1967</c:v>
                </c:pt>
                <c:pt idx="3">
                  <c:v>2557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2732</c:v>
                </c:pt>
                <c:pt idx="1">
                  <c:v>757</c:v>
                </c:pt>
                <c:pt idx="2">
                  <c:v>636</c:v>
                </c:pt>
                <c:pt idx="3">
                  <c:v>1075</c:v>
                </c:pt>
                <c:pt idx="4">
                  <c:v>2017</c:v>
                </c:pt>
                <c:pt idx="5">
                  <c:v>968</c:v>
                </c:pt>
                <c:pt idx="6">
                  <c:v>1430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549</c:v>
                </c:pt>
                <c:pt idx="1">
                  <c:v>456</c:v>
                </c:pt>
                <c:pt idx="2">
                  <c:v>451</c:v>
                </c:pt>
                <c:pt idx="3">
                  <c:v>850</c:v>
                </c:pt>
                <c:pt idx="4">
                  <c:v>1300</c:v>
                </c:pt>
                <c:pt idx="5">
                  <c:v>865</c:v>
                </c:pt>
                <c:pt idx="6">
                  <c:v>1098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762</c:v>
                </c:pt>
                <c:pt idx="1">
                  <c:v>341</c:v>
                </c:pt>
                <c:pt idx="2">
                  <c:v>394</c:v>
                </c:pt>
                <c:pt idx="3">
                  <c:v>643</c:v>
                </c:pt>
                <c:pt idx="4">
                  <c:v>1231</c:v>
                </c:pt>
                <c:pt idx="5">
                  <c:v>737</c:v>
                </c:pt>
                <c:pt idx="6">
                  <c:v>1100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 Factory v2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202</c:v>
                </c:pt>
                <c:pt idx="1">
                  <c:v>88</c:v>
                </c:pt>
                <c:pt idx="2">
                  <c:v>98</c:v>
                </c:pt>
                <c:pt idx="3">
                  <c:v>190</c:v>
                </c:pt>
                <c:pt idx="4">
                  <c:v>83</c:v>
                </c:pt>
                <c:pt idx="5">
                  <c:v>138</c:v>
                </c:pt>
                <c:pt idx="6">
                  <c:v>405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3.75</c:v>
                </c:pt>
                <c:pt idx="4">
                  <c:v>25</c:v>
                </c:pt>
                <c:pt idx="5">
                  <c:v>22</c:v>
                </c:pt>
                <c:pt idx="6">
                  <c:v>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2</c:v>
                </c:pt>
                <c:pt idx="3">
                  <c:v>22.55</c:v>
                </c:pt>
                <c:pt idx="4">
                  <c:v>17</c:v>
                </c:pt>
                <c:pt idx="5">
                  <c:v>3.4800000000000004</c:v>
                </c:pt>
                <c:pt idx="6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13750</c:v>
                </c:pt>
                <c:pt idx="1">
                  <c:v>3936</c:v>
                </c:pt>
                <c:pt idx="2">
                  <c:v>2301</c:v>
                </c:pt>
                <c:pt idx="3">
                  <c:v>4702</c:v>
                </c:pt>
                <c:pt idx="4">
                  <c:v>4302</c:v>
                </c:pt>
                <c:pt idx="5">
                  <c:v>2409</c:v>
                </c:pt>
                <c:pt idx="6">
                  <c:v>3634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1352</c:v>
                </c:pt>
                <c:pt idx="1">
                  <c:v>1186</c:v>
                </c:pt>
                <c:pt idx="2">
                  <c:v>1248</c:v>
                </c:pt>
                <c:pt idx="3">
                  <c:v>638</c:v>
                </c:pt>
                <c:pt idx="4">
                  <c:v>370</c:v>
                </c:pt>
                <c:pt idx="5">
                  <c:v>324</c:v>
                </c:pt>
                <c:pt idx="6">
                  <c:v>426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12080</c:v>
                </c:pt>
                <c:pt idx="1">
                  <c:v>4412</c:v>
                </c:pt>
                <c:pt idx="2">
                  <c:v>1792</c:v>
                </c:pt>
                <c:pt idx="3">
                  <c:v>4890</c:v>
                </c:pt>
                <c:pt idx="4">
                  <c:v>1786.89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738</c:v>
                </c:pt>
                <c:pt idx="1">
                  <c:v>761</c:v>
                </c:pt>
                <c:pt idx="2">
                  <c:v>763</c:v>
                </c:pt>
                <c:pt idx="3">
                  <c:v>770</c:v>
                </c:pt>
                <c:pt idx="4">
                  <c:v>994.25</c:v>
                </c:pt>
                <c:pt idx="5">
                  <c:v>994</c:v>
                </c:pt>
                <c:pt idx="6">
                  <c:v>994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169</c:v>
                </c:pt>
                <c:pt idx="1">
                  <c:v>55</c:v>
                </c:pt>
                <c:pt idx="2">
                  <c:v>39</c:v>
                </c:pt>
                <c:pt idx="3">
                  <c:v>61</c:v>
                </c:pt>
                <c:pt idx="4">
                  <c:v>22.65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76</c:v>
                </c:pt>
                <c:pt idx="1">
                  <c:v>46</c:v>
                </c:pt>
                <c:pt idx="2">
                  <c:v>23</c:v>
                </c:pt>
                <c:pt idx="3">
                  <c:v>46</c:v>
                </c:pt>
                <c:pt idx="4">
                  <c:v>38.5</c:v>
                </c:pt>
                <c:pt idx="5">
                  <c:v>36</c:v>
                </c:pt>
                <c:pt idx="6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12801</c:v>
                </c:pt>
                <c:pt idx="1">
                  <c:v>5014</c:v>
                </c:pt>
                <c:pt idx="2">
                  <c:v>2356</c:v>
                </c:pt>
                <c:pt idx="3">
                  <c:v>5507</c:v>
                </c:pt>
                <c:pt idx="4">
                  <c:v>2580</c:v>
                </c:pt>
                <c:pt idx="5">
                  <c:v>769</c:v>
                </c:pt>
                <c:pt idx="6">
                  <c:v>769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262</c:v>
                </c:pt>
                <c:pt idx="1">
                  <c:v>260</c:v>
                </c:pt>
                <c:pt idx="2">
                  <c:v>262</c:v>
                </c:pt>
                <c:pt idx="3">
                  <c:v>261</c:v>
                </c:pt>
                <c:pt idx="4">
                  <c:v>262</c:v>
                </c:pt>
                <c:pt idx="5">
                  <c:v>262</c:v>
                </c:pt>
                <c:pt idx="6">
                  <c:v>263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419.11</c:v>
                </c:pt>
                <c:pt idx="1">
                  <c:v>382</c:v>
                </c:pt>
                <c:pt idx="2">
                  <c:v>420</c:v>
                </c:pt>
                <c:pt idx="3">
                  <c:v>407</c:v>
                </c:pt>
                <c:pt idx="4">
                  <c:v>420.31</c:v>
                </c:pt>
                <c:pt idx="5">
                  <c:v>407</c:v>
                </c:pt>
                <c:pt idx="6">
                  <c:v>421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App Service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296.11</c:v>
                </c:pt>
                <c:pt idx="1">
                  <c:v>268</c:v>
                </c:pt>
                <c:pt idx="2">
                  <c:v>296</c:v>
                </c:pt>
                <c:pt idx="3">
                  <c:v>287</c:v>
                </c:pt>
                <c:pt idx="4">
                  <c:v>295.31</c:v>
                </c:pt>
                <c:pt idx="5">
                  <c:v>287</c:v>
                </c:pt>
                <c:pt idx="6">
                  <c:v>296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44.64</c:v>
                </c:pt>
                <c:pt idx="1">
                  <c:v>40</c:v>
                </c:pt>
                <c:pt idx="2">
                  <c:v>45</c:v>
                </c:pt>
                <c:pt idx="3">
                  <c:v>43</c:v>
                </c:pt>
                <c:pt idx="4">
                  <c:v>44.66</c:v>
                </c:pt>
                <c:pt idx="5">
                  <c:v>43</c:v>
                </c:pt>
                <c:pt idx="6">
                  <c:v>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29.76</c:v>
                </c:pt>
                <c:pt idx="1">
                  <c:v>27</c:v>
                </c:pt>
                <c:pt idx="2">
                  <c:v>30</c:v>
                </c:pt>
                <c:pt idx="3">
                  <c:v>29</c:v>
                </c:pt>
                <c:pt idx="4">
                  <c:v>29.74</c:v>
                </c:pt>
                <c:pt idx="5">
                  <c:v>29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398.85</c:v>
                </c:pt>
                <c:pt idx="1">
                  <c:v>361</c:v>
                </c:pt>
                <c:pt idx="2">
                  <c:v>399</c:v>
                </c:pt>
                <c:pt idx="3">
                  <c:v>386</c:v>
                </c:pt>
                <c:pt idx="4">
                  <c:v>398.21</c:v>
                </c:pt>
                <c:pt idx="5">
                  <c:v>386</c:v>
                </c:pt>
                <c:pt idx="6">
                  <c:v>399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390.78</c:v>
                </c:pt>
                <c:pt idx="1">
                  <c:v>355</c:v>
                </c:pt>
                <c:pt idx="2">
                  <c:v>391</c:v>
                </c:pt>
                <c:pt idx="3">
                  <c:v>379</c:v>
                </c:pt>
                <c:pt idx="4">
                  <c:v>391.82</c:v>
                </c:pt>
                <c:pt idx="5">
                  <c:v>380</c:v>
                </c:pt>
                <c:pt idx="6">
                  <c:v>393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837.91</c:v>
                </c:pt>
                <c:pt idx="1">
                  <c:v>776</c:v>
                </c:pt>
                <c:pt idx="2">
                  <c:v>912.48</c:v>
                </c:pt>
                <c:pt idx="3">
                  <c:v>908.58</c:v>
                </c:pt>
                <c:pt idx="4">
                  <c:v>954.68</c:v>
                </c:pt>
                <c:pt idx="5">
                  <c:v>958</c:v>
                </c:pt>
                <c:pt idx="6">
                  <c:v>1046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DNS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387.82</c:v>
                </c:pt>
                <c:pt idx="1">
                  <c:v>388</c:v>
                </c:pt>
                <c:pt idx="2">
                  <c:v>397.6</c:v>
                </c:pt>
                <c:pt idx="3">
                  <c:v>404.53</c:v>
                </c:pt>
                <c:pt idx="4">
                  <c:v>411.06</c:v>
                </c:pt>
                <c:pt idx="5">
                  <c:v>414</c:v>
                </c:pt>
                <c:pt idx="6">
                  <c:v>420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535.62</c:v>
                </c:pt>
                <c:pt idx="1">
                  <c:v>252</c:v>
                </c:pt>
                <c:pt idx="2">
                  <c:v>273.47</c:v>
                </c:pt>
                <c:pt idx="3">
                  <c:v>262.18</c:v>
                </c:pt>
                <c:pt idx="4">
                  <c:v>355.1</c:v>
                </c:pt>
                <c:pt idx="5">
                  <c:v>362</c:v>
                </c:pt>
                <c:pt idx="6">
                  <c:v>426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267.42</c:v>
                </c:pt>
                <c:pt idx="1">
                  <c:v>270</c:v>
                </c:pt>
                <c:pt idx="2">
                  <c:v>271.44</c:v>
                </c:pt>
                <c:pt idx="3">
                  <c:v>270.67</c:v>
                </c:pt>
                <c:pt idx="4">
                  <c:v>272.31</c:v>
                </c:pt>
                <c:pt idx="5">
                  <c:v>273</c:v>
                </c:pt>
                <c:pt idx="6">
                  <c:v>275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Monitor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28.17</c:v>
                </c:pt>
                <c:pt idx="1">
                  <c:v>25</c:v>
                </c:pt>
                <c:pt idx="2">
                  <c:v>28.25</c:v>
                </c:pt>
                <c:pt idx="3">
                  <c:v>27.51</c:v>
                </c:pt>
                <c:pt idx="4">
                  <c:v>28.45</c:v>
                </c:pt>
                <c:pt idx="5">
                  <c:v>27</c:v>
                </c:pt>
                <c:pt idx="6">
                  <c:v>28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25.1</c:v>
                </c:pt>
                <c:pt idx="1">
                  <c:v>23</c:v>
                </c:pt>
                <c:pt idx="2">
                  <c:v>25.08</c:v>
                </c:pt>
                <c:pt idx="3">
                  <c:v>24.29</c:v>
                </c:pt>
                <c:pt idx="4">
                  <c:v>25.03</c:v>
                </c:pt>
                <c:pt idx="5">
                  <c:v>25</c:v>
                </c:pt>
                <c:pt idx="6">
                  <c:v>25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0.04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611.9</c:v>
                </c:pt>
                <c:pt idx="1">
                  <c:v>61</c:v>
                </c:pt>
                <c:pt idx="2">
                  <c:v>527.31</c:v>
                </c:pt>
                <c:pt idx="3">
                  <c:v>529.12</c:v>
                </c:pt>
                <c:pt idx="4">
                  <c:v>541.04</c:v>
                </c:pt>
                <c:pt idx="5">
                  <c:v>544.11</c:v>
                </c:pt>
                <c:pt idx="6">
                  <c:v>602.02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379.17</c:v>
                </c:pt>
                <c:pt idx="1">
                  <c:v>124</c:v>
                </c:pt>
                <c:pt idx="2">
                  <c:v>390.86</c:v>
                </c:pt>
                <c:pt idx="3">
                  <c:v>397.09</c:v>
                </c:pt>
                <c:pt idx="4">
                  <c:v>408.92</c:v>
                </c:pt>
                <c:pt idx="5">
                  <c:v>404.98</c:v>
                </c:pt>
                <c:pt idx="6">
                  <c:v>449.93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290.16</c:v>
                </c:pt>
                <c:pt idx="1">
                  <c:v>170</c:v>
                </c:pt>
                <c:pt idx="2">
                  <c:v>305.13</c:v>
                </c:pt>
                <c:pt idx="3">
                  <c:v>303.22</c:v>
                </c:pt>
                <c:pt idx="4">
                  <c:v>319.92</c:v>
                </c:pt>
                <c:pt idx="5">
                  <c:v>316.01</c:v>
                </c:pt>
                <c:pt idx="6">
                  <c:v>341.99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277.66</c:v>
                </c:pt>
                <c:pt idx="1">
                  <c:v>262</c:v>
                </c:pt>
                <c:pt idx="2">
                  <c:v>181.98</c:v>
                </c:pt>
                <c:pt idx="3">
                  <c:v>175.79</c:v>
                </c:pt>
                <c:pt idx="4">
                  <c:v>264.67</c:v>
                </c:pt>
                <c:pt idx="5">
                  <c:v>278.82</c:v>
                </c:pt>
                <c:pt idx="6">
                  <c:v>294.17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200.31</c:v>
                </c:pt>
                <c:pt idx="1">
                  <c:v>152</c:v>
                </c:pt>
                <c:pt idx="2">
                  <c:v>135.55</c:v>
                </c:pt>
                <c:pt idx="3">
                  <c:v>131.87</c:v>
                </c:pt>
                <c:pt idx="4">
                  <c:v>135.31</c:v>
                </c:pt>
                <c:pt idx="5">
                  <c:v>132.38</c:v>
                </c:pt>
                <c:pt idx="6">
                  <c:v>142.61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151.75</c:v>
                </c:pt>
                <c:pt idx="1">
                  <c:v>47</c:v>
                </c:pt>
                <c:pt idx="2">
                  <c:v>151.75</c:v>
                </c:pt>
                <c:pt idx="3">
                  <c:v>151.77</c:v>
                </c:pt>
                <c:pt idx="4">
                  <c:v>151.75</c:v>
                </c:pt>
                <c:pt idx="5">
                  <c:v>151.77</c:v>
                </c:pt>
                <c:pt idx="6">
                  <c:v>151.75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171.12</c:v>
                </c:pt>
                <c:pt idx="1">
                  <c:v>918</c:v>
                </c:pt>
                <c:pt idx="2">
                  <c:v>215.76</c:v>
                </c:pt>
                <c:pt idx="3">
                  <c:v>208.93</c:v>
                </c:pt>
                <c:pt idx="4">
                  <c:v>225.05999999999997</c:v>
                </c:pt>
                <c:pt idx="5">
                  <c:v>230.95</c:v>
                </c:pt>
                <c:pt idx="6">
                  <c:v>238.66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1142</c:v>
                </c:pt>
                <c:pt idx="1">
                  <c:v>1046</c:v>
                </c:pt>
                <c:pt idx="2">
                  <c:v>746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157</c:v>
                </c:pt>
                <c:pt idx="1">
                  <c:v>123</c:v>
                </c:pt>
                <c:pt idx="2">
                  <c:v>78</c:v>
                </c:pt>
                <c:pt idx="3">
                  <c:v>97.49</c:v>
                </c:pt>
                <c:pt idx="4">
                  <c:v>176</c:v>
                </c:pt>
                <c:pt idx="5">
                  <c:v>367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10</c:v>
                </c:pt>
                <c:pt idx="2">
                  <c:v>51</c:v>
                </c:pt>
                <c:pt idx="3">
                  <c:v>59.25</c:v>
                </c:pt>
                <c:pt idx="4">
                  <c:v>59</c:v>
                </c:pt>
                <c:pt idx="5">
                  <c:v>64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22</c:v>
                </c:pt>
                <c:pt idx="1">
                  <c:v>19</c:v>
                </c:pt>
                <c:pt idx="2">
                  <c:v>12</c:v>
                </c:pt>
                <c:pt idx="3">
                  <c:v>22.85</c:v>
                </c:pt>
                <c:pt idx="4">
                  <c:v>47</c:v>
                </c:pt>
                <c:pt idx="5">
                  <c:v>77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Feb</c:v>
                  </c:pt>
                  <c:pt idx="1">
                    <c:v>Mar</c:v>
                  </c:pt>
                  <c:pt idx="2">
                    <c:v>Apr</c:v>
                  </c:pt>
                  <c:pt idx="3">
                    <c:v>May</c:v>
                  </c:pt>
                  <c:pt idx="4">
                    <c:v>Jun</c:v>
                  </c:pt>
                  <c:pt idx="5">
                    <c:v>Jul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19.86</c:v>
                </c:pt>
                <c:pt idx="4">
                  <c:v>21</c:v>
                </c:pt>
                <c:pt idx="5">
                  <c:v>22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10916.76</c:v>
                </c:pt>
                <c:pt idx="1">
                  <c:v>10157</c:v>
                </c:pt>
                <c:pt idx="2">
                  <c:v>11866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6469.29</c:v>
                </c:pt>
                <c:pt idx="1">
                  <c:v>6555</c:v>
                </c:pt>
                <c:pt idx="2">
                  <c:v>7576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3243.61</c:v>
                </c:pt>
                <c:pt idx="1">
                  <c:v>3033</c:v>
                </c:pt>
                <c:pt idx="2">
                  <c:v>3406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59.42</c:v>
                </c:pt>
                <c:pt idx="1">
                  <c:v>58</c:v>
                </c:pt>
                <c:pt idx="2">
                  <c:v>60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NAT Gateway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33.48</c:v>
                </c:pt>
                <c:pt idx="1">
                  <c:v>32</c:v>
                </c:pt>
                <c:pt idx="2">
                  <c:v>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16941.37</c:v>
                </c:pt>
                <c:pt idx="1">
                  <c:v>17844</c:v>
                </c:pt>
                <c:pt idx="2">
                  <c:v>19752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Actuary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3484.79</c:v>
                </c:pt>
                <c:pt idx="1">
                  <c:v>1646</c:v>
                </c:pt>
                <c:pt idx="2">
                  <c:v>2526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Investments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38.28</c:v>
                </c:pt>
                <c:pt idx="1">
                  <c:v>162</c:v>
                </c:pt>
                <c:pt idx="2">
                  <c:v>408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Actuary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135.44</c:v>
                </c:pt>
                <c:pt idx="1">
                  <c:v>100</c:v>
                </c:pt>
                <c:pt idx="2">
                  <c:v>168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Investments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79.99</c:v>
                </c:pt>
                <c:pt idx="1">
                  <c:v>55</c:v>
                </c:pt>
                <c:pt idx="2">
                  <c:v>30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42.9</c:v>
                </c:pt>
                <c:pt idx="1">
                  <c:v>28</c:v>
                </c:pt>
                <c:pt idx="2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10.47</c:v>
                </c:pt>
                <c:pt idx="1">
                  <c:v>82</c:v>
                </c:pt>
                <c:pt idx="2">
                  <c:v>23</c:v>
                </c:pt>
                <c:pt idx="3">
                  <c:v>922.64</c:v>
                </c:pt>
                <c:pt idx="4">
                  <c:v>9077.46</c:v>
                </c:pt>
                <c:pt idx="5">
                  <c:v>3485.77</c:v>
                </c:pt>
                <c:pt idx="6">
                  <c:v>3786.27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</c:v>
                </c:pt>
                <c:pt idx="2">
                  <c:v>2</c:v>
                </c:pt>
                <c:pt idx="3">
                  <c:v>75.6</c:v>
                </c:pt>
                <c:pt idx="4">
                  <c:v>392.41</c:v>
                </c:pt>
                <c:pt idx="5">
                  <c:v>2143.71</c:v>
                </c:pt>
                <c:pt idx="6">
                  <c:v>3448.79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SQL Database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317.3</c:v>
                </c:pt>
                <c:pt idx="1">
                  <c:v>306</c:v>
                </c:pt>
                <c:pt idx="2">
                  <c:v>328</c:v>
                </c:pt>
                <c:pt idx="3">
                  <c:v>351.89</c:v>
                </c:pt>
                <c:pt idx="4">
                  <c:v>379.09</c:v>
                </c:pt>
                <c:pt idx="5">
                  <c:v>376.76</c:v>
                </c:pt>
                <c:pt idx="6">
                  <c:v>356.83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93</c:v>
                </c:pt>
                <c:pt idx="2">
                  <c:v>150</c:v>
                </c:pt>
                <c:pt idx="3">
                  <c:v>145.44</c:v>
                </c:pt>
                <c:pt idx="4">
                  <c:v>241.01</c:v>
                </c:pt>
                <c:pt idx="5">
                  <c:v>629.28</c:v>
                </c:pt>
                <c:pt idx="6">
                  <c:v>650.26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Functions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157.26</c:v>
                </c:pt>
                <c:pt idx="1">
                  <c:v>206</c:v>
                </c:pt>
                <c:pt idx="2">
                  <c:v>315</c:v>
                </c:pt>
                <c:pt idx="3">
                  <c:v>304.37</c:v>
                </c:pt>
                <c:pt idx="4">
                  <c:v>313.82</c:v>
                </c:pt>
                <c:pt idx="5">
                  <c:v>304.37</c:v>
                </c:pt>
                <c:pt idx="6">
                  <c:v>314.51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96.72</c:v>
                </c:pt>
                <c:pt idx="1">
                  <c:v>108</c:v>
                </c:pt>
                <c:pt idx="2">
                  <c:v>149</c:v>
                </c:pt>
                <c:pt idx="3">
                  <c:v>144.13</c:v>
                </c:pt>
                <c:pt idx="4">
                  <c:v>168.7</c:v>
                </c:pt>
                <c:pt idx="5">
                  <c:v>223.75</c:v>
                </c:pt>
                <c:pt idx="6">
                  <c:v>231.22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278.74</c:v>
                </c:pt>
                <c:pt idx="1">
                  <c:v>115</c:v>
                </c:pt>
                <c:pt idx="2">
                  <c:v>60</c:v>
                </c:pt>
                <c:pt idx="3">
                  <c:v>60.81</c:v>
                </c:pt>
                <c:pt idx="4">
                  <c:v>84.9</c:v>
                </c:pt>
                <c:pt idx="5">
                  <c:v>66.57000000000001</c:v>
                </c:pt>
                <c:pt idx="6">
                  <c:v>70.12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2353.25</c:v>
                </c:pt>
                <c:pt idx="1">
                  <c:v>2794.3</c:v>
                </c:pt>
                <c:pt idx="2">
                  <c:v>2548.7</c:v>
                </c:pt>
                <c:pt idx="3">
                  <c:v>1787.65</c:v>
                </c:pt>
                <c:pt idx="4">
                  <c:v>2613.11</c:v>
                </c:pt>
                <c:pt idx="5">
                  <c:v>3120</c:v>
                </c:pt>
                <c:pt idx="6">
                  <c:v>2959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7.4</c:v>
                </c:pt>
                <c:pt idx="2">
                  <c:v>2</c:v>
                </c:pt>
                <c:pt idx="3">
                  <c:v>74.77</c:v>
                </c:pt>
                <c:pt idx="4">
                  <c:v>389.96</c:v>
                </c:pt>
                <c:pt idx="5">
                  <c:v>2125</c:v>
                </c:pt>
                <c:pt idx="6">
                  <c:v>3445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1428</c:v>
                </c:pt>
                <c:pt idx="1">
                  <c:v>1470.32</c:v>
                </c:pt>
                <c:pt idx="2">
                  <c:v>707.95</c:v>
                </c:pt>
                <c:pt idx="3">
                  <c:v>37.2</c:v>
                </c:pt>
                <c:pt idx="4">
                  <c:v>257.33</c:v>
                </c:pt>
                <c:pt idx="5">
                  <c:v>375</c:v>
                </c:pt>
                <c:pt idx="6">
                  <c:v>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14.58</c:v>
                </c:pt>
                <c:pt idx="2">
                  <c:v>288.8</c:v>
                </c:pt>
                <c:pt idx="3">
                  <c:v>247.95</c:v>
                </c:pt>
                <c:pt idx="4">
                  <c:v>86.67</c:v>
                </c:pt>
                <c:pt idx="5">
                  <c:v>313</c:v>
                </c:pt>
                <c:pt idx="6">
                  <c:v>154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prod 4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449.22</c:v>
                </c:pt>
                <c:pt idx="1">
                  <c:v>2.43</c:v>
                </c:pt>
                <c:pt idx="2">
                  <c:v>0</c:v>
                </c:pt>
                <c:pt idx="3">
                  <c:v>0</c:v>
                </c:pt>
                <c:pt idx="4">
                  <c:v>4.94</c:v>
                </c:pt>
                <c:pt idx="5">
                  <c:v>0.18</c:v>
                </c:pt>
                <c:pt idx="6">
                  <c:v>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4</c:v>
                </c:pt>
                <c:pt idx="3">
                  <c:v>3.65</c:v>
                </c:pt>
                <c:pt idx="4">
                  <c:v>8.23</c:v>
                </c:pt>
                <c:pt idx="5">
                  <c:v>163</c:v>
                </c:pt>
                <c:pt idx="6">
                  <c:v>115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0</c:v>
                </c:pt>
                <c:pt idx="1">
                  <c:v>0.02</c:v>
                </c:pt>
                <c:pt idx="2">
                  <c:v>0</c:v>
                </c:pt>
                <c:pt idx="3">
                  <c:v>0.82</c:v>
                </c:pt>
                <c:pt idx="4">
                  <c:v>2.45</c:v>
                </c:pt>
                <c:pt idx="5">
                  <c:v>18</c:v>
                </c:pt>
                <c:pt idx="6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 Gateway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312.27</c:v>
                </c:pt>
                <c:pt idx="1">
                  <c:v>282</c:v>
                </c:pt>
                <c:pt idx="2">
                  <c:v>312.48</c:v>
                </c:pt>
                <c:pt idx="3">
                  <c:v>302.4</c:v>
                </c:pt>
                <c:pt idx="4">
                  <c:v>312.48</c:v>
                </c:pt>
                <c:pt idx="5">
                  <c:v>302.4</c:v>
                </c:pt>
                <c:pt idx="6">
                  <c:v>312.48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114.02</c:v>
                </c:pt>
                <c:pt idx="1">
                  <c:v>308</c:v>
                </c:pt>
                <c:pt idx="2">
                  <c:v>341.37</c:v>
                </c:pt>
                <c:pt idx="3">
                  <c:v>331.05</c:v>
                </c:pt>
                <c:pt idx="4">
                  <c:v>339.96</c:v>
                </c:pt>
                <c:pt idx="5">
                  <c:v>330.83</c:v>
                </c:pt>
                <c:pt idx="6">
                  <c:v>342.19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Azure Container Apps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280.08</c:v>
                </c:pt>
                <c:pt idx="1">
                  <c:v>245</c:v>
                </c:pt>
                <c:pt idx="2">
                  <c:v>277.57</c:v>
                </c:pt>
                <c:pt idx="3">
                  <c:v>262.43</c:v>
                </c:pt>
                <c:pt idx="4">
                  <c:v>270.97</c:v>
                </c:pt>
                <c:pt idx="5">
                  <c:v>279.13</c:v>
                </c:pt>
                <c:pt idx="6">
                  <c:v>272.36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155.41</c:v>
                </c:pt>
                <c:pt idx="1">
                  <c:v>141</c:v>
                </c:pt>
                <c:pt idx="2">
                  <c:v>155.41</c:v>
                </c:pt>
                <c:pt idx="3">
                  <c:v>150.54</c:v>
                </c:pt>
                <c:pt idx="4">
                  <c:v>155.41</c:v>
                </c:pt>
                <c:pt idx="5">
                  <c:v>268.67</c:v>
                </c:pt>
                <c:pt idx="6">
                  <c:v>310.83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9.65</c:v>
                </c:pt>
                <c:pt idx="1">
                  <c:v>712</c:v>
                </c:pt>
                <c:pt idx="2">
                  <c:v>28.87</c:v>
                </c:pt>
                <c:pt idx="3">
                  <c:v>1.29</c:v>
                </c:pt>
                <c:pt idx="4">
                  <c:v>1.94</c:v>
                </c:pt>
                <c:pt idx="5">
                  <c:v>2.41</c:v>
                </c:pt>
                <c:pt idx="6">
                  <c:v>293.48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51.66</c:v>
                </c:pt>
                <c:pt idx="1">
                  <c:v>77</c:v>
                </c:pt>
                <c:pt idx="2">
                  <c:v>85.64</c:v>
                </c:pt>
                <c:pt idx="3">
                  <c:v>82.91</c:v>
                </c:pt>
                <c:pt idx="4">
                  <c:v>85.71</c:v>
                </c:pt>
                <c:pt idx="5">
                  <c:v>82.85</c:v>
                </c:pt>
                <c:pt idx="6">
                  <c:v>85.7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45.38</c:v>
                </c:pt>
                <c:pt idx="1">
                  <c:v>41</c:v>
                </c:pt>
                <c:pt idx="2">
                  <c:v>45.2</c:v>
                </c:pt>
                <c:pt idx="3">
                  <c:v>61.8</c:v>
                </c:pt>
                <c:pt idx="4">
                  <c:v>75.39</c:v>
                </c:pt>
                <c:pt idx="5">
                  <c:v>78.04</c:v>
                </c:pt>
                <c:pt idx="6">
                  <c:v>85.72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95.51999999999998</c:v>
                </c:pt>
                <c:pt idx="1">
                  <c:v>109</c:v>
                </c:pt>
                <c:pt idx="2">
                  <c:v>118.03</c:v>
                </c:pt>
                <c:pt idx="3">
                  <c:v>161.70999999999998</c:v>
                </c:pt>
                <c:pt idx="4">
                  <c:v>214.45</c:v>
                </c:pt>
                <c:pt idx="5">
                  <c:v>259.93</c:v>
                </c:pt>
                <c:pt idx="6">
                  <c:v>280.40000000000003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362.54</c:v>
                </c:pt>
                <c:pt idx="5">
                  <c:v>783.55</c:v>
                </c:pt>
                <c:pt idx="6">
                  <c:v>999.94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161.28</c:v>
                </c:pt>
                <c:pt idx="3">
                  <c:v>483.84</c:v>
                </c:pt>
                <c:pt idx="4">
                  <c:v>499.97</c:v>
                </c:pt>
                <c:pt idx="5">
                  <c:v>483.84</c:v>
                </c:pt>
                <c:pt idx="6">
                  <c:v>499.97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249.98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249.98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165.86</c:v>
                </c:pt>
                <c:pt idx="5">
                  <c:v>556.56</c:v>
                </c:pt>
                <c:pt idx="6">
                  <c:v>575.11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23.43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228.83</c:v>
                </c:pt>
                <c:pt idx="5">
                  <c:v>241.92</c:v>
                </c:pt>
                <c:pt idx="6">
                  <c:v>249.98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75.14</c:v>
                </c:pt>
                <c:pt idx="1">
                  <c:v>67.87</c:v>
                </c:pt>
                <c:pt idx="2">
                  <c:v>75.14</c:v>
                </c:pt>
                <c:pt idx="3">
                  <c:v>72.72</c:v>
                </c:pt>
                <c:pt idx="4">
                  <c:v>75.14</c:v>
                </c:pt>
                <c:pt idx="5">
                  <c:v>72.72</c:v>
                </c:pt>
                <c:pt idx="6">
                  <c:v>75.14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75.14</c:v>
                </c:pt>
                <c:pt idx="1">
                  <c:v>92.82000000000001</c:v>
                </c:pt>
                <c:pt idx="2">
                  <c:v>219.36</c:v>
                </c:pt>
                <c:pt idx="3">
                  <c:v>218.16</c:v>
                </c:pt>
                <c:pt idx="4">
                  <c:v>225.42000000000002</c:v>
                </c:pt>
                <c:pt idx="5">
                  <c:v>239.17</c:v>
                </c:pt>
                <c:pt idx="6">
                  <c:v>300.56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204.73</c:v>
                </c:pt>
                <c:pt idx="1">
                  <c:v>258.03</c:v>
                </c:pt>
                <c:pt idx="2">
                  <c:v>285.69</c:v>
                </c:pt>
                <c:pt idx="3">
                  <c:v>276.54</c:v>
                </c:pt>
                <c:pt idx="4">
                  <c:v>286.79</c:v>
                </c:pt>
                <c:pt idx="5">
                  <c:v>277.42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37.3</c:v>
                </c:pt>
                <c:pt idx="1">
                  <c:v>225.79</c:v>
                </c:pt>
                <c:pt idx="2">
                  <c:v>249.98</c:v>
                </c:pt>
                <c:pt idx="3">
                  <c:v>241.92</c:v>
                </c:pt>
                <c:pt idx="4">
                  <c:v>314.63</c:v>
                </c:pt>
                <c:pt idx="5">
                  <c:v>314.66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97.97</c:v>
                </c:pt>
                <c:pt idx="1">
                  <c:v>132.15</c:v>
                </c:pt>
                <c:pt idx="2">
                  <c:v>135.54</c:v>
                </c:pt>
                <c:pt idx="3">
                  <c:v>135.39</c:v>
                </c:pt>
                <c:pt idx="4">
                  <c:v>130.19</c:v>
                </c:pt>
                <c:pt idx="5">
                  <c:v>141.58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Load Balancer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21.45</c:v>
                </c:pt>
                <c:pt idx="1">
                  <c:v>19.71</c:v>
                </c:pt>
                <c:pt idx="2">
                  <c:v>21.81</c:v>
                </c:pt>
                <c:pt idx="3">
                  <c:v>21.05</c:v>
                </c:pt>
                <c:pt idx="4">
                  <c:v>21.96</c:v>
                </c:pt>
                <c:pt idx="5">
                  <c:v>21.29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Event Hubs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19.2</c:v>
                </c:pt>
                <c:pt idx="1">
                  <c:v>20.16</c:v>
                </c:pt>
                <c:pt idx="2">
                  <c:v>22.32</c:v>
                </c:pt>
                <c:pt idx="3">
                  <c:v>21.6</c:v>
                </c:pt>
                <c:pt idx="4">
                  <c:v>22.32</c:v>
                </c:pt>
                <c:pt idx="5">
                  <c:v>21.6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19.19</c:v>
                </c:pt>
                <c:pt idx="1">
                  <c:v>17.75</c:v>
                </c:pt>
                <c:pt idx="2">
                  <c:v>19.19</c:v>
                </c:pt>
                <c:pt idx="3">
                  <c:v>18.71</c:v>
                </c:pt>
                <c:pt idx="4">
                  <c:v>19.19</c:v>
                </c:pt>
                <c:pt idx="5">
                  <c:v>18.71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45.470000000000006</c:v>
                </c:pt>
                <c:pt idx="1">
                  <c:v>33.43</c:v>
                </c:pt>
                <c:pt idx="2">
                  <c:v>52.11</c:v>
                </c:pt>
                <c:pt idx="3">
                  <c:v>37.220000000000006</c:v>
                </c:pt>
                <c:pt idx="4">
                  <c:v>93.59</c:v>
                </c:pt>
                <c:pt idx="5">
                  <c:v>35.190000000000005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chart" Target="/ppt/charts/chart1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chart" Target="/ppt/charts/chart2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chart" Target="/ppt/charts/chart30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8.xml"/><Relationship Id="rId2" Type="http://schemas.openxmlformats.org/officeDocument/2006/relationships/chart" Target="/ppt/charts/chart3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FINOPS /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agenda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 / July 2026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account, service and billing entity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45104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6272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46272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546272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cost centre, service and subscription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33008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34176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34176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review by Google Cloud service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20911" y="155448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2079" y="171907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322079" y="206654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AI Factory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2079" y="235915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Project-level AI consumption and model spend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58368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project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58368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 across both clouds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345104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546272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3546272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achievements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3546272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already been implemented and banked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233008" y="3291840"/>
            <a:ext cx="2613584" cy="1417320"/>
          </a:xfrm>
          <a:prstGeom prst="roundRect">
            <a:avLst>
              <a:gd name="adj" fmla="val 3871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34176" y="3456432"/>
            <a:ext cx="221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6434176" y="3803904"/>
            <a:ext cx="221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434176" y="4096512"/>
            <a:ext cx="2211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tagging and future initiatives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FF9F43">
              <a:alpha val="8000"/>
            </a:srgbClr>
          </a:solidFill>
          <a:ln w="12700">
            <a:solidFill>
              <a:srgbClr val="FF9F4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/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ACCOUNTS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BILLING ACCOUNT HAREL IL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IL billing account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AWS payer, cut by service and by account.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Increases concentrate in cloudops-network, customers3-prod and harel-org-02-root; on the service side in S3 Glacier Deep Archive, S3 API and RDS compute.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$107K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excludes Marketplace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ACCOUNT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</a:t>
            </a:r>
            <a:endParaRPr lang="en-US" sz="2757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32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Connect - Port Hours</a:t>
            </a:r>
            <a:endParaRPr lang="en-US" sz="1532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account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period.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January; TrendAI and Fortinet in June and gone by July; Cortex replaces them. Only MongoDB Atlas and the small tools are genuinely recurring.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 regular AWS usage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$182K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is new in July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/ AZURE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January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COST CENTRES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5445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622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1114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0292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 to Jul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6" name="Text 13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110728" y="3822192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10728" y="419709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411480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Cowork drive most of the July step-up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110728" y="476402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68172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8110728" y="5330952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5248656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MARKETPLACE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purchases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sits under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prepayment is cash out in one month and consumption over three years, read Databricks usage elsewhere in this deck as draw-down, not new spend.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Purchases by product, Jan-Jul total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prepayments, not consumption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P3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pre-purchase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092440" y="3685032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776472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COMMVAULT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293608" y="3977640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$22,031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8293608" y="4379976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&amp; recovery add-on, July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DATACLOUD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DataCloud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May. That is the reserved capacity purchase taking over, not a workload stopping. Foundry Models and Foundry Tools take its place as the growth line.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OPSWAT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Opswat new mail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flat, predictable workload, useful as a baseline against everything else in this section.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account for almost the whole cost, and neither has moved more than a few percent in seven months.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ACTUARY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Actuary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fell hard after January when Databricks moved onto reserved capacity.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growth is virtual machines, Data Factory v2 and virtual network, infrastructure, not analytics.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Actuary prod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Databricks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SAP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estate, and the best candidate for reservations.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vary, a flat and reservable profile.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CLOUD 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Cloud 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5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757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RISK AGILITY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Risk Agility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workload that has been switched off in stages, compute is now effectively zero.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ran $12.8K of virtual machines. By June the VMs are gone and only storage remains, worth a decision on whether the residual data still needs to be retained.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-92%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$1,032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only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BASASACH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Basasach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completely flat: an application platform plus its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and Dev/Test cost almost exactly the same every month, which usually means Dev/Test is sized like Production rather than for its actual use.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$5,409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Database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ITSEC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ITSec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tooling spread thinly across every subscription in the estate.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subscriptions carry ITSec charges. Virtual network and Azure DNS are two thirds of the total.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0148" y="1188720"/>
            <a:ext cx="552434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1316" y="1280160"/>
            <a:ext cx="51220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1481328"/>
            <a:ext cx="51220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411316" y="1883664"/>
            <a:ext cx="51220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 of the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5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19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INVESTMENTS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centre: Investments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 removed the compute line; infrastructure is now the whole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falls to zero from May on the reserved-instance purchase; virtual machines have tripled since April and are now the line to watch.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FEB-JUL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$4,438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smallest Azure cost centre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rising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/ PURCHASE OPTIONS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coverage by vendor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bought, the single biggest lever on unit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buys 93% of its compute at a discount; Azure only 59%. Closing that gap is the largest single optimisation available in the estate.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1200" dirty="0"/>
          </a:p>
        </p:txBody>
      </p:sp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DISCOUNTED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58368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58368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plus savings plan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292498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DISCOUNTED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93666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</a:t>
            </a:r>
            <a:endParaRPr lang="en-US" sz="2800" dirty="0"/>
          </a:p>
        </p:txBody>
      </p:sp>
      <p:sp>
        <p:nvSpPr>
          <p:cNvPr id="21" name="Text 17"/>
          <p:cNvSpPr/>
          <p:nvPr/>
        </p:nvSpPr>
        <p:spPr>
          <a:xfrm>
            <a:off x="4493666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plus savings plan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127797" y="4041648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133088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8328965" y="4334256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800" dirty="0"/>
          </a:p>
        </p:txBody>
      </p:sp>
      <p:sp>
        <p:nvSpPr>
          <p:cNvPr id="25" name="Text 21"/>
          <p:cNvSpPr/>
          <p:nvPr/>
        </p:nvSpPr>
        <p:spPr>
          <a:xfrm>
            <a:off x="8328965" y="4736592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the addressable gap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DATABRICKS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reserved capacity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 pre-purchased on 28 Apr 2026 (P3Y). Cumulative utilisation is 18%; actual Databricks cost since is $0.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compute bills at $0 against the pre-purchase, but the VMs, networking and storage underneath it do not. At 18% cumulative utilisation the commitment is running behind its three-year pace.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DBU hours, three-year term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TO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against the commitment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INFRASTRUCTURE, MAY-JUL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still billed as usage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infrastructure,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/ GCP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2026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cost summary / March to July 2026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/ SERVICES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Google Cloud service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Compute Engine, networking and DNS are flat to within a few dollars, every dollar of GCP growth is AI.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$8,212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+836%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lands, project by project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PROJECTS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other, the first month the programme has not grown.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CORE PROJECT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models. API Management and VMs are the two largest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wrong, since models need somewhere to run, but it is the part right-sizing can move.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SOLUGEN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Foundry Models and Foundry Tools, a genuinely model-heavy workload.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is the step change: Foundry Models jumps from under $1K to over $9K in a single month and has stayed there since.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+846%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$17K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DOCUMENT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intelligence (OCR services)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consumption by subscription. The growth is all Solugen Production.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Solugen Production goes from a rounding error in January to the largest consumer in July. DataCloud prod is flat throughout.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+72%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INSAIT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INSAIT project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application stack, not a model workload, until July.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were negligible for six months and then jumped to $293 in July. Small in absolute terms, but it is the start of a new consumption line worth a quota before it grows.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Gateway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COGNITIVE SEARCH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Cognitive Search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indexes are provisioned capacity, they bill whether or not anyone queries them.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Dev/Test, AI Factory prod and Solugen Production drive the increase. Eleven separate subscriptions now run search capacity, worth confirming each index still backs a live use case.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subscription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+427%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$3,026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eleven subscriptions carrying indexes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/ MODELS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/ BEDROCK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month, with Opus 5 appearing in July, which is exactly what a model policy is for.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MAR-JUL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 to Jul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87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787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SANDBOX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AI sandbox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experimentation environment. Small, but it should not be growing unattended.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Search and virtual machines are almost the entire sandbox bill, provisioned capacity sitting idle between experiments.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25880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JAN-JUN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$4,411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293608" y="1929384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+86% Jan to Jun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92440" y="2459736"/>
            <a:ext cx="364205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551176"/>
            <a:ext cx="323971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293608" y="2752344"/>
            <a:ext cx="323971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1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13" dirty="0"/>
          </a:p>
        </p:txBody>
      </p:sp>
      <p:sp>
        <p:nvSpPr>
          <p:cNvPr id="17" name="Text 14"/>
          <p:cNvSpPr/>
          <p:nvPr/>
        </p:nvSpPr>
        <p:spPr>
          <a:xfrm>
            <a:off x="8293608" y="3154680"/>
            <a:ext cx="323971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 of the total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/ DEVELOPER AI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Cowork credits appear for the first time in July at $8,919, no credit applied, billed in full.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MAY-JUL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 to Jul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JULY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93666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801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328965" y="18836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5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42316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Cowork, by subscription</a:t>
            </a:r>
            <a:endParaRPr lang="en-US" sz="15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97480"/>
          <a:ext cx="547862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/ FINOPS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recommend, and what has already been banked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RECOMMENDATIONS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recommendations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costed and not yet implemented.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Azure Database for PostgreSQL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Redis Cache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gateway, check necessity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VMs / consider serverless Databricks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under 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0" y="1234440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486400" y="1508760"/>
            <a:ext cx="4663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1200" dirty="0"/>
          </a:p>
        </p:txBody>
      </p:sp>
      <p:graphicFrame>
        <p:nvGraphicFramePr>
          <p:cNvPr id="7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764792"/>
          <a:ext cx="4663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support, version 1.33, 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SageMaker, check necessity on several accounts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57200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58368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 SAVING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58368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16" name="Text 12"/>
          <p:cNvSpPr/>
          <p:nvPr/>
        </p:nvSpPr>
        <p:spPr>
          <a:xfrm>
            <a:off x="658368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92498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493666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SHARE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493666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4493666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$184,836 of the total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127797" y="5074920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28965" y="5166360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ITEM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328965" y="5367528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$44,592</a:t>
            </a:r>
            <a:endParaRPr lang="en-US" sz="2800" dirty="0"/>
          </a:p>
        </p:txBody>
      </p:sp>
      <p:sp>
        <p:nvSpPr>
          <p:cNvPr id="24" name="Text 20"/>
          <p:cNvSpPr/>
          <p:nvPr/>
        </p:nvSpPr>
        <p:spPr>
          <a:xfrm>
            <a:off x="8328965" y="5769864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disk tier changes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IMPLEMENTED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savings, AWS and Azure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actioned in 2026. Annualised figures.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and outstanding together are $472K of annual saving, against consumption of roughly $2.9M a year (Jan-Jul annualised, Marketplace excluded), about 16% of the estate is addressable without changing what runs on it.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savings type</a:t>
            </a:r>
            <a:endParaRPr lang="en-US" sz="1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renewal, blob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1.33, preprod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Service, reserved instance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26480" y="1234440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325880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27648" y="1527048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327648" y="1929384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126480" y="2459736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2551176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2752344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327648" y="3154680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126480" y="3685032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3776472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27648" y="3977640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800" dirty="0"/>
          </a:p>
        </p:txBody>
      </p:sp>
      <p:sp>
        <p:nvSpPr>
          <p:cNvPr id="22" name="Text 19"/>
          <p:cNvSpPr/>
          <p:nvPr/>
        </p:nvSpPr>
        <p:spPr>
          <a:xfrm>
            <a:off x="6327648" y="4379976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126480" y="4910328"/>
            <a:ext cx="56080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327648" y="5001768"/>
            <a:ext cx="52056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ON THE TABLE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27648" y="5202936"/>
            <a:ext cx="52056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800" dirty="0"/>
          </a:p>
        </p:txBody>
      </p:sp>
      <p:sp>
        <p:nvSpPr>
          <p:cNvPr id="26" name="Text 23"/>
          <p:cNvSpPr/>
          <p:nvPr/>
        </p:nvSpPr>
        <p:spPr>
          <a:xfrm>
            <a:off x="6327648" y="5605272"/>
            <a:ext cx="52056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recommendations on the previous slide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FINOPS / NORTH EUROPE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Decommissioning North Europe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 everything still running in the North Europe region, by subscription.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 and storage are 74% of what is left in the region. Nothing here is a shared dependency for another region.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Europe, monthly cost by service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234440"/>
                <a:gridCol w="1417320"/>
                <a:gridCol w="1554480"/>
                <a:gridCol w="11887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SAP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Resources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Machines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$2,365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$1,868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Site Recovery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Network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Bandwidth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 Gateway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Defender for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Balancer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$3,601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$5,871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869680" y="1234440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70848" y="1325880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9070848" y="1527048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$5,871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070848" y="1929384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three subscriptions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869680" y="2459736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70848" y="2551176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9070848" y="2752344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9070848" y="3154680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banked saving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869680" y="3685032"/>
            <a:ext cx="2864815" cy="1097280"/>
          </a:xfrm>
          <a:prstGeom prst="roundRect">
            <a:avLst>
              <a:gd name="adj" fmla="val 5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70848" y="3776472"/>
            <a:ext cx="24624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5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PRODUCTION SHARE</a:t>
            </a:r>
            <a:endParaRPr lang="en-US" sz="1185" dirty="0"/>
          </a:p>
        </p:txBody>
      </p:sp>
      <p:sp>
        <p:nvSpPr>
          <p:cNvPr id="20" name="Text 17"/>
          <p:cNvSpPr/>
          <p:nvPr/>
        </p:nvSpPr>
        <p:spPr>
          <a:xfrm>
            <a:off x="9070848" y="3977640"/>
            <a:ext cx="24624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9070848" y="4379976"/>
            <a:ext cx="24624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$3,601 of the monthly total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 and owners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נושאים להמשך / משימות, אחראים וסטטוס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345936"/>
            <a:ext cx="11277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underneath the rest: without Service, Application, Cost Center and Environment on every resource, neither chargeback nor the AI gateway's per-consumer budgets can be enforced.</a:t>
            </a:r>
            <a:endParaRPr lang="en-US" sz="1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0972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97280"/>
                <a:gridCol w="5394960"/>
                <a:gridCol w="2468880"/>
                <a:gridCol w="457200"/>
              </a:tblGrid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אחראי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סטטוס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פירוט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משימה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אגף תשתיות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מימוש תכנית חיסכון Cloud FinOps, Rightsizing, Auto Shutdown, Reserved Instances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פרויקט חיסכון והתייעלות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פלטפורמת WIV.AI, ממשל, ניטור עלויות ושימושים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WIV.AI (FREE)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 אוראל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בתהליך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השלמת תיוג משאבים לפי Service, Application, Cost Center ו-Environment לצורך Chargeback/Showback, כולל AI Gateway ו-AWS Bedrock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תיוגים לפי שירות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אריאל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מתוכנן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ניתוח עלויות אוטומטי, זיהוי המלצות חיסכון ואופטימיזציה של שירותי AWS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הטמעת AWS FinOps 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הגדלת ניצול חוזה ה-DBU Commitment ומעקב Utilization, אופטימיזציה Classic/Serverless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58368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58368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tagging for chargeback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2498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493666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4493666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programme / WIV.AI / AWS FinOps agent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127797" y="4210304"/>
            <a:ext cx="3606698" cy="1078992"/>
          </a:xfrm>
          <a:prstGeom prst="roundRect">
            <a:avLst>
              <a:gd name="adj" fmla="val 508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301744"/>
            <a:ext cx="320436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SCOPED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328965" y="4502912"/>
            <a:ext cx="320436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8328965" y="4905248"/>
            <a:ext cx="32043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commitment optimisation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0345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/ CLOUD FINOPS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0" y="249174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0" dirty="0"/>
          </a:p>
        </p:txBody>
      </p:sp>
      <p:sp>
        <p:nvSpPr>
          <p:cNvPr id="7" name="Text 5"/>
          <p:cNvSpPr/>
          <p:nvPr/>
        </p:nvSpPr>
        <p:spPr>
          <a:xfrm>
            <a:off x="0" y="432054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infrastructure, DevOps and databases / Technology and Cyber Defence Division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Cloud FinOps — Harel, 2026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2026-08-18T15:39:06Z</dcterms:created>
  <dcterms:modified xsi:type="dcterms:W3CDTF">2026-08-18T15:39:06Z</dcterms:modified>
</cp:coreProperties>
</file>