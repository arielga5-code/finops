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76B00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…</c:v>
                  </c:pt>
                  <c:pt idx="7">
                    <c:v>F5 Distributed Cloud Services</c:v>
                  </c:pt>
                  <c:pt idx="8">
                    <c:v>CrowdStrike Falcon Identity Prot…</c:v>
                  </c:pt>
                  <c:pt idx="9">
                    <c:v>TrendAI Enterprise Security Solu…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85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–…</c:v>
                  </c:pt>
                  <c:pt idx="1">
                    <c:v>Elasticsearch – An Azure Native …</c:v>
                  </c:pt>
                  <c:pt idx="2">
                    <c:v>Gem Security-Gem Security</c:v>
                  </c:pt>
                  <c:pt idx="3">
                    <c:v>commvault cloud: backup &amp;recover…</c:v>
                  </c:pt>
                  <c:pt idx="4">
                    <c:v>All other</c:v>
                  </c:pt>
                  <c:pt idx="5">
                    <c:v>commvault cloud: backup &amp;recover…</c:v>
                  </c:pt>
                  <c:pt idx="6">
                    <c:v>Elasticsearch –Search &amp; Vector D…</c:v>
                  </c:pt>
                  <c:pt idx="7">
                    <c:v>Commvault Cloud: Backup &amp; Recove…</c:v>
                  </c:pt>
                  <c:pt idx="8">
                    <c:v>Databricks commit contract - Azu…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85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· FY2026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 · July 2026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· AWS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ACCOUNTS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SERVICES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BILLING ACCOUNT HAREL IL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MARKETPLACE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2.6× regular AWS usage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· AZURE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COST CENTRES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736592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SERVICES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 Studio drive most of the July step-up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51713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43484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50017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9194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MARKETPLACE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 — read Databricks usage elsewhere in this deck as draw-down, not new spend.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DATACLOUD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DataCloud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 — that is the reserved capacity purchase taking over, not a workload stopping. Foundry Models and Foundry Tools take its place as the growth line.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OPSWAT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 — useful as a baseline against everything else in this section.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ACTUARY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Actuary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 — infrastructure, not analytics.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SAP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 — and the best candidate for reservations.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 — a flat, reservable profile.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CLOUD IT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Cloud 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RISK AGILITY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Risk Agility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 — compute is now effectively zero.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 — worth a decision on whether the residual data still needs to be retained.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0148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1316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11316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11316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18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BASASACH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Basasach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0148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1316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11316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11316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18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ITSEC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ITSec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0148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1316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11316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11316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18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INVESTMENTS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Investments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· PURCHASE OPTIONS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 — the single biggest lever on unit cost.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58368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658368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292498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493666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4493666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8127797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8328965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600" dirty="0"/>
          </a:p>
        </p:txBody>
      </p:sp>
      <p:sp>
        <p:nvSpPr>
          <p:cNvPr id="24" name="Text 20"/>
          <p:cNvSpPr/>
          <p:nvPr/>
        </p:nvSpPr>
        <p:spPr>
          <a:xfrm>
            <a:off x="8328965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DATABRICKS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MAY–JUL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· GCP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March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· SERVICES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 — every dollar of GCP growth is AI.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· FINOPS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PROJECTS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 — the first month the programme has not grown.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CORE PROJECT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 — API Management and VMs are the two largest lines.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 — models need somewhere to run — but it is the part right-sizing can move.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SOLUGEN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 — a genuinely model-heavy workload.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DOCUMENT INTELLIGENCE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INSAIT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 — until July.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COGNITIVE SEARCH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 — they bill whether or not anyone queries them.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 — worth confirming each index still backs a live use case.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MODELS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BEDROCK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 — Opus 5 appears in July — which is exactly what a model policy is for.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SANDBOX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 — provisioned capacity sitting idle between experiments.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DEVELOPER AI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Copilot Studio credits appear for the first time in July at $8,919 — no credit applied, billed in full.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JULY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· FINOPS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RECOMMENDATIONS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Azure Database for PostgreSQL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Redis Cache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— check necessity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· consider serverless Databricks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 — 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 — check necessity on several accounts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5015484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8368" y="51252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658368" y="5308092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658368" y="57287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292498" y="5015484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493666" y="51252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493666" y="5308092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4493666" y="57287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8127797" y="5015484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328965" y="51252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328965" y="5308092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600" dirty="0"/>
          </a:p>
        </p:txBody>
      </p:sp>
      <p:sp>
        <p:nvSpPr>
          <p:cNvPr id="23" name="Text 19"/>
          <p:cNvSpPr/>
          <p:nvPr/>
        </p:nvSpPr>
        <p:spPr>
          <a:xfrm>
            <a:off x="8328965" y="57287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IMPLEMENTED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 — AWS and Azure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(Jan–Jul annualised, Marketplace excluded) — about 16% of the estate is addressable without changing what runs on it.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9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 — blob 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preprod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 — reserved instance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126480" y="1234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27648" y="1344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327648" y="1527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327648" y="1947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377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27648" y="2487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327648" y="2670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6327648" y="3090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126480" y="3520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27648" y="3630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327648" y="3813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327648" y="4233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4663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27648" y="4773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327648" y="4956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6327648" y="5376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NORTH EUROPE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— monthly cost by service</a:t>
            </a:r>
            <a:endParaRPr lang="en-US" sz="13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869680" y="1234440"/>
            <a:ext cx="28648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070848" y="1344168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070848" y="1527048"/>
            <a:ext cx="2462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9070848" y="1947672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869680" y="2377440"/>
            <a:ext cx="28648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070848" y="2487168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070848" y="2670048"/>
            <a:ext cx="2462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9070848" y="3090672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869680" y="3520440"/>
            <a:ext cx="28648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70848" y="3630168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070848" y="3813048"/>
            <a:ext cx="2462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9070848" y="4233672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· משימות, אחראים וסטטוס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 —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 —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08736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419709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58368" y="437997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58368" y="480060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292498" y="408736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93666" y="419709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493666" y="437997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4493666" y="480060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· WIV.AI · AWS FinOps agent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127797" y="408736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28965" y="419709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328965" y="437997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8328965" y="480060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2286000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2026-08-16T15:43:47Z</dcterms:created>
  <dcterms:modified xsi:type="dcterms:W3CDTF">2026-08-16T15:43:47Z</dcterms:modified>
</cp:coreProperties>
</file>