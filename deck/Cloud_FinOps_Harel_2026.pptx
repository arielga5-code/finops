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5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6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7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8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24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27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charts/chart28.xml" ContentType="application/vnd.openxmlformats-officedocument.drawingml.chart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charts/chart29.xml" ContentType="application/vnd.openxmlformats-officedocument.drawingml.chart+xml"/>
  <Override PartName="/ppt/charts/chart30.xml" ContentType="application/vnd.openxmlformats-officedocument.drawingml.chart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charts/chart31.xml" ContentType="application/vnd.openxmlformats-officedocument.drawingml.chart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32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charts/chart33.xml" ContentType="application/vnd.openxmlformats-officedocument.drawingml.chart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charts/chart34.xml" ContentType="application/vnd.openxmlformats-officedocument.drawingml.chart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charts/chart35.xml" ContentType="application/vnd.openxmlformats-officedocument.drawingml.chart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charts/chart36.xml" ContentType="application/vnd.openxmlformats-officedocument.drawingml.chart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charts/chart37.xml" ContentType="application/vnd.openxmlformats-officedocument.drawingml.chart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charts/chart38.xml" ContentType="application/vnd.openxmlformats-officedocument.drawingml.chart+xml"/>
  <Override PartName="/ppt/charts/chart39.xml" ContentType="application/vnd.openxmlformats-officedocument.drawingml.chart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_rels/chart3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3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aws-prod-Digital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22332.66</c:v>
                </c:pt>
                <c:pt idx="1">
                  <c:v>21140.47</c:v>
                </c:pt>
                <c:pt idx="2">
                  <c:v>21628.91</c:v>
                </c:pt>
                <c:pt idx="3">
                  <c:v>21144.81</c:v>
                </c:pt>
                <c:pt idx="4">
                  <c:v>21545.74</c:v>
                </c:pt>
                <c:pt idx="5">
                  <c:v>21516.36</c:v>
                </c:pt>
                <c:pt idx="6">
                  <c:v>22251.5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aws-devTest-digital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9774.69</c:v>
                </c:pt>
                <c:pt idx="1">
                  <c:v>9293.5</c:v>
                </c:pt>
                <c:pt idx="2">
                  <c:v>13019.52</c:v>
                </c:pt>
                <c:pt idx="3">
                  <c:v>12889.08</c:v>
                </c:pt>
                <c:pt idx="4">
                  <c:v>14478.53</c:v>
                </c:pt>
                <c:pt idx="5">
                  <c:v>13223.96</c:v>
                </c:pt>
                <c:pt idx="6">
                  <c:v>13679.04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aws-preProd-digital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10763.47</c:v>
                </c:pt>
                <c:pt idx="1">
                  <c:v>9195.09</c:v>
                </c:pt>
                <c:pt idx="2">
                  <c:v>10753.11</c:v>
                </c:pt>
                <c:pt idx="3">
                  <c:v>10593.41</c:v>
                </c:pt>
                <c:pt idx="4">
                  <c:v>11424.85</c:v>
                </c:pt>
                <c:pt idx="5">
                  <c:v>10158.6</c:v>
                </c:pt>
                <c:pt idx="6">
                  <c:v>10824.22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aws-foundation-security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8241.01</c:v>
                </c:pt>
                <c:pt idx="1">
                  <c:v>7426.22</c:v>
                </c:pt>
                <c:pt idx="2">
                  <c:v>8018.52</c:v>
                </c:pt>
                <c:pt idx="3">
                  <c:v>7844.99</c:v>
                </c:pt>
                <c:pt idx="4">
                  <c:v>8595.8</c:v>
                </c:pt>
                <c:pt idx="5">
                  <c:v>8586.64</c:v>
                </c:pt>
                <c:pt idx="6">
                  <c:v>8752.36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customers3-prod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886.84</c:v>
                </c:pt>
                <c:pt idx="1">
                  <c:v>13482.36</c:v>
                </c:pt>
                <c:pt idx="2">
                  <c:v>11082.36</c:v>
                </c:pt>
                <c:pt idx="3">
                  <c:v>2357.5</c:v>
                </c:pt>
                <c:pt idx="4">
                  <c:v>4222.21</c:v>
                </c:pt>
                <c:pt idx="5">
                  <c:v>6507.56</c:v>
                </c:pt>
                <c:pt idx="6">
                  <c:v>9065.77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cloudops-network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6243.55</c:v>
                </c:pt>
                <c:pt idx="1">
                  <c:v>5752.81</c:v>
                </c:pt>
                <c:pt idx="2">
                  <c:v>7021.84</c:v>
                </c:pt>
                <c:pt idx="3">
                  <c:v>6897.91</c:v>
                </c:pt>
                <c:pt idx="4">
                  <c:v>7152.27</c:v>
                </c:pt>
                <c:pt idx="5">
                  <c:v>7100.37</c:v>
                </c:pt>
                <c:pt idx="6">
                  <c:v>7373.13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aws-foundation-sharedservices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6557.18</c:v>
                </c:pt>
                <c:pt idx="1">
                  <c:v>5506.82</c:v>
                </c:pt>
                <c:pt idx="2">
                  <c:v>5796.97</c:v>
                </c:pt>
                <c:pt idx="3">
                  <c:v>5754.82</c:v>
                </c:pt>
                <c:pt idx="4">
                  <c:v>6022.6</c:v>
                </c:pt>
                <c:pt idx="5">
                  <c:v>6015.61</c:v>
                </c:pt>
                <c:pt idx="6">
                  <c:v>6067.45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Harel Insurance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6065.71</c:v>
                </c:pt>
                <c:pt idx="1">
                  <c:v>3782.04</c:v>
                </c:pt>
                <c:pt idx="2">
                  <c:v>6397.95</c:v>
                </c:pt>
                <c:pt idx="3">
                  <c:v>8584.51</c:v>
                </c:pt>
                <c:pt idx="4">
                  <c:v>3830.37</c:v>
                </c:pt>
                <c:pt idx="5">
                  <c:v>6197.57</c:v>
                </c:pt>
                <c:pt idx="6">
                  <c:v>5139.86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6260.39</c:v>
                </c:pt>
                <c:pt idx="1">
                  <c:v>7002.899999999999</c:v>
                </c:pt>
                <c:pt idx="2">
                  <c:v>12141.12</c:v>
                </c:pt>
                <c:pt idx="3">
                  <c:v>5862.049999999999</c:v>
                </c:pt>
                <c:pt idx="4">
                  <c:v>5790.1100000000015</c:v>
                </c:pt>
                <c:pt idx="5">
                  <c:v>7274.5199999999995</c:v>
                </c:pt>
                <c:pt idx="6">
                  <c:v>-6323.640000000001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EC2 - Compute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31180.69</c:v>
                </c:pt>
                <c:pt idx="1">
                  <c:v>28236.72</c:v>
                </c:pt>
                <c:pt idx="2">
                  <c:v>32994.93</c:v>
                </c:pt>
                <c:pt idx="3">
                  <c:v>32045.93</c:v>
                </c:pt>
                <c:pt idx="4">
                  <c:v>35082.64</c:v>
                </c:pt>
                <c:pt idx="5">
                  <c:v>33427.89</c:v>
                </c:pt>
                <c:pt idx="6">
                  <c:v>35426.33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Business Support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3876.88</c:v>
                </c:pt>
                <c:pt idx="1">
                  <c:v>4268.96</c:v>
                </c:pt>
                <c:pt idx="2">
                  <c:v>4581.17</c:v>
                </c:pt>
                <c:pt idx="3">
                  <c:v>4108.04</c:v>
                </c:pt>
                <c:pt idx="4">
                  <c:v>4478.1</c:v>
                </c:pt>
                <c:pt idx="5">
                  <c:v>4839.14</c:v>
                </c:pt>
                <c:pt idx="6">
                  <c:v>5893.49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S3 - 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1978.49</c:v>
                </c:pt>
                <c:pt idx="1">
                  <c:v>13276.31</c:v>
                </c:pt>
                <c:pt idx="2">
                  <c:v>5868.01</c:v>
                </c:pt>
                <c:pt idx="3">
                  <c:v>2134.47</c:v>
                </c:pt>
                <c:pt idx="4">
                  <c:v>2249.46</c:v>
                </c:pt>
                <c:pt idx="5">
                  <c:v>2370.09</c:v>
                </c:pt>
                <c:pt idx="6">
                  <c:v>2324.71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Private Cloud - Transit Gateway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3925.73</c:v>
                </c:pt>
                <c:pt idx="1">
                  <c:v>3570.88</c:v>
                </c:pt>
                <c:pt idx="2">
                  <c:v>3963.99</c:v>
                </c:pt>
                <c:pt idx="3">
                  <c:v>3878.04</c:v>
                </c:pt>
                <c:pt idx="4">
                  <c:v>4428.68</c:v>
                </c:pt>
                <c:pt idx="5">
                  <c:v>4573.6</c:v>
                </c:pt>
                <c:pt idx="6">
                  <c:v>4657.27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RDS - Compute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4939.68</c:v>
                </c:pt>
                <c:pt idx="1">
                  <c:v>3272.18</c:v>
                </c:pt>
                <c:pt idx="2">
                  <c:v>3522.03</c:v>
                </c:pt>
                <c:pt idx="3">
                  <c:v>3408.12</c:v>
                </c:pt>
                <c:pt idx="4">
                  <c:v>3521.72</c:v>
                </c:pt>
                <c:pt idx="5">
                  <c:v>4011.45</c:v>
                </c:pt>
                <c:pt idx="6">
                  <c:v>4355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Direct Connect - Port Hours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3794.4</c:v>
                </c:pt>
                <c:pt idx="1">
                  <c:v>3427.2</c:v>
                </c:pt>
                <c:pt idx="2">
                  <c:v>3794.4</c:v>
                </c:pt>
                <c:pt idx="3">
                  <c:v>3672</c:v>
                </c:pt>
                <c:pt idx="4">
                  <c:v>3794.4</c:v>
                </c:pt>
                <c:pt idx="5">
                  <c:v>3672</c:v>
                </c:pt>
                <c:pt idx="6">
                  <c:v>3794.4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CloudWatch Log Groups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2791.6</c:v>
                </c:pt>
                <c:pt idx="1">
                  <c:v>2486.91</c:v>
                </c:pt>
                <c:pt idx="2">
                  <c:v>2914.14</c:v>
                </c:pt>
                <c:pt idx="3">
                  <c:v>2895.9</c:v>
                </c:pt>
                <c:pt idx="4">
                  <c:v>3040.1</c:v>
                </c:pt>
                <c:pt idx="5">
                  <c:v>3061.85</c:v>
                </c:pt>
                <c:pt idx="6">
                  <c:v>2991.11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all other services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2981.34</c:v>
                </c:pt>
                <c:pt idx="1">
                  <c:v>4394.96</c:v>
                </c:pt>
                <c:pt idx="2">
                  <c:v>3697.84</c:v>
                </c:pt>
                <c:pt idx="3">
                  <c:v>2273.25</c:v>
                </c:pt>
                <c:pt idx="4">
                  <c:v>2037.07</c:v>
                </c:pt>
                <c:pt idx="5">
                  <c:v>1889.52</c:v>
                </c:pt>
                <c:pt idx="6">
                  <c:v>1276.28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21656.71000000001</c:v>
                </c:pt>
                <c:pt idx="1">
                  <c:v>19648.1</c:v>
                </c:pt>
                <c:pt idx="2">
                  <c:v>34523.78</c:v>
                </c:pt>
                <c:pt idx="3">
                  <c:v>27513.360000000008</c:v>
                </c:pt>
                <c:pt idx="4">
                  <c:v>24430.3</c:v>
                </c:pt>
                <c:pt idx="5">
                  <c:v>28735.639999999996</c:v>
                </c:pt>
                <c:pt idx="6">
                  <c:v>16111.090000000006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Direct Connect - Port Hours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3348</c:v>
                </c:pt>
                <c:pt idx="1">
                  <c:v>3024</c:v>
                </c:pt>
                <c:pt idx="2">
                  <c:v>3348</c:v>
                </c:pt>
                <c:pt idx="3">
                  <c:v>3240</c:v>
                </c:pt>
                <c:pt idx="4">
                  <c:v>3348</c:v>
                </c:pt>
                <c:pt idx="5">
                  <c:v>3240</c:v>
                </c:pt>
                <c:pt idx="6">
                  <c:v>3348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S3 - 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783.56</c:v>
                </c:pt>
                <c:pt idx="1">
                  <c:v>11973.08</c:v>
                </c:pt>
                <c:pt idx="2">
                  <c:v>4451.25</c:v>
                </c:pt>
                <c:pt idx="3">
                  <c:v>605.97</c:v>
                </c:pt>
                <c:pt idx="4">
                  <c:v>608.41</c:v>
                </c:pt>
                <c:pt idx="5">
                  <c:v>610.59</c:v>
                </c:pt>
                <c:pt idx="6">
                  <c:v>445.65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S3 - Glacier Deep Archive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0</c:v>
                </c:pt>
                <c:pt idx="1">
                  <c:v>10.25</c:v>
                </c:pt>
                <c:pt idx="2">
                  <c:v>942.33</c:v>
                </c:pt>
                <c:pt idx="3">
                  <c:v>1640.29</c:v>
                </c:pt>
                <c:pt idx="4">
                  <c:v>3099.65</c:v>
                </c:pt>
                <c:pt idx="5">
                  <c:v>5289.06</c:v>
                </c:pt>
                <c:pt idx="6">
                  <c:v>7425.01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Business Support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626.43</c:v>
                </c:pt>
                <c:pt idx="1">
                  <c:v>1282.22</c:v>
                </c:pt>
                <c:pt idx="2">
                  <c:v>1254.01</c:v>
                </c:pt>
                <c:pt idx="3">
                  <c:v>818.19</c:v>
                </c:pt>
                <c:pt idx="4">
                  <c:v>1014.34</c:v>
                </c:pt>
                <c:pt idx="5">
                  <c:v>1515.39</c:v>
                </c:pt>
                <c:pt idx="6">
                  <c:v>2450.98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Other services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1479.17</c:v>
                </c:pt>
                <c:pt idx="1">
                  <c:v>1813.31</c:v>
                </c:pt>
                <c:pt idx="2">
                  <c:v>2021.43</c:v>
                </c:pt>
                <c:pt idx="3">
                  <c:v>805.46</c:v>
                </c:pt>
                <c:pt idx="4">
                  <c:v>581.17</c:v>
                </c:pt>
                <c:pt idx="5">
                  <c:v>696.11</c:v>
                </c:pt>
                <c:pt idx="6">
                  <c:v>1227.01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EC2 - Compute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961.14</c:v>
                </c:pt>
                <c:pt idx="1">
                  <c:v>1066.03</c:v>
                </c:pt>
                <c:pt idx="2">
                  <c:v>1105.86</c:v>
                </c:pt>
                <c:pt idx="3">
                  <c:v>1049.64</c:v>
                </c:pt>
                <c:pt idx="4">
                  <c:v>1084.62</c:v>
                </c:pt>
                <c:pt idx="5">
                  <c:v>1351.58</c:v>
                </c:pt>
                <c:pt idx="6">
                  <c:v>1548.76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2377.13</c:v>
                </c:pt>
                <c:pt idx="1">
                  <c:v>3477.18</c:v>
                </c:pt>
                <c:pt idx="2">
                  <c:v>13523.920000000002</c:v>
                </c:pt>
                <c:pt idx="3">
                  <c:v>3163.2000000000003</c:v>
                </c:pt>
                <c:pt idx="4">
                  <c:v>3698.9300000000003</c:v>
                </c:pt>
                <c:pt idx="5">
                  <c:v>4769.22</c:v>
                </c:pt>
                <c:pt idx="6">
                  <c:v>-10070.119999999999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customers3-prod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886.84</c:v>
                </c:pt>
                <c:pt idx="1">
                  <c:v>13482.36</c:v>
                </c:pt>
                <c:pt idx="2">
                  <c:v>11082.36</c:v>
                </c:pt>
                <c:pt idx="3">
                  <c:v>2357.5</c:v>
                </c:pt>
                <c:pt idx="4">
                  <c:v>4222.21</c:v>
                </c:pt>
                <c:pt idx="5">
                  <c:v>6507.56</c:v>
                </c:pt>
                <c:pt idx="6">
                  <c:v>9065.77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cloudops-network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6243.55</c:v>
                </c:pt>
                <c:pt idx="1">
                  <c:v>5752.81</c:v>
                </c:pt>
                <c:pt idx="2">
                  <c:v>7021.84</c:v>
                </c:pt>
                <c:pt idx="3">
                  <c:v>6897.91</c:v>
                </c:pt>
                <c:pt idx="4">
                  <c:v>7152.27</c:v>
                </c:pt>
                <c:pt idx="5">
                  <c:v>7100.37</c:v>
                </c:pt>
                <c:pt idx="6">
                  <c:v>7373.13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harel-org-02-root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735.25</c:v>
                </c:pt>
                <c:pt idx="1">
                  <c:v>1397.47</c:v>
                </c:pt>
                <c:pt idx="2">
                  <c:v>4084.35</c:v>
                </c:pt>
                <c:pt idx="3">
                  <c:v>1072.23</c:v>
                </c:pt>
                <c:pt idx="4">
                  <c:v>1196.87</c:v>
                </c:pt>
                <c:pt idx="5">
                  <c:v>1715.78</c:v>
                </c:pt>
                <c:pt idx="6">
                  <c:v>2450.58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horizon-prod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6.64</c:v>
                </c:pt>
                <c:pt idx="5">
                  <c:v>980.7</c:v>
                </c:pt>
                <c:pt idx="6">
                  <c:v>2057.37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harel-digital-lab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245.07</c:v>
                </c:pt>
                <c:pt idx="1">
                  <c:v>541.29</c:v>
                </c:pt>
                <c:pt idx="2">
                  <c:v>2834.51</c:v>
                </c:pt>
                <c:pt idx="3">
                  <c:v>-180.55</c:v>
                </c:pt>
                <c:pt idx="4">
                  <c:v>-174.62</c:v>
                </c:pt>
                <c:pt idx="5">
                  <c:v>-168.85</c:v>
                </c:pt>
                <c:pt idx="6">
                  <c:v>-168.49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harel-commit-sandbox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824.75</c:v>
                </c:pt>
                <c:pt idx="1">
                  <c:v>748.73</c:v>
                </c:pt>
                <c:pt idx="2">
                  <c:v>594.45</c:v>
                </c:pt>
                <c:pt idx="3">
                  <c:v>0.73</c:v>
                </c:pt>
                <c:pt idx="4">
                  <c:v>0.7</c:v>
                </c:pt>
                <c:pt idx="5">
                  <c:v>0.68</c:v>
                </c:pt>
                <c:pt idx="6">
                  <c:v>0.64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639.99</c:v>
                </c:pt>
                <c:pt idx="1">
                  <c:v>723.4099999999999</c:v>
                </c:pt>
                <c:pt idx="2">
                  <c:v>1029.28</c:v>
                </c:pt>
                <c:pt idx="3">
                  <c:v>1174.9199999999998</c:v>
                </c:pt>
                <c:pt idx="4">
                  <c:v>1031.0500000000002</c:v>
                </c:pt>
                <c:pt idx="5">
                  <c:v>1335.72</c:v>
                </c:pt>
                <c:pt idx="6">
                  <c:v>-14403.47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&quot;$&quot;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4F7F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F8CF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DD9E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F9F43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07CFF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3DDC97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FF6B7A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2AD38C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FFB84D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6C8CFF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8FD8E8"/>
              </a:solidFill>
              <a:effectLst/>
            </c:spPr>
          </c:dPt>
          <c:dPt>
            <c:idx val="10"/>
            <c:invertIfNegative val="0"/>
            <c:bubble3D val="0"/>
            <c:spPr>
              <a:solidFill>
                <a:srgbClr val="C76B00"/>
              </a:solidFill>
              <a:effectLst/>
            </c:spPr>
          </c:dPt>
          <c:cat>
            <c:multiLvlStrRef>
              <c:f>Sheet1!$A$2:$A$12</c:f>
              <c:multiLvlStrCache>
                <c:ptCount val="11"/>
                <c:lvl>
                  <c:pt idx="0">
                    <c:v>Amazon Bedrock Edition</c:v>
                  </c:pt>
                  <c:pt idx="1">
                    <c:v>F5 Distributed Cloud Bot Defense</c:v>
                  </c:pt>
                  <c:pt idx="2">
                    <c:v>All other</c:v>
                  </c:pt>
                  <c:pt idx="3">
                    <c:v>Fortinet Cloud Security Platform</c:v>
                  </c:pt>
                  <c:pt idx="4">
                    <c:v>Trellix_Private Offer Only</c:v>
                  </c:pt>
                  <c:pt idx="5">
                    <c:v>(Private) Cortex</c:v>
                  </c:pt>
                  <c:pt idx="6">
                    <c:v>MongoDB Atlas on AWS - Contract …</c:v>
                  </c:pt>
                  <c:pt idx="7">
                    <c:v>F5 Distributed Cloud Services</c:v>
                  </c:pt>
                  <c:pt idx="8">
                    <c:v>CrowdStrike Falcon Identity Prot…</c:v>
                  </c:pt>
                  <c:pt idx="9">
                    <c:v>TrendAI Enterprise Security Solu…</c:v>
                  </c:pt>
                  <c:pt idx="10">
                    <c:v>Splunk Private Offer Session 3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42056.44</c:v>
                </c:pt>
                <c:pt idx="1">
                  <c:v>43307.51</c:v>
                </c:pt>
                <c:pt idx="2">
                  <c:v>59606.15</c:v>
                </c:pt>
                <c:pt idx="3">
                  <c:v>61998.34</c:v>
                </c:pt>
                <c:pt idx="4">
                  <c:v>70680</c:v>
                </c:pt>
                <c:pt idx="5">
                  <c:v>142960.14</c:v>
                </c:pt>
                <c:pt idx="6">
                  <c:v>163240.16999999998</c:v>
                </c:pt>
                <c:pt idx="7">
                  <c:v>166293</c:v>
                </c:pt>
                <c:pt idx="8">
                  <c:v>171303</c:v>
                </c:pt>
                <c:pt idx="9">
                  <c:v>257323</c:v>
                </c:pt>
                <c:pt idx="10">
                  <c:v>365018</c:v>
                </c:pt>
              </c:numCache>
            </c:numRef>
          </c:val>
        </c:ser>
        <c:dLbls>
          <c:numFmt formatCode="&quot;$&quot;#,##0" sourceLinked="0"/>
          <c:txPr>
            <a:bodyPr/>
            <a:lstStyle/>
            <a:p>
              <a:pPr>
                <a:defRPr b="0" i="0" strike="noStrike" sz="1100" u="none">
                  <a:solidFill>
                    <a:srgbClr val="F4F7F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datacloud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47462</c:v>
                </c:pt>
                <c:pt idx="1">
                  <c:v>49198.19</c:v>
                </c:pt>
                <c:pt idx="2">
                  <c:v>54536</c:v>
                </c:pt>
                <c:pt idx="3">
                  <c:v>50235.01</c:v>
                </c:pt>
                <c:pt idx="4">
                  <c:v>43924.46</c:v>
                </c:pt>
                <c:pt idx="5">
                  <c:v>44390</c:v>
                </c:pt>
                <c:pt idx="6">
                  <c:v>49118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sap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42266</c:v>
                </c:pt>
                <c:pt idx="1">
                  <c:v>39098.06</c:v>
                </c:pt>
                <c:pt idx="2">
                  <c:v>41546</c:v>
                </c:pt>
                <c:pt idx="3">
                  <c:v>40825.4</c:v>
                </c:pt>
                <c:pt idx="4">
                  <c:v>46601</c:v>
                </c:pt>
                <c:pt idx="5">
                  <c:v>42665</c:v>
                </c:pt>
                <c:pt idx="6">
                  <c:v>40925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cloudit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30915</c:v>
                </c:pt>
                <c:pt idx="1">
                  <c:v>24680.95</c:v>
                </c:pt>
                <c:pt idx="2">
                  <c:v>40730</c:v>
                </c:pt>
                <c:pt idx="3">
                  <c:v>29195.48</c:v>
                </c:pt>
                <c:pt idx="4">
                  <c:v>28615</c:v>
                </c:pt>
                <c:pt idx="5">
                  <c:v>28585</c:v>
                </c:pt>
                <c:pt idx="6">
                  <c:v>33421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aifactory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854</c:v>
                </c:pt>
                <c:pt idx="1">
                  <c:v>3477.58</c:v>
                </c:pt>
                <c:pt idx="2">
                  <c:v>12632</c:v>
                </c:pt>
                <c:pt idx="3">
                  <c:v>11675.62</c:v>
                </c:pt>
                <c:pt idx="4">
                  <c:v>13656</c:v>
                </c:pt>
                <c:pt idx="5">
                  <c:v>26476</c:v>
                </c:pt>
                <c:pt idx="6">
                  <c:v>24531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4371</c:v>
                </c:pt>
                <c:pt idx="1">
                  <c:v>5240</c:v>
                </c:pt>
                <c:pt idx="2">
                  <c:v>5614</c:v>
                </c:pt>
                <c:pt idx="3">
                  <c:v>5760</c:v>
                </c:pt>
                <c:pt idx="4">
                  <c:v>8681.34</c:v>
                </c:pt>
                <c:pt idx="5">
                  <c:v>18094</c:v>
                </c:pt>
                <c:pt idx="6">
                  <c:v>22410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actuary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15102</c:v>
                </c:pt>
                <c:pt idx="1">
                  <c:v>4959.24</c:v>
                </c:pt>
                <c:pt idx="2">
                  <c:v>3549</c:v>
                </c:pt>
                <c:pt idx="3">
                  <c:v>5341</c:v>
                </c:pt>
                <c:pt idx="4">
                  <c:v>4672</c:v>
                </c:pt>
                <c:pt idx="5">
                  <c:v>2733</c:v>
                </c:pt>
                <c:pt idx="6">
                  <c:v>4058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Risk Agility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13063</c:v>
                </c:pt>
                <c:pt idx="1">
                  <c:v>5274</c:v>
                </c:pt>
                <c:pt idx="2">
                  <c:v>2617</c:v>
                </c:pt>
                <c:pt idx="3">
                  <c:v>5768</c:v>
                </c:pt>
                <c:pt idx="4">
                  <c:v>2842</c:v>
                </c:pt>
                <c:pt idx="5">
                  <c:v>1031</c:v>
                </c:pt>
                <c:pt idx="6">
                  <c:v>1032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itsec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2082</c:v>
                </c:pt>
                <c:pt idx="1">
                  <c:v>1733.66</c:v>
                </c:pt>
                <c:pt idx="2">
                  <c:v>1908</c:v>
                </c:pt>
                <c:pt idx="3">
                  <c:v>1897.79</c:v>
                </c:pt>
                <c:pt idx="4">
                  <c:v>2047</c:v>
                </c:pt>
                <c:pt idx="5">
                  <c:v>2059</c:v>
                </c:pt>
                <c:pt idx="6">
                  <c:v>2221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874.61</c:v>
                </c:pt>
                <c:pt idx="1">
                  <c:v>2079.7999999999997</c:v>
                </c:pt>
                <c:pt idx="2">
                  <c:v>2067</c:v>
                </c:pt>
                <c:pt idx="3">
                  <c:v>1879.0600000000002</c:v>
                </c:pt>
                <c:pt idx="4">
                  <c:v>1224.2</c:v>
                </c:pt>
                <c:pt idx="5">
                  <c:v>1373</c:v>
                </c:pt>
                <c:pt idx="6">
                  <c:v>9201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58546.14</c:v>
                </c:pt>
                <c:pt idx="1">
                  <c:v>48277</c:v>
                </c:pt>
                <c:pt idx="2">
                  <c:v>52579.27</c:v>
                </c:pt>
                <c:pt idx="3">
                  <c:v>51502.75</c:v>
                </c:pt>
                <c:pt idx="4">
                  <c:v>57465.99</c:v>
                </c:pt>
                <c:pt idx="5">
                  <c:v>52188.55</c:v>
                </c:pt>
                <c:pt idx="6">
                  <c:v>53314.28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24139.41</c:v>
                </c:pt>
                <c:pt idx="1">
                  <c:v>22951</c:v>
                </c:pt>
                <c:pt idx="2">
                  <c:v>22458.08</c:v>
                </c:pt>
                <c:pt idx="3">
                  <c:v>22680.51</c:v>
                </c:pt>
                <c:pt idx="4">
                  <c:v>24615.18</c:v>
                </c:pt>
                <c:pt idx="5">
                  <c:v>25022.53</c:v>
                </c:pt>
                <c:pt idx="6">
                  <c:v>26364.22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12726.23</c:v>
                </c:pt>
                <c:pt idx="1">
                  <c:v>12145</c:v>
                </c:pt>
                <c:pt idx="2">
                  <c:v>14087.61</c:v>
                </c:pt>
                <c:pt idx="3">
                  <c:v>15311.83</c:v>
                </c:pt>
                <c:pt idx="4">
                  <c:v>18338.27</c:v>
                </c:pt>
                <c:pt idx="5">
                  <c:v>18564.99</c:v>
                </c:pt>
                <c:pt idx="6">
                  <c:v>21999.6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Other services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11748.56</c:v>
                </c:pt>
                <c:pt idx="1">
                  <c:v>10773</c:v>
                </c:pt>
                <c:pt idx="2">
                  <c:v>12318.12</c:v>
                </c:pt>
                <c:pt idx="3">
                  <c:v>12412.59</c:v>
                </c:pt>
                <c:pt idx="4">
                  <c:v>15149.61</c:v>
                </c:pt>
                <c:pt idx="5">
                  <c:v>18338.58</c:v>
                </c:pt>
                <c:pt idx="6">
                  <c:v>20600.18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Azure Databricks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24556.13</c:v>
                </c:pt>
                <c:pt idx="1">
                  <c:v>18645</c:v>
                </c:pt>
                <c:pt idx="2">
                  <c:v>22427.89</c:v>
                </c:pt>
                <c:pt idx="3">
                  <c:v>19936.33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GitHub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2778.52</c:v>
                </c:pt>
                <c:pt idx="1">
                  <c:v>3618</c:v>
                </c:pt>
                <c:pt idx="2">
                  <c:v>4319.13</c:v>
                </c:pt>
                <c:pt idx="3">
                  <c:v>4079.57</c:v>
                </c:pt>
                <c:pt idx="4">
                  <c:v>6467.04</c:v>
                </c:pt>
                <c:pt idx="5">
                  <c:v>16654.2</c:v>
                </c:pt>
                <c:pt idx="6">
                  <c:v>19259.78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1353.37</c:v>
                </c:pt>
                <c:pt idx="1">
                  <c:v>2260</c:v>
                </c:pt>
                <c:pt idx="2">
                  <c:v>4236.35</c:v>
                </c:pt>
                <c:pt idx="3">
                  <c:v>8369.39</c:v>
                </c:pt>
                <c:pt idx="4">
                  <c:v>11512.76</c:v>
                </c:pt>
                <c:pt idx="5">
                  <c:v>15453.34</c:v>
                </c:pt>
                <c:pt idx="6">
                  <c:v>12291.25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Log Analytics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7521.92</c:v>
                </c:pt>
                <c:pt idx="1">
                  <c:v>3955</c:v>
                </c:pt>
                <c:pt idx="2">
                  <c:v>10858.98</c:v>
                </c:pt>
                <c:pt idx="3">
                  <c:v>3911.97</c:v>
                </c:pt>
                <c:pt idx="4">
                  <c:v>2204.52</c:v>
                </c:pt>
                <c:pt idx="5">
                  <c:v>2318.73</c:v>
                </c:pt>
                <c:pt idx="6">
                  <c:v>2680.5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13619.52</c:v>
                </c:pt>
                <c:pt idx="1">
                  <c:v>13118</c:v>
                </c:pt>
                <c:pt idx="2">
                  <c:v>21913.22</c:v>
                </c:pt>
                <c:pt idx="3">
                  <c:v>14372.410000000002</c:v>
                </c:pt>
                <c:pt idx="4">
                  <c:v>16509.63</c:v>
                </c:pt>
                <c:pt idx="5">
                  <c:v>18865.080000000005</c:v>
                </c:pt>
                <c:pt idx="6">
                  <c:v>30407.2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&quot;$&quot;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4F7F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F8CF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DD9E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F9F43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07CFF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3DDC97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FF6B7A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2AD38C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FFB84D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6C8CFF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Elastic Search (Elasticsearch) –…</c:v>
                  </c:pt>
                  <c:pt idx="1">
                    <c:v>Elasticsearch – An Azure Native …</c:v>
                  </c:pt>
                  <c:pt idx="2">
                    <c:v>Gem Security-Gem Security</c:v>
                  </c:pt>
                  <c:pt idx="3">
                    <c:v>commvault cloud: backup &amp;recover…</c:v>
                  </c:pt>
                  <c:pt idx="4">
                    <c:v>All other</c:v>
                  </c:pt>
                  <c:pt idx="5">
                    <c:v>commvault cloud: backup &amp;recover…</c:v>
                  </c:pt>
                  <c:pt idx="6">
                    <c:v>Elasticsearch –Search &amp; Vector D…</c:v>
                  </c:pt>
                  <c:pt idx="7">
                    <c:v>Commvault Cloud: Backup &amp; Recove…</c:v>
                  </c:pt>
                  <c:pt idx="8">
                    <c:v>Databricks commit contract - Azu…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4092.3</c:v>
                </c:pt>
                <c:pt idx="6">
                  <c:v>20852.46</c:v>
                </c:pt>
                <c:pt idx="7">
                  <c:v>22030.5</c:v>
                </c:pt>
                <c:pt idx="8">
                  <c:v>504000</c:v>
                </c:pt>
              </c:numCache>
            </c:numRef>
          </c:val>
        </c:ser>
        <c:dLbls>
          <c:numFmt formatCode="&quot;$&quot;#,##0" sourceLinked="0"/>
          <c:txPr>
            <a:bodyPr/>
            <a:lstStyle/>
            <a:p>
              <a:pPr>
                <a:defRPr b="0" i="0" strike="noStrike" sz="1100" u="none">
                  <a:solidFill>
                    <a:srgbClr val="F4F7F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8001.69</c:v>
                </c:pt>
                <c:pt idx="1">
                  <c:v>8851</c:v>
                </c:pt>
                <c:pt idx="2">
                  <c:v>9977</c:v>
                </c:pt>
                <c:pt idx="3">
                  <c:v>8938.34</c:v>
                </c:pt>
                <c:pt idx="4">
                  <c:v>10192.34</c:v>
                </c:pt>
                <c:pt idx="5">
                  <c:v>10365.58</c:v>
                </c:pt>
                <c:pt idx="6">
                  <c:v>11078.33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Azure Databricks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13661.81</c:v>
                </c:pt>
                <c:pt idx="1">
                  <c:v>14023</c:v>
                </c:pt>
                <c:pt idx="2">
                  <c:v>19412</c:v>
                </c:pt>
                <c:pt idx="3">
                  <c:v>16633.53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5134.31</c:v>
                </c:pt>
                <c:pt idx="1">
                  <c:v>5630</c:v>
                </c:pt>
                <c:pt idx="2">
                  <c:v>5747</c:v>
                </c:pt>
                <c:pt idx="3">
                  <c:v>5515.42</c:v>
                </c:pt>
                <c:pt idx="4">
                  <c:v>6124.59</c:v>
                </c:pt>
                <c:pt idx="5">
                  <c:v>6488.31</c:v>
                </c:pt>
                <c:pt idx="6">
                  <c:v>6847.08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4756.18</c:v>
                </c:pt>
                <c:pt idx="1">
                  <c:v>4988</c:v>
                </c:pt>
                <c:pt idx="2">
                  <c:v>5905.3</c:v>
                </c:pt>
                <c:pt idx="3">
                  <c:v>5036.83</c:v>
                </c:pt>
                <c:pt idx="4">
                  <c:v>5067.49</c:v>
                </c:pt>
                <c:pt idx="5">
                  <c:v>6698.63</c:v>
                </c:pt>
                <c:pt idx="6">
                  <c:v>7400.62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1347.06</c:v>
                </c:pt>
                <c:pt idx="1">
                  <c:v>2243</c:v>
                </c:pt>
                <c:pt idx="2">
                  <c:v>1274.47</c:v>
                </c:pt>
                <c:pt idx="3">
                  <c:v>4218.08</c:v>
                </c:pt>
                <c:pt idx="4">
                  <c:v>10329.63</c:v>
                </c:pt>
                <c:pt idx="5">
                  <c:v>5769.96</c:v>
                </c:pt>
                <c:pt idx="6">
                  <c:v>6649.77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Foundry Tools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4271.49</c:v>
                </c:pt>
                <c:pt idx="1">
                  <c:v>4337</c:v>
                </c:pt>
                <c:pt idx="2">
                  <c:v>3298.75</c:v>
                </c:pt>
                <c:pt idx="3">
                  <c:v>1922.73</c:v>
                </c:pt>
                <c:pt idx="4">
                  <c:v>3305.17</c:v>
                </c:pt>
                <c:pt idx="5">
                  <c:v>5675.5</c:v>
                </c:pt>
                <c:pt idx="6">
                  <c:v>6603.58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10289.35</c:v>
                </c:pt>
                <c:pt idx="1">
                  <c:v>9126</c:v>
                </c:pt>
                <c:pt idx="2">
                  <c:v>8921.980000000001</c:v>
                </c:pt>
                <c:pt idx="3">
                  <c:v>7970.080000000001</c:v>
                </c:pt>
                <c:pt idx="4">
                  <c:v>8905.24</c:v>
                </c:pt>
                <c:pt idx="5">
                  <c:v>9392.630000000001</c:v>
                </c:pt>
                <c:pt idx="6">
                  <c:v>10538.439999999999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40269.8</c:v>
                </c:pt>
                <c:pt idx="1">
                  <c:v>41870.09</c:v>
                </c:pt>
                <c:pt idx="2">
                  <c:v>48649</c:v>
                </c:pt>
                <c:pt idx="3">
                  <c:v>42196.41</c:v>
                </c:pt>
                <c:pt idx="4">
                  <c:v>29317.96</c:v>
                </c:pt>
                <c:pt idx="5">
                  <c:v>33038.95</c:v>
                </c:pt>
                <c:pt idx="6">
                  <c:v>36010.25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Solugen Production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854.16</c:v>
                </c:pt>
                <c:pt idx="1">
                  <c:v>702.78</c:v>
                </c:pt>
                <c:pt idx="2">
                  <c:v>620.89</c:v>
                </c:pt>
                <c:pt idx="3">
                  <c:v>1545.48</c:v>
                </c:pt>
                <c:pt idx="4">
                  <c:v>10021.98</c:v>
                </c:pt>
                <c:pt idx="5">
                  <c:v>6749.23</c:v>
                </c:pt>
                <c:pt idx="6">
                  <c:v>8415.87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3242.73</c:v>
                </c:pt>
                <c:pt idx="1">
                  <c:v>2995.17</c:v>
                </c:pt>
                <c:pt idx="2">
                  <c:v>2380</c:v>
                </c:pt>
                <c:pt idx="3">
                  <c:v>3985.63</c:v>
                </c:pt>
                <c:pt idx="4">
                  <c:v>1715.02</c:v>
                </c:pt>
                <c:pt idx="5">
                  <c:v>1838.65</c:v>
                </c:pt>
                <c:pt idx="6">
                  <c:v>1579.05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INSAIT Production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1063.63</c:v>
                </c:pt>
                <c:pt idx="1">
                  <c:v>1914.41</c:v>
                </c:pt>
                <c:pt idx="2">
                  <c:v>1364.48</c:v>
                </c:pt>
                <c:pt idx="3">
                  <c:v>1354.4</c:v>
                </c:pt>
                <c:pt idx="4">
                  <c:v>1456.6</c:v>
                </c:pt>
                <c:pt idx="5">
                  <c:v>1604.48</c:v>
                </c:pt>
                <c:pt idx="6">
                  <c:v>1983.38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DataCloud dev 1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324.17</c:v>
                </c:pt>
                <c:pt idx="1">
                  <c:v>275</c:v>
                </c:pt>
                <c:pt idx="2">
                  <c:v>285.86</c:v>
                </c:pt>
                <c:pt idx="3">
                  <c:v>269.84</c:v>
                </c:pt>
                <c:pt idx="4">
                  <c:v>281.57</c:v>
                </c:pt>
                <c:pt idx="5">
                  <c:v>269.21</c:v>
                </c:pt>
                <c:pt idx="6">
                  <c:v>278.23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Sandbox System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263.89</c:v>
                </c:pt>
                <c:pt idx="1">
                  <c:v>308.03</c:v>
                </c:pt>
                <c:pt idx="2">
                  <c:v>265</c:v>
                </c:pt>
                <c:pt idx="3">
                  <c:v>260.07</c:v>
                </c:pt>
                <c:pt idx="4">
                  <c:v>335.75</c:v>
                </c:pt>
                <c:pt idx="5">
                  <c:v>256.14</c:v>
                </c:pt>
                <c:pt idx="6">
                  <c:v>267.43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1443.54</c:v>
                </c:pt>
                <c:pt idx="1">
                  <c:v>1132.52</c:v>
                </c:pt>
                <c:pt idx="2">
                  <c:v>971.1200000000001</c:v>
                </c:pt>
                <c:pt idx="3">
                  <c:v>623.1899999999998</c:v>
                </c:pt>
                <c:pt idx="4">
                  <c:v>796.0699999999999</c:v>
                </c:pt>
                <c:pt idx="5">
                  <c:v>633.9499999999999</c:v>
                </c:pt>
                <c:pt idx="6">
                  <c:v>583.62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1518</c:v>
                </c:pt>
                <c:pt idx="1">
                  <c:v>1372</c:v>
                </c:pt>
                <c:pt idx="2">
                  <c:v>1518</c:v>
                </c:pt>
                <c:pt idx="3">
                  <c:v>1469</c:v>
                </c:pt>
                <c:pt idx="4">
                  <c:v>1518.55</c:v>
                </c:pt>
                <c:pt idx="5">
                  <c:v>1469</c:v>
                </c:pt>
                <c:pt idx="6">
                  <c:v>1519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1267</c:v>
                </c:pt>
                <c:pt idx="1">
                  <c:v>1269</c:v>
                </c:pt>
                <c:pt idx="2">
                  <c:v>1261</c:v>
                </c:pt>
                <c:pt idx="3">
                  <c:v>1249</c:v>
                </c:pt>
                <c:pt idx="4">
                  <c:v>1264.52</c:v>
                </c:pt>
                <c:pt idx="5">
                  <c:v>1267</c:v>
                </c:pt>
                <c:pt idx="6">
                  <c:v>1267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Load Balancer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26</c:v>
                </c:pt>
                <c:pt idx="1">
                  <c:v>25</c:v>
                </c:pt>
                <c:pt idx="2">
                  <c:v>26</c:v>
                </c:pt>
                <c:pt idx="3">
                  <c:v>24</c:v>
                </c:pt>
                <c:pt idx="4">
                  <c:v>26.47</c:v>
                </c:pt>
                <c:pt idx="5">
                  <c:v>26</c:v>
                </c:pt>
                <c:pt idx="6">
                  <c:v>27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20</c:v>
                </c:pt>
                <c:pt idx="1">
                  <c:v>19</c:v>
                </c:pt>
                <c:pt idx="2">
                  <c:v>18</c:v>
                </c:pt>
                <c:pt idx="3">
                  <c:v>15</c:v>
                </c:pt>
                <c:pt idx="4">
                  <c:v>18.72</c:v>
                </c:pt>
                <c:pt idx="5">
                  <c:v>20</c:v>
                </c:pt>
                <c:pt idx="6">
                  <c:v>20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Bandwidth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1.15</c:v>
                </c:pt>
                <c:pt idx="5">
                  <c:v>1</c:v>
                </c:pt>
                <c:pt idx="6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Azure Databricks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10852</c:v>
                </c:pt>
                <c:pt idx="1">
                  <c:v>3478</c:v>
                </c:pt>
                <c:pt idx="2">
                  <c:v>1967</c:v>
                </c:pt>
                <c:pt idx="3">
                  <c:v>2557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2732</c:v>
                </c:pt>
                <c:pt idx="1">
                  <c:v>757</c:v>
                </c:pt>
                <c:pt idx="2">
                  <c:v>636</c:v>
                </c:pt>
                <c:pt idx="3">
                  <c:v>1075</c:v>
                </c:pt>
                <c:pt idx="4">
                  <c:v>2017</c:v>
                </c:pt>
                <c:pt idx="5">
                  <c:v>968</c:v>
                </c:pt>
                <c:pt idx="6">
                  <c:v>1430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549</c:v>
                </c:pt>
                <c:pt idx="1">
                  <c:v>456</c:v>
                </c:pt>
                <c:pt idx="2">
                  <c:v>451</c:v>
                </c:pt>
                <c:pt idx="3">
                  <c:v>850</c:v>
                </c:pt>
                <c:pt idx="4">
                  <c:v>1300</c:v>
                </c:pt>
                <c:pt idx="5">
                  <c:v>865</c:v>
                </c:pt>
                <c:pt idx="6">
                  <c:v>1098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762</c:v>
                </c:pt>
                <c:pt idx="1">
                  <c:v>341</c:v>
                </c:pt>
                <c:pt idx="2">
                  <c:v>394</c:v>
                </c:pt>
                <c:pt idx="3">
                  <c:v>643</c:v>
                </c:pt>
                <c:pt idx="4">
                  <c:v>1231</c:v>
                </c:pt>
                <c:pt idx="5">
                  <c:v>737</c:v>
                </c:pt>
                <c:pt idx="6">
                  <c:v>1100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Azure Data Factory v2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202</c:v>
                </c:pt>
                <c:pt idx="1">
                  <c:v>88</c:v>
                </c:pt>
                <c:pt idx="2">
                  <c:v>98</c:v>
                </c:pt>
                <c:pt idx="3">
                  <c:v>190</c:v>
                </c:pt>
                <c:pt idx="4">
                  <c:v>83</c:v>
                </c:pt>
                <c:pt idx="5">
                  <c:v>138</c:v>
                </c:pt>
                <c:pt idx="6">
                  <c:v>405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Event Hubs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3.75</c:v>
                </c:pt>
                <c:pt idx="4">
                  <c:v>25</c:v>
                </c:pt>
                <c:pt idx="5">
                  <c:v>22</c:v>
                </c:pt>
                <c:pt idx="6">
                  <c:v>22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5</c:v>
                </c:pt>
                <c:pt idx="1">
                  <c:v>2</c:v>
                </c:pt>
                <c:pt idx="2">
                  <c:v>2</c:v>
                </c:pt>
                <c:pt idx="3">
                  <c:v>22.55</c:v>
                </c:pt>
                <c:pt idx="4">
                  <c:v>17</c:v>
                </c:pt>
                <c:pt idx="5">
                  <c:v>3.4800000000000004</c:v>
                </c:pt>
                <c:pt idx="6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Actuary 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13750</c:v>
                </c:pt>
                <c:pt idx="1">
                  <c:v>3936</c:v>
                </c:pt>
                <c:pt idx="2">
                  <c:v>2301</c:v>
                </c:pt>
                <c:pt idx="3">
                  <c:v>4702</c:v>
                </c:pt>
                <c:pt idx="4">
                  <c:v>4302</c:v>
                </c:pt>
                <c:pt idx="5">
                  <c:v>2409</c:v>
                </c:pt>
                <c:pt idx="6">
                  <c:v>3634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Actuary dev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1352</c:v>
                </c:pt>
                <c:pt idx="1">
                  <c:v>1186</c:v>
                </c:pt>
                <c:pt idx="2">
                  <c:v>1248</c:v>
                </c:pt>
                <c:pt idx="3">
                  <c:v>638</c:v>
                </c:pt>
                <c:pt idx="4">
                  <c:v>370</c:v>
                </c:pt>
                <c:pt idx="5">
                  <c:v>324</c:v>
                </c:pt>
                <c:pt idx="6">
                  <c:v>426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30152.87</c:v>
                </c:pt>
                <c:pt idx="1">
                  <c:v>28348</c:v>
                </c:pt>
                <c:pt idx="2">
                  <c:v>31348</c:v>
                </c:pt>
                <c:pt idx="3">
                  <c:v>30597</c:v>
                </c:pt>
                <c:pt idx="4">
                  <c:v>35586.32</c:v>
                </c:pt>
                <c:pt idx="5">
                  <c:v>31413</c:v>
                </c:pt>
                <c:pt idx="6">
                  <c:v>30117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11916.96</c:v>
                </c:pt>
                <c:pt idx="1">
                  <c:v>10639</c:v>
                </c:pt>
                <c:pt idx="2">
                  <c:v>10074</c:v>
                </c:pt>
                <c:pt idx="3">
                  <c:v>10076</c:v>
                </c:pt>
                <c:pt idx="4">
                  <c:v>10811.81</c:v>
                </c:pt>
                <c:pt idx="5">
                  <c:v>11077</c:v>
                </c:pt>
                <c:pt idx="6">
                  <c:v>10526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195.78</c:v>
                </c:pt>
                <c:pt idx="1">
                  <c:v>112</c:v>
                </c:pt>
                <c:pt idx="2">
                  <c:v>124</c:v>
                </c:pt>
                <c:pt idx="3">
                  <c:v>153</c:v>
                </c:pt>
                <c:pt idx="4">
                  <c:v>166.67</c:v>
                </c:pt>
                <c:pt idx="5">
                  <c:v>134</c:v>
                </c:pt>
                <c:pt idx="6">
                  <c:v>238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Machines Licenses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36.53</c:v>
                </c:pt>
                <c:pt idx="5">
                  <c:v>41</c:v>
                </c:pt>
                <c:pt idx="6">
                  <c:v>43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Bandwidth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0.01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SAP Dev/Test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23275.74</c:v>
                </c:pt>
                <c:pt idx="1">
                  <c:v>22687</c:v>
                </c:pt>
                <c:pt idx="2">
                  <c:v>24090</c:v>
                </c:pt>
                <c:pt idx="3">
                  <c:v>23647</c:v>
                </c:pt>
                <c:pt idx="4">
                  <c:v>26321.74</c:v>
                </c:pt>
                <c:pt idx="5">
                  <c:v>24985</c:v>
                </c:pt>
                <c:pt idx="6">
                  <c:v>23467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SAP Production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18989.88</c:v>
                </c:pt>
                <c:pt idx="1">
                  <c:v>16411</c:v>
                </c:pt>
                <c:pt idx="2">
                  <c:v>17456</c:v>
                </c:pt>
                <c:pt idx="3">
                  <c:v>17178</c:v>
                </c:pt>
                <c:pt idx="4">
                  <c:v>20279.59</c:v>
                </c:pt>
                <c:pt idx="5">
                  <c:v>17680</c:v>
                </c:pt>
                <c:pt idx="6">
                  <c:v>17457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5740.91</c:v>
                </c:pt>
                <c:pt idx="1">
                  <c:v>5286</c:v>
                </c:pt>
                <c:pt idx="2">
                  <c:v>5960.04</c:v>
                </c:pt>
                <c:pt idx="3">
                  <c:v>7306.9</c:v>
                </c:pt>
                <c:pt idx="4">
                  <c:v>8900.5</c:v>
                </c:pt>
                <c:pt idx="5">
                  <c:v>8855.65</c:v>
                </c:pt>
                <c:pt idx="6">
                  <c:v>10913.22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5000.41</c:v>
                </c:pt>
                <c:pt idx="1">
                  <c:v>4756</c:v>
                </c:pt>
                <c:pt idx="2">
                  <c:v>4679.66</c:v>
                </c:pt>
                <c:pt idx="3">
                  <c:v>4663.37</c:v>
                </c:pt>
                <c:pt idx="4">
                  <c:v>4758.84</c:v>
                </c:pt>
                <c:pt idx="5">
                  <c:v>4887.15</c:v>
                </c:pt>
                <c:pt idx="6">
                  <c:v>6077.62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Log Analytics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7300.46</c:v>
                </c:pt>
                <c:pt idx="1">
                  <c:v>3692</c:v>
                </c:pt>
                <c:pt idx="2">
                  <c:v>10596.09</c:v>
                </c:pt>
                <c:pt idx="3">
                  <c:v>3911.97</c:v>
                </c:pt>
                <c:pt idx="4">
                  <c:v>1966.89</c:v>
                </c:pt>
                <c:pt idx="5">
                  <c:v>2066.7</c:v>
                </c:pt>
                <c:pt idx="6">
                  <c:v>2306.05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4242.88</c:v>
                </c:pt>
                <c:pt idx="1">
                  <c:v>3549</c:v>
                </c:pt>
                <c:pt idx="2">
                  <c:v>4067.07</c:v>
                </c:pt>
                <c:pt idx="3">
                  <c:v>3938.6</c:v>
                </c:pt>
                <c:pt idx="4">
                  <c:v>4539.7</c:v>
                </c:pt>
                <c:pt idx="5">
                  <c:v>4344.13</c:v>
                </c:pt>
                <c:pt idx="6">
                  <c:v>4847.43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Sentinel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1732.05</c:v>
                </c:pt>
                <c:pt idx="1">
                  <c:v>1468</c:v>
                </c:pt>
                <c:pt idx="2">
                  <c:v>8874.9</c:v>
                </c:pt>
                <c:pt idx="3">
                  <c:v>3278.03</c:v>
                </c:pt>
                <c:pt idx="4">
                  <c:v>1333.2</c:v>
                </c:pt>
                <c:pt idx="5">
                  <c:v>1369.67</c:v>
                </c:pt>
                <c:pt idx="6">
                  <c:v>1467.73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Other services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2265</c:v>
                </c:pt>
                <c:pt idx="1">
                  <c:v>1965</c:v>
                </c:pt>
                <c:pt idx="2">
                  <c:v>2206</c:v>
                </c:pt>
                <c:pt idx="3">
                  <c:v>2059</c:v>
                </c:pt>
                <c:pt idx="4">
                  <c:v>2253.46</c:v>
                </c:pt>
                <c:pt idx="5">
                  <c:v>2467.09</c:v>
                </c:pt>
                <c:pt idx="6">
                  <c:v>2528.47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4634.13</c:v>
                </c:pt>
                <c:pt idx="1">
                  <c:v>3962</c:v>
                </c:pt>
                <c:pt idx="2">
                  <c:v>4345.76</c:v>
                </c:pt>
                <c:pt idx="3">
                  <c:v>4241.64</c:v>
                </c:pt>
                <c:pt idx="4">
                  <c:v>4862.66</c:v>
                </c:pt>
                <c:pt idx="5">
                  <c:v>4595.34</c:v>
                </c:pt>
                <c:pt idx="6">
                  <c:v>5280.59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Shared Resources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16903.74</c:v>
                </c:pt>
                <c:pt idx="1">
                  <c:v>12321</c:v>
                </c:pt>
                <c:pt idx="2">
                  <c:v>26897.08</c:v>
                </c:pt>
                <c:pt idx="3">
                  <c:v>14231</c:v>
                </c:pt>
                <c:pt idx="4">
                  <c:v>10755.39</c:v>
                </c:pt>
                <c:pt idx="5">
                  <c:v>10557</c:v>
                </c:pt>
                <c:pt idx="6">
                  <c:v>11092.99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12493.49</c:v>
                </c:pt>
                <c:pt idx="1">
                  <c:v>11171</c:v>
                </c:pt>
                <c:pt idx="2">
                  <c:v>12360.07</c:v>
                </c:pt>
                <c:pt idx="3">
                  <c:v>13593</c:v>
                </c:pt>
                <c:pt idx="4">
                  <c:v>15743.11</c:v>
                </c:pt>
                <c:pt idx="5">
                  <c:v>15398</c:v>
                </c:pt>
                <c:pt idx="6">
                  <c:v>19303.29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CloudOps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872.66</c:v>
                </c:pt>
                <c:pt idx="1">
                  <c:v>555</c:v>
                </c:pt>
                <c:pt idx="2">
                  <c:v>768.67</c:v>
                </c:pt>
                <c:pt idx="3">
                  <c:v>737</c:v>
                </c:pt>
                <c:pt idx="4">
                  <c:v>971.96</c:v>
                </c:pt>
                <c:pt idx="5">
                  <c:v>1089</c:v>
                </c:pt>
                <c:pt idx="6">
                  <c:v>1225.74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363.16</c:v>
                </c:pt>
                <c:pt idx="1">
                  <c:v>357</c:v>
                </c:pt>
                <c:pt idx="2">
                  <c:v>397.3</c:v>
                </c:pt>
                <c:pt idx="3">
                  <c:v>336</c:v>
                </c:pt>
                <c:pt idx="4">
                  <c:v>370.22</c:v>
                </c:pt>
                <c:pt idx="5">
                  <c:v>550</c:v>
                </c:pt>
                <c:pt idx="6">
                  <c:v>818.11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188.97</c:v>
                </c:pt>
                <c:pt idx="1">
                  <c:v>169</c:v>
                </c:pt>
                <c:pt idx="2">
                  <c:v>189.53</c:v>
                </c:pt>
                <c:pt idx="3">
                  <c:v>184</c:v>
                </c:pt>
                <c:pt idx="4">
                  <c:v>506.65</c:v>
                </c:pt>
                <c:pt idx="5">
                  <c:v>582</c:v>
                </c:pt>
                <c:pt idx="6">
                  <c:v>573.9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93.22</c:v>
                </c:pt>
                <c:pt idx="1">
                  <c:v>107</c:v>
                </c:pt>
                <c:pt idx="2">
                  <c:v>117.14</c:v>
                </c:pt>
                <c:pt idx="3">
                  <c:v>114</c:v>
                </c:pt>
                <c:pt idx="4">
                  <c:v>268.11</c:v>
                </c:pt>
                <c:pt idx="5">
                  <c:v>407</c:v>
                </c:pt>
                <c:pt idx="6">
                  <c:v>406.88000000000005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12080</c:v>
                </c:pt>
                <c:pt idx="1">
                  <c:v>4412</c:v>
                </c:pt>
                <c:pt idx="2">
                  <c:v>1792</c:v>
                </c:pt>
                <c:pt idx="3">
                  <c:v>4890</c:v>
                </c:pt>
                <c:pt idx="4">
                  <c:v>1786.89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738</c:v>
                </c:pt>
                <c:pt idx="1">
                  <c:v>761</c:v>
                </c:pt>
                <c:pt idx="2">
                  <c:v>763</c:v>
                </c:pt>
                <c:pt idx="3">
                  <c:v>770</c:v>
                </c:pt>
                <c:pt idx="4">
                  <c:v>994.25</c:v>
                </c:pt>
                <c:pt idx="5">
                  <c:v>994</c:v>
                </c:pt>
                <c:pt idx="6">
                  <c:v>994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169</c:v>
                </c:pt>
                <c:pt idx="1">
                  <c:v>55</c:v>
                </c:pt>
                <c:pt idx="2">
                  <c:v>39</c:v>
                </c:pt>
                <c:pt idx="3">
                  <c:v>61</c:v>
                </c:pt>
                <c:pt idx="4">
                  <c:v>22.65</c:v>
                </c:pt>
                <c:pt idx="5">
                  <c:v>1</c:v>
                </c:pt>
                <c:pt idx="6">
                  <c:v>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76</c:v>
                </c:pt>
                <c:pt idx="1">
                  <c:v>46</c:v>
                </c:pt>
                <c:pt idx="2">
                  <c:v>23</c:v>
                </c:pt>
                <c:pt idx="3">
                  <c:v>46</c:v>
                </c:pt>
                <c:pt idx="4">
                  <c:v>38.5</c:v>
                </c:pt>
                <c:pt idx="5">
                  <c:v>36</c:v>
                </c:pt>
                <c:pt idx="6">
                  <c:v>37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12801</c:v>
                </c:pt>
                <c:pt idx="1">
                  <c:v>5014</c:v>
                </c:pt>
                <c:pt idx="2">
                  <c:v>2356</c:v>
                </c:pt>
                <c:pt idx="3">
                  <c:v>5507</c:v>
                </c:pt>
                <c:pt idx="4">
                  <c:v>2580</c:v>
                </c:pt>
                <c:pt idx="5">
                  <c:v>769</c:v>
                </c:pt>
                <c:pt idx="6">
                  <c:v>769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262</c:v>
                </c:pt>
                <c:pt idx="1">
                  <c:v>260</c:v>
                </c:pt>
                <c:pt idx="2">
                  <c:v>262</c:v>
                </c:pt>
                <c:pt idx="3">
                  <c:v>261</c:v>
                </c:pt>
                <c:pt idx="4">
                  <c:v>262</c:v>
                </c:pt>
                <c:pt idx="5">
                  <c:v>262</c:v>
                </c:pt>
                <c:pt idx="6">
                  <c:v>263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SQL Database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419.11</c:v>
                </c:pt>
                <c:pt idx="1">
                  <c:v>382</c:v>
                </c:pt>
                <c:pt idx="2">
                  <c:v>420</c:v>
                </c:pt>
                <c:pt idx="3">
                  <c:v>407</c:v>
                </c:pt>
                <c:pt idx="4">
                  <c:v>420.31</c:v>
                </c:pt>
                <c:pt idx="5">
                  <c:v>407</c:v>
                </c:pt>
                <c:pt idx="6">
                  <c:v>421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Azure App Service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296.11</c:v>
                </c:pt>
                <c:pt idx="1">
                  <c:v>268</c:v>
                </c:pt>
                <c:pt idx="2">
                  <c:v>296</c:v>
                </c:pt>
                <c:pt idx="3">
                  <c:v>287</c:v>
                </c:pt>
                <c:pt idx="4">
                  <c:v>295.31</c:v>
                </c:pt>
                <c:pt idx="5">
                  <c:v>287</c:v>
                </c:pt>
                <c:pt idx="6">
                  <c:v>296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44.64</c:v>
                </c:pt>
                <c:pt idx="1">
                  <c:v>40</c:v>
                </c:pt>
                <c:pt idx="2">
                  <c:v>45</c:v>
                </c:pt>
                <c:pt idx="3">
                  <c:v>43</c:v>
                </c:pt>
                <c:pt idx="4">
                  <c:v>44.66</c:v>
                </c:pt>
                <c:pt idx="5">
                  <c:v>43</c:v>
                </c:pt>
                <c:pt idx="6">
                  <c:v>44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29.76</c:v>
                </c:pt>
                <c:pt idx="1">
                  <c:v>27</c:v>
                </c:pt>
                <c:pt idx="2">
                  <c:v>30</c:v>
                </c:pt>
                <c:pt idx="3">
                  <c:v>29</c:v>
                </c:pt>
                <c:pt idx="4">
                  <c:v>29.74</c:v>
                </c:pt>
                <c:pt idx="5">
                  <c:v>29</c:v>
                </c:pt>
                <c:pt idx="6">
                  <c:v>30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398.85</c:v>
                </c:pt>
                <c:pt idx="1">
                  <c:v>361</c:v>
                </c:pt>
                <c:pt idx="2">
                  <c:v>399</c:v>
                </c:pt>
                <c:pt idx="3">
                  <c:v>386</c:v>
                </c:pt>
                <c:pt idx="4">
                  <c:v>398.21</c:v>
                </c:pt>
                <c:pt idx="5">
                  <c:v>386</c:v>
                </c:pt>
                <c:pt idx="6">
                  <c:v>399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390.78</c:v>
                </c:pt>
                <c:pt idx="1">
                  <c:v>355</c:v>
                </c:pt>
                <c:pt idx="2">
                  <c:v>391</c:v>
                </c:pt>
                <c:pt idx="3">
                  <c:v>379</c:v>
                </c:pt>
                <c:pt idx="4">
                  <c:v>391.82</c:v>
                </c:pt>
                <c:pt idx="5">
                  <c:v>380</c:v>
                </c:pt>
                <c:pt idx="6">
                  <c:v>393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837.91</c:v>
                </c:pt>
                <c:pt idx="1">
                  <c:v>776</c:v>
                </c:pt>
                <c:pt idx="2">
                  <c:v>912.48</c:v>
                </c:pt>
                <c:pt idx="3">
                  <c:v>908.58</c:v>
                </c:pt>
                <c:pt idx="4">
                  <c:v>954.68</c:v>
                </c:pt>
                <c:pt idx="5">
                  <c:v>958</c:v>
                </c:pt>
                <c:pt idx="6">
                  <c:v>1046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Azure DNS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387.82</c:v>
                </c:pt>
                <c:pt idx="1">
                  <c:v>388</c:v>
                </c:pt>
                <c:pt idx="2">
                  <c:v>397.6</c:v>
                </c:pt>
                <c:pt idx="3">
                  <c:v>404.53</c:v>
                </c:pt>
                <c:pt idx="4">
                  <c:v>411.06</c:v>
                </c:pt>
                <c:pt idx="5">
                  <c:v>414</c:v>
                </c:pt>
                <c:pt idx="6">
                  <c:v>420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535.62</c:v>
                </c:pt>
                <c:pt idx="1">
                  <c:v>252</c:v>
                </c:pt>
                <c:pt idx="2">
                  <c:v>273.47</c:v>
                </c:pt>
                <c:pt idx="3">
                  <c:v>262.18</c:v>
                </c:pt>
                <c:pt idx="4">
                  <c:v>355.1</c:v>
                </c:pt>
                <c:pt idx="5">
                  <c:v>362</c:v>
                </c:pt>
                <c:pt idx="6">
                  <c:v>426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267.42</c:v>
                </c:pt>
                <c:pt idx="1">
                  <c:v>270</c:v>
                </c:pt>
                <c:pt idx="2">
                  <c:v>271.44</c:v>
                </c:pt>
                <c:pt idx="3">
                  <c:v>270.67</c:v>
                </c:pt>
                <c:pt idx="4">
                  <c:v>272.31</c:v>
                </c:pt>
                <c:pt idx="5">
                  <c:v>273</c:v>
                </c:pt>
                <c:pt idx="6">
                  <c:v>275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Azure Monitor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28.17</c:v>
                </c:pt>
                <c:pt idx="1">
                  <c:v>25</c:v>
                </c:pt>
                <c:pt idx="2">
                  <c:v>28.25</c:v>
                </c:pt>
                <c:pt idx="3">
                  <c:v>27.51</c:v>
                </c:pt>
                <c:pt idx="4">
                  <c:v>28.45</c:v>
                </c:pt>
                <c:pt idx="5">
                  <c:v>27</c:v>
                </c:pt>
                <c:pt idx="6">
                  <c:v>28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25.1</c:v>
                </c:pt>
                <c:pt idx="1">
                  <c:v>23</c:v>
                </c:pt>
                <c:pt idx="2">
                  <c:v>25.08</c:v>
                </c:pt>
                <c:pt idx="3">
                  <c:v>24.29</c:v>
                </c:pt>
                <c:pt idx="4">
                  <c:v>25.03</c:v>
                </c:pt>
                <c:pt idx="5">
                  <c:v>25</c:v>
                </c:pt>
                <c:pt idx="6">
                  <c:v>25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0.04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611.9</c:v>
                </c:pt>
                <c:pt idx="1">
                  <c:v>61</c:v>
                </c:pt>
                <c:pt idx="2">
                  <c:v>527.31</c:v>
                </c:pt>
                <c:pt idx="3">
                  <c:v>529.12</c:v>
                </c:pt>
                <c:pt idx="4">
                  <c:v>541.04</c:v>
                </c:pt>
                <c:pt idx="5">
                  <c:v>544.11</c:v>
                </c:pt>
                <c:pt idx="6">
                  <c:v>602.02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379.17</c:v>
                </c:pt>
                <c:pt idx="1">
                  <c:v>124</c:v>
                </c:pt>
                <c:pt idx="2">
                  <c:v>390.86</c:v>
                </c:pt>
                <c:pt idx="3">
                  <c:v>397.09</c:v>
                </c:pt>
                <c:pt idx="4">
                  <c:v>408.92</c:v>
                </c:pt>
                <c:pt idx="5">
                  <c:v>404.98</c:v>
                </c:pt>
                <c:pt idx="6">
                  <c:v>449.93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290.16</c:v>
                </c:pt>
                <c:pt idx="1">
                  <c:v>170</c:v>
                </c:pt>
                <c:pt idx="2">
                  <c:v>305.13</c:v>
                </c:pt>
                <c:pt idx="3">
                  <c:v>303.22</c:v>
                </c:pt>
                <c:pt idx="4">
                  <c:v>319.92</c:v>
                </c:pt>
                <c:pt idx="5">
                  <c:v>316.01</c:v>
                </c:pt>
                <c:pt idx="6">
                  <c:v>341.99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CloudOpS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277.66</c:v>
                </c:pt>
                <c:pt idx="1">
                  <c:v>262</c:v>
                </c:pt>
                <c:pt idx="2">
                  <c:v>181.98</c:v>
                </c:pt>
                <c:pt idx="3">
                  <c:v>175.79</c:v>
                </c:pt>
                <c:pt idx="4">
                  <c:v>264.67</c:v>
                </c:pt>
                <c:pt idx="5">
                  <c:v>278.82</c:v>
                </c:pt>
                <c:pt idx="6">
                  <c:v>294.17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200.31</c:v>
                </c:pt>
                <c:pt idx="1">
                  <c:v>152</c:v>
                </c:pt>
                <c:pt idx="2">
                  <c:v>135.55</c:v>
                </c:pt>
                <c:pt idx="3">
                  <c:v>131.87</c:v>
                </c:pt>
                <c:pt idx="4">
                  <c:v>135.31</c:v>
                </c:pt>
                <c:pt idx="5">
                  <c:v>132.38</c:v>
                </c:pt>
                <c:pt idx="6">
                  <c:v>142.61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Shared Resources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151.75</c:v>
                </c:pt>
                <c:pt idx="1">
                  <c:v>47</c:v>
                </c:pt>
                <c:pt idx="2">
                  <c:v>151.75</c:v>
                </c:pt>
                <c:pt idx="3">
                  <c:v>151.77</c:v>
                </c:pt>
                <c:pt idx="4">
                  <c:v>151.75</c:v>
                </c:pt>
                <c:pt idx="5">
                  <c:v>151.77</c:v>
                </c:pt>
                <c:pt idx="6">
                  <c:v>151.75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171.12</c:v>
                </c:pt>
                <c:pt idx="1">
                  <c:v>918</c:v>
                </c:pt>
                <c:pt idx="2">
                  <c:v>215.76</c:v>
                </c:pt>
                <c:pt idx="3">
                  <c:v>208.93</c:v>
                </c:pt>
                <c:pt idx="4">
                  <c:v>225.05999999999997</c:v>
                </c:pt>
                <c:pt idx="5">
                  <c:v>230.95</c:v>
                </c:pt>
                <c:pt idx="6">
                  <c:v>238.66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Azure Databricks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Feb</c:v>
                  </c:pt>
                  <c:pt idx="1">
                    <c:v>Mar</c:v>
                  </c:pt>
                  <c:pt idx="2">
                    <c:v>Apr</c:v>
                  </c:pt>
                  <c:pt idx="3">
                    <c:v>May</c:v>
                  </c:pt>
                  <c:pt idx="4">
                    <c:v>Jun</c:v>
                  </c:pt>
                  <c:pt idx="5">
                    <c:v>Jul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1142</c:v>
                </c:pt>
                <c:pt idx="1">
                  <c:v>1046</c:v>
                </c:pt>
                <c:pt idx="2">
                  <c:v>746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Feb</c:v>
                  </c:pt>
                  <c:pt idx="1">
                    <c:v>Mar</c:v>
                  </c:pt>
                  <c:pt idx="2">
                    <c:v>Apr</c:v>
                  </c:pt>
                  <c:pt idx="3">
                    <c:v>May</c:v>
                  </c:pt>
                  <c:pt idx="4">
                    <c:v>Jun</c:v>
                  </c:pt>
                  <c:pt idx="5">
                    <c:v>Jul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157</c:v>
                </c:pt>
                <c:pt idx="1">
                  <c:v>123</c:v>
                </c:pt>
                <c:pt idx="2">
                  <c:v>78</c:v>
                </c:pt>
                <c:pt idx="3">
                  <c:v>97.49</c:v>
                </c:pt>
                <c:pt idx="4">
                  <c:v>176</c:v>
                </c:pt>
                <c:pt idx="5">
                  <c:v>367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Feb</c:v>
                  </c:pt>
                  <c:pt idx="1">
                    <c:v>Mar</c:v>
                  </c:pt>
                  <c:pt idx="2">
                    <c:v>Apr</c:v>
                  </c:pt>
                  <c:pt idx="3">
                    <c:v>May</c:v>
                  </c:pt>
                  <c:pt idx="4">
                    <c:v>Jun</c:v>
                  </c:pt>
                  <c:pt idx="5">
                    <c:v>Jul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</c:v>
                </c:pt>
                <c:pt idx="1">
                  <c:v>10</c:v>
                </c:pt>
                <c:pt idx="2">
                  <c:v>51</c:v>
                </c:pt>
                <c:pt idx="3">
                  <c:v>59.25</c:v>
                </c:pt>
                <c:pt idx="4">
                  <c:v>59</c:v>
                </c:pt>
                <c:pt idx="5">
                  <c:v>64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Feb</c:v>
                  </c:pt>
                  <c:pt idx="1">
                    <c:v>Mar</c:v>
                  </c:pt>
                  <c:pt idx="2">
                    <c:v>Apr</c:v>
                  </c:pt>
                  <c:pt idx="3">
                    <c:v>May</c:v>
                  </c:pt>
                  <c:pt idx="4">
                    <c:v>Jun</c:v>
                  </c:pt>
                  <c:pt idx="5">
                    <c:v>Jul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22</c:v>
                </c:pt>
                <c:pt idx="1">
                  <c:v>19</c:v>
                </c:pt>
                <c:pt idx="2">
                  <c:v>12</c:v>
                </c:pt>
                <c:pt idx="3">
                  <c:v>22.85</c:v>
                </c:pt>
                <c:pt idx="4">
                  <c:v>47</c:v>
                </c:pt>
                <c:pt idx="5">
                  <c:v>77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Event hubs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Feb</c:v>
                  </c:pt>
                  <c:pt idx="1">
                    <c:v>Mar</c:v>
                  </c:pt>
                  <c:pt idx="2">
                    <c:v>Apr</c:v>
                  </c:pt>
                  <c:pt idx="3">
                    <c:v>May</c:v>
                  </c:pt>
                  <c:pt idx="4">
                    <c:v>Jun</c:v>
                  </c:pt>
                  <c:pt idx="5">
                    <c:v>Jul</c:v>
                  </c:pt>
                </c:lvl>
              </c:multiLvlStrCache>
            </c:multiLvl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19.86</c:v>
                </c:pt>
                <c:pt idx="4">
                  <c:v>21</c:v>
                </c:pt>
                <c:pt idx="5">
                  <c:v>22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10916.76</c:v>
                </c:pt>
                <c:pt idx="1">
                  <c:v>10157</c:v>
                </c:pt>
                <c:pt idx="2">
                  <c:v>11866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6469.29</c:v>
                </c:pt>
                <c:pt idx="1">
                  <c:v>6555</c:v>
                </c:pt>
                <c:pt idx="2">
                  <c:v>7576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3243.61</c:v>
                </c:pt>
                <c:pt idx="1">
                  <c:v>3033</c:v>
                </c:pt>
                <c:pt idx="2">
                  <c:v>3406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59.42</c:v>
                </c:pt>
                <c:pt idx="1">
                  <c:v>58</c:v>
                </c:pt>
                <c:pt idx="2">
                  <c:v>60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NAT Gateway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33.48</c:v>
                </c:pt>
                <c:pt idx="1">
                  <c:v>32</c:v>
                </c:pt>
                <c:pt idx="2">
                  <c:v>34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16941.37</c:v>
                </c:pt>
                <c:pt idx="1">
                  <c:v>17844</c:v>
                </c:pt>
                <c:pt idx="2">
                  <c:v>19752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Actuary 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3484.79</c:v>
                </c:pt>
                <c:pt idx="1">
                  <c:v>1646</c:v>
                </c:pt>
                <c:pt idx="2">
                  <c:v>2526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Investments prod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38.28</c:v>
                </c:pt>
                <c:pt idx="1">
                  <c:v>162</c:v>
                </c:pt>
                <c:pt idx="2">
                  <c:v>408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Actuary dev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135.44</c:v>
                </c:pt>
                <c:pt idx="1">
                  <c:v>100</c:v>
                </c:pt>
                <c:pt idx="2">
                  <c:v>168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Investments dev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79.99</c:v>
                </c:pt>
                <c:pt idx="1">
                  <c:v>55</c:v>
                </c:pt>
                <c:pt idx="2">
                  <c:v>30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Sheet1!$G$2:$G$4</c:f>
              <c:numCache>
                <c:formatCode>General</c:formatCode>
                <c:ptCount val="3"/>
                <c:pt idx="0">
                  <c:v>42.9</c:v>
                </c:pt>
                <c:pt idx="1">
                  <c:v>28</c:v>
                </c:pt>
                <c:pt idx="2">
                  <c:v>59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Vertex AI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0.01</c:v>
                </c:pt>
                <c:pt idx="2">
                  <c:v>378.84</c:v>
                </c:pt>
                <c:pt idx="3">
                  <c:v>957.52</c:v>
                </c:pt>
                <c:pt idx="4">
                  <c:v>2359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Compute Engine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221.73</c:v>
                </c:pt>
                <c:pt idx="2">
                  <c:v>714.24</c:v>
                </c:pt>
                <c:pt idx="3">
                  <c:v>977.33</c:v>
                </c:pt>
                <c:pt idx="4">
                  <c:v>1011.51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Networking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</c:v>
                </c:pt>
                <c:pt idx="1">
                  <c:v>74.48</c:v>
                </c:pt>
                <c:pt idx="2">
                  <c:v>311.42</c:v>
                </c:pt>
                <c:pt idx="3">
                  <c:v>303.73</c:v>
                </c:pt>
                <c:pt idx="4">
                  <c:v>310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Gemini API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395.81</c:v>
                </c:pt>
                <c:pt idx="1">
                  <c:v>134.71</c:v>
                </c:pt>
                <c:pt idx="2">
                  <c:v>92.38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Support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26.43</c:v>
                </c:pt>
                <c:pt idx="3">
                  <c:v>98.24</c:v>
                </c:pt>
                <c:pt idx="4">
                  <c:v>141.65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other services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0.06</c:v>
                </c:pt>
                <c:pt idx="1">
                  <c:v>9.23</c:v>
                </c:pt>
                <c:pt idx="2">
                  <c:v>-73.96</c:v>
                </c:pt>
                <c:pt idx="3">
                  <c:v>-117.27</c:v>
                </c:pt>
                <c:pt idx="4">
                  <c:v>-115.11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Aifactory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854.31</c:v>
                </c:pt>
                <c:pt idx="1">
                  <c:v>3477</c:v>
                </c:pt>
                <c:pt idx="2">
                  <c:v>12632</c:v>
                </c:pt>
                <c:pt idx="3">
                  <c:v>11676</c:v>
                </c:pt>
                <c:pt idx="4">
                  <c:v>13656</c:v>
                </c:pt>
                <c:pt idx="5">
                  <c:v>26342</c:v>
                </c:pt>
                <c:pt idx="6">
                  <c:v>23610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Solugen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936.63</c:v>
                </c:pt>
                <c:pt idx="1">
                  <c:v>917</c:v>
                </c:pt>
                <c:pt idx="2">
                  <c:v>1027</c:v>
                </c:pt>
                <c:pt idx="3">
                  <c:v>2005</c:v>
                </c:pt>
                <c:pt idx="4">
                  <c:v>10657</c:v>
                </c:pt>
                <c:pt idx="5">
                  <c:v>7230.21</c:v>
                </c:pt>
                <c:pt idx="6">
                  <c:v>8858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Document Intelligence (OCR Services)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4231</c:v>
                </c:pt>
                <c:pt idx="1">
                  <c:v>4282</c:v>
                </c:pt>
                <c:pt idx="2">
                  <c:v>3552</c:v>
                </c:pt>
                <c:pt idx="3">
                  <c:v>2152</c:v>
                </c:pt>
                <c:pt idx="4">
                  <c:v>3362</c:v>
                </c:pt>
                <c:pt idx="5">
                  <c:v>6114</c:v>
                </c:pt>
                <c:pt idx="6">
                  <c:v>7277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INSAIT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1063.63</c:v>
                </c:pt>
                <c:pt idx="1">
                  <c:v>1914</c:v>
                </c:pt>
                <c:pt idx="2">
                  <c:v>1365</c:v>
                </c:pt>
                <c:pt idx="3">
                  <c:v>1354</c:v>
                </c:pt>
                <c:pt idx="4">
                  <c:v>1456</c:v>
                </c:pt>
                <c:pt idx="5">
                  <c:v>1604.28</c:v>
                </c:pt>
                <c:pt idx="6">
                  <c:v>1983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API Management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406</c:v>
                </c:pt>
                <c:pt idx="2">
                  <c:v>2848.78</c:v>
                </c:pt>
                <c:pt idx="3">
                  <c:v>3097.66</c:v>
                </c:pt>
                <c:pt idx="4">
                  <c:v>5693.72</c:v>
                </c:pt>
                <c:pt idx="5">
                  <c:v>5513.76</c:v>
                </c:pt>
                <c:pt idx="6">
                  <c:v>6103.43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6</c:v>
                </c:pt>
                <c:pt idx="2">
                  <c:v>2961.34</c:v>
                </c:pt>
                <c:pt idx="3">
                  <c:v>4151.25</c:v>
                </c:pt>
                <c:pt idx="4">
                  <c:v>1183.1</c:v>
                </c:pt>
                <c:pt idx="5">
                  <c:v>9682.8</c:v>
                </c:pt>
                <c:pt idx="6">
                  <c:v>5641.2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487.69</c:v>
                </c:pt>
                <c:pt idx="1">
                  <c:v>1951</c:v>
                </c:pt>
                <c:pt idx="2">
                  <c:v>4361.9</c:v>
                </c:pt>
                <c:pt idx="3">
                  <c:v>1724.33</c:v>
                </c:pt>
                <c:pt idx="4">
                  <c:v>2887.44</c:v>
                </c:pt>
                <c:pt idx="5">
                  <c:v>4556.63</c:v>
                </c:pt>
                <c:pt idx="6">
                  <c:v>4865.47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Azure Cognitive Search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23.43</c:v>
                </c:pt>
                <c:pt idx="1">
                  <c:v>68</c:v>
                </c:pt>
                <c:pt idx="2">
                  <c:v>305.51</c:v>
                </c:pt>
                <c:pt idx="3">
                  <c:v>629.28</c:v>
                </c:pt>
                <c:pt idx="4">
                  <c:v>1166.49</c:v>
                </c:pt>
                <c:pt idx="5">
                  <c:v>1582.03</c:v>
                </c:pt>
                <c:pt idx="6">
                  <c:v>1825.03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83.58</c:v>
                </c:pt>
                <c:pt idx="1">
                  <c:v>237</c:v>
                </c:pt>
                <c:pt idx="2">
                  <c:v>535.5</c:v>
                </c:pt>
                <c:pt idx="3">
                  <c:v>143.21</c:v>
                </c:pt>
                <c:pt idx="4">
                  <c:v>401.16</c:v>
                </c:pt>
                <c:pt idx="5">
                  <c:v>1574.44</c:v>
                </c:pt>
                <c:pt idx="6">
                  <c:v>1166.17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Azure Database for PostgreSQL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46.79</c:v>
                </c:pt>
                <c:pt idx="1">
                  <c:v>141</c:v>
                </c:pt>
                <c:pt idx="2">
                  <c:v>356.15</c:v>
                </c:pt>
                <c:pt idx="3">
                  <c:v>489.68</c:v>
                </c:pt>
                <c:pt idx="4">
                  <c:v>790.07</c:v>
                </c:pt>
                <c:pt idx="5">
                  <c:v>1068.76</c:v>
                </c:pt>
                <c:pt idx="6">
                  <c:v>1101.71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212.84999999999997</c:v>
                </c:pt>
                <c:pt idx="1">
                  <c:v>669</c:v>
                </c:pt>
                <c:pt idx="2">
                  <c:v>1260.73</c:v>
                </c:pt>
                <c:pt idx="3">
                  <c:v>1440.16</c:v>
                </c:pt>
                <c:pt idx="4">
                  <c:v>1534.08</c:v>
                </c:pt>
                <c:pt idx="5">
                  <c:v>2364.1500000000005</c:v>
                </c:pt>
                <c:pt idx="6">
                  <c:v>2907.3499999999995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 Subscription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798.75</c:v>
                </c:pt>
                <c:pt idx="1">
                  <c:v>2844</c:v>
                </c:pt>
                <c:pt idx="2">
                  <c:v>10910</c:v>
                </c:pt>
                <c:pt idx="3">
                  <c:v>9522</c:v>
                </c:pt>
                <c:pt idx="4">
                  <c:v>7610.56</c:v>
                </c:pt>
                <c:pt idx="5">
                  <c:v>17286</c:v>
                </c:pt>
                <c:pt idx="6">
                  <c:v>13714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464</c:v>
                </c:pt>
                <c:pt idx="2">
                  <c:v>1031</c:v>
                </c:pt>
                <c:pt idx="3">
                  <c:v>1368</c:v>
                </c:pt>
                <c:pt idx="4">
                  <c:v>4874.39</c:v>
                </c:pt>
                <c:pt idx="5">
                  <c:v>7063</c:v>
                </c:pt>
                <c:pt idx="6">
                  <c:v>6454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AI Factory prod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55.56</c:v>
                </c:pt>
                <c:pt idx="1">
                  <c:v>169</c:v>
                </c:pt>
                <c:pt idx="2">
                  <c:v>460</c:v>
                </c:pt>
                <c:pt idx="3">
                  <c:v>454</c:v>
                </c:pt>
                <c:pt idx="4">
                  <c:v>575.07</c:v>
                </c:pt>
                <c:pt idx="5">
                  <c:v>814</c:v>
                </c:pt>
                <c:pt idx="6">
                  <c:v>1160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 Factory dev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231</c:v>
                </c:pt>
                <c:pt idx="3">
                  <c:v>332</c:v>
                </c:pt>
                <c:pt idx="4">
                  <c:v>347.57</c:v>
                </c:pt>
                <c:pt idx="5">
                  <c:v>497</c:v>
                </c:pt>
                <c:pt idx="6">
                  <c:v>458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INSAIT Dev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193.18</c:v>
                </c:pt>
                <c:pt idx="5">
                  <c:v>239</c:v>
                </c:pt>
                <c:pt idx="6">
                  <c:v>1339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55.57</c:v>
                </c:pt>
                <c:pt idx="5">
                  <c:v>443</c:v>
                </c:pt>
                <c:pt idx="6">
                  <c:v>485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10.47</c:v>
                </c:pt>
                <c:pt idx="1">
                  <c:v>82</c:v>
                </c:pt>
                <c:pt idx="2">
                  <c:v>23</c:v>
                </c:pt>
                <c:pt idx="3">
                  <c:v>922.64</c:v>
                </c:pt>
                <c:pt idx="4">
                  <c:v>9077.46</c:v>
                </c:pt>
                <c:pt idx="5">
                  <c:v>3485.77</c:v>
                </c:pt>
                <c:pt idx="6">
                  <c:v>3786.27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Foundry Tools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</c:v>
                </c:pt>
                <c:pt idx="1">
                  <c:v>7</c:v>
                </c:pt>
                <c:pt idx="2">
                  <c:v>2</c:v>
                </c:pt>
                <c:pt idx="3">
                  <c:v>75.6</c:v>
                </c:pt>
                <c:pt idx="4">
                  <c:v>392.41</c:v>
                </c:pt>
                <c:pt idx="5">
                  <c:v>2143.71</c:v>
                </c:pt>
                <c:pt idx="6">
                  <c:v>3448.79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SQL Database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317.3</c:v>
                </c:pt>
                <c:pt idx="1">
                  <c:v>306</c:v>
                </c:pt>
                <c:pt idx="2">
                  <c:v>328</c:v>
                </c:pt>
                <c:pt idx="3">
                  <c:v>351.89</c:v>
                </c:pt>
                <c:pt idx="4">
                  <c:v>379.09</c:v>
                </c:pt>
                <c:pt idx="5">
                  <c:v>376.76</c:v>
                </c:pt>
                <c:pt idx="6">
                  <c:v>356.83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Azure Cognitive Search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75.14</c:v>
                </c:pt>
                <c:pt idx="1">
                  <c:v>93</c:v>
                </c:pt>
                <c:pt idx="2">
                  <c:v>150</c:v>
                </c:pt>
                <c:pt idx="3">
                  <c:v>145.44</c:v>
                </c:pt>
                <c:pt idx="4">
                  <c:v>241.01</c:v>
                </c:pt>
                <c:pt idx="5">
                  <c:v>629.28</c:v>
                </c:pt>
                <c:pt idx="6">
                  <c:v>650.26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Functions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157.26</c:v>
                </c:pt>
                <c:pt idx="1">
                  <c:v>206</c:v>
                </c:pt>
                <c:pt idx="2">
                  <c:v>315</c:v>
                </c:pt>
                <c:pt idx="3">
                  <c:v>304.37</c:v>
                </c:pt>
                <c:pt idx="4">
                  <c:v>313.82</c:v>
                </c:pt>
                <c:pt idx="5">
                  <c:v>304.37</c:v>
                </c:pt>
                <c:pt idx="6">
                  <c:v>314.51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96.72</c:v>
                </c:pt>
                <c:pt idx="1">
                  <c:v>108</c:v>
                </c:pt>
                <c:pt idx="2">
                  <c:v>149</c:v>
                </c:pt>
                <c:pt idx="3">
                  <c:v>144.13</c:v>
                </c:pt>
                <c:pt idx="4">
                  <c:v>168.7</c:v>
                </c:pt>
                <c:pt idx="5">
                  <c:v>223.75</c:v>
                </c:pt>
                <c:pt idx="6">
                  <c:v>231.22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278.74</c:v>
                </c:pt>
                <c:pt idx="1">
                  <c:v>115</c:v>
                </c:pt>
                <c:pt idx="2">
                  <c:v>60</c:v>
                </c:pt>
                <c:pt idx="3">
                  <c:v>60.81</c:v>
                </c:pt>
                <c:pt idx="4">
                  <c:v>84.9</c:v>
                </c:pt>
                <c:pt idx="5">
                  <c:v>66.57000000000001</c:v>
                </c:pt>
                <c:pt idx="6">
                  <c:v>70.12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2353.25</c:v>
                </c:pt>
                <c:pt idx="1">
                  <c:v>2794.3</c:v>
                </c:pt>
                <c:pt idx="2">
                  <c:v>2548.7</c:v>
                </c:pt>
                <c:pt idx="3">
                  <c:v>1787.65</c:v>
                </c:pt>
                <c:pt idx="4">
                  <c:v>2613.11</c:v>
                </c:pt>
                <c:pt idx="5">
                  <c:v>3120</c:v>
                </c:pt>
                <c:pt idx="6">
                  <c:v>2959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Solugen Production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</c:v>
                </c:pt>
                <c:pt idx="1">
                  <c:v>7.4</c:v>
                </c:pt>
                <c:pt idx="2">
                  <c:v>2</c:v>
                </c:pt>
                <c:pt idx="3">
                  <c:v>74.77</c:v>
                </c:pt>
                <c:pt idx="4">
                  <c:v>389.96</c:v>
                </c:pt>
                <c:pt idx="5">
                  <c:v>2125</c:v>
                </c:pt>
                <c:pt idx="6">
                  <c:v>3445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1428</c:v>
                </c:pt>
                <c:pt idx="1">
                  <c:v>1470.32</c:v>
                </c:pt>
                <c:pt idx="2">
                  <c:v>707.95</c:v>
                </c:pt>
                <c:pt idx="3">
                  <c:v>37.2</c:v>
                </c:pt>
                <c:pt idx="4">
                  <c:v>257.33</c:v>
                </c:pt>
                <c:pt idx="5">
                  <c:v>375</c:v>
                </c:pt>
                <c:pt idx="6">
                  <c:v>583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 Factory prod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</c:v>
                </c:pt>
                <c:pt idx="1">
                  <c:v>14.58</c:v>
                </c:pt>
                <c:pt idx="2">
                  <c:v>288.8</c:v>
                </c:pt>
                <c:pt idx="3">
                  <c:v>247.95</c:v>
                </c:pt>
                <c:pt idx="4">
                  <c:v>86.67</c:v>
                </c:pt>
                <c:pt idx="5">
                  <c:v>313</c:v>
                </c:pt>
                <c:pt idx="6">
                  <c:v>154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DataCloud prod 4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449.22</c:v>
                </c:pt>
                <c:pt idx="1">
                  <c:v>2.43</c:v>
                </c:pt>
                <c:pt idx="2">
                  <c:v>0</c:v>
                </c:pt>
                <c:pt idx="3">
                  <c:v>0</c:v>
                </c:pt>
                <c:pt idx="4">
                  <c:v>4.94</c:v>
                </c:pt>
                <c:pt idx="5">
                  <c:v>0.18</c:v>
                </c:pt>
                <c:pt idx="6">
                  <c:v>17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AI Factory dev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4</c:v>
                </c:pt>
                <c:pt idx="3">
                  <c:v>3.65</c:v>
                </c:pt>
                <c:pt idx="4">
                  <c:v>8.23</c:v>
                </c:pt>
                <c:pt idx="5">
                  <c:v>163</c:v>
                </c:pt>
                <c:pt idx="6">
                  <c:v>115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0</c:v>
                </c:pt>
                <c:pt idx="1">
                  <c:v>0.02</c:v>
                </c:pt>
                <c:pt idx="2">
                  <c:v>0</c:v>
                </c:pt>
                <c:pt idx="3">
                  <c:v>0.82</c:v>
                </c:pt>
                <c:pt idx="4">
                  <c:v>2.45</c:v>
                </c:pt>
                <c:pt idx="5">
                  <c:v>18</c:v>
                </c:pt>
                <c:pt idx="6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Application Gateway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312.27</c:v>
                </c:pt>
                <c:pt idx="1">
                  <c:v>282</c:v>
                </c:pt>
                <c:pt idx="2">
                  <c:v>312.48</c:v>
                </c:pt>
                <c:pt idx="3">
                  <c:v>302.4</c:v>
                </c:pt>
                <c:pt idx="4">
                  <c:v>312.48</c:v>
                </c:pt>
                <c:pt idx="5">
                  <c:v>302.4</c:v>
                </c:pt>
                <c:pt idx="6">
                  <c:v>312.48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114.02</c:v>
                </c:pt>
                <c:pt idx="1">
                  <c:v>308</c:v>
                </c:pt>
                <c:pt idx="2">
                  <c:v>341.37</c:v>
                </c:pt>
                <c:pt idx="3">
                  <c:v>331.05</c:v>
                </c:pt>
                <c:pt idx="4">
                  <c:v>339.96</c:v>
                </c:pt>
                <c:pt idx="5">
                  <c:v>330.83</c:v>
                </c:pt>
                <c:pt idx="6">
                  <c:v>342.19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Azure Container Apps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280.08</c:v>
                </c:pt>
                <c:pt idx="1">
                  <c:v>245</c:v>
                </c:pt>
                <c:pt idx="2">
                  <c:v>277.57</c:v>
                </c:pt>
                <c:pt idx="3">
                  <c:v>262.43</c:v>
                </c:pt>
                <c:pt idx="4">
                  <c:v>270.97</c:v>
                </c:pt>
                <c:pt idx="5">
                  <c:v>279.13</c:v>
                </c:pt>
                <c:pt idx="6">
                  <c:v>272.36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Azure Database for PostgreSQL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155.41</c:v>
                </c:pt>
                <c:pt idx="1">
                  <c:v>141</c:v>
                </c:pt>
                <c:pt idx="2">
                  <c:v>155.41</c:v>
                </c:pt>
                <c:pt idx="3">
                  <c:v>150.54</c:v>
                </c:pt>
                <c:pt idx="4">
                  <c:v>155.41</c:v>
                </c:pt>
                <c:pt idx="5">
                  <c:v>268.67</c:v>
                </c:pt>
                <c:pt idx="6">
                  <c:v>310.83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9.65</c:v>
                </c:pt>
                <c:pt idx="1">
                  <c:v>712</c:v>
                </c:pt>
                <c:pt idx="2">
                  <c:v>28.87</c:v>
                </c:pt>
                <c:pt idx="3">
                  <c:v>1.29</c:v>
                </c:pt>
                <c:pt idx="4">
                  <c:v>1.94</c:v>
                </c:pt>
                <c:pt idx="5">
                  <c:v>2.41</c:v>
                </c:pt>
                <c:pt idx="6">
                  <c:v>293.48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Virtual Machines Licenses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51.66</c:v>
                </c:pt>
                <c:pt idx="1">
                  <c:v>77</c:v>
                </c:pt>
                <c:pt idx="2">
                  <c:v>85.64</c:v>
                </c:pt>
                <c:pt idx="3">
                  <c:v>82.91</c:v>
                </c:pt>
                <c:pt idx="4">
                  <c:v>85.71</c:v>
                </c:pt>
                <c:pt idx="5">
                  <c:v>82.85</c:v>
                </c:pt>
                <c:pt idx="6">
                  <c:v>85.7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45.38</c:v>
                </c:pt>
                <c:pt idx="1">
                  <c:v>41</c:v>
                </c:pt>
                <c:pt idx="2">
                  <c:v>45.2</c:v>
                </c:pt>
                <c:pt idx="3">
                  <c:v>61.8</c:v>
                </c:pt>
                <c:pt idx="4">
                  <c:v>75.39</c:v>
                </c:pt>
                <c:pt idx="5">
                  <c:v>78.04</c:v>
                </c:pt>
                <c:pt idx="6">
                  <c:v>85.72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95.51999999999998</c:v>
                </c:pt>
                <c:pt idx="1">
                  <c:v>109</c:v>
                </c:pt>
                <c:pt idx="2">
                  <c:v>118.03</c:v>
                </c:pt>
                <c:pt idx="3">
                  <c:v>161.70999999999998</c:v>
                </c:pt>
                <c:pt idx="4">
                  <c:v>214.45</c:v>
                </c:pt>
                <c:pt idx="5">
                  <c:v>259.93</c:v>
                </c:pt>
                <c:pt idx="6">
                  <c:v>280.40000000000003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362.54</c:v>
                </c:pt>
                <c:pt idx="5">
                  <c:v>783.55</c:v>
                </c:pt>
                <c:pt idx="6">
                  <c:v>999.94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161.28</c:v>
                </c:pt>
                <c:pt idx="3">
                  <c:v>483.84</c:v>
                </c:pt>
                <c:pt idx="4">
                  <c:v>499.97</c:v>
                </c:pt>
                <c:pt idx="5">
                  <c:v>483.84</c:v>
                </c:pt>
                <c:pt idx="6">
                  <c:v>499.97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Sandbox System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249.98</c:v>
                </c:pt>
                <c:pt idx="1">
                  <c:v>225.79</c:v>
                </c:pt>
                <c:pt idx="2">
                  <c:v>249.98</c:v>
                </c:pt>
                <c:pt idx="3">
                  <c:v>241.92</c:v>
                </c:pt>
                <c:pt idx="4">
                  <c:v>249.98</c:v>
                </c:pt>
                <c:pt idx="5">
                  <c:v>241.92</c:v>
                </c:pt>
                <c:pt idx="6">
                  <c:v>249.98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Solugen Production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75.14</c:v>
                </c:pt>
                <c:pt idx="1">
                  <c:v>67.87</c:v>
                </c:pt>
                <c:pt idx="2">
                  <c:v>75.14</c:v>
                </c:pt>
                <c:pt idx="3">
                  <c:v>72.72</c:v>
                </c:pt>
                <c:pt idx="4">
                  <c:v>165.86</c:v>
                </c:pt>
                <c:pt idx="5">
                  <c:v>556.56</c:v>
                </c:pt>
                <c:pt idx="6">
                  <c:v>575.11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AI Factory prod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23.43</c:v>
                </c:pt>
                <c:pt idx="1">
                  <c:v>67.87</c:v>
                </c:pt>
                <c:pt idx="2">
                  <c:v>75.14</c:v>
                </c:pt>
                <c:pt idx="3">
                  <c:v>72.72</c:v>
                </c:pt>
                <c:pt idx="4">
                  <c:v>228.83</c:v>
                </c:pt>
                <c:pt idx="5">
                  <c:v>241.92</c:v>
                </c:pt>
                <c:pt idx="6">
                  <c:v>249.98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DataCloud dev 1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75.14</c:v>
                </c:pt>
                <c:pt idx="1">
                  <c:v>67.87</c:v>
                </c:pt>
                <c:pt idx="2">
                  <c:v>75.14</c:v>
                </c:pt>
                <c:pt idx="3">
                  <c:v>72.72</c:v>
                </c:pt>
                <c:pt idx="4">
                  <c:v>75.14</c:v>
                </c:pt>
                <c:pt idx="5">
                  <c:v>72.72</c:v>
                </c:pt>
                <c:pt idx="6">
                  <c:v>75.14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75.14</c:v>
                </c:pt>
                <c:pt idx="1">
                  <c:v>67.87</c:v>
                </c:pt>
                <c:pt idx="2">
                  <c:v>75.14</c:v>
                </c:pt>
                <c:pt idx="3">
                  <c:v>72.72</c:v>
                </c:pt>
                <c:pt idx="4">
                  <c:v>75.14</c:v>
                </c:pt>
                <c:pt idx="5">
                  <c:v>72.72</c:v>
                </c:pt>
                <c:pt idx="6">
                  <c:v>75.14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75.14</c:v>
                </c:pt>
                <c:pt idx="1">
                  <c:v>92.82000000000001</c:v>
                </c:pt>
                <c:pt idx="2">
                  <c:v>219.36</c:v>
                </c:pt>
                <c:pt idx="3">
                  <c:v>218.16</c:v>
                </c:pt>
                <c:pt idx="4">
                  <c:v>225.42000000000002</c:v>
                </c:pt>
                <c:pt idx="5">
                  <c:v>239.17</c:v>
                </c:pt>
                <c:pt idx="6">
                  <c:v>300.56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S0 Custom Pages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3312</c:v>
                </c:pt>
                <c:pt idx="1">
                  <c:v>3720</c:v>
                </c:pt>
                <c:pt idx="2">
                  <c:v>2846</c:v>
                </c:pt>
                <c:pt idx="3">
                  <c:v>1523.49</c:v>
                </c:pt>
                <c:pt idx="4">
                  <c:v>2246.94</c:v>
                </c:pt>
                <c:pt idx="5">
                  <c:v>2764.98</c:v>
                </c:pt>
                <c:pt idx="6">
                  <c:v>2392.32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5.4 opt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941.41</c:v>
                </c:pt>
                <c:pt idx="5">
                  <c:v>6273.8</c:v>
                </c:pt>
                <c:pt idx="6">
                  <c:v>3893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5.4 inp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1056.29</c:v>
                </c:pt>
                <c:pt idx="5">
                  <c:v>4877.16</c:v>
                </c:pt>
                <c:pt idx="6">
                  <c:v>4947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S0 Pre-built Pages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804</c:v>
                </c:pt>
                <c:pt idx="1">
                  <c:v>385</c:v>
                </c:pt>
                <c:pt idx="2">
                  <c:v>521</c:v>
                </c:pt>
                <c:pt idx="3">
                  <c:v>336.11</c:v>
                </c:pt>
                <c:pt idx="4">
                  <c:v>627.22</c:v>
                </c:pt>
                <c:pt idx="5">
                  <c:v>2035.82</c:v>
                </c:pt>
                <c:pt idx="6">
                  <c:v>3385.11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gpt 4o 0513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1145</c:v>
                </c:pt>
                <c:pt idx="1">
                  <c:v>1300</c:v>
                </c:pt>
                <c:pt idx="2">
                  <c:v>1060.02</c:v>
                </c:pt>
                <c:pt idx="3">
                  <c:v>3220.28</c:v>
                </c:pt>
                <c:pt idx="4">
                  <c:v>917</c:v>
                </c:pt>
                <c:pt idx="5">
                  <c:v>261</c:v>
                </c:pt>
                <c:pt idx="6">
                  <c:v>188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gpt 4o 1120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6.11</c:v>
                </c:pt>
                <c:pt idx="1">
                  <c:v>524</c:v>
                </c:pt>
                <c:pt idx="2">
                  <c:v>2563.76</c:v>
                </c:pt>
                <c:pt idx="3">
                  <c:v>3081.82</c:v>
                </c:pt>
                <c:pt idx="4">
                  <c:v>253</c:v>
                </c:pt>
                <c:pt idx="5">
                  <c:v>663</c:v>
                </c:pt>
                <c:pt idx="6">
                  <c:v>107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GPT 5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13.65</c:v>
                </c:pt>
                <c:pt idx="1">
                  <c:v>17</c:v>
                </c:pt>
                <c:pt idx="2">
                  <c:v>272.95</c:v>
                </c:pt>
                <c:pt idx="3">
                  <c:v>971.26</c:v>
                </c:pt>
                <c:pt idx="4">
                  <c:v>5056</c:v>
                </c:pt>
                <c:pt idx="5">
                  <c:v>494</c:v>
                </c:pt>
                <c:pt idx="6">
                  <c:v>1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GPT 5.1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22.62</c:v>
                </c:pt>
                <c:pt idx="3">
                  <c:v>0.21</c:v>
                </c:pt>
                <c:pt idx="4">
                  <c:v>220</c:v>
                </c:pt>
                <c:pt idx="5">
                  <c:v>1946</c:v>
                </c:pt>
                <c:pt idx="6">
                  <c:v>1204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481.32</c:v>
                </c:pt>
                <c:pt idx="1">
                  <c:v>846</c:v>
                </c:pt>
                <c:pt idx="2">
                  <c:v>552.18</c:v>
                </c:pt>
                <c:pt idx="3">
                  <c:v>1410.55</c:v>
                </c:pt>
                <c:pt idx="4">
                  <c:v>3611.5500000000006</c:v>
                </c:pt>
                <c:pt idx="5">
                  <c:v>2292.8399999999997</c:v>
                </c:pt>
                <c:pt idx="6">
                  <c:v>3491.7999999999997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Claude Opus 4.6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2866.65</c:v>
                </c:pt>
                <c:pt idx="3">
                  <c:v>4806.49</c:v>
                </c:pt>
                <c:pt idx="4">
                  <c:v>9873.22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Claude Opus 4.8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76.7</c:v>
                </c:pt>
                <c:pt idx="3">
                  <c:v>2024.12</c:v>
                </c:pt>
                <c:pt idx="4">
                  <c:v>11361.86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Claude Opus 4.7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786.79</c:v>
                </c:pt>
                <c:pt idx="3">
                  <c:v>2917.83</c:v>
                </c:pt>
                <c:pt idx="4">
                  <c:v>2438.48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Amazon Bedrock Edition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841</c:v>
                </c:pt>
                <c:pt idx="1">
                  <c:v>1609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Claude Sonnet 4.6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14.53</c:v>
                </c:pt>
                <c:pt idx="3">
                  <c:v>540.41</c:v>
                </c:pt>
                <c:pt idx="4">
                  <c:v>688.26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Claude Opus 5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691.45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Claude Haiku 4.5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Sheet1!$H$2:$H$6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57.15</c:v>
                </c:pt>
                <c:pt idx="3">
                  <c:v>159.32</c:v>
                </c:pt>
                <c:pt idx="4">
                  <c:v>157.37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Claude Sonnet 4.5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Sheet1!$I$2:$I$6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9.63</c:v>
                </c:pt>
                <c:pt idx="3">
                  <c:v>58.63</c:v>
                </c:pt>
                <c:pt idx="4">
                  <c:v>77.41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Sheet1!$J$2:$J$6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0.01</c:v>
                </c:pt>
                <c:pt idx="3">
                  <c:v>0</c:v>
                </c:pt>
                <c:pt idx="4">
                  <c:v>0.28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204.73</c:v>
                </c:pt>
                <c:pt idx="1">
                  <c:v>258.03</c:v>
                </c:pt>
                <c:pt idx="2">
                  <c:v>285.69</c:v>
                </c:pt>
                <c:pt idx="3">
                  <c:v>276.54</c:v>
                </c:pt>
                <c:pt idx="4">
                  <c:v>286.79</c:v>
                </c:pt>
                <c:pt idx="5">
                  <c:v>277.42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Azure Cognitive Search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37.3</c:v>
                </c:pt>
                <c:pt idx="1">
                  <c:v>225.79</c:v>
                </c:pt>
                <c:pt idx="2">
                  <c:v>249.98</c:v>
                </c:pt>
                <c:pt idx="3">
                  <c:v>241.92</c:v>
                </c:pt>
                <c:pt idx="4">
                  <c:v>314.63</c:v>
                </c:pt>
                <c:pt idx="5">
                  <c:v>314.66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97.97</c:v>
                </c:pt>
                <c:pt idx="1">
                  <c:v>132.15</c:v>
                </c:pt>
                <c:pt idx="2">
                  <c:v>135.54</c:v>
                </c:pt>
                <c:pt idx="3">
                  <c:v>135.39</c:v>
                </c:pt>
                <c:pt idx="4">
                  <c:v>130.19</c:v>
                </c:pt>
                <c:pt idx="5">
                  <c:v>141.58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Load Balancer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21.45</c:v>
                </c:pt>
                <c:pt idx="1">
                  <c:v>19.71</c:v>
                </c:pt>
                <c:pt idx="2">
                  <c:v>21.81</c:v>
                </c:pt>
                <c:pt idx="3">
                  <c:v>21.05</c:v>
                </c:pt>
                <c:pt idx="4">
                  <c:v>21.96</c:v>
                </c:pt>
                <c:pt idx="5">
                  <c:v>21.29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Event Hubs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19.2</c:v>
                </c:pt>
                <c:pt idx="1">
                  <c:v>20.16</c:v>
                </c:pt>
                <c:pt idx="2">
                  <c:v>22.32</c:v>
                </c:pt>
                <c:pt idx="3">
                  <c:v>21.6</c:v>
                </c:pt>
                <c:pt idx="4">
                  <c:v>22.32</c:v>
                </c:pt>
                <c:pt idx="5">
                  <c:v>21.6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Azure Database for PostgreSQL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19.19</c:v>
                </c:pt>
                <c:pt idx="1">
                  <c:v>17.75</c:v>
                </c:pt>
                <c:pt idx="2">
                  <c:v>19.19</c:v>
                </c:pt>
                <c:pt idx="3">
                  <c:v>18.71</c:v>
                </c:pt>
                <c:pt idx="4">
                  <c:v>19.19</c:v>
                </c:pt>
                <c:pt idx="5">
                  <c:v>18.71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45.470000000000006</c:v>
                </c:pt>
                <c:pt idx="1">
                  <c:v>33.43</c:v>
                </c:pt>
                <c:pt idx="2">
                  <c:v>52.11</c:v>
                </c:pt>
                <c:pt idx="3">
                  <c:v>37.220000000000006</c:v>
                </c:pt>
                <c:pt idx="4">
                  <c:v>93.59</c:v>
                </c:pt>
                <c:pt idx="5">
                  <c:v>35.190000000000005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Shared resources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6467</c:v>
                </c:pt>
                <c:pt idx="1">
                  <c:v>16654</c:v>
                </c:pt>
                <c:pt idx="2">
                  <c:v>19260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Shared resources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8919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VdiHorizion 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80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chart" Target="/ppt/charts/chart10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chart" Target="/ppt/charts/chart1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chart" Target="/ppt/charts/chart1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chart" Target="/ppt/charts/chart17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8.xml"/><Relationship Id="rId2" Type="http://schemas.openxmlformats.org/officeDocument/2006/relationships/chart" Target="/ppt/charts/chart19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chart" Target="/ppt/charts/chart21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2.xml"/><Relationship Id="rId2" Type="http://schemas.openxmlformats.org/officeDocument/2006/relationships/chart" Target="/ppt/charts/chart2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5.xml"/><Relationship Id="rId2" Type="http://schemas.openxmlformats.org/officeDocument/2006/relationships/chart" Target="/ppt/charts/chart26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9.xml"/><Relationship Id="rId2" Type="http://schemas.openxmlformats.org/officeDocument/2006/relationships/chart" Target="/ppt/charts/chart30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8.xml"/><Relationship Id="rId2" Type="http://schemas.openxmlformats.org/officeDocument/2006/relationships/chart" Target="/ppt/charts/chart39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FINOPS · FY2026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agenda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infrastructure, DevOps and databases · Technology and Cyber Defence Division · July 2026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55448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171907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58368" y="206654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2026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58368" y="235915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review by account, service and billing entity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45104" y="155448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6272" y="171907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3546272" y="206654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2026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546272" y="235915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review by cost centre, service and subscription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33008" y="155448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34176" y="171907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434176" y="206654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2026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34176" y="235915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review by Google Cloud service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120911" y="155448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22079" y="171907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9322079" y="206654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AI Factory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322079" y="235915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Project-level AI consumption and model spend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57200" y="329184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8368" y="345643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658368" y="380390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project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58368" y="409651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 recommendations across both clouds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345104" y="329184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546272" y="345643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3546272" y="380390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Savings achievements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3546272" y="409651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has already been implemented and banked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233008" y="329184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34176" y="345643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6434176" y="380390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6434176" y="409651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Governance, tagging and future initiatives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FF9F43">
              <a:alpha val="8000"/>
            </a:srgbClr>
          </a:solidFill>
          <a:ln w="12700">
            <a:solidFill>
              <a:srgbClr val="FF9F4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ONE · AWS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2026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cost summary · January to July 2026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· ACCOUNTS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account name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payers sit under AWS. Charges exclude Marketplace purchases, which are shown separately.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linked account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$584K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Jan→Jul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$77K</a:t>
            </a:r>
            <a:endParaRPr lang="en-US" sz="2800" dirty="0"/>
          </a:p>
        </p:txBody>
      </p:sp>
      <p:sp>
        <p:nvSpPr>
          <p:cNvPr id="16" name="Text 13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MAP credit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110728" y="3822192"/>
            <a:ext cx="3605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110728" y="4197096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84464" y="4114800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customers3-prod and horizon-prod both stepped up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8110728" y="4764024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84464" y="4681728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harel-org-02-root and aws-devTest-digital grew on EC2 and S3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8110728" y="5330952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84464" y="5248656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ai-factory-dev carries a MAP contract credit, which is why July nets down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· SERVICES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service name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total, cut by service. Charges exclude Marketplace purchases.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$584K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Jan→Jul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EC2 - Compute</a:t>
            </a:r>
            <a:endParaRPr lang="en-US" sz="2800" dirty="0"/>
          </a:p>
        </p:txBody>
      </p:sp>
      <p:sp>
        <p:nvSpPr>
          <p:cNvPr id="16" name="Text 13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39% of the total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110728" y="3822192"/>
            <a:ext cx="3605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110728" y="4197096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84464" y="4114800"/>
            <a:ext cx="343174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compute keeps rising month over month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8110728" y="4544568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84464" y="4462272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storage and Glacier Deep Archive both up sharply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8110728" y="5111496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84464" y="5029200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July dip in 'Other' is the MAP credit, not a usage change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· BILLING ACCOUNT HAREL IL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Harel IL billing account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second AWS payer, cut by service and by account.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Increases concentrate in cloudops-network, customers3-prod and harel-org-02-root; on the service side in S3 Glacier Deep Archive, S3 API and RDS compute.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$107K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excludes Marketplace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ACCOUNT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57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customers3-prod</a:t>
            </a:r>
            <a:endParaRPr lang="en-US" sz="2757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44% of the total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32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Connect - Port Hours</a:t>
            </a:r>
            <a:endParaRPr lang="en-US" sz="1532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21% of the total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account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· MARKETPLACE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purchases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this is consumption. Security vendors bought, replaced and retired inside the period.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Splunk, CrowdStrike and Trellix land in January; TrendAI and Fortinet in June and gone by July; Cortex replaces them. Only MongoDB Atlas and the small tools are genuinely recurring.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Purchases by product, Jan–Jul total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$1.54M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2.6× regular AWS usage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$182K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Cortex is new in July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2F8CFF">
              <a:alpha val="8000"/>
            </a:srgbClr>
          </a:solidFill>
          <a:ln w="12700">
            <a:solidFill>
              <a:srgbClr val="2F8C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TWO · AZURE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2026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cost summary · January to July 2026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COST CENTRES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cost centre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CostCenter tag. Charges exclude Marketplace purchases.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cost centre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$1.12M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+19% Jan→Jul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COST CENTRE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datacloud</a:t>
            </a:r>
            <a:endParaRPr lang="en-US" sz="2800" dirty="0"/>
          </a:p>
        </p:txBody>
      </p:sp>
      <p:sp>
        <p:nvSpPr>
          <p:cNvPr id="16" name="Text 13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 of the total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110728" y="3822192"/>
            <a:ext cx="3605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110728" y="4197096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84464" y="4114800"/>
            <a:ext cx="343174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cloudops, datacloud and cloudit all up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8110728" y="4544568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84464" y="4462272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is the fastest-growing centre in the period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8110728" y="5111496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84464" y="5029200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Agility and Actuary fell back after Q1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SERVICES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service name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total, cut by service. Charges exclude Marketplace purchases.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$1.12M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+19% Jan→Jul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13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613" dirty="0"/>
          </a:p>
        </p:txBody>
      </p:sp>
      <p:sp>
        <p:nvSpPr>
          <p:cNvPr id="16" name="Text 13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33% of the total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110728" y="3822192"/>
            <a:ext cx="3605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110728" y="4197096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84464" y="4114800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and Copilot Studio drive most of the July step-up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8110728" y="4764024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84464" y="4681728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 and Foundry Tools rise every month from April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8110728" y="5330952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84464" y="5248656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Network, Log Analytics and Sentinel add to the base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MARKETPLACE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purchases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sits under the Shared Resources subscription.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prepayment is cash out in one month and consumption over three years — read Databricks usage elsewhere in this deck as draw-down, not new spend.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Purchases by product, Jan–Jul total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$551K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prepayments, not consumption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P3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$504,000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600,000 DBU pre-purchase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092440" y="3685032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93608" y="3776472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COMMVAULT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293608" y="3977640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$22,031</a:t>
            </a:r>
            <a:endParaRPr lang="en-US" sz="2800" dirty="0"/>
          </a:p>
        </p:txBody>
      </p:sp>
      <p:sp>
        <p:nvSpPr>
          <p:cNvPr id="21" name="Text 18"/>
          <p:cNvSpPr/>
          <p:nvPr/>
        </p:nvSpPr>
        <p:spPr>
          <a:xfrm>
            <a:off x="8293608" y="4379976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&amp; recovery add-on, July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DATACLOUD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 — DataCloud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largest Azure cost centre, by service and by subscription.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drops to zero from May — that is the reserved capacity purchase taking over, not a workload stopping. Foundry Models and Foundry Tools take its place as the growth line.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$339K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+3% Jan→Jul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DataCloud prod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 of the total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84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584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 of the total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OPSWAT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Opswat new mail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flat, predictable workload — useful as a baseline against everything else in this section.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 and storage account for almost the whole cost, and neither has moved more than a few percent in seven months.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Jan→Jul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13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613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ACTUARY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 — Actuary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fell hard after January when Databricks moved onto reserved capacity.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remaining growth is virtual machines, Data Factory v2 and virtual network — infrastructure, not analytics.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$41K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-73% Jan→Jul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Actuary prod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86% of the total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84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Databricks</a:t>
            </a:r>
            <a:endParaRPr lang="en-US" sz="2584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46% of the total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SAP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 — SAP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stable large workload in the estate — and the best candidate for reservations.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Dev/Test costs more than Production every month of the period. Virtual machines are roughly three quarters of the bill and barely vary — a flat, reservable profile.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$294K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-3% Jan→Jul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Dev/Test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57% of the total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84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584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74% of the total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CLOUD IT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 — Cloud IT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platform services: network, monitoring and security for everyone else.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Analytics and Sentinel drive the March spike; virtual network and storage carry the underlying growth.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$216K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+8% Jan→Jul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84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Resources</a:t>
            </a:r>
            <a:endParaRPr lang="en-US" sz="2584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48% of the total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57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Network</a:t>
            </a:r>
            <a:endParaRPr lang="en-US" sz="2757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24% of the total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RISK AGILITY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 — Risk Agility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workload that has been switched off in stages — compute is now effectively zero.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January ran $12.8K of virtual machines. By June the VMs are gone and only storage remains — worth a decision on whether the residual data still needs to be retained.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552434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51220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51220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$32K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51220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-92% Jan→Jul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0148" y="1188720"/>
            <a:ext cx="552434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11316" y="1280160"/>
            <a:ext cx="51220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11316" y="1481328"/>
            <a:ext cx="51220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$1,032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411316" y="1883664"/>
            <a:ext cx="51220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only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Text 15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19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BASASACH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 — Basasach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and completely flat: an application platform plus its database.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and Dev/Test cost almost exactly the same every month, which usually means Dev/Test is sized like Production rather than for its actual use.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552434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51220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51220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$5,409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51220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Jan→Jul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0148" y="1188720"/>
            <a:ext cx="552434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11316" y="1280160"/>
            <a:ext cx="51220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11316" y="1481328"/>
            <a:ext cx="51220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Database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411316" y="1883664"/>
            <a:ext cx="51220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53% of the total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Text 15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19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ITSEC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 — ITSec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tooling spread thinly across every subscription in the estate.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subscriptions carry ITSec charges. Virtual network and Azure DNS are two thirds of the total.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552434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51220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51220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$14K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51220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+7% Jan→Jul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0148" y="1188720"/>
            <a:ext cx="552434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11316" y="1280160"/>
            <a:ext cx="51220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11316" y="1481328"/>
            <a:ext cx="51220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Network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411316" y="1883664"/>
            <a:ext cx="51220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46% of the total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Text 15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19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INVESTMENTS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 — Investments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reserved capacity removed the compute line; infrastructure is now the whole cost.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falls to zero from May on the reserved-instance purchase; virtual machines have tripled since April and are now the line to watch.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FEB–JUL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$4,438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smallest Azure cost centre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$530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 rising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· PURCHASE OPTIONS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coverage by vendor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each cloud's compute is actually bought — the single biggest lever on unit cost.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buys 93% of its compute at a discount; Azure only 59%. Closing that gap is the largest single optimisation available in the estate.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7200" y="1508760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cost by purchase option</a:t>
            </a:r>
            <a:endParaRPr lang="en-US" sz="1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64792"/>
          <a:ext cx="47548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371600"/>
                <a:gridCol w="100584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Purchase option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cost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$16,559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Compute Savings Plan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$16,364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On-Demand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$2,502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F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$35,425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5577840" y="123444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5577840" y="1508760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cost by purchase option</a:t>
            </a:r>
            <a:endParaRPr lang="en-US" sz="1200" dirty="0"/>
          </a:p>
        </p:txBody>
      </p:sp>
      <p:graphicFrame>
        <p:nvGraphicFramePr>
          <p:cNvPr id="4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764792"/>
          <a:ext cx="47548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371600"/>
                <a:gridCol w="100584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Purchase option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cost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On-Demand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$21,690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F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Reservation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$21,463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Compute Savings Plan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$9,424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$737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$53,314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</a:tbl>
          </a:graphicData>
        </a:graphic>
      </p:graphicFrame>
      <p:sp>
        <p:nvSpPr>
          <p:cNvPr id="14" name="Shape 10"/>
          <p:cNvSpPr/>
          <p:nvPr/>
        </p:nvSpPr>
        <p:spPr>
          <a:xfrm>
            <a:off x="457200" y="4041648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58368" y="4133088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DISCOUNTED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658368" y="4334256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93%</a:t>
            </a:r>
            <a:endParaRPr lang="en-US" sz="2800" dirty="0"/>
          </a:p>
        </p:txBody>
      </p:sp>
      <p:sp>
        <p:nvSpPr>
          <p:cNvPr id="17" name="Text 13"/>
          <p:cNvSpPr/>
          <p:nvPr/>
        </p:nvSpPr>
        <p:spPr>
          <a:xfrm>
            <a:off x="658368" y="4736592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 plus savings plan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4292498" y="4041648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4493666" y="4133088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DISCOUNTED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4493666" y="4334256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59%</a:t>
            </a:r>
            <a:endParaRPr lang="en-US" sz="2800" dirty="0"/>
          </a:p>
        </p:txBody>
      </p:sp>
      <p:sp>
        <p:nvSpPr>
          <p:cNvPr id="21" name="Text 17"/>
          <p:cNvSpPr/>
          <p:nvPr/>
        </p:nvSpPr>
        <p:spPr>
          <a:xfrm>
            <a:off x="4493666" y="4736592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reservation plus savings plan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8127797" y="4041648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8328965" y="4133088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ON-DEMAND</a:t>
            </a:r>
            <a:endParaRPr lang="en-US" sz="1200" dirty="0"/>
          </a:p>
        </p:txBody>
      </p:sp>
      <p:sp>
        <p:nvSpPr>
          <p:cNvPr id="24" name="Text 20"/>
          <p:cNvSpPr/>
          <p:nvPr/>
        </p:nvSpPr>
        <p:spPr>
          <a:xfrm>
            <a:off x="8328965" y="4334256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$21,690</a:t>
            </a:r>
            <a:endParaRPr lang="en-US" sz="2800" dirty="0"/>
          </a:p>
        </p:txBody>
      </p:sp>
      <p:sp>
        <p:nvSpPr>
          <p:cNvPr id="25" name="Text 21"/>
          <p:cNvSpPr/>
          <p:nvPr/>
        </p:nvSpPr>
        <p:spPr>
          <a:xfrm>
            <a:off x="8328965" y="4736592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month, the addressable gap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DATABRICKS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reserved capacity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600,000 DBU hours pre-purchased on 28 Apr 2026 (P3Y). Cumulative utilisation is 18%; actual Databricks cost since is $0.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compute bills at $0 against the pre-purchase, but the VMs, networking and storage underneath it do not. At 18% cumulative utilisation the commitment is running behind its three-year pace.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COMMITMENT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600,000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DBU hours, three-year term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UTILISATION TO JULY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18%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against the commitment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INFRASTRUCTURE, MAY–JUL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$64K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part still billed as usage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Supporting infrastructure — 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Supporting infrastructure — 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3DDC97">
              <a:alpha val="8000"/>
            </a:srgbClr>
          </a:solidFill>
          <a:ln w="12700">
            <a:solidFill>
              <a:srgbClr val="3DDC97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THREE · GCP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2026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cost summary · March to July 2026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· SERVICES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Google Cloud service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smallest provider by a wide margin, and the fastest growing.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AI passed Compute Engine in July. Compute Engine, networking and DNS are flat to within a few dollars — every dollar of GCP growth is AI.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MAR–JUL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$8,212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+836% Mar→Jul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AI, JULY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$2,359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the largest GCP service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B07CFF">
              <a:alpha val="8000"/>
            </a:srgbClr>
          </a:solidFill>
          <a:ln w="12700">
            <a:solidFill>
              <a:srgbClr val="B07C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FOUR · FINOPS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AI spend actually lands, project by project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· PROJECTS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project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projects make up the AI Factory programme. AIFactory itself is more than half of it.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roughly quadruples between January and July. June and July are flat against each other — the first month the programme has not grown.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project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$166K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+489% Jan→Jul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PROJECT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Aifactory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· CORE PROJECT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project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tag covers far more than models — API Management and VMs are the two largest lines.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of what is tagged AI Factory is infrastructure rather than inference. That is not automatically wrong — models need somewhere to run — but it is the part right-sizing can move.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$92K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+2664% Jan→Jul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Management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26% of the total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$24K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actual model spend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· SOLUGEN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Solugen project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Almost entirely Foundry Models and Foundry Tools — a genuinely model-heavy workload.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is the step change: Foundry Models jumps from under $1K to over $9K in a single month and has stayed there since.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$32K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+846% Jan→Jul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$17K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· DOCUMENT INTELLIGENCE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33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intelligence (OCR services)</a:t>
            </a:r>
            <a:endParaRPr lang="en-US" sz="2333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 consumption by subscription. The growth is all Solugen Production.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Solugen Production goes from a rounding error in January to the largest consumer in July. DataCloud prod is flat throughout.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subscription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$31K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+72% Jan→Jul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DataCloud prod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· INSAIT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INSAIT project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application stack, not a model workload — until July.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 were negligible for six months and then jumped to $293 in July. Small in absolute terms, but it is the start of a new consumption line worth a quota before it grows.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$11K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+86% Jan→Jul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Gateway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· COGNITIVE SEARCH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Cognitive Search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indexes are provisioned capacity — they bill whether or not anyone queries them.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Dev/Test, AI Factory prod and Solugen Production drive the increase. Eleven separate subscriptions now run search capacity — worth confirming each index still backs a live use case.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subscription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$11K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+427% Jan→Jul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$3,026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eleven subscriptions carrying indexes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· MODELS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 and tools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model and meter. This is the closest view of what the models themselves cost.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GPT-5.4 input and output become the dominant meters from June. Document intelligence page meters (S0 Custom / Pre-built / Add-on) are the steady base underneath them.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model and meter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$87K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+240% Jan→Jul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METER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87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 Custom Pages</a:t>
            </a:r>
            <a:endParaRPr lang="en-US" sz="2787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· BEDROCK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Bedrock service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models consumed through Bedrock by the engineering teams, billed as Marketplace lines.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Opus-class models are the overwhelming majority of Bedrock spend. Model mix changes month to month — Opus 5 appears in July — which is exactly what a model policy is for.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model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MAR–JUL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$42K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+2907% Mar→Jul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MODEL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87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Opus 4.6</a:t>
            </a:r>
            <a:endParaRPr lang="en-US" sz="2787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SANDBOX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Harel AI sandbox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experimentation environment. Small, but it should not be growing unattended.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Cognitive Search and virtual machines are almost the entire sandbox bill — provisioned capacity sitting idle between experiments.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JAN–JUN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$4,411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+86% Jan→Jun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13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613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DEVELOPER AI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and Copilot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Developer-facing AI, billed through the Shared Resources subscription.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triples between May and July. Copilot Studio credits appear for the first time in July at $8,919 — no credit applied, billed in full.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GITHUB, MAY–JUL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$42K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+198% May→Jul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STUDIO, JULY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$8,919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full month billed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$51K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AI, three months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GitHub, by subscription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Studio, 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3DDC97">
              <a:alpha val="8000"/>
            </a:srgbClr>
          </a:solidFill>
          <a:ln w="12700">
            <a:solidFill>
              <a:srgbClr val="3DDC97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FIVE · FINOPS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recommend, and what has already been banked</a:t>
            </a:r>
            <a:endParaRPr lang="en-US" sz="15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· RECOMMENDATIONS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 recommendations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Identified, costed and not yet implemented. Annualised figures.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1508760"/>
            <a:ext cx="4663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saving if implemented</a:t>
            </a:r>
            <a:endParaRPr lang="en-US" sz="12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64792"/>
          <a:ext cx="46634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37160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Recommendation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saving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Premium disks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$44,592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Schedule shutdown for 24/7 VMs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$36,741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VM reserved instance purchase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$26,758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VM right-size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$19,854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 — Azure Database for PostgreSQL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$17,037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Idle reserved disks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$13,464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unnecessary VMs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$13,147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Idle unattached disks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$7,656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 — Redis Cache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$2,664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SQL DB right-size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$2,129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VPN gateway — check necessity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$794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Retire VMs · consider serverless Databricks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under review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5486400" y="1234440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5486400" y="1508760"/>
            <a:ext cx="4663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saving if implemented</a:t>
            </a:r>
            <a:endParaRPr lang="en-US" sz="1200" dirty="0"/>
          </a:p>
        </p:txBody>
      </p:sp>
      <p:graphicFrame>
        <p:nvGraphicFramePr>
          <p:cNvPr id="7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0" y="1764792"/>
          <a:ext cx="46634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37160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Recommendation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saving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EKS extended support, version 1.33 — prod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$4,526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SageMaker — check necessity on several accounts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$3,420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457200" y="50749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658368" y="51663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POTENTIAL SAVING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658368" y="53675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$193K</a:t>
            </a:r>
            <a:endParaRPr lang="en-US" sz="2800" dirty="0"/>
          </a:p>
        </p:txBody>
      </p:sp>
      <p:sp>
        <p:nvSpPr>
          <p:cNvPr id="16" name="Text 12"/>
          <p:cNvSpPr/>
          <p:nvPr/>
        </p:nvSpPr>
        <p:spPr>
          <a:xfrm>
            <a:off x="658368" y="57698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annualised, both clouds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4292498" y="50749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4493666" y="51663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SHARE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4493666" y="53675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96%</a:t>
            </a:r>
            <a:endParaRPr lang="en-US" sz="2800" dirty="0"/>
          </a:p>
        </p:txBody>
      </p:sp>
      <p:sp>
        <p:nvSpPr>
          <p:cNvPr id="20" name="Text 16"/>
          <p:cNvSpPr/>
          <p:nvPr/>
        </p:nvSpPr>
        <p:spPr>
          <a:xfrm>
            <a:off x="4493666" y="57698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$184,836 of the total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8127797" y="50749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328965" y="51663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SINGLE ITEM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8328965" y="53675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$44,592</a:t>
            </a:r>
            <a:endParaRPr lang="en-US" sz="2800" dirty="0"/>
          </a:p>
        </p:txBody>
      </p:sp>
      <p:sp>
        <p:nvSpPr>
          <p:cNvPr id="24" name="Text 20"/>
          <p:cNvSpPr/>
          <p:nvPr/>
        </p:nvSpPr>
        <p:spPr>
          <a:xfrm>
            <a:off x="8328965" y="57698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disk tier changes</a:t>
            </a:r>
            <a:endParaRPr lang="en-US" sz="12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· IMPLEMENTED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savings — AWS and Azure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actioned in 2026. Annualised figures.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and outstanding together are $472K of annual saving, against consumption of roughly $2.9M a year (Jan–Jul annualised, Marketplace excluded) — about 16% of the estate is addressable without changing what runs on it.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Banked savings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7200" y="1508760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savings type</a:t>
            </a:r>
            <a:endParaRPr lang="en-US" sz="12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64792"/>
          <a:ext cx="530352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46304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Savings type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saving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Decommission North Europe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$70,452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VM reserved instance purchase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$66,783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Savings plan purchase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$65,335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unnecessary VMs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$28,105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Idle unattached disks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$20,576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 renewal — blob storage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$9,432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RDS reserved instance purchase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$7,944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EKS extended support 1.33 — preprod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$4,526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Retire two unused SQL instances on expiring RI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$4,563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 Service — reserved instance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 refund to reach 100% utilisation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6126480" y="1234440"/>
            <a:ext cx="56080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327648" y="1325880"/>
            <a:ext cx="52056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ANNUAL SAVINGS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327648" y="1527048"/>
            <a:ext cx="52056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$278,868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6327648" y="1929384"/>
            <a:ext cx="52056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implemented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126480" y="2459736"/>
            <a:ext cx="56080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27648" y="2551176"/>
            <a:ext cx="52056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ACTION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327648" y="2752344"/>
            <a:ext cx="52056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$70,452</a:t>
            </a:r>
            <a:endParaRPr lang="en-US" sz="2800" dirty="0"/>
          </a:p>
        </p:txBody>
      </p:sp>
      <p:sp>
        <p:nvSpPr>
          <p:cNvPr id="18" name="Text 15"/>
          <p:cNvSpPr/>
          <p:nvPr/>
        </p:nvSpPr>
        <p:spPr>
          <a:xfrm>
            <a:off x="6327648" y="3154680"/>
            <a:ext cx="52056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Europe decommission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6126480" y="3685032"/>
            <a:ext cx="56080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327648" y="3776472"/>
            <a:ext cx="52056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COMMITMENT-BASED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327648" y="3977640"/>
            <a:ext cx="52056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$132,118</a:t>
            </a:r>
            <a:endParaRPr lang="en-US" sz="2800" dirty="0"/>
          </a:p>
        </p:txBody>
      </p:sp>
      <p:sp>
        <p:nvSpPr>
          <p:cNvPr id="22" name="Text 19"/>
          <p:cNvSpPr/>
          <p:nvPr/>
        </p:nvSpPr>
        <p:spPr>
          <a:xfrm>
            <a:off x="6327648" y="4379976"/>
            <a:ext cx="52056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reservations and savings plans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126480" y="4910328"/>
            <a:ext cx="56080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327648" y="5001768"/>
            <a:ext cx="52056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ON THE TABLE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327648" y="5202936"/>
            <a:ext cx="52056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$193K</a:t>
            </a:r>
            <a:endParaRPr lang="en-US" sz="2800" dirty="0"/>
          </a:p>
        </p:txBody>
      </p:sp>
      <p:sp>
        <p:nvSpPr>
          <p:cNvPr id="26" name="Text 23"/>
          <p:cNvSpPr/>
          <p:nvPr/>
        </p:nvSpPr>
        <p:spPr>
          <a:xfrm>
            <a:off x="6327648" y="5605272"/>
            <a:ext cx="52056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recommendations on the previous slide</a:t>
            </a:r>
            <a:endParaRPr lang="en-US" sz="12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· NORTH EUROPE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Decommissioning North Europe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cost of everything still running in the North Europe region, by subscription.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 and storage are 74% of what is left in the region. Nothing here is a shared dependency for another region.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Europe — monthly cost by service</a:t>
            </a:r>
            <a:endParaRPr lang="en-US" sz="15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08760"/>
          <a:ext cx="804672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234440"/>
                <a:gridCol w="1417320"/>
                <a:gridCol w="1554480"/>
                <a:gridCol w="118872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SAP Production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Shared Resources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Virtual Machines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$154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$1,661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$2,365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$1,868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$1,984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VPN Gateway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 Site Recovery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 DNS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Virtual Network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Bandwidth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 Gateway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 Defender for Cloud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Load Balancer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Grand total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$1,397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$3,601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$872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$5,871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8869680" y="1234440"/>
            <a:ext cx="28648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070848" y="1325880"/>
            <a:ext cx="24624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COST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9070848" y="1527048"/>
            <a:ext cx="24624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$5,871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9070848" y="1929384"/>
            <a:ext cx="24624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three subscriptions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869680" y="2459736"/>
            <a:ext cx="28648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070848" y="2551176"/>
            <a:ext cx="24624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ANNUALISED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9070848" y="2752344"/>
            <a:ext cx="24624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$70,452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9070848" y="3154680"/>
            <a:ext cx="24624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banked saving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869680" y="3685032"/>
            <a:ext cx="28648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070848" y="3776472"/>
            <a:ext cx="24624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5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PRODUCTION SHARE</a:t>
            </a:r>
            <a:endParaRPr lang="en-US" sz="1185" dirty="0"/>
          </a:p>
        </p:txBody>
      </p:sp>
      <p:sp>
        <p:nvSpPr>
          <p:cNvPr id="20" name="Text 17"/>
          <p:cNvSpPr/>
          <p:nvPr/>
        </p:nvSpPr>
        <p:spPr>
          <a:xfrm>
            <a:off x="9070848" y="3977640"/>
            <a:ext cx="24624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61%</a:t>
            </a:r>
            <a:endParaRPr lang="en-US" sz="2800" dirty="0"/>
          </a:p>
        </p:txBody>
      </p:sp>
      <p:sp>
        <p:nvSpPr>
          <p:cNvPr id="21" name="Text 18"/>
          <p:cNvSpPr/>
          <p:nvPr/>
        </p:nvSpPr>
        <p:spPr>
          <a:xfrm>
            <a:off x="9070848" y="4379976"/>
            <a:ext cx="24624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$3,601 of the monthly total</a:t>
            </a:r>
            <a:endParaRPr lang="en-US" sz="12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items and owners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נושאים להמשך · משימות, אחראים וסטטוס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Tagging is the dependency underneath the rest: without Service, Application, Cost Center and Environment on every resource, neither chargeback nor the AI gateway's per-consumer budgets can be enforced.</a:t>
            </a:r>
            <a:endParaRPr lang="en-US" sz="12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109728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097280"/>
                <a:gridCol w="5394960"/>
                <a:gridCol w="2468880"/>
                <a:gridCol w="457200"/>
              </a:tblGrid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אחראי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סטטוס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פירוט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משימה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אגף תשתיות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0A0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מתוכנן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מימוש תכנית חיסכון Cloud FinOps — Rightsizing, Auto Shutdown, Reserved Instances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פרויקט חיסכון והתייעלות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אריאל אוראל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0A0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מתוכנן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הטמעת פלטפורמת WIV.AI — ממשל, ניטור עלויות ושימושים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הטמעת WIV.AI (FREE)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אריאל אוראל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D9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בתהליך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השלמת תיוג משאבים לפי Service, Application, Cost Center ו-Environment לצורך Chargeback/Showback, כולל AI Gateway ו-AWS Bedrock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תיוגים לפי שירות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אריאל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0A0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מתוכנן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ניתוח עלויות אוטומטי, זיהוי המלצות חיסכון ואופטימיזציה של שירותי AWS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הטמעת AWS FinOps Agent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הגדלת ניצול חוזה ה-DBU Commitment ומעקב Utilization, אופטימיזציה Classic/Serverless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Databricks Commitment Optimization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4210304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58368" y="4301744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58368" y="4502912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658368" y="4905248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 tagging for chargeback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92498" y="4210304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493666" y="4301744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493666" y="4502912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800" dirty="0"/>
          </a:p>
        </p:txBody>
      </p:sp>
      <p:sp>
        <p:nvSpPr>
          <p:cNvPr id="16" name="Text 13"/>
          <p:cNvSpPr/>
          <p:nvPr/>
        </p:nvSpPr>
        <p:spPr>
          <a:xfrm>
            <a:off x="4493666" y="4905248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savings programme · WIV.AI · AWS FinOps agent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8127797" y="4210304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328965" y="4301744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SCOPED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328965" y="4502912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800" dirty="0"/>
          </a:p>
        </p:txBody>
      </p:sp>
      <p:sp>
        <p:nvSpPr>
          <p:cNvPr id="20" name="Text 17"/>
          <p:cNvSpPr/>
          <p:nvPr/>
        </p:nvSpPr>
        <p:spPr>
          <a:xfrm>
            <a:off x="8328965" y="4905248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commitment optimisation</a:t>
            </a:r>
            <a:endParaRPr lang="en-US" sz="12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3DD9EB">
              <a:alpha val="8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0" y="203454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HAREL INSURANCE · CLOUD FINOPS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0" y="2491740"/>
            <a:ext cx="1219169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11000" dirty="0"/>
          </a:p>
        </p:txBody>
      </p:sp>
      <p:sp>
        <p:nvSpPr>
          <p:cNvPr id="7" name="Text 5"/>
          <p:cNvSpPr/>
          <p:nvPr/>
        </p:nvSpPr>
        <p:spPr>
          <a:xfrm>
            <a:off x="0" y="432054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infrastructure, DevOps and databases · Technology and Cyber Defence Division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Harel Insurance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Cloud FinOps — Harel, 2026</dc:title>
  <dc:subject>PptxGenJS Presentation</dc:subject>
  <dc:creator>Cloud Infrastructure, DevOps &amp; Databases</dc:creator>
  <cp:lastModifiedBy>Cloud Infrastructure, DevOps &amp; Databases</cp:lastModifiedBy>
  <cp:revision>1</cp:revision>
  <dcterms:created xsi:type="dcterms:W3CDTF">2026-08-18T14:28:14Z</dcterms:created>
  <dcterms:modified xsi:type="dcterms:W3CDTF">2026-08-18T14:28:14Z</dcterms:modified>
</cp:coreProperties>
</file>