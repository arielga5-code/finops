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9.xml" ContentType="application/vnd.openxmlformats-officedocument.presentationml.notesSlide+xml"/>
  <Override PartName="/ppt/charts/chart5.xml" ContentType="application/vnd.openxmlformats-officedocument.drawingml.chart+xml"/>
  <Override PartName="/ppt/notesSlides/notesSlide10.xml" ContentType="application/vnd.openxmlformats-officedocument.presentationml.notesSlide+xml"/>
  <Override PartName="/ppt/charts/chart6.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7.xml" ContentType="application/vnd.openxmlformats-officedocument.drawingml.chart+xml"/>
  <Override PartName="/ppt/notesSlides/notesSlide13.xml" ContentType="application/vnd.openxmlformats-officedocument.presentationml.notesSlide+xml"/>
  <Override PartName="/ppt/charts/chart8.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rts/chart9.xml" ContentType="application/vnd.openxmlformats-officedocument.drawingml.chart+xml"/>
  <Override PartName="/ppt/notesSlides/notesSlide32.xml" ContentType="application/vnd.openxmlformats-officedocument.presentationml.notesSlide+xml"/>
  <Override PartName="/ppt/charts/chart10.xml" ContentType="application/vnd.openxmlformats-officedocument.drawingml.chart+xml"/>
  <Override PartName="/ppt/notesSlides/notesSlide33.xml" ContentType="application/vnd.openxmlformats-officedocument.presentationml.notesSlide+xml"/>
  <Override PartName="/ppt/charts/chart11.xml" ContentType="application/vnd.openxmlformats-officedocument.drawingml.chart+xml"/>
  <Override PartName="/ppt/notesSlides/notesSlide34.xml" ContentType="application/vnd.openxmlformats-officedocument.presentationml.notesSlide+xml"/>
  <Override PartName="/ppt/charts/chart12.xml" ContentType="application/vnd.openxmlformats-officedocument.drawingml.chart+xml"/>
  <Override PartName="/ppt/notesSlides/notesSlide35.xml" ContentType="application/vnd.openxmlformats-officedocument.presentationml.notesSlide+xml"/>
  <Override PartName="/ppt/charts/chart13.xml" ContentType="application/vnd.openxmlformats-officedocument.drawingml.chart+xml"/>
  <Override PartName="/ppt/charts/chart14.xml" ContentType="application/vnd.openxmlformats-officedocument.drawingml.chart+xml"/>
  <Override PartName="/ppt/notesSlides/notesSlide36.xml" ContentType="application/vnd.openxmlformats-officedocument.presentationml.notesSlide+xml"/>
  <Override PartName="/ppt/charts/chart15.xml" ContentType="application/vnd.openxmlformats-officedocument.drawingml.chart+xml"/>
  <Override PartName="/ppt/charts/chart16.xml" ContentType="application/vnd.openxmlformats-officedocument.drawingml.chart+xml"/>
  <Override PartName="/ppt/notesSlides/notesSlide37.xml" ContentType="application/vnd.openxmlformats-officedocument.presentationml.notesSlide+xml"/>
  <Override PartName="/ppt/charts/chart17.xml" ContentType="application/vnd.openxmlformats-officedocument.drawingml.chart+xml"/>
  <Override PartName="/ppt/charts/chart18.xml" ContentType="application/vnd.openxmlformats-officedocument.drawingml.chart+xml"/>
  <Override PartName="/ppt/notesSlides/notesSlide3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charts/chart19.xml" ContentType="application/vnd.openxmlformats-officedocument.drawingml.char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0"/>
  </p:notesMasterIdLst>
  <p:sldIdLst>
    <p:sldId id="256" r:id="rId2"/>
    <p:sldId id="257" r:id="rId3"/>
    <p:sldId id="259" r:id="rId4"/>
    <p:sldId id="260" r:id="rId5"/>
    <p:sldId id="296" r:id="rId6"/>
    <p:sldId id="297" r:id="rId7"/>
    <p:sldId id="290" r:id="rId8"/>
    <p:sldId id="291" r:id="rId9"/>
    <p:sldId id="292" r:id="rId10"/>
    <p:sldId id="293" r:id="rId11"/>
    <p:sldId id="264" r:id="rId12"/>
    <p:sldId id="266" r:id="rId13"/>
    <p:sldId id="265" r:id="rId14"/>
    <p:sldId id="274" r:id="rId15"/>
    <p:sldId id="298" r:id="rId16"/>
    <p:sldId id="276" r:id="rId17"/>
    <p:sldId id="275" r:id="rId18"/>
    <p:sldId id="277" r:id="rId19"/>
    <p:sldId id="278" r:id="rId20"/>
    <p:sldId id="279" r:id="rId21"/>
    <p:sldId id="280" r:id="rId22"/>
    <p:sldId id="267" r:id="rId23"/>
    <p:sldId id="269" r:id="rId24"/>
    <p:sldId id="281" r:id="rId25"/>
    <p:sldId id="268" r:id="rId26"/>
    <p:sldId id="270" r:id="rId27"/>
    <p:sldId id="271" r:id="rId28"/>
    <p:sldId id="272" r:id="rId29"/>
    <p:sldId id="273" r:id="rId30"/>
    <p:sldId id="282" r:id="rId31"/>
    <p:sldId id="283" r:id="rId32"/>
    <p:sldId id="284" r:id="rId33"/>
    <p:sldId id="285" r:id="rId34"/>
    <p:sldId id="286" r:id="rId35"/>
    <p:sldId id="287" r:id="rId36"/>
    <p:sldId id="288" r:id="rId37"/>
    <p:sldId id="289" r:id="rId38"/>
    <p:sldId id="295" r:id="rId3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4C844F-8BDE-4D8A-B526-6E9C34F9C055}" v="4" dt="2026-08-18T12:01:17.16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533" autoAdjust="0"/>
    <p:restoredTop sz="96247" autoAdjust="0"/>
  </p:normalViewPr>
  <p:slideViewPr>
    <p:cSldViewPr snapToGrid="0" snapToObjects="1">
      <p:cViewPr varScale="1">
        <p:scale>
          <a:sx n="114" d="100"/>
          <a:sy n="114" d="100"/>
        </p:scale>
        <p:origin x="156" y="102"/>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אריאל גזית" userId="ab0a39ea-8878-4fcc-a857-5afbe9cb9050" providerId="ADAL" clId="{8AF1E48A-3E39-4A45-9543-E35A5CD44E8F}"/>
    <pc:docChg chg="undo custSel addSld delSld modSld sldOrd">
      <pc:chgData name="אריאל גזית" userId="ab0a39ea-8878-4fcc-a857-5afbe9cb9050" providerId="ADAL" clId="{8AF1E48A-3E39-4A45-9543-E35A5CD44E8F}" dt="2026-08-18T12:01:39.741" v="47"/>
      <pc:docMkLst>
        <pc:docMk/>
      </pc:docMkLst>
      <pc:sldChg chg="del">
        <pc:chgData name="אריאל גזית" userId="ab0a39ea-8878-4fcc-a857-5afbe9cb9050" providerId="ADAL" clId="{8AF1E48A-3E39-4A45-9543-E35A5CD44E8F}" dt="2026-08-18T08:51:46.069" v="0" actId="2696"/>
        <pc:sldMkLst>
          <pc:docMk/>
          <pc:sldMk cId="0" sldId="258"/>
        </pc:sldMkLst>
      </pc:sldChg>
      <pc:sldChg chg="del">
        <pc:chgData name="אריאל גזית" userId="ab0a39ea-8878-4fcc-a857-5afbe9cb9050" providerId="ADAL" clId="{8AF1E48A-3E39-4A45-9543-E35A5CD44E8F}" dt="2026-08-18T11:44:49.566" v="2" actId="2696"/>
        <pc:sldMkLst>
          <pc:docMk/>
          <pc:sldMk cId="0" sldId="263"/>
        </pc:sldMkLst>
      </pc:sldChg>
      <pc:sldChg chg="ord">
        <pc:chgData name="אריאל גזית" userId="ab0a39ea-8878-4fcc-a857-5afbe9cb9050" providerId="ADAL" clId="{8AF1E48A-3E39-4A45-9543-E35A5CD44E8F}" dt="2026-08-18T11:46:38.652" v="5"/>
        <pc:sldMkLst>
          <pc:docMk/>
          <pc:sldMk cId="0" sldId="265"/>
        </pc:sldMkLst>
      </pc:sldChg>
      <pc:sldChg chg="ord">
        <pc:chgData name="אריאל גזית" userId="ab0a39ea-8878-4fcc-a857-5afbe9cb9050" providerId="ADAL" clId="{8AF1E48A-3E39-4A45-9543-E35A5CD44E8F}" dt="2026-08-18T12:01:39.741" v="47"/>
        <pc:sldMkLst>
          <pc:docMk/>
          <pc:sldMk cId="0" sldId="268"/>
        </pc:sldMkLst>
      </pc:sldChg>
      <pc:sldChg chg="add setBg">
        <pc:chgData name="אריאל גזית" userId="ab0a39ea-8878-4fcc-a857-5afbe9cb9050" providerId="ADAL" clId="{8AF1E48A-3E39-4A45-9543-E35A5CD44E8F}" dt="2026-08-18T12:01:17.163" v="45"/>
        <pc:sldMkLst>
          <pc:docMk/>
          <pc:sldMk cId="4164748938" sldId="274"/>
        </pc:sldMkLst>
      </pc:sldChg>
      <pc:sldChg chg="add setBg">
        <pc:chgData name="אריאל גזית" userId="ab0a39ea-8878-4fcc-a857-5afbe9cb9050" providerId="ADAL" clId="{8AF1E48A-3E39-4A45-9543-E35A5CD44E8F}" dt="2026-08-18T12:01:17.163" v="45"/>
        <pc:sldMkLst>
          <pc:docMk/>
          <pc:sldMk cId="3730409472" sldId="276"/>
        </pc:sldMkLst>
      </pc:sldChg>
      <pc:sldChg chg="add setBg">
        <pc:chgData name="אריאל גזית" userId="ab0a39ea-8878-4fcc-a857-5afbe9cb9050" providerId="ADAL" clId="{8AF1E48A-3E39-4A45-9543-E35A5CD44E8F}" dt="2026-08-18T12:01:17.163" v="45"/>
        <pc:sldMkLst>
          <pc:docMk/>
          <pc:sldMk cId="638208443" sldId="277"/>
        </pc:sldMkLst>
      </pc:sldChg>
      <pc:sldChg chg="add setBg">
        <pc:chgData name="אריאל גזית" userId="ab0a39ea-8878-4fcc-a857-5afbe9cb9050" providerId="ADAL" clId="{8AF1E48A-3E39-4A45-9543-E35A5CD44E8F}" dt="2026-08-18T12:01:17.163" v="45"/>
        <pc:sldMkLst>
          <pc:docMk/>
          <pc:sldMk cId="1326744587" sldId="278"/>
        </pc:sldMkLst>
      </pc:sldChg>
      <pc:sldChg chg="add setBg">
        <pc:chgData name="אריאל גזית" userId="ab0a39ea-8878-4fcc-a857-5afbe9cb9050" providerId="ADAL" clId="{8AF1E48A-3E39-4A45-9543-E35A5CD44E8F}" dt="2026-08-18T12:01:17.163" v="45"/>
        <pc:sldMkLst>
          <pc:docMk/>
          <pc:sldMk cId="4120224329" sldId="279"/>
        </pc:sldMkLst>
      </pc:sldChg>
      <pc:sldChg chg="add setBg">
        <pc:chgData name="אריאל גזית" userId="ab0a39ea-8878-4fcc-a857-5afbe9cb9050" providerId="ADAL" clId="{8AF1E48A-3E39-4A45-9543-E35A5CD44E8F}" dt="2026-08-18T12:01:17.163" v="45"/>
        <pc:sldMkLst>
          <pc:docMk/>
          <pc:sldMk cId="3672353744" sldId="280"/>
        </pc:sldMkLst>
      </pc:sldChg>
      <pc:sldChg chg="del">
        <pc:chgData name="אריאל גזית" userId="ab0a39ea-8878-4fcc-a857-5afbe9cb9050" providerId="ADAL" clId="{8AF1E48A-3E39-4A45-9543-E35A5CD44E8F}" dt="2026-08-18T12:01:08.494" v="44" actId="2696"/>
        <pc:sldMkLst>
          <pc:docMk/>
          <pc:sldMk cId="2888196944" sldId="281"/>
        </pc:sldMkLst>
      </pc:sldChg>
      <pc:sldChg chg="mod modShow">
        <pc:chgData name="אריאל גזית" userId="ab0a39ea-8878-4fcc-a857-5afbe9cb9050" providerId="ADAL" clId="{8AF1E48A-3E39-4A45-9543-E35A5CD44E8F}" dt="2026-08-18T11:44:37.235" v="1" actId="729"/>
        <pc:sldMkLst>
          <pc:docMk/>
          <pc:sldMk cId="2277920120" sldId="292"/>
        </pc:sldMkLst>
      </pc:sldChg>
      <pc:sldChg chg="modSp add mod ord setBg">
        <pc:chgData name="אריאל גזית" userId="ab0a39ea-8878-4fcc-a857-5afbe9cb9050" providerId="ADAL" clId="{8AF1E48A-3E39-4A45-9543-E35A5CD44E8F}" dt="2026-08-18T11:53:44.014" v="41" actId="20577"/>
        <pc:sldMkLst>
          <pc:docMk/>
          <pc:sldMk cId="0" sldId="296"/>
        </pc:sldMkLst>
        <pc:spChg chg="mod">
          <ac:chgData name="אריאל גזית" userId="ab0a39ea-8878-4fcc-a857-5afbe9cb9050" providerId="ADAL" clId="{8AF1E48A-3E39-4A45-9543-E35A5CD44E8F}" dt="2026-08-18T11:52:16.826" v="21" actId="6549"/>
          <ac:spMkLst>
            <pc:docMk/>
            <pc:sldMk cId="0" sldId="296"/>
            <ac:spMk id="28" creationId="{00000000-0000-0000-0000-000000000000}"/>
          </ac:spMkLst>
        </pc:spChg>
        <pc:spChg chg="mod">
          <ac:chgData name="אריאל גזית" userId="ab0a39ea-8878-4fcc-a857-5afbe9cb9050" providerId="ADAL" clId="{8AF1E48A-3E39-4A45-9543-E35A5CD44E8F}" dt="2026-08-18T11:52:05.128" v="13" actId="1076"/>
          <ac:spMkLst>
            <pc:docMk/>
            <pc:sldMk cId="0" sldId="296"/>
            <ac:spMk id="34" creationId="{00000000-0000-0000-0000-000000000000}"/>
          </ac:spMkLst>
        </pc:spChg>
        <pc:spChg chg="mod">
          <ac:chgData name="אריאל גזית" userId="ab0a39ea-8878-4fcc-a857-5afbe9cb9050" providerId="ADAL" clId="{8AF1E48A-3E39-4A45-9543-E35A5CD44E8F}" dt="2026-08-18T11:52:31.120" v="34" actId="20577"/>
          <ac:spMkLst>
            <pc:docMk/>
            <pc:sldMk cId="0" sldId="296"/>
            <ac:spMk id="36" creationId="{00000000-0000-0000-0000-000000000000}"/>
          </ac:spMkLst>
        </pc:spChg>
        <pc:spChg chg="mod">
          <ac:chgData name="אריאל גזית" userId="ab0a39ea-8878-4fcc-a857-5afbe9cb9050" providerId="ADAL" clId="{8AF1E48A-3E39-4A45-9543-E35A5CD44E8F}" dt="2026-08-18T11:53:44.014" v="41" actId="20577"/>
          <ac:spMkLst>
            <pc:docMk/>
            <pc:sldMk cId="0" sldId="296"/>
            <ac:spMk id="704" creationId="{00000000-0000-0000-0000-000000000000}"/>
          </ac:spMkLst>
        </pc:spChg>
        <pc:spChg chg="mod">
          <ac:chgData name="אריאל גזית" userId="ab0a39ea-8878-4fcc-a857-5afbe9cb9050" providerId="ADAL" clId="{8AF1E48A-3E39-4A45-9543-E35A5CD44E8F}" dt="2026-08-18T11:52:37.857" v="35" actId="6549"/>
          <ac:spMkLst>
            <pc:docMk/>
            <pc:sldMk cId="0" sldId="296"/>
            <ac:spMk id="708" creationId="{00000000-0000-0000-0000-000000000000}"/>
          </ac:spMkLst>
        </pc:spChg>
      </pc:sldChg>
      <pc:sldChg chg="add setBg">
        <pc:chgData name="אריאל גזית" userId="ab0a39ea-8878-4fcc-a857-5afbe9cb9050" providerId="ADAL" clId="{8AF1E48A-3E39-4A45-9543-E35A5CD44E8F}" dt="2026-08-18T11:49:25.503" v="6"/>
        <pc:sldMkLst>
          <pc:docMk/>
          <pc:sldMk cId="0" sldId="297"/>
        </pc:sldMkLst>
      </pc:sldChg>
      <pc:sldChg chg="add del ord setBg">
        <pc:chgData name="אריאל גזית" userId="ab0a39ea-8878-4fcc-a857-5afbe9cb9050" providerId="ADAL" clId="{8AF1E48A-3E39-4A45-9543-E35A5CD44E8F}" dt="2026-08-18T12:01:08.494" v="44" actId="2696"/>
        <pc:sldMkLst>
          <pc:docMk/>
          <pc:sldMk cId="0" sldId="298"/>
        </pc:sldMkLst>
      </pc:sldChg>
      <pc:sldChg chg="add">
        <pc:chgData name="אריאל גזית" userId="ab0a39ea-8878-4fcc-a857-5afbe9cb9050" providerId="ADAL" clId="{8AF1E48A-3E39-4A45-9543-E35A5CD44E8F}" dt="2026-08-18T12:01:17.163" v="45"/>
        <pc:sldMkLst>
          <pc:docMk/>
          <pc:sldMk cId="494707938" sldId="298"/>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Worksheet17.xlsx"/></Relationships>
</file>

<file path=ppt/charts/_rels/chart19.xml.rels><?xml version="1.0" encoding="UTF-8" standalone="yes"?><Relationships xmlns="http://schemas.openxmlformats.org/package/2006/relationships"><Relationship Id="rId1" Type="http://schemas.openxmlformats.org/officeDocument/2006/relationships/package" Target="../embeddings/Microsoft_Excel_Worksheet18.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1"/>
  <c:style val="2"/>
  <c:chart>
    <c:autoTitleDeleted val="1"/>
    <c:plotArea>
      <c:layout/>
      <c:lineChart>
        <c:grouping val="standard"/>
        <c:varyColors val="0"/>
        <c:ser>
          <c:idx val="0"/>
          <c:order val="0"/>
          <c:tx>
            <c:strRef>
              <c:f>Sheet1!$B$1</c:f>
              <c:strCache>
                <c:ptCount val="1"/>
                <c:pt idx="0">
                  <c:v>Actual</c:v>
                </c:pt>
              </c:strCache>
            </c:strRef>
          </c:tx>
          <c:spPr>
            <a:ln w="31750" cap="flat">
              <a:solidFill>
                <a:srgbClr val="F4F7FB"/>
              </a:solidFill>
              <a:prstDash val="solid"/>
              <a:round/>
            </a:ln>
            <a:effectLst/>
          </c:spPr>
          <c:marker>
            <c:symbol val="circle"/>
            <c:size val="6"/>
            <c:spPr>
              <a:solidFill>
                <a:srgbClr val="F4F7FB"/>
              </a:solidFill>
              <a:ln w="9525" cap="flat">
                <a:solidFill>
                  <a:srgbClr val="F4F7FB"/>
                </a:solidFill>
                <a:prstDash val="solid"/>
                <a:round/>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234115</c:v>
                </c:pt>
                <c:pt idx="1">
                  <c:v>218324</c:v>
                </c:pt>
                <c:pt idx="2">
                  <c:v>261455</c:v>
                </c:pt>
                <c:pt idx="3">
                  <c:v>234947</c:v>
                </c:pt>
                <c:pt idx="4">
                  <c:v>236775</c:v>
                </c:pt>
                <c:pt idx="5">
                  <c:v>256207</c:v>
                </c:pt>
                <c:pt idx="6">
                  <c:v>283554</c:v>
                </c:pt>
              </c:numCache>
            </c:numRef>
          </c:val>
          <c:smooth val="0"/>
          <c:extLst>
            <c:ext xmlns:c16="http://schemas.microsoft.com/office/drawing/2014/chart" uri="{C3380CC4-5D6E-409C-BE32-E72D297353CC}">
              <c16:uniqueId val="{00000000-0BE4-45F5-A8B0-F27D1EBF969A}"/>
            </c:ext>
          </c:extLst>
        </c:ser>
        <c:ser>
          <c:idx val="1"/>
          <c:order val="1"/>
          <c:tx>
            <c:strRef>
              <c:f>Sheet1!$C$1</c:f>
              <c:strCache>
                <c:ptCount val="1"/>
                <c:pt idx="0">
                  <c:v>Jan-Jul pace / +3.2%/mo</c:v>
                </c:pt>
              </c:strCache>
            </c:strRef>
          </c:tx>
          <c:spPr>
            <a:ln w="31750" cap="flat">
              <a:solidFill>
                <a:srgbClr val="E0A030"/>
              </a:solidFill>
              <a:prstDash val="solid"/>
              <a:round/>
            </a:ln>
            <a:effectLst/>
          </c:spPr>
          <c:marker>
            <c:symbol val="circle"/>
            <c:size val="6"/>
            <c:spPr>
              <a:solidFill>
                <a:srgbClr val="E0A030"/>
              </a:solidFill>
              <a:ln w="9525" cap="flat">
                <a:solidFill>
                  <a:srgbClr val="E0A030"/>
                </a:solidFill>
                <a:prstDash val="solid"/>
                <a:round/>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Sheet1!$C$2:$C$13</c:f>
              <c:numCache>
                <c:formatCode>General</c:formatCode>
                <c:ptCount val="12"/>
                <c:pt idx="6">
                  <c:v>283554</c:v>
                </c:pt>
                <c:pt idx="7">
                  <c:v>293160</c:v>
                </c:pt>
                <c:pt idx="8">
                  <c:v>303026</c:v>
                </c:pt>
                <c:pt idx="9">
                  <c:v>313158</c:v>
                </c:pt>
                <c:pt idx="10">
                  <c:v>323566</c:v>
                </c:pt>
                <c:pt idx="11">
                  <c:v>334256</c:v>
                </c:pt>
              </c:numCache>
            </c:numRef>
          </c:val>
          <c:smooth val="0"/>
          <c:extLst>
            <c:ext xmlns:c16="http://schemas.microsoft.com/office/drawing/2014/chart" uri="{C3380CC4-5D6E-409C-BE32-E72D297353CC}">
              <c16:uniqueId val="{00000001-0BE4-45F5-A8B0-F27D1EBF969A}"/>
            </c:ext>
          </c:extLst>
        </c:ser>
        <c:ser>
          <c:idx val="2"/>
          <c:order val="2"/>
          <c:tx>
            <c:strRef>
              <c:f>Sheet1!$D$1</c:f>
              <c:strCache>
                <c:ptCount val="1"/>
                <c:pt idx="0">
                  <c:v>May-Jul pace / Azure +13.3%/mo</c:v>
                </c:pt>
              </c:strCache>
            </c:strRef>
          </c:tx>
          <c:spPr>
            <a:ln w="31750" cap="flat">
              <a:solidFill>
                <a:srgbClr val="FF6B7A"/>
              </a:solidFill>
              <a:prstDash val="solid"/>
              <a:round/>
            </a:ln>
            <a:effectLst/>
          </c:spPr>
          <c:marker>
            <c:symbol val="circle"/>
            <c:size val="6"/>
            <c:spPr>
              <a:solidFill>
                <a:srgbClr val="FF6B7A"/>
              </a:solidFill>
              <a:ln w="9525" cap="flat">
                <a:solidFill>
                  <a:srgbClr val="FF6B7A"/>
                </a:solidFill>
                <a:prstDash val="solid"/>
                <a:round/>
              </a:ln>
              <a:effectLst/>
            </c:spPr>
          </c:marker>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Sheet1!$D$2:$D$13</c:f>
              <c:numCache>
                <c:formatCode>General</c:formatCode>
                <c:ptCount val="12"/>
                <c:pt idx="6">
                  <c:v>283554</c:v>
                </c:pt>
                <c:pt idx="7">
                  <c:v>314904</c:v>
                </c:pt>
                <c:pt idx="8">
                  <c:v>349873</c:v>
                </c:pt>
                <c:pt idx="9">
                  <c:v>388919</c:v>
                </c:pt>
                <c:pt idx="10">
                  <c:v>432559</c:v>
                </c:pt>
                <c:pt idx="11">
                  <c:v>481378</c:v>
                </c:pt>
              </c:numCache>
            </c:numRef>
          </c:val>
          <c:smooth val="0"/>
          <c:extLst>
            <c:ext xmlns:c16="http://schemas.microsoft.com/office/drawing/2014/chart" uri="{C3380CC4-5D6E-409C-BE32-E72D297353CC}">
              <c16:uniqueId val="{00000002-0BE4-45F5-A8B0-F27D1EBF969A}"/>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91A0B7"/>
                </a:solidFill>
                <a:latin typeface="Calibri"/>
              </a:defRPr>
            </a:pPr>
            <a:endParaRPr lang="he-IL"/>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23304A"/>
              </a:solidFill>
              <a:prstDash val="solid"/>
              <a:round/>
            </a:ln>
          </c:spPr>
        </c:majorGridlines>
        <c:numFmt formatCode="&quot;$&quot;#,##0" sourceLinked="0"/>
        <c:majorTickMark val="out"/>
        <c:minorTickMark val="none"/>
        <c:tickLblPos val="nextTo"/>
        <c:spPr>
          <a:ln w="12700" cap="flat">
            <a:noFill/>
            <a:prstDash val="solid"/>
            <a:round/>
          </a:ln>
        </c:spPr>
        <c:txPr>
          <a:bodyPr/>
          <a:lstStyle/>
          <a:p>
            <a:pPr>
              <a:defRPr sz="1200" b="0" i="0" u="none" strike="noStrike">
                <a:solidFill>
                  <a:srgbClr val="91A0B7"/>
                </a:solidFill>
                <a:latin typeface="Calibri"/>
              </a:defRPr>
            </a:pPr>
            <a:endParaRPr lang="he-IL"/>
          </a:p>
        </c:txPr>
        <c:crossAx val="2094734554"/>
        <c:crosses val="autoZero"/>
        <c:crossBetween val="between"/>
      </c:valAx>
      <c:spPr>
        <a:solidFill>
          <a:srgbClr val="070A12"/>
        </a:solidFill>
        <a:ln>
          <a:noFill/>
        </a:ln>
        <a:effectLst/>
      </c:spPr>
    </c:plotArea>
    <c:legend>
      <c:legendPos val="b"/>
      <c:overlay val="0"/>
      <c:txPr>
        <a:bodyPr/>
        <a:lstStyle/>
        <a:p>
          <a:pPr>
            <a:defRPr sz="1100">
              <a:solidFill>
                <a:srgbClr val="91A0B7"/>
              </a:solidFill>
              <a:latin typeface="Calibri"/>
              <a:cs typeface="Calibri"/>
            </a:defRPr>
          </a:pPr>
          <a:endParaRPr lang="he-IL"/>
        </a:p>
      </c:txPr>
    </c:legend>
    <c:plotVisOnly val="1"/>
    <c:dispBlanksAs val="span"/>
    <c:showDLblsOverMax val="1"/>
  </c:chart>
  <c:spPr>
    <a:solidFill>
      <a:srgbClr val="070A12"/>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1"/>
  <c:style val="2"/>
  <c:chart>
    <c:autoTitleDeleted val="1"/>
    <c:plotArea>
      <c:layout/>
      <c:barChart>
        <c:barDir val="col"/>
        <c:grouping val="stacked"/>
        <c:varyColors val="0"/>
        <c:ser>
          <c:idx val="0"/>
          <c:order val="0"/>
          <c:tx>
            <c:strRef>
              <c:f>Sheet1!$B$1</c:f>
              <c:strCache>
                <c:ptCount val="1"/>
                <c:pt idx="0">
                  <c:v>API Management</c:v>
                </c:pt>
              </c:strCache>
            </c:strRef>
          </c:tx>
          <c:spPr>
            <a:solidFill>
              <a:srgbClr val="2F8CFF"/>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Sheet1!$B$2:$B$8</c:f>
              <c:numCache>
                <c:formatCode>General</c:formatCode>
                <c:ptCount val="7"/>
                <c:pt idx="0">
                  <c:v>0</c:v>
                </c:pt>
                <c:pt idx="1">
                  <c:v>406</c:v>
                </c:pt>
                <c:pt idx="2">
                  <c:v>2848.78</c:v>
                </c:pt>
                <c:pt idx="3">
                  <c:v>3097.66</c:v>
                </c:pt>
                <c:pt idx="4">
                  <c:v>5693.72</c:v>
                </c:pt>
                <c:pt idx="5">
                  <c:v>5513.76</c:v>
                </c:pt>
                <c:pt idx="6">
                  <c:v>6103.43</c:v>
                </c:pt>
              </c:numCache>
            </c:numRef>
          </c:val>
          <c:extLst>
            <c:ext xmlns:c16="http://schemas.microsoft.com/office/drawing/2014/chart" uri="{C3380CC4-5D6E-409C-BE32-E72D297353CC}">
              <c16:uniqueId val="{00000000-319D-41A8-9887-F92F3F3C0EB3}"/>
            </c:ext>
          </c:extLst>
        </c:ser>
        <c:ser>
          <c:idx val="1"/>
          <c:order val="1"/>
          <c:tx>
            <c:strRef>
              <c:f>Sheet1!$C$1</c:f>
              <c:strCache>
                <c:ptCount val="1"/>
                <c:pt idx="0">
                  <c:v>Foundry Models</c:v>
                </c:pt>
              </c:strCache>
            </c:strRef>
          </c:tx>
          <c:spPr>
            <a:solidFill>
              <a:srgbClr val="3DD9EB"/>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Sheet1!$C$2:$C$8</c:f>
              <c:numCache>
                <c:formatCode>General</c:formatCode>
                <c:ptCount val="7"/>
                <c:pt idx="0">
                  <c:v>0</c:v>
                </c:pt>
                <c:pt idx="1">
                  <c:v>6</c:v>
                </c:pt>
                <c:pt idx="2">
                  <c:v>2961.34</c:v>
                </c:pt>
                <c:pt idx="3">
                  <c:v>4151.25</c:v>
                </c:pt>
                <c:pt idx="4">
                  <c:v>1183.0999999999999</c:v>
                </c:pt>
                <c:pt idx="5">
                  <c:v>9682.7999999999993</c:v>
                </c:pt>
                <c:pt idx="6">
                  <c:v>5641.2</c:v>
                </c:pt>
              </c:numCache>
            </c:numRef>
          </c:val>
          <c:extLst>
            <c:ext xmlns:c16="http://schemas.microsoft.com/office/drawing/2014/chart" uri="{C3380CC4-5D6E-409C-BE32-E72D297353CC}">
              <c16:uniqueId val="{00000001-319D-41A8-9887-F92F3F3C0EB3}"/>
            </c:ext>
          </c:extLst>
        </c:ser>
        <c:ser>
          <c:idx val="2"/>
          <c:order val="2"/>
          <c:tx>
            <c:strRef>
              <c:f>Sheet1!$D$1</c:f>
              <c:strCache>
                <c:ptCount val="1"/>
                <c:pt idx="0">
                  <c:v>Virtual Machines</c:v>
                </c:pt>
              </c:strCache>
            </c:strRef>
          </c:tx>
          <c:spPr>
            <a:solidFill>
              <a:srgbClr val="FF9F43"/>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Sheet1!$D$2:$D$8</c:f>
              <c:numCache>
                <c:formatCode>General</c:formatCode>
                <c:ptCount val="7"/>
                <c:pt idx="0">
                  <c:v>487.69</c:v>
                </c:pt>
                <c:pt idx="1">
                  <c:v>1951</c:v>
                </c:pt>
                <c:pt idx="2">
                  <c:v>4361.8999999999996</c:v>
                </c:pt>
                <c:pt idx="3">
                  <c:v>1724.33</c:v>
                </c:pt>
                <c:pt idx="4">
                  <c:v>2887.44</c:v>
                </c:pt>
                <c:pt idx="5">
                  <c:v>4556.63</c:v>
                </c:pt>
                <c:pt idx="6">
                  <c:v>4865.47</c:v>
                </c:pt>
              </c:numCache>
            </c:numRef>
          </c:val>
          <c:extLst>
            <c:ext xmlns:c16="http://schemas.microsoft.com/office/drawing/2014/chart" uri="{C3380CC4-5D6E-409C-BE32-E72D297353CC}">
              <c16:uniqueId val="{00000002-319D-41A8-9887-F92F3F3C0EB3}"/>
            </c:ext>
          </c:extLst>
        </c:ser>
        <c:ser>
          <c:idx val="3"/>
          <c:order val="3"/>
          <c:tx>
            <c:strRef>
              <c:f>Sheet1!$E$1</c:f>
              <c:strCache>
                <c:ptCount val="1"/>
                <c:pt idx="0">
                  <c:v>Azure Cognitive Search</c:v>
                </c:pt>
              </c:strCache>
            </c:strRef>
          </c:tx>
          <c:spPr>
            <a:solidFill>
              <a:srgbClr val="B07CFF"/>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Sheet1!$E$2:$E$8</c:f>
              <c:numCache>
                <c:formatCode>General</c:formatCode>
                <c:ptCount val="7"/>
                <c:pt idx="0">
                  <c:v>23.43</c:v>
                </c:pt>
                <c:pt idx="1">
                  <c:v>68</c:v>
                </c:pt>
                <c:pt idx="2">
                  <c:v>305.51</c:v>
                </c:pt>
                <c:pt idx="3">
                  <c:v>629.28</c:v>
                </c:pt>
                <c:pt idx="4">
                  <c:v>1166.49</c:v>
                </c:pt>
                <c:pt idx="5">
                  <c:v>1582.03</c:v>
                </c:pt>
                <c:pt idx="6">
                  <c:v>1825.03</c:v>
                </c:pt>
              </c:numCache>
            </c:numRef>
          </c:val>
          <c:extLst>
            <c:ext xmlns:c16="http://schemas.microsoft.com/office/drawing/2014/chart" uri="{C3380CC4-5D6E-409C-BE32-E72D297353CC}">
              <c16:uniqueId val="{00000003-319D-41A8-9887-F92F3F3C0EB3}"/>
            </c:ext>
          </c:extLst>
        </c:ser>
        <c:ser>
          <c:idx val="4"/>
          <c:order val="4"/>
          <c:tx>
            <c:strRef>
              <c:f>Sheet1!$F$1</c:f>
              <c:strCache>
                <c:ptCount val="1"/>
                <c:pt idx="0">
                  <c:v>Microsoft Defender for Cloud</c:v>
                </c:pt>
              </c:strCache>
            </c:strRef>
          </c:tx>
          <c:spPr>
            <a:solidFill>
              <a:srgbClr val="3DDC97"/>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Sheet1!$F$2:$F$8</c:f>
              <c:numCache>
                <c:formatCode>General</c:formatCode>
                <c:ptCount val="7"/>
                <c:pt idx="0">
                  <c:v>83.58</c:v>
                </c:pt>
                <c:pt idx="1">
                  <c:v>237</c:v>
                </c:pt>
                <c:pt idx="2">
                  <c:v>535.5</c:v>
                </c:pt>
                <c:pt idx="3">
                  <c:v>143.21</c:v>
                </c:pt>
                <c:pt idx="4">
                  <c:v>401.16</c:v>
                </c:pt>
                <c:pt idx="5">
                  <c:v>1574.44</c:v>
                </c:pt>
                <c:pt idx="6">
                  <c:v>1166.17</c:v>
                </c:pt>
              </c:numCache>
            </c:numRef>
          </c:val>
          <c:extLst>
            <c:ext xmlns:c16="http://schemas.microsoft.com/office/drawing/2014/chart" uri="{C3380CC4-5D6E-409C-BE32-E72D297353CC}">
              <c16:uniqueId val="{00000004-319D-41A8-9887-F92F3F3C0EB3}"/>
            </c:ext>
          </c:extLst>
        </c:ser>
        <c:ser>
          <c:idx val="5"/>
          <c:order val="5"/>
          <c:tx>
            <c:strRef>
              <c:f>Sheet1!$G$1</c:f>
              <c:strCache>
                <c:ptCount val="1"/>
                <c:pt idx="0">
                  <c:v>Azure Database for PostgreSQL</c:v>
                </c:pt>
              </c:strCache>
            </c:strRef>
          </c:tx>
          <c:spPr>
            <a:solidFill>
              <a:srgbClr val="FF6B7A"/>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Sheet1!$G$2:$G$8</c:f>
              <c:numCache>
                <c:formatCode>General</c:formatCode>
                <c:ptCount val="7"/>
                <c:pt idx="0">
                  <c:v>46.79</c:v>
                </c:pt>
                <c:pt idx="1">
                  <c:v>141</c:v>
                </c:pt>
                <c:pt idx="2">
                  <c:v>356.15</c:v>
                </c:pt>
                <c:pt idx="3">
                  <c:v>489.68</c:v>
                </c:pt>
                <c:pt idx="4">
                  <c:v>790.07</c:v>
                </c:pt>
                <c:pt idx="5">
                  <c:v>1068.76</c:v>
                </c:pt>
                <c:pt idx="6">
                  <c:v>1101.71</c:v>
                </c:pt>
              </c:numCache>
            </c:numRef>
          </c:val>
          <c:extLst>
            <c:ext xmlns:c16="http://schemas.microsoft.com/office/drawing/2014/chart" uri="{C3380CC4-5D6E-409C-BE32-E72D297353CC}">
              <c16:uniqueId val="{00000005-319D-41A8-9887-F92F3F3C0EB3}"/>
            </c:ext>
          </c:extLst>
        </c:ser>
        <c:ser>
          <c:idx val="6"/>
          <c:order val="6"/>
          <c:tx>
            <c:strRef>
              <c:f>Sheet1!$H$1</c:f>
              <c:strCache>
                <c:ptCount val="1"/>
                <c:pt idx="0">
                  <c:v>All other</c:v>
                </c:pt>
              </c:strCache>
            </c:strRef>
          </c:tx>
          <c:spPr>
            <a:solidFill>
              <a:srgbClr val="2AD38C"/>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Sheet1!$H$2:$H$8</c:f>
              <c:numCache>
                <c:formatCode>General</c:formatCode>
                <c:ptCount val="7"/>
                <c:pt idx="0">
                  <c:v>212.84999999999997</c:v>
                </c:pt>
                <c:pt idx="1">
                  <c:v>669</c:v>
                </c:pt>
                <c:pt idx="2">
                  <c:v>1260.73</c:v>
                </c:pt>
                <c:pt idx="3">
                  <c:v>1440.16</c:v>
                </c:pt>
                <c:pt idx="4">
                  <c:v>1534.08</c:v>
                </c:pt>
                <c:pt idx="5">
                  <c:v>2364.1500000000005</c:v>
                </c:pt>
                <c:pt idx="6">
                  <c:v>2907.3499999999995</c:v>
                </c:pt>
              </c:numCache>
            </c:numRef>
          </c:val>
          <c:extLst>
            <c:ext xmlns:c16="http://schemas.microsoft.com/office/drawing/2014/chart" uri="{C3380CC4-5D6E-409C-BE32-E72D297353CC}">
              <c16:uniqueId val="{00000006-319D-41A8-9887-F92F3F3C0EB3}"/>
            </c:ext>
          </c:extLst>
        </c:ser>
        <c:dLbls>
          <c:showLegendKey val="0"/>
          <c:showVal val="0"/>
          <c:showCatName val="0"/>
          <c:showSerName val="0"/>
          <c:showPercent val="0"/>
          <c:showBubbleSize val="0"/>
        </c:dLbls>
        <c:gapWidth val="5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91A0B7"/>
                </a:solidFill>
                <a:latin typeface="Calibri"/>
              </a:defRPr>
            </a:pPr>
            <a:endParaRPr lang="he-IL"/>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23304A"/>
              </a:solidFill>
              <a:prstDash val="solid"/>
              <a:round/>
            </a:ln>
          </c:spPr>
        </c:majorGridlines>
        <c:numFmt formatCode="&quot;$&quot;#,##0" sourceLinked="0"/>
        <c:majorTickMark val="out"/>
        <c:minorTickMark val="none"/>
        <c:tickLblPos val="nextTo"/>
        <c:spPr>
          <a:ln w="12700" cap="flat">
            <a:noFill/>
            <a:prstDash val="solid"/>
            <a:round/>
          </a:ln>
        </c:spPr>
        <c:txPr>
          <a:bodyPr/>
          <a:lstStyle/>
          <a:p>
            <a:pPr>
              <a:defRPr sz="1200" b="0" i="0" u="none" strike="noStrike">
                <a:solidFill>
                  <a:srgbClr val="91A0B7"/>
                </a:solidFill>
                <a:latin typeface="Calibri"/>
              </a:defRPr>
            </a:pPr>
            <a:endParaRPr lang="he-IL"/>
          </a:p>
        </c:txPr>
        <c:crossAx val="2094734554"/>
        <c:crosses val="autoZero"/>
        <c:crossBetween val="between"/>
      </c:valAx>
      <c:spPr>
        <a:solidFill>
          <a:srgbClr val="070A12"/>
        </a:solidFill>
        <a:ln>
          <a:noFill/>
        </a:ln>
        <a:effectLst/>
      </c:spPr>
    </c:plotArea>
    <c:legend>
      <c:legendPos val="b"/>
      <c:overlay val="0"/>
      <c:txPr>
        <a:bodyPr/>
        <a:lstStyle/>
        <a:p>
          <a:pPr>
            <a:defRPr sz="1100">
              <a:solidFill>
                <a:srgbClr val="91A0B7"/>
              </a:solidFill>
              <a:latin typeface="Calibri"/>
              <a:cs typeface="Calibri"/>
            </a:defRPr>
          </a:pPr>
          <a:endParaRPr lang="he-IL"/>
        </a:p>
      </c:txPr>
    </c:legend>
    <c:plotVisOnly val="1"/>
    <c:dispBlanksAs val="span"/>
    <c:showDLblsOverMax val="1"/>
  </c:chart>
  <c:spPr>
    <a:solidFill>
      <a:srgbClr val="070A12"/>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1"/>
  <c:style val="2"/>
  <c:chart>
    <c:autoTitleDeleted val="1"/>
    <c:plotArea>
      <c:layout/>
      <c:barChart>
        <c:barDir val="col"/>
        <c:grouping val="stacked"/>
        <c:varyColors val="0"/>
        <c:ser>
          <c:idx val="0"/>
          <c:order val="0"/>
          <c:tx>
            <c:strRef>
              <c:f>Sheet1!$B$1</c:f>
              <c:strCache>
                <c:ptCount val="1"/>
                <c:pt idx="0">
                  <c:v>Prod Subscription</c:v>
                </c:pt>
              </c:strCache>
            </c:strRef>
          </c:tx>
          <c:spPr>
            <a:solidFill>
              <a:srgbClr val="2F8CFF"/>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Sheet1!$B$2:$B$8</c:f>
              <c:numCache>
                <c:formatCode>General</c:formatCode>
                <c:ptCount val="7"/>
                <c:pt idx="0">
                  <c:v>798.75</c:v>
                </c:pt>
                <c:pt idx="1">
                  <c:v>2844</c:v>
                </c:pt>
                <c:pt idx="2">
                  <c:v>10910</c:v>
                </c:pt>
                <c:pt idx="3">
                  <c:v>9522</c:v>
                </c:pt>
                <c:pt idx="4">
                  <c:v>7610.56</c:v>
                </c:pt>
                <c:pt idx="5">
                  <c:v>17286</c:v>
                </c:pt>
                <c:pt idx="6">
                  <c:v>13714</c:v>
                </c:pt>
              </c:numCache>
            </c:numRef>
          </c:val>
          <c:extLst>
            <c:ext xmlns:c16="http://schemas.microsoft.com/office/drawing/2014/chart" uri="{C3380CC4-5D6E-409C-BE32-E72D297353CC}">
              <c16:uniqueId val="{00000000-1AAB-45A1-9AE2-1194C1E415F8}"/>
            </c:ext>
          </c:extLst>
        </c:ser>
        <c:ser>
          <c:idx val="1"/>
          <c:order val="1"/>
          <c:tx>
            <c:strRef>
              <c:f>Sheet1!$C$1</c:f>
              <c:strCache>
                <c:ptCount val="1"/>
                <c:pt idx="0">
                  <c:v>Dev/Test</c:v>
                </c:pt>
              </c:strCache>
            </c:strRef>
          </c:tx>
          <c:spPr>
            <a:solidFill>
              <a:srgbClr val="3DD9EB"/>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Sheet1!$C$2:$C$8</c:f>
              <c:numCache>
                <c:formatCode>General</c:formatCode>
                <c:ptCount val="7"/>
                <c:pt idx="0">
                  <c:v>0</c:v>
                </c:pt>
                <c:pt idx="1">
                  <c:v>464</c:v>
                </c:pt>
                <c:pt idx="2">
                  <c:v>1031</c:v>
                </c:pt>
                <c:pt idx="3">
                  <c:v>1368</c:v>
                </c:pt>
                <c:pt idx="4">
                  <c:v>4874.3900000000003</c:v>
                </c:pt>
                <c:pt idx="5">
                  <c:v>7063</c:v>
                </c:pt>
                <c:pt idx="6">
                  <c:v>6454</c:v>
                </c:pt>
              </c:numCache>
            </c:numRef>
          </c:val>
          <c:extLst>
            <c:ext xmlns:c16="http://schemas.microsoft.com/office/drawing/2014/chart" uri="{C3380CC4-5D6E-409C-BE32-E72D297353CC}">
              <c16:uniqueId val="{00000001-1AAB-45A1-9AE2-1194C1E415F8}"/>
            </c:ext>
          </c:extLst>
        </c:ser>
        <c:ser>
          <c:idx val="2"/>
          <c:order val="2"/>
          <c:tx>
            <c:strRef>
              <c:f>Sheet1!$D$1</c:f>
              <c:strCache>
                <c:ptCount val="1"/>
                <c:pt idx="0">
                  <c:v>AI Factory prod</c:v>
                </c:pt>
              </c:strCache>
            </c:strRef>
          </c:tx>
          <c:spPr>
            <a:solidFill>
              <a:srgbClr val="FF9F43"/>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Sheet1!$D$2:$D$8</c:f>
              <c:numCache>
                <c:formatCode>General</c:formatCode>
                <c:ptCount val="7"/>
                <c:pt idx="0">
                  <c:v>55.56</c:v>
                </c:pt>
                <c:pt idx="1">
                  <c:v>169</c:v>
                </c:pt>
                <c:pt idx="2">
                  <c:v>460</c:v>
                </c:pt>
                <c:pt idx="3">
                  <c:v>454</c:v>
                </c:pt>
                <c:pt idx="4">
                  <c:v>575.07000000000005</c:v>
                </c:pt>
                <c:pt idx="5">
                  <c:v>814</c:v>
                </c:pt>
                <c:pt idx="6">
                  <c:v>1160</c:v>
                </c:pt>
              </c:numCache>
            </c:numRef>
          </c:val>
          <c:extLst>
            <c:ext xmlns:c16="http://schemas.microsoft.com/office/drawing/2014/chart" uri="{C3380CC4-5D6E-409C-BE32-E72D297353CC}">
              <c16:uniqueId val="{00000002-1AAB-45A1-9AE2-1194C1E415F8}"/>
            </c:ext>
          </c:extLst>
        </c:ser>
        <c:ser>
          <c:idx val="3"/>
          <c:order val="3"/>
          <c:tx>
            <c:strRef>
              <c:f>Sheet1!$E$1</c:f>
              <c:strCache>
                <c:ptCount val="1"/>
                <c:pt idx="0">
                  <c:v>AI Factory dev</c:v>
                </c:pt>
              </c:strCache>
            </c:strRef>
          </c:tx>
          <c:spPr>
            <a:solidFill>
              <a:srgbClr val="B07CFF"/>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Sheet1!$E$2:$E$8</c:f>
              <c:numCache>
                <c:formatCode>General</c:formatCode>
                <c:ptCount val="7"/>
                <c:pt idx="0">
                  <c:v>0</c:v>
                </c:pt>
                <c:pt idx="1">
                  <c:v>0</c:v>
                </c:pt>
                <c:pt idx="2">
                  <c:v>231</c:v>
                </c:pt>
                <c:pt idx="3">
                  <c:v>332</c:v>
                </c:pt>
                <c:pt idx="4">
                  <c:v>347.57</c:v>
                </c:pt>
                <c:pt idx="5">
                  <c:v>497</c:v>
                </c:pt>
                <c:pt idx="6">
                  <c:v>458</c:v>
                </c:pt>
              </c:numCache>
            </c:numRef>
          </c:val>
          <c:extLst>
            <c:ext xmlns:c16="http://schemas.microsoft.com/office/drawing/2014/chart" uri="{C3380CC4-5D6E-409C-BE32-E72D297353CC}">
              <c16:uniqueId val="{00000003-1AAB-45A1-9AE2-1194C1E415F8}"/>
            </c:ext>
          </c:extLst>
        </c:ser>
        <c:ser>
          <c:idx val="4"/>
          <c:order val="4"/>
          <c:tx>
            <c:strRef>
              <c:f>Sheet1!$F$1</c:f>
              <c:strCache>
                <c:ptCount val="1"/>
                <c:pt idx="0">
                  <c:v>INSAIT Dev</c:v>
                </c:pt>
              </c:strCache>
            </c:strRef>
          </c:tx>
          <c:spPr>
            <a:solidFill>
              <a:srgbClr val="3DDC97"/>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Sheet1!$F$2:$F$8</c:f>
              <c:numCache>
                <c:formatCode>General</c:formatCode>
                <c:ptCount val="7"/>
                <c:pt idx="0">
                  <c:v>0</c:v>
                </c:pt>
                <c:pt idx="1">
                  <c:v>0</c:v>
                </c:pt>
                <c:pt idx="2">
                  <c:v>0</c:v>
                </c:pt>
                <c:pt idx="3">
                  <c:v>0</c:v>
                </c:pt>
                <c:pt idx="4">
                  <c:v>193.18</c:v>
                </c:pt>
                <c:pt idx="5">
                  <c:v>239</c:v>
                </c:pt>
                <c:pt idx="6">
                  <c:v>1339</c:v>
                </c:pt>
              </c:numCache>
            </c:numRef>
          </c:val>
          <c:extLst>
            <c:ext xmlns:c16="http://schemas.microsoft.com/office/drawing/2014/chart" uri="{C3380CC4-5D6E-409C-BE32-E72D297353CC}">
              <c16:uniqueId val="{00000004-1AAB-45A1-9AE2-1194C1E415F8}"/>
            </c:ext>
          </c:extLst>
        </c:ser>
        <c:ser>
          <c:idx val="5"/>
          <c:order val="5"/>
          <c:tx>
            <c:strRef>
              <c:f>Sheet1!$G$1</c:f>
              <c:strCache>
                <c:ptCount val="1"/>
                <c:pt idx="0">
                  <c:v>All other</c:v>
                </c:pt>
              </c:strCache>
            </c:strRef>
          </c:tx>
          <c:spPr>
            <a:solidFill>
              <a:srgbClr val="FF6B7A"/>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Sheet1!$G$2:$G$8</c:f>
              <c:numCache>
                <c:formatCode>General</c:formatCode>
                <c:ptCount val="7"/>
                <c:pt idx="0">
                  <c:v>0</c:v>
                </c:pt>
                <c:pt idx="1">
                  <c:v>0</c:v>
                </c:pt>
                <c:pt idx="2">
                  <c:v>0</c:v>
                </c:pt>
                <c:pt idx="3">
                  <c:v>0</c:v>
                </c:pt>
                <c:pt idx="4">
                  <c:v>55.57</c:v>
                </c:pt>
                <c:pt idx="5">
                  <c:v>443</c:v>
                </c:pt>
                <c:pt idx="6">
                  <c:v>485</c:v>
                </c:pt>
              </c:numCache>
            </c:numRef>
          </c:val>
          <c:extLst>
            <c:ext xmlns:c16="http://schemas.microsoft.com/office/drawing/2014/chart" uri="{C3380CC4-5D6E-409C-BE32-E72D297353CC}">
              <c16:uniqueId val="{00000005-1AAB-45A1-9AE2-1194C1E415F8}"/>
            </c:ext>
          </c:extLst>
        </c:ser>
        <c:dLbls>
          <c:showLegendKey val="0"/>
          <c:showVal val="0"/>
          <c:showCatName val="0"/>
          <c:showSerName val="0"/>
          <c:showPercent val="0"/>
          <c:showBubbleSize val="0"/>
        </c:dLbls>
        <c:gapWidth val="5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91A0B7"/>
                </a:solidFill>
                <a:latin typeface="Calibri"/>
              </a:defRPr>
            </a:pPr>
            <a:endParaRPr lang="he-IL"/>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23304A"/>
              </a:solidFill>
              <a:prstDash val="solid"/>
              <a:round/>
            </a:ln>
          </c:spPr>
        </c:majorGridlines>
        <c:numFmt formatCode="&quot;$&quot;#,##0" sourceLinked="0"/>
        <c:majorTickMark val="out"/>
        <c:minorTickMark val="none"/>
        <c:tickLblPos val="nextTo"/>
        <c:spPr>
          <a:ln w="12700" cap="flat">
            <a:noFill/>
            <a:prstDash val="solid"/>
            <a:round/>
          </a:ln>
        </c:spPr>
        <c:txPr>
          <a:bodyPr/>
          <a:lstStyle/>
          <a:p>
            <a:pPr>
              <a:defRPr sz="1200" b="0" i="0" u="none" strike="noStrike">
                <a:solidFill>
                  <a:srgbClr val="91A0B7"/>
                </a:solidFill>
                <a:latin typeface="Calibri"/>
              </a:defRPr>
            </a:pPr>
            <a:endParaRPr lang="he-IL"/>
          </a:p>
        </c:txPr>
        <c:crossAx val="2094734554"/>
        <c:crosses val="autoZero"/>
        <c:crossBetween val="between"/>
      </c:valAx>
      <c:spPr>
        <a:solidFill>
          <a:srgbClr val="070A12"/>
        </a:solidFill>
        <a:ln>
          <a:noFill/>
        </a:ln>
        <a:effectLst/>
      </c:spPr>
    </c:plotArea>
    <c:legend>
      <c:legendPos val="b"/>
      <c:overlay val="0"/>
      <c:txPr>
        <a:bodyPr/>
        <a:lstStyle/>
        <a:p>
          <a:pPr>
            <a:defRPr sz="1100">
              <a:solidFill>
                <a:srgbClr val="91A0B7"/>
              </a:solidFill>
              <a:latin typeface="Calibri"/>
              <a:cs typeface="Calibri"/>
            </a:defRPr>
          </a:pPr>
          <a:endParaRPr lang="he-IL"/>
        </a:p>
      </c:txPr>
    </c:legend>
    <c:plotVisOnly val="1"/>
    <c:dispBlanksAs val="span"/>
    <c:showDLblsOverMax val="1"/>
  </c:chart>
  <c:spPr>
    <a:solidFill>
      <a:srgbClr val="070A12"/>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1"/>
  <c:style val="2"/>
  <c:chart>
    <c:autoTitleDeleted val="1"/>
    <c:plotArea>
      <c:layout/>
      <c:barChart>
        <c:barDir val="col"/>
        <c:grouping val="stacked"/>
        <c:varyColors val="0"/>
        <c:ser>
          <c:idx val="0"/>
          <c:order val="0"/>
          <c:tx>
            <c:strRef>
              <c:f>Sheet1!$B$1</c:f>
              <c:strCache>
                <c:ptCount val="1"/>
                <c:pt idx="0">
                  <c:v>S0 Custom Pages</c:v>
                </c:pt>
              </c:strCache>
            </c:strRef>
          </c:tx>
          <c:spPr>
            <a:solidFill>
              <a:srgbClr val="2F8CFF"/>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Sheet1!$B$2:$B$8</c:f>
              <c:numCache>
                <c:formatCode>General</c:formatCode>
                <c:ptCount val="7"/>
                <c:pt idx="0">
                  <c:v>3312</c:v>
                </c:pt>
                <c:pt idx="1">
                  <c:v>3720</c:v>
                </c:pt>
                <c:pt idx="2">
                  <c:v>2846</c:v>
                </c:pt>
                <c:pt idx="3">
                  <c:v>1523.49</c:v>
                </c:pt>
                <c:pt idx="4">
                  <c:v>2246.94</c:v>
                </c:pt>
                <c:pt idx="5">
                  <c:v>2764.98</c:v>
                </c:pt>
                <c:pt idx="6">
                  <c:v>2392.3200000000002</c:v>
                </c:pt>
              </c:numCache>
            </c:numRef>
          </c:val>
          <c:extLst>
            <c:ext xmlns:c16="http://schemas.microsoft.com/office/drawing/2014/chart" uri="{C3380CC4-5D6E-409C-BE32-E72D297353CC}">
              <c16:uniqueId val="{00000000-23A4-44DC-A9AD-11A330C60FB0}"/>
            </c:ext>
          </c:extLst>
        </c:ser>
        <c:ser>
          <c:idx val="1"/>
          <c:order val="1"/>
          <c:tx>
            <c:strRef>
              <c:f>Sheet1!$C$1</c:f>
              <c:strCache>
                <c:ptCount val="1"/>
                <c:pt idx="0">
                  <c:v>5.4 opt</c:v>
                </c:pt>
              </c:strCache>
            </c:strRef>
          </c:tx>
          <c:spPr>
            <a:solidFill>
              <a:srgbClr val="3DD9EB"/>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Sheet1!$C$2:$C$8</c:f>
              <c:numCache>
                <c:formatCode>General</c:formatCode>
                <c:ptCount val="7"/>
                <c:pt idx="0">
                  <c:v>0</c:v>
                </c:pt>
                <c:pt idx="1">
                  <c:v>0</c:v>
                </c:pt>
                <c:pt idx="2">
                  <c:v>0</c:v>
                </c:pt>
                <c:pt idx="3">
                  <c:v>0</c:v>
                </c:pt>
                <c:pt idx="4">
                  <c:v>941.41</c:v>
                </c:pt>
                <c:pt idx="5">
                  <c:v>6273.8</c:v>
                </c:pt>
                <c:pt idx="6">
                  <c:v>3893</c:v>
                </c:pt>
              </c:numCache>
            </c:numRef>
          </c:val>
          <c:extLst>
            <c:ext xmlns:c16="http://schemas.microsoft.com/office/drawing/2014/chart" uri="{C3380CC4-5D6E-409C-BE32-E72D297353CC}">
              <c16:uniqueId val="{00000001-23A4-44DC-A9AD-11A330C60FB0}"/>
            </c:ext>
          </c:extLst>
        </c:ser>
        <c:ser>
          <c:idx val="2"/>
          <c:order val="2"/>
          <c:tx>
            <c:strRef>
              <c:f>Sheet1!$D$1</c:f>
              <c:strCache>
                <c:ptCount val="1"/>
                <c:pt idx="0">
                  <c:v>5.4 inp</c:v>
                </c:pt>
              </c:strCache>
            </c:strRef>
          </c:tx>
          <c:spPr>
            <a:solidFill>
              <a:srgbClr val="FF9F43"/>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Sheet1!$D$2:$D$8</c:f>
              <c:numCache>
                <c:formatCode>General</c:formatCode>
                <c:ptCount val="7"/>
                <c:pt idx="0">
                  <c:v>0</c:v>
                </c:pt>
                <c:pt idx="1">
                  <c:v>0</c:v>
                </c:pt>
                <c:pt idx="2">
                  <c:v>0</c:v>
                </c:pt>
                <c:pt idx="3">
                  <c:v>0</c:v>
                </c:pt>
                <c:pt idx="4">
                  <c:v>1056.29</c:v>
                </c:pt>
                <c:pt idx="5">
                  <c:v>4877.16</c:v>
                </c:pt>
                <c:pt idx="6">
                  <c:v>4947</c:v>
                </c:pt>
              </c:numCache>
            </c:numRef>
          </c:val>
          <c:extLst>
            <c:ext xmlns:c16="http://schemas.microsoft.com/office/drawing/2014/chart" uri="{C3380CC4-5D6E-409C-BE32-E72D297353CC}">
              <c16:uniqueId val="{00000002-23A4-44DC-A9AD-11A330C60FB0}"/>
            </c:ext>
          </c:extLst>
        </c:ser>
        <c:ser>
          <c:idx val="3"/>
          <c:order val="3"/>
          <c:tx>
            <c:strRef>
              <c:f>Sheet1!$E$1</c:f>
              <c:strCache>
                <c:ptCount val="1"/>
                <c:pt idx="0">
                  <c:v>S0 Pre-built Pages</c:v>
                </c:pt>
              </c:strCache>
            </c:strRef>
          </c:tx>
          <c:spPr>
            <a:solidFill>
              <a:srgbClr val="B07CFF"/>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Sheet1!$E$2:$E$8</c:f>
              <c:numCache>
                <c:formatCode>General</c:formatCode>
                <c:ptCount val="7"/>
                <c:pt idx="0">
                  <c:v>804</c:v>
                </c:pt>
                <c:pt idx="1">
                  <c:v>385</c:v>
                </c:pt>
                <c:pt idx="2">
                  <c:v>521</c:v>
                </c:pt>
                <c:pt idx="3">
                  <c:v>336.11</c:v>
                </c:pt>
                <c:pt idx="4">
                  <c:v>627.22</c:v>
                </c:pt>
                <c:pt idx="5">
                  <c:v>2035.82</c:v>
                </c:pt>
                <c:pt idx="6">
                  <c:v>3385.11</c:v>
                </c:pt>
              </c:numCache>
            </c:numRef>
          </c:val>
          <c:extLst>
            <c:ext xmlns:c16="http://schemas.microsoft.com/office/drawing/2014/chart" uri="{C3380CC4-5D6E-409C-BE32-E72D297353CC}">
              <c16:uniqueId val="{00000003-23A4-44DC-A9AD-11A330C60FB0}"/>
            </c:ext>
          </c:extLst>
        </c:ser>
        <c:ser>
          <c:idx val="4"/>
          <c:order val="4"/>
          <c:tx>
            <c:strRef>
              <c:f>Sheet1!$F$1</c:f>
              <c:strCache>
                <c:ptCount val="1"/>
                <c:pt idx="0">
                  <c:v>gpt 4o 0513</c:v>
                </c:pt>
              </c:strCache>
            </c:strRef>
          </c:tx>
          <c:spPr>
            <a:solidFill>
              <a:srgbClr val="3DDC97"/>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Sheet1!$F$2:$F$8</c:f>
              <c:numCache>
                <c:formatCode>General</c:formatCode>
                <c:ptCount val="7"/>
                <c:pt idx="0">
                  <c:v>1145</c:v>
                </c:pt>
                <c:pt idx="1">
                  <c:v>1300</c:v>
                </c:pt>
                <c:pt idx="2">
                  <c:v>1060.02</c:v>
                </c:pt>
                <c:pt idx="3">
                  <c:v>3220.28</c:v>
                </c:pt>
                <c:pt idx="4">
                  <c:v>917</c:v>
                </c:pt>
                <c:pt idx="5">
                  <c:v>261</c:v>
                </c:pt>
                <c:pt idx="6">
                  <c:v>188</c:v>
                </c:pt>
              </c:numCache>
            </c:numRef>
          </c:val>
          <c:extLst>
            <c:ext xmlns:c16="http://schemas.microsoft.com/office/drawing/2014/chart" uri="{C3380CC4-5D6E-409C-BE32-E72D297353CC}">
              <c16:uniqueId val="{00000004-23A4-44DC-A9AD-11A330C60FB0}"/>
            </c:ext>
          </c:extLst>
        </c:ser>
        <c:ser>
          <c:idx val="5"/>
          <c:order val="5"/>
          <c:tx>
            <c:strRef>
              <c:f>Sheet1!$G$1</c:f>
              <c:strCache>
                <c:ptCount val="1"/>
                <c:pt idx="0">
                  <c:v>gpt 4o 1120</c:v>
                </c:pt>
              </c:strCache>
            </c:strRef>
          </c:tx>
          <c:spPr>
            <a:solidFill>
              <a:srgbClr val="FF6B7A"/>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Sheet1!$G$2:$G$8</c:f>
              <c:numCache>
                <c:formatCode>General</c:formatCode>
                <c:ptCount val="7"/>
                <c:pt idx="0">
                  <c:v>6.11</c:v>
                </c:pt>
                <c:pt idx="1">
                  <c:v>524</c:v>
                </c:pt>
                <c:pt idx="2">
                  <c:v>2563.7600000000002</c:v>
                </c:pt>
                <c:pt idx="3">
                  <c:v>3081.82</c:v>
                </c:pt>
                <c:pt idx="4">
                  <c:v>253</c:v>
                </c:pt>
                <c:pt idx="5">
                  <c:v>663</c:v>
                </c:pt>
                <c:pt idx="6">
                  <c:v>107</c:v>
                </c:pt>
              </c:numCache>
            </c:numRef>
          </c:val>
          <c:extLst>
            <c:ext xmlns:c16="http://schemas.microsoft.com/office/drawing/2014/chart" uri="{C3380CC4-5D6E-409C-BE32-E72D297353CC}">
              <c16:uniqueId val="{00000005-23A4-44DC-A9AD-11A330C60FB0}"/>
            </c:ext>
          </c:extLst>
        </c:ser>
        <c:ser>
          <c:idx val="6"/>
          <c:order val="6"/>
          <c:tx>
            <c:strRef>
              <c:f>Sheet1!$H$1</c:f>
              <c:strCache>
                <c:ptCount val="1"/>
                <c:pt idx="0">
                  <c:v>GPT 5</c:v>
                </c:pt>
              </c:strCache>
            </c:strRef>
          </c:tx>
          <c:spPr>
            <a:solidFill>
              <a:srgbClr val="2AD38C"/>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Sheet1!$H$2:$H$8</c:f>
              <c:numCache>
                <c:formatCode>General</c:formatCode>
                <c:ptCount val="7"/>
                <c:pt idx="0">
                  <c:v>13.65</c:v>
                </c:pt>
                <c:pt idx="1">
                  <c:v>17</c:v>
                </c:pt>
                <c:pt idx="2">
                  <c:v>272.95</c:v>
                </c:pt>
                <c:pt idx="3">
                  <c:v>971.26</c:v>
                </c:pt>
                <c:pt idx="4">
                  <c:v>5056</c:v>
                </c:pt>
                <c:pt idx="5">
                  <c:v>494</c:v>
                </c:pt>
                <c:pt idx="6">
                  <c:v>1</c:v>
                </c:pt>
              </c:numCache>
            </c:numRef>
          </c:val>
          <c:extLst>
            <c:ext xmlns:c16="http://schemas.microsoft.com/office/drawing/2014/chart" uri="{C3380CC4-5D6E-409C-BE32-E72D297353CC}">
              <c16:uniqueId val="{00000006-23A4-44DC-A9AD-11A330C60FB0}"/>
            </c:ext>
          </c:extLst>
        </c:ser>
        <c:ser>
          <c:idx val="7"/>
          <c:order val="7"/>
          <c:tx>
            <c:strRef>
              <c:f>Sheet1!$I$1</c:f>
              <c:strCache>
                <c:ptCount val="1"/>
                <c:pt idx="0">
                  <c:v>GPT 5.1</c:v>
                </c:pt>
              </c:strCache>
            </c:strRef>
          </c:tx>
          <c:spPr>
            <a:solidFill>
              <a:srgbClr val="FFB84D"/>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Sheet1!$I$2:$I$8</c:f>
              <c:numCache>
                <c:formatCode>General</c:formatCode>
                <c:ptCount val="7"/>
                <c:pt idx="0">
                  <c:v>0</c:v>
                </c:pt>
                <c:pt idx="1">
                  <c:v>0</c:v>
                </c:pt>
                <c:pt idx="2">
                  <c:v>22.62</c:v>
                </c:pt>
                <c:pt idx="3">
                  <c:v>0.21</c:v>
                </c:pt>
                <c:pt idx="4">
                  <c:v>220</c:v>
                </c:pt>
                <c:pt idx="5">
                  <c:v>1946</c:v>
                </c:pt>
                <c:pt idx="6">
                  <c:v>1204</c:v>
                </c:pt>
              </c:numCache>
            </c:numRef>
          </c:val>
          <c:extLst>
            <c:ext xmlns:c16="http://schemas.microsoft.com/office/drawing/2014/chart" uri="{C3380CC4-5D6E-409C-BE32-E72D297353CC}">
              <c16:uniqueId val="{00000007-23A4-44DC-A9AD-11A330C60FB0}"/>
            </c:ext>
          </c:extLst>
        </c:ser>
        <c:ser>
          <c:idx val="8"/>
          <c:order val="8"/>
          <c:tx>
            <c:strRef>
              <c:f>Sheet1!$J$1</c:f>
              <c:strCache>
                <c:ptCount val="1"/>
                <c:pt idx="0">
                  <c:v>All other</c:v>
                </c:pt>
              </c:strCache>
            </c:strRef>
          </c:tx>
          <c:spPr>
            <a:solidFill>
              <a:srgbClr val="6C8CFF"/>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Sheet1!$J$2:$J$8</c:f>
              <c:numCache>
                <c:formatCode>General</c:formatCode>
                <c:ptCount val="7"/>
                <c:pt idx="0">
                  <c:v>481.32</c:v>
                </c:pt>
                <c:pt idx="1">
                  <c:v>846</c:v>
                </c:pt>
                <c:pt idx="2">
                  <c:v>552.17999999999995</c:v>
                </c:pt>
                <c:pt idx="3">
                  <c:v>1410.55</c:v>
                </c:pt>
                <c:pt idx="4">
                  <c:v>3611.5500000000006</c:v>
                </c:pt>
                <c:pt idx="5">
                  <c:v>2292.8399999999997</c:v>
                </c:pt>
                <c:pt idx="6">
                  <c:v>3491.7999999999997</c:v>
                </c:pt>
              </c:numCache>
            </c:numRef>
          </c:val>
          <c:extLst>
            <c:ext xmlns:c16="http://schemas.microsoft.com/office/drawing/2014/chart" uri="{C3380CC4-5D6E-409C-BE32-E72D297353CC}">
              <c16:uniqueId val="{00000008-23A4-44DC-A9AD-11A330C60FB0}"/>
            </c:ext>
          </c:extLst>
        </c:ser>
        <c:dLbls>
          <c:showLegendKey val="0"/>
          <c:showVal val="0"/>
          <c:showCatName val="0"/>
          <c:showSerName val="0"/>
          <c:showPercent val="0"/>
          <c:showBubbleSize val="0"/>
        </c:dLbls>
        <c:gapWidth val="5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91A0B7"/>
                </a:solidFill>
                <a:latin typeface="Calibri"/>
              </a:defRPr>
            </a:pPr>
            <a:endParaRPr lang="he-IL"/>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23304A"/>
              </a:solidFill>
              <a:prstDash val="solid"/>
              <a:round/>
            </a:ln>
          </c:spPr>
        </c:majorGridlines>
        <c:numFmt formatCode="&quot;$&quot;#,##0" sourceLinked="0"/>
        <c:majorTickMark val="out"/>
        <c:minorTickMark val="none"/>
        <c:tickLblPos val="nextTo"/>
        <c:spPr>
          <a:ln w="12700" cap="flat">
            <a:noFill/>
            <a:prstDash val="solid"/>
            <a:round/>
          </a:ln>
        </c:spPr>
        <c:txPr>
          <a:bodyPr/>
          <a:lstStyle/>
          <a:p>
            <a:pPr>
              <a:defRPr sz="1200" b="0" i="0" u="none" strike="noStrike">
                <a:solidFill>
                  <a:srgbClr val="91A0B7"/>
                </a:solidFill>
                <a:latin typeface="Calibri"/>
              </a:defRPr>
            </a:pPr>
            <a:endParaRPr lang="he-IL"/>
          </a:p>
        </c:txPr>
        <c:crossAx val="2094734554"/>
        <c:crosses val="autoZero"/>
        <c:crossBetween val="between"/>
      </c:valAx>
      <c:spPr>
        <a:solidFill>
          <a:srgbClr val="070A12"/>
        </a:solidFill>
        <a:ln>
          <a:noFill/>
        </a:ln>
        <a:effectLst/>
      </c:spPr>
    </c:plotArea>
    <c:legend>
      <c:legendPos val="b"/>
      <c:overlay val="0"/>
      <c:txPr>
        <a:bodyPr/>
        <a:lstStyle/>
        <a:p>
          <a:pPr>
            <a:defRPr sz="1100">
              <a:solidFill>
                <a:srgbClr val="91A0B7"/>
              </a:solidFill>
              <a:latin typeface="Calibri"/>
              <a:cs typeface="Calibri"/>
            </a:defRPr>
          </a:pPr>
          <a:endParaRPr lang="he-IL"/>
        </a:p>
      </c:txPr>
    </c:legend>
    <c:plotVisOnly val="1"/>
    <c:dispBlanksAs val="span"/>
    <c:showDLblsOverMax val="1"/>
  </c:chart>
  <c:spPr>
    <a:solidFill>
      <a:srgbClr val="070A12"/>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1"/>
  <c:style val="2"/>
  <c:chart>
    <c:autoTitleDeleted val="1"/>
    <c:plotArea>
      <c:layout/>
      <c:barChart>
        <c:barDir val="col"/>
        <c:grouping val="stacked"/>
        <c:varyColors val="0"/>
        <c:ser>
          <c:idx val="0"/>
          <c:order val="0"/>
          <c:tx>
            <c:strRef>
              <c:f>Sheet1!$B$1</c:f>
              <c:strCache>
                <c:ptCount val="1"/>
                <c:pt idx="0">
                  <c:v>Claude Opus 4.6</c:v>
                </c:pt>
              </c:strCache>
            </c:strRef>
          </c:tx>
          <c:spPr>
            <a:solidFill>
              <a:srgbClr val="2F8CFF"/>
            </a:solidFill>
            <a:effectLst/>
          </c:spPr>
          <c:invertIfNegative val="0"/>
          <c:cat>
            <c:strRef>
              <c:f>Sheet1!$A$2:$A$6</c:f>
              <c:strCache>
                <c:ptCount val="5"/>
                <c:pt idx="0">
                  <c:v>Mar</c:v>
                </c:pt>
                <c:pt idx="1">
                  <c:v>Apr</c:v>
                </c:pt>
                <c:pt idx="2">
                  <c:v>May</c:v>
                </c:pt>
                <c:pt idx="3">
                  <c:v>Jun</c:v>
                </c:pt>
                <c:pt idx="4">
                  <c:v>Jul</c:v>
                </c:pt>
              </c:strCache>
            </c:strRef>
          </c:cat>
          <c:val>
            <c:numRef>
              <c:f>Sheet1!$B$2:$B$6</c:f>
              <c:numCache>
                <c:formatCode>General</c:formatCode>
                <c:ptCount val="5"/>
                <c:pt idx="0">
                  <c:v>0</c:v>
                </c:pt>
                <c:pt idx="1">
                  <c:v>0</c:v>
                </c:pt>
                <c:pt idx="2">
                  <c:v>2866.65</c:v>
                </c:pt>
                <c:pt idx="3">
                  <c:v>4806.49</c:v>
                </c:pt>
                <c:pt idx="4">
                  <c:v>9873.2199999999993</c:v>
                </c:pt>
              </c:numCache>
            </c:numRef>
          </c:val>
          <c:extLst>
            <c:ext xmlns:c16="http://schemas.microsoft.com/office/drawing/2014/chart" uri="{C3380CC4-5D6E-409C-BE32-E72D297353CC}">
              <c16:uniqueId val="{00000000-A0FD-45DB-9477-45B977C906D2}"/>
            </c:ext>
          </c:extLst>
        </c:ser>
        <c:ser>
          <c:idx val="1"/>
          <c:order val="1"/>
          <c:tx>
            <c:strRef>
              <c:f>Sheet1!$C$1</c:f>
              <c:strCache>
                <c:ptCount val="1"/>
                <c:pt idx="0">
                  <c:v>Claude Opus 4.8</c:v>
                </c:pt>
              </c:strCache>
            </c:strRef>
          </c:tx>
          <c:spPr>
            <a:solidFill>
              <a:srgbClr val="3DD9EB"/>
            </a:solidFill>
            <a:effectLst/>
          </c:spPr>
          <c:invertIfNegative val="0"/>
          <c:cat>
            <c:strRef>
              <c:f>Sheet1!$A$2:$A$6</c:f>
              <c:strCache>
                <c:ptCount val="5"/>
                <c:pt idx="0">
                  <c:v>Mar</c:v>
                </c:pt>
                <c:pt idx="1">
                  <c:v>Apr</c:v>
                </c:pt>
                <c:pt idx="2">
                  <c:v>May</c:v>
                </c:pt>
                <c:pt idx="3">
                  <c:v>Jun</c:v>
                </c:pt>
                <c:pt idx="4">
                  <c:v>Jul</c:v>
                </c:pt>
              </c:strCache>
            </c:strRef>
          </c:cat>
          <c:val>
            <c:numRef>
              <c:f>Sheet1!$C$2:$C$6</c:f>
              <c:numCache>
                <c:formatCode>General</c:formatCode>
                <c:ptCount val="5"/>
                <c:pt idx="0">
                  <c:v>0</c:v>
                </c:pt>
                <c:pt idx="1">
                  <c:v>0</c:v>
                </c:pt>
                <c:pt idx="2">
                  <c:v>76.7</c:v>
                </c:pt>
                <c:pt idx="3">
                  <c:v>2024.12</c:v>
                </c:pt>
                <c:pt idx="4">
                  <c:v>11361.86</c:v>
                </c:pt>
              </c:numCache>
            </c:numRef>
          </c:val>
          <c:extLst>
            <c:ext xmlns:c16="http://schemas.microsoft.com/office/drawing/2014/chart" uri="{C3380CC4-5D6E-409C-BE32-E72D297353CC}">
              <c16:uniqueId val="{00000001-A0FD-45DB-9477-45B977C906D2}"/>
            </c:ext>
          </c:extLst>
        </c:ser>
        <c:ser>
          <c:idx val="2"/>
          <c:order val="2"/>
          <c:tx>
            <c:strRef>
              <c:f>Sheet1!$D$1</c:f>
              <c:strCache>
                <c:ptCount val="1"/>
                <c:pt idx="0">
                  <c:v>Claude Opus 4.7</c:v>
                </c:pt>
              </c:strCache>
            </c:strRef>
          </c:tx>
          <c:spPr>
            <a:solidFill>
              <a:srgbClr val="FF9F43"/>
            </a:solidFill>
            <a:effectLst/>
          </c:spPr>
          <c:invertIfNegative val="0"/>
          <c:cat>
            <c:strRef>
              <c:f>Sheet1!$A$2:$A$6</c:f>
              <c:strCache>
                <c:ptCount val="5"/>
                <c:pt idx="0">
                  <c:v>Mar</c:v>
                </c:pt>
                <c:pt idx="1">
                  <c:v>Apr</c:v>
                </c:pt>
                <c:pt idx="2">
                  <c:v>May</c:v>
                </c:pt>
                <c:pt idx="3">
                  <c:v>Jun</c:v>
                </c:pt>
                <c:pt idx="4">
                  <c:v>Jul</c:v>
                </c:pt>
              </c:strCache>
            </c:strRef>
          </c:cat>
          <c:val>
            <c:numRef>
              <c:f>Sheet1!$D$2:$D$6</c:f>
              <c:numCache>
                <c:formatCode>General</c:formatCode>
                <c:ptCount val="5"/>
                <c:pt idx="0">
                  <c:v>0</c:v>
                </c:pt>
                <c:pt idx="1">
                  <c:v>0</c:v>
                </c:pt>
                <c:pt idx="2">
                  <c:v>786.79</c:v>
                </c:pt>
                <c:pt idx="3">
                  <c:v>2917.83</c:v>
                </c:pt>
                <c:pt idx="4">
                  <c:v>2438.48</c:v>
                </c:pt>
              </c:numCache>
            </c:numRef>
          </c:val>
          <c:extLst>
            <c:ext xmlns:c16="http://schemas.microsoft.com/office/drawing/2014/chart" uri="{C3380CC4-5D6E-409C-BE32-E72D297353CC}">
              <c16:uniqueId val="{00000002-A0FD-45DB-9477-45B977C906D2}"/>
            </c:ext>
          </c:extLst>
        </c:ser>
        <c:ser>
          <c:idx val="3"/>
          <c:order val="3"/>
          <c:tx>
            <c:strRef>
              <c:f>Sheet1!$E$1</c:f>
              <c:strCache>
                <c:ptCount val="1"/>
                <c:pt idx="0">
                  <c:v>Amazon Bedrock Edition</c:v>
                </c:pt>
              </c:strCache>
            </c:strRef>
          </c:tx>
          <c:spPr>
            <a:solidFill>
              <a:srgbClr val="B07CFF"/>
            </a:solidFill>
            <a:effectLst/>
          </c:spPr>
          <c:invertIfNegative val="0"/>
          <c:cat>
            <c:strRef>
              <c:f>Sheet1!$A$2:$A$6</c:f>
              <c:strCache>
                <c:ptCount val="5"/>
                <c:pt idx="0">
                  <c:v>Mar</c:v>
                </c:pt>
                <c:pt idx="1">
                  <c:v>Apr</c:v>
                </c:pt>
                <c:pt idx="2">
                  <c:v>May</c:v>
                </c:pt>
                <c:pt idx="3">
                  <c:v>Jun</c:v>
                </c:pt>
                <c:pt idx="4">
                  <c:v>Jul</c:v>
                </c:pt>
              </c:strCache>
            </c:strRef>
          </c:cat>
          <c:val>
            <c:numRef>
              <c:f>Sheet1!$E$2:$E$6</c:f>
              <c:numCache>
                <c:formatCode>General</c:formatCode>
                <c:ptCount val="5"/>
                <c:pt idx="0">
                  <c:v>841</c:v>
                </c:pt>
                <c:pt idx="1">
                  <c:v>1609</c:v>
                </c:pt>
                <c:pt idx="2">
                  <c:v>0</c:v>
                </c:pt>
                <c:pt idx="3">
                  <c:v>0</c:v>
                </c:pt>
                <c:pt idx="4">
                  <c:v>0</c:v>
                </c:pt>
              </c:numCache>
            </c:numRef>
          </c:val>
          <c:extLst>
            <c:ext xmlns:c16="http://schemas.microsoft.com/office/drawing/2014/chart" uri="{C3380CC4-5D6E-409C-BE32-E72D297353CC}">
              <c16:uniqueId val="{00000003-A0FD-45DB-9477-45B977C906D2}"/>
            </c:ext>
          </c:extLst>
        </c:ser>
        <c:ser>
          <c:idx val="4"/>
          <c:order val="4"/>
          <c:tx>
            <c:strRef>
              <c:f>Sheet1!$F$1</c:f>
              <c:strCache>
                <c:ptCount val="1"/>
                <c:pt idx="0">
                  <c:v>Claude Sonnet 4.6</c:v>
                </c:pt>
              </c:strCache>
            </c:strRef>
          </c:tx>
          <c:spPr>
            <a:solidFill>
              <a:srgbClr val="3DDC97"/>
            </a:solidFill>
            <a:effectLst/>
          </c:spPr>
          <c:invertIfNegative val="0"/>
          <c:cat>
            <c:strRef>
              <c:f>Sheet1!$A$2:$A$6</c:f>
              <c:strCache>
                <c:ptCount val="5"/>
                <c:pt idx="0">
                  <c:v>Mar</c:v>
                </c:pt>
                <c:pt idx="1">
                  <c:v>Apr</c:v>
                </c:pt>
                <c:pt idx="2">
                  <c:v>May</c:v>
                </c:pt>
                <c:pt idx="3">
                  <c:v>Jun</c:v>
                </c:pt>
                <c:pt idx="4">
                  <c:v>Jul</c:v>
                </c:pt>
              </c:strCache>
            </c:strRef>
          </c:cat>
          <c:val>
            <c:numRef>
              <c:f>Sheet1!$F$2:$F$6</c:f>
              <c:numCache>
                <c:formatCode>General</c:formatCode>
                <c:ptCount val="5"/>
                <c:pt idx="0">
                  <c:v>0</c:v>
                </c:pt>
                <c:pt idx="1">
                  <c:v>0</c:v>
                </c:pt>
                <c:pt idx="2">
                  <c:v>14.53</c:v>
                </c:pt>
                <c:pt idx="3">
                  <c:v>540.41</c:v>
                </c:pt>
                <c:pt idx="4">
                  <c:v>688.26</c:v>
                </c:pt>
              </c:numCache>
            </c:numRef>
          </c:val>
          <c:extLst>
            <c:ext xmlns:c16="http://schemas.microsoft.com/office/drawing/2014/chart" uri="{C3380CC4-5D6E-409C-BE32-E72D297353CC}">
              <c16:uniqueId val="{00000004-A0FD-45DB-9477-45B977C906D2}"/>
            </c:ext>
          </c:extLst>
        </c:ser>
        <c:ser>
          <c:idx val="5"/>
          <c:order val="5"/>
          <c:tx>
            <c:strRef>
              <c:f>Sheet1!$G$1</c:f>
              <c:strCache>
                <c:ptCount val="1"/>
                <c:pt idx="0">
                  <c:v>Claude Opus 5</c:v>
                </c:pt>
              </c:strCache>
            </c:strRef>
          </c:tx>
          <c:spPr>
            <a:solidFill>
              <a:srgbClr val="FF6B7A"/>
            </a:solidFill>
            <a:effectLst/>
          </c:spPr>
          <c:invertIfNegative val="0"/>
          <c:cat>
            <c:strRef>
              <c:f>Sheet1!$A$2:$A$6</c:f>
              <c:strCache>
                <c:ptCount val="5"/>
                <c:pt idx="0">
                  <c:v>Mar</c:v>
                </c:pt>
                <c:pt idx="1">
                  <c:v>Apr</c:v>
                </c:pt>
                <c:pt idx="2">
                  <c:v>May</c:v>
                </c:pt>
                <c:pt idx="3">
                  <c:v>Jun</c:v>
                </c:pt>
                <c:pt idx="4">
                  <c:v>Jul</c:v>
                </c:pt>
              </c:strCache>
            </c:strRef>
          </c:cat>
          <c:val>
            <c:numRef>
              <c:f>Sheet1!$G$2:$G$6</c:f>
              <c:numCache>
                <c:formatCode>General</c:formatCode>
                <c:ptCount val="5"/>
                <c:pt idx="0">
                  <c:v>0</c:v>
                </c:pt>
                <c:pt idx="1">
                  <c:v>0</c:v>
                </c:pt>
                <c:pt idx="2">
                  <c:v>0</c:v>
                </c:pt>
                <c:pt idx="3">
                  <c:v>0</c:v>
                </c:pt>
                <c:pt idx="4">
                  <c:v>691.45</c:v>
                </c:pt>
              </c:numCache>
            </c:numRef>
          </c:val>
          <c:extLst>
            <c:ext xmlns:c16="http://schemas.microsoft.com/office/drawing/2014/chart" uri="{C3380CC4-5D6E-409C-BE32-E72D297353CC}">
              <c16:uniqueId val="{00000005-A0FD-45DB-9477-45B977C906D2}"/>
            </c:ext>
          </c:extLst>
        </c:ser>
        <c:ser>
          <c:idx val="6"/>
          <c:order val="6"/>
          <c:tx>
            <c:strRef>
              <c:f>Sheet1!$H$1</c:f>
              <c:strCache>
                <c:ptCount val="1"/>
                <c:pt idx="0">
                  <c:v>Claude Haiku 4.5</c:v>
                </c:pt>
              </c:strCache>
            </c:strRef>
          </c:tx>
          <c:spPr>
            <a:solidFill>
              <a:srgbClr val="2AD38C"/>
            </a:solidFill>
            <a:effectLst/>
          </c:spPr>
          <c:invertIfNegative val="0"/>
          <c:cat>
            <c:strRef>
              <c:f>Sheet1!$A$2:$A$6</c:f>
              <c:strCache>
                <c:ptCount val="5"/>
                <c:pt idx="0">
                  <c:v>Mar</c:v>
                </c:pt>
                <c:pt idx="1">
                  <c:v>Apr</c:v>
                </c:pt>
                <c:pt idx="2">
                  <c:v>May</c:v>
                </c:pt>
                <c:pt idx="3">
                  <c:v>Jun</c:v>
                </c:pt>
                <c:pt idx="4">
                  <c:v>Jul</c:v>
                </c:pt>
              </c:strCache>
            </c:strRef>
          </c:cat>
          <c:val>
            <c:numRef>
              <c:f>Sheet1!$H$2:$H$6</c:f>
              <c:numCache>
                <c:formatCode>General</c:formatCode>
                <c:ptCount val="5"/>
                <c:pt idx="0">
                  <c:v>0</c:v>
                </c:pt>
                <c:pt idx="1">
                  <c:v>0</c:v>
                </c:pt>
                <c:pt idx="2">
                  <c:v>57.15</c:v>
                </c:pt>
                <c:pt idx="3">
                  <c:v>159.32</c:v>
                </c:pt>
                <c:pt idx="4">
                  <c:v>157.37</c:v>
                </c:pt>
              </c:numCache>
            </c:numRef>
          </c:val>
          <c:extLst>
            <c:ext xmlns:c16="http://schemas.microsoft.com/office/drawing/2014/chart" uri="{C3380CC4-5D6E-409C-BE32-E72D297353CC}">
              <c16:uniqueId val="{00000006-A0FD-45DB-9477-45B977C906D2}"/>
            </c:ext>
          </c:extLst>
        </c:ser>
        <c:ser>
          <c:idx val="7"/>
          <c:order val="7"/>
          <c:tx>
            <c:strRef>
              <c:f>Sheet1!$I$1</c:f>
              <c:strCache>
                <c:ptCount val="1"/>
                <c:pt idx="0">
                  <c:v>Claude Sonnet 4.5</c:v>
                </c:pt>
              </c:strCache>
            </c:strRef>
          </c:tx>
          <c:spPr>
            <a:solidFill>
              <a:srgbClr val="FFB84D"/>
            </a:solidFill>
            <a:effectLst/>
          </c:spPr>
          <c:invertIfNegative val="0"/>
          <c:cat>
            <c:strRef>
              <c:f>Sheet1!$A$2:$A$6</c:f>
              <c:strCache>
                <c:ptCount val="5"/>
                <c:pt idx="0">
                  <c:v>Mar</c:v>
                </c:pt>
                <c:pt idx="1">
                  <c:v>Apr</c:v>
                </c:pt>
                <c:pt idx="2">
                  <c:v>May</c:v>
                </c:pt>
                <c:pt idx="3">
                  <c:v>Jun</c:v>
                </c:pt>
                <c:pt idx="4">
                  <c:v>Jul</c:v>
                </c:pt>
              </c:strCache>
            </c:strRef>
          </c:cat>
          <c:val>
            <c:numRef>
              <c:f>Sheet1!$I$2:$I$6</c:f>
              <c:numCache>
                <c:formatCode>General</c:formatCode>
                <c:ptCount val="5"/>
                <c:pt idx="0">
                  <c:v>0</c:v>
                </c:pt>
                <c:pt idx="1">
                  <c:v>0</c:v>
                </c:pt>
                <c:pt idx="2">
                  <c:v>9.6300000000000008</c:v>
                </c:pt>
                <c:pt idx="3">
                  <c:v>58.63</c:v>
                </c:pt>
                <c:pt idx="4">
                  <c:v>77.41</c:v>
                </c:pt>
              </c:numCache>
            </c:numRef>
          </c:val>
          <c:extLst>
            <c:ext xmlns:c16="http://schemas.microsoft.com/office/drawing/2014/chart" uri="{C3380CC4-5D6E-409C-BE32-E72D297353CC}">
              <c16:uniqueId val="{00000007-A0FD-45DB-9477-45B977C906D2}"/>
            </c:ext>
          </c:extLst>
        </c:ser>
        <c:ser>
          <c:idx val="8"/>
          <c:order val="8"/>
          <c:tx>
            <c:strRef>
              <c:f>Sheet1!$J$1</c:f>
              <c:strCache>
                <c:ptCount val="1"/>
                <c:pt idx="0">
                  <c:v>All other</c:v>
                </c:pt>
              </c:strCache>
            </c:strRef>
          </c:tx>
          <c:spPr>
            <a:solidFill>
              <a:srgbClr val="6C8CFF"/>
            </a:solidFill>
            <a:effectLst/>
          </c:spPr>
          <c:invertIfNegative val="0"/>
          <c:cat>
            <c:strRef>
              <c:f>Sheet1!$A$2:$A$6</c:f>
              <c:strCache>
                <c:ptCount val="5"/>
                <c:pt idx="0">
                  <c:v>Mar</c:v>
                </c:pt>
                <c:pt idx="1">
                  <c:v>Apr</c:v>
                </c:pt>
                <c:pt idx="2">
                  <c:v>May</c:v>
                </c:pt>
                <c:pt idx="3">
                  <c:v>Jun</c:v>
                </c:pt>
                <c:pt idx="4">
                  <c:v>Jul</c:v>
                </c:pt>
              </c:strCache>
            </c:strRef>
          </c:cat>
          <c:val>
            <c:numRef>
              <c:f>Sheet1!$J$2:$J$6</c:f>
              <c:numCache>
                <c:formatCode>General</c:formatCode>
                <c:ptCount val="5"/>
                <c:pt idx="0">
                  <c:v>0</c:v>
                </c:pt>
                <c:pt idx="1">
                  <c:v>0</c:v>
                </c:pt>
                <c:pt idx="2">
                  <c:v>0.01</c:v>
                </c:pt>
                <c:pt idx="3">
                  <c:v>0</c:v>
                </c:pt>
                <c:pt idx="4">
                  <c:v>0.28000000000000003</c:v>
                </c:pt>
              </c:numCache>
            </c:numRef>
          </c:val>
          <c:extLst>
            <c:ext xmlns:c16="http://schemas.microsoft.com/office/drawing/2014/chart" uri="{C3380CC4-5D6E-409C-BE32-E72D297353CC}">
              <c16:uniqueId val="{00000008-A0FD-45DB-9477-45B977C906D2}"/>
            </c:ext>
          </c:extLst>
        </c:ser>
        <c:dLbls>
          <c:showLegendKey val="0"/>
          <c:showVal val="0"/>
          <c:showCatName val="0"/>
          <c:showSerName val="0"/>
          <c:showPercent val="0"/>
          <c:showBubbleSize val="0"/>
        </c:dLbls>
        <c:gapWidth val="5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91A0B7"/>
                </a:solidFill>
                <a:latin typeface="Calibri"/>
              </a:defRPr>
            </a:pPr>
            <a:endParaRPr lang="he-IL"/>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23304A"/>
              </a:solidFill>
              <a:prstDash val="solid"/>
              <a:round/>
            </a:ln>
          </c:spPr>
        </c:majorGridlines>
        <c:numFmt formatCode="&quot;$&quot;#,##0" sourceLinked="0"/>
        <c:majorTickMark val="out"/>
        <c:minorTickMark val="none"/>
        <c:tickLblPos val="nextTo"/>
        <c:spPr>
          <a:ln w="12700" cap="flat">
            <a:noFill/>
            <a:prstDash val="solid"/>
            <a:round/>
          </a:ln>
        </c:spPr>
        <c:txPr>
          <a:bodyPr/>
          <a:lstStyle/>
          <a:p>
            <a:pPr>
              <a:defRPr sz="1200" b="0" i="0" u="none" strike="noStrike">
                <a:solidFill>
                  <a:srgbClr val="91A0B7"/>
                </a:solidFill>
                <a:latin typeface="Calibri"/>
              </a:defRPr>
            </a:pPr>
            <a:endParaRPr lang="he-IL"/>
          </a:p>
        </c:txPr>
        <c:crossAx val="2094734554"/>
        <c:crosses val="autoZero"/>
        <c:crossBetween val="between"/>
      </c:valAx>
      <c:spPr>
        <a:solidFill>
          <a:srgbClr val="070A12"/>
        </a:solidFill>
        <a:ln>
          <a:noFill/>
        </a:ln>
        <a:effectLst/>
      </c:spPr>
    </c:plotArea>
    <c:legend>
      <c:legendPos val="b"/>
      <c:overlay val="0"/>
      <c:txPr>
        <a:bodyPr/>
        <a:lstStyle/>
        <a:p>
          <a:pPr>
            <a:defRPr sz="1100">
              <a:solidFill>
                <a:srgbClr val="91A0B7"/>
              </a:solidFill>
              <a:latin typeface="Calibri"/>
              <a:cs typeface="Calibri"/>
            </a:defRPr>
          </a:pPr>
          <a:endParaRPr lang="he-IL"/>
        </a:p>
      </c:txPr>
    </c:legend>
    <c:plotVisOnly val="1"/>
    <c:dispBlanksAs val="span"/>
    <c:showDLblsOverMax val="1"/>
  </c:chart>
  <c:spPr>
    <a:solidFill>
      <a:srgbClr val="070A12"/>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1"/>
  <c:style val="2"/>
  <c:chart>
    <c:autoTitleDeleted val="1"/>
    <c:plotArea>
      <c:layout/>
      <c:barChart>
        <c:barDir val="col"/>
        <c:grouping val="stacked"/>
        <c:varyColors val="0"/>
        <c:ser>
          <c:idx val="0"/>
          <c:order val="0"/>
          <c:tx>
            <c:strRef>
              <c:f>Sheet1!$B$1</c:f>
              <c:strCache>
                <c:ptCount val="1"/>
                <c:pt idx="0">
                  <c:v>Vertex AI</c:v>
                </c:pt>
              </c:strCache>
            </c:strRef>
          </c:tx>
          <c:spPr>
            <a:solidFill>
              <a:srgbClr val="2F8CFF"/>
            </a:solidFill>
            <a:effectLst/>
          </c:spPr>
          <c:invertIfNegative val="0"/>
          <c:cat>
            <c:strRef>
              <c:f>Sheet1!$A$2:$A$6</c:f>
              <c:strCache>
                <c:ptCount val="5"/>
                <c:pt idx="0">
                  <c:v>Mar</c:v>
                </c:pt>
                <c:pt idx="1">
                  <c:v>Apr</c:v>
                </c:pt>
                <c:pt idx="2">
                  <c:v>May</c:v>
                </c:pt>
                <c:pt idx="3">
                  <c:v>Jun</c:v>
                </c:pt>
                <c:pt idx="4">
                  <c:v>Jul</c:v>
                </c:pt>
              </c:strCache>
            </c:strRef>
          </c:cat>
          <c:val>
            <c:numRef>
              <c:f>Sheet1!$B$2:$B$6</c:f>
              <c:numCache>
                <c:formatCode>General</c:formatCode>
                <c:ptCount val="5"/>
                <c:pt idx="0">
                  <c:v>0</c:v>
                </c:pt>
                <c:pt idx="1">
                  <c:v>0.01</c:v>
                </c:pt>
                <c:pt idx="2">
                  <c:v>378.84</c:v>
                </c:pt>
                <c:pt idx="3">
                  <c:v>957.52</c:v>
                </c:pt>
                <c:pt idx="4">
                  <c:v>2359</c:v>
                </c:pt>
              </c:numCache>
            </c:numRef>
          </c:val>
          <c:extLst>
            <c:ext xmlns:c16="http://schemas.microsoft.com/office/drawing/2014/chart" uri="{C3380CC4-5D6E-409C-BE32-E72D297353CC}">
              <c16:uniqueId val="{00000000-1CE6-47BE-AEDC-98C6021259A6}"/>
            </c:ext>
          </c:extLst>
        </c:ser>
        <c:ser>
          <c:idx val="1"/>
          <c:order val="1"/>
          <c:tx>
            <c:strRef>
              <c:f>Sheet1!$C$1</c:f>
              <c:strCache>
                <c:ptCount val="1"/>
                <c:pt idx="0">
                  <c:v>Compute Engine</c:v>
                </c:pt>
              </c:strCache>
            </c:strRef>
          </c:tx>
          <c:spPr>
            <a:solidFill>
              <a:srgbClr val="3DD9EB"/>
            </a:solidFill>
            <a:effectLst/>
          </c:spPr>
          <c:invertIfNegative val="0"/>
          <c:cat>
            <c:strRef>
              <c:f>Sheet1!$A$2:$A$6</c:f>
              <c:strCache>
                <c:ptCount val="5"/>
                <c:pt idx="0">
                  <c:v>Mar</c:v>
                </c:pt>
                <c:pt idx="1">
                  <c:v>Apr</c:v>
                </c:pt>
                <c:pt idx="2">
                  <c:v>May</c:v>
                </c:pt>
                <c:pt idx="3">
                  <c:v>Jun</c:v>
                </c:pt>
                <c:pt idx="4">
                  <c:v>Jul</c:v>
                </c:pt>
              </c:strCache>
            </c:strRef>
          </c:cat>
          <c:val>
            <c:numRef>
              <c:f>Sheet1!$C$2:$C$6</c:f>
              <c:numCache>
                <c:formatCode>General</c:formatCode>
                <c:ptCount val="5"/>
                <c:pt idx="0">
                  <c:v>0</c:v>
                </c:pt>
                <c:pt idx="1">
                  <c:v>221.73</c:v>
                </c:pt>
                <c:pt idx="2">
                  <c:v>714.24</c:v>
                </c:pt>
                <c:pt idx="3">
                  <c:v>977.33</c:v>
                </c:pt>
                <c:pt idx="4">
                  <c:v>1011.51</c:v>
                </c:pt>
              </c:numCache>
            </c:numRef>
          </c:val>
          <c:extLst>
            <c:ext xmlns:c16="http://schemas.microsoft.com/office/drawing/2014/chart" uri="{C3380CC4-5D6E-409C-BE32-E72D297353CC}">
              <c16:uniqueId val="{00000001-1CE6-47BE-AEDC-98C6021259A6}"/>
            </c:ext>
          </c:extLst>
        </c:ser>
        <c:ser>
          <c:idx val="2"/>
          <c:order val="2"/>
          <c:tx>
            <c:strRef>
              <c:f>Sheet1!$D$1</c:f>
              <c:strCache>
                <c:ptCount val="1"/>
                <c:pt idx="0">
                  <c:v>Networking</c:v>
                </c:pt>
              </c:strCache>
            </c:strRef>
          </c:tx>
          <c:spPr>
            <a:solidFill>
              <a:srgbClr val="FF9F43"/>
            </a:solidFill>
            <a:effectLst/>
          </c:spPr>
          <c:invertIfNegative val="0"/>
          <c:cat>
            <c:strRef>
              <c:f>Sheet1!$A$2:$A$6</c:f>
              <c:strCache>
                <c:ptCount val="5"/>
                <c:pt idx="0">
                  <c:v>Mar</c:v>
                </c:pt>
                <c:pt idx="1">
                  <c:v>Apr</c:v>
                </c:pt>
                <c:pt idx="2">
                  <c:v>May</c:v>
                </c:pt>
                <c:pt idx="3">
                  <c:v>Jun</c:v>
                </c:pt>
                <c:pt idx="4">
                  <c:v>Jul</c:v>
                </c:pt>
              </c:strCache>
            </c:strRef>
          </c:cat>
          <c:val>
            <c:numRef>
              <c:f>Sheet1!$D$2:$D$6</c:f>
              <c:numCache>
                <c:formatCode>General</c:formatCode>
                <c:ptCount val="5"/>
                <c:pt idx="0">
                  <c:v>0</c:v>
                </c:pt>
                <c:pt idx="1">
                  <c:v>74.48</c:v>
                </c:pt>
                <c:pt idx="2">
                  <c:v>311.42</c:v>
                </c:pt>
                <c:pt idx="3">
                  <c:v>303.73</c:v>
                </c:pt>
                <c:pt idx="4">
                  <c:v>310</c:v>
                </c:pt>
              </c:numCache>
            </c:numRef>
          </c:val>
          <c:extLst>
            <c:ext xmlns:c16="http://schemas.microsoft.com/office/drawing/2014/chart" uri="{C3380CC4-5D6E-409C-BE32-E72D297353CC}">
              <c16:uniqueId val="{00000002-1CE6-47BE-AEDC-98C6021259A6}"/>
            </c:ext>
          </c:extLst>
        </c:ser>
        <c:ser>
          <c:idx val="3"/>
          <c:order val="3"/>
          <c:tx>
            <c:strRef>
              <c:f>Sheet1!$E$1</c:f>
              <c:strCache>
                <c:ptCount val="1"/>
                <c:pt idx="0">
                  <c:v>Gemini API</c:v>
                </c:pt>
              </c:strCache>
            </c:strRef>
          </c:tx>
          <c:spPr>
            <a:solidFill>
              <a:srgbClr val="B07CFF"/>
            </a:solidFill>
            <a:effectLst/>
          </c:spPr>
          <c:invertIfNegative val="0"/>
          <c:cat>
            <c:strRef>
              <c:f>Sheet1!$A$2:$A$6</c:f>
              <c:strCache>
                <c:ptCount val="5"/>
                <c:pt idx="0">
                  <c:v>Mar</c:v>
                </c:pt>
                <c:pt idx="1">
                  <c:v>Apr</c:v>
                </c:pt>
                <c:pt idx="2">
                  <c:v>May</c:v>
                </c:pt>
                <c:pt idx="3">
                  <c:v>Jun</c:v>
                </c:pt>
                <c:pt idx="4">
                  <c:v>Jul</c:v>
                </c:pt>
              </c:strCache>
            </c:strRef>
          </c:cat>
          <c:val>
            <c:numRef>
              <c:f>Sheet1!$E$2:$E$6</c:f>
              <c:numCache>
                <c:formatCode>General</c:formatCode>
                <c:ptCount val="5"/>
                <c:pt idx="0">
                  <c:v>395.81</c:v>
                </c:pt>
                <c:pt idx="1">
                  <c:v>134.71</c:v>
                </c:pt>
                <c:pt idx="2">
                  <c:v>92.38</c:v>
                </c:pt>
                <c:pt idx="3">
                  <c:v>0</c:v>
                </c:pt>
                <c:pt idx="4">
                  <c:v>0</c:v>
                </c:pt>
              </c:numCache>
            </c:numRef>
          </c:val>
          <c:extLst>
            <c:ext xmlns:c16="http://schemas.microsoft.com/office/drawing/2014/chart" uri="{C3380CC4-5D6E-409C-BE32-E72D297353CC}">
              <c16:uniqueId val="{00000003-1CE6-47BE-AEDC-98C6021259A6}"/>
            </c:ext>
          </c:extLst>
        </c:ser>
        <c:ser>
          <c:idx val="4"/>
          <c:order val="4"/>
          <c:tx>
            <c:strRef>
              <c:f>Sheet1!$F$1</c:f>
              <c:strCache>
                <c:ptCount val="1"/>
                <c:pt idx="0">
                  <c:v>Support</c:v>
                </c:pt>
              </c:strCache>
            </c:strRef>
          </c:tx>
          <c:spPr>
            <a:solidFill>
              <a:srgbClr val="3DDC97"/>
            </a:solidFill>
            <a:effectLst/>
          </c:spPr>
          <c:invertIfNegative val="0"/>
          <c:cat>
            <c:strRef>
              <c:f>Sheet1!$A$2:$A$6</c:f>
              <c:strCache>
                <c:ptCount val="5"/>
                <c:pt idx="0">
                  <c:v>Mar</c:v>
                </c:pt>
                <c:pt idx="1">
                  <c:v>Apr</c:v>
                </c:pt>
                <c:pt idx="2">
                  <c:v>May</c:v>
                </c:pt>
                <c:pt idx="3">
                  <c:v>Jun</c:v>
                </c:pt>
                <c:pt idx="4">
                  <c:v>Jul</c:v>
                </c:pt>
              </c:strCache>
            </c:strRef>
          </c:cat>
          <c:val>
            <c:numRef>
              <c:f>Sheet1!$F$2:$F$6</c:f>
              <c:numCache>
                <c:formatCode>General</c:formatCode>
                <c:ptCount val="5"/>
                <c:pt idx="0">
                  <c:v>0</c:v>
                </c:pt>
                <c:pt idx="1">
                  <c:v>0</c:v>
                </c:pt>
                <c:pt idx="2">
                  <c:v>26.43</c:v>
                </c:pt>
                <c:pt idx="3">
                  <c:v>98.24</c:v>
                </c:pt>
                <c:pt idx="4">
                  <c:v>141.65</c:v>
                </c:pt>
              </c:numCache>
            </c:numRef>
          </c:val>
          <c:extLst>
            <c:ext xmlns:c16="http://schemas.microsoft.com/office/drawing/2014/chart" uri="{C3380CC4-5D6E-409C-BE32-E72D297353CC}">
              <c16:uniqueId val="{00000004-1CE6-47BE-AEDC-98C6021259A6}"/>
            </c:ext>
          </c:extLst>
        </c:ser>
        <c:ser>
          <c:idx val="5"/>
          <c:order val="5"/>
          <c:tx>
            <c:strRef>
              <c:f>Sheet1!$G$1</c:f>
              <c:strCache>
                <c:ptCount val="1"/>
                <c:pt idx="0">
                  <c:v>other services</c:v>
                </c:pt>
              </c:strCache>
            </c:strRef>
          </c:tx>
          <c:spPr>
            <a:solidFill>
              <a:srgbClr val="FF6B7A"/>
            </a:solidFill>
            <a:effectLst/>
          </c:spPr>
          <c:invertIfNegative val="0"/>
          <c:cat>
            <c:strRef>
              <c:f>Sheet1!$A$2:$A$6</c:f>
              <c:strCache>
                <c:ptCount val="5"/>
                <c:pt idx="0">
                  <c:v>Mar</c:v>
                </c:pt>
                <c:pt idx="1">
                  <c:v>Apr</c:v>
                </c:pt>
                <c:pt idx="2">
                  <c:v>May</c:v>
                </c:pt>
                <c:pt idx="3">
                  <c:v>Jun</c:v>
                </c:pt>
                <c:pt idx="4">
                  <c:v>Jul</c:v>
                </c:pt>
              </c:strCache>
            </c:strRef>
          </c:cat>
          <c:val>
            <c:numRef>
              <c:f>Sheet1!$G$2:$G$6</c:f>
              <c:numCache>
                <c:formatCode>General</c:formatCode>
                <c:ptCount val="5"/>
                <c:pt idx="0">
                  <c:v>0.06</c:v>
                </c:pt>
                <c:pt idx="1">
                  <c:v>9.23</c:v>
                </c:pt>
                <c:pt idx="2">
                  <c:v>-73.959999999999994</c:v>
                </c:pt>
                <c:pt idx="3">
                  <c:v>-117.27</c:v>
                </c:pt>
                <c:pt idx="4">
                  <c:v>-115.11</c:v>
                </c:pt>
              </c:numCache>
            </c:numRef>
          </c:val>
          <c:extLst>
            <c:ext xmlns:c16="http://schemas.microsoft.com/office/drawing/2014/chart" uri="{C3380CC4-5D6E-409C-BE32-E72D297353CC}">
              <c16:uniqueId val="{00000005-1CE6-47BE-AEDC-98C6021259A6}"/>
            </c:ext>
          </c:extLst>
        </c:ser>
        <c:dLbls>
          <c:showLegendKey val="0"/>
          <c:showVal val="0"/>
          <c:showCatName val="0"/>
          <c:showSerName val="0"/>
          <c:showPercent val="0"/>
          <c:showBubbleSize val="0"/>
        </c:dLbls>
        <c:gapWidth val="5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91A0B7"/>
                </a:solidFill>
                <a:latin typeface="Calibri"/>
              </a:defRPr>
            </a:pPr>
            <a:endParaRPr lang="he-IL"/>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23304A"/>
              </a:solidFill>
              <a:prstDash val="solid"/>
              <a:round/>
            </a:ln>
          </c:spPr>
        </c:majorGridlines>
        <c:numFmt formatCode="&quot;$&quot;#,##0" sourceLinked="0"/>
        <c:majorTickMark val="out"/>
        <c:minorTickMark val="none"/>
        <c:tickLblPos val="nextTo"/>
        <c:spPr>
          <a:ln w="12700" cap="flat">
            <a:noFill/>
            <a:prstDash val="solid"/>
            <a:round/>
          </a:ln>
        </c:spPr>
        <c:txPr>
          <a:bodyPr/>
          <a:lstStyle/>
          <a:p>
            <a:pPr>
              <a:defRPr sz="1200" b="0" i="0" u="none" strike="noStrike">
                <a:solidFill>
                  <a:srgbClr val="91A0B7"/>
                </a:solidFill>
                <a:latin typeface="Calibri"/>
              </a:defRPr>
            </a:pPr>
            <a:endParaRPr lang="he-IL"/>
          </a:p>
        </c:txPr>
        <c:crossAx val="2094734554"/>
        <c:crosses val="autoZero"/>
        <c:crossBetween val="between"/>
      </c:valAx>
      <c:spPr>
        <a:solidFill>
          <a:srgbClr val="070A12"/>
        </a:solidFill>
        <a:ln>
          <a:noFill/>
        </a:ln>
        <a:effectLst/>
      </c:spPr>
    </c:plotArea>
    <c:legend>
      <c:legendPos val="b"/>
      <c:overlay val="0"/>
      <c:txPr>
        <a:bodyPr/>
        <a:lstStyle/>
        <a:p>
          <a:pPr>
            <a:defRPr sz="1100">
              <a:solidFill>
                <a:srgbClr val="91A0B7"/>
              </a:solidFill>
              <a:latin typeface="Calibri"/>
              <a:cs typeface="Calibri"/>
            </a:defRPr>
          </a:pPr>
          <a:endParaRPr lang="he-IL"/>
        </a:p>
      </c:txPr>
    </c:legend>
    <c:plotVisOnly val="1"/>
    <c:dispBlanksAs val="span"/>
    <c:showDLblsOverMax val="1"/>
  </c:chart>
  <c:spPr>
    <a:solidFill>
      <a:srgbClr val="070A12"/>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1"/>
  <c:style val="2"/>
  <c:chart>
    <c:autoTitleDeleted val="1"/>
    <c:plotArea>
      <c:layout/>
      <c:barChart>
        <c:barDir val="bar"/>
        <c:grouping val="clustered"/>
        <c:varyColors val="0"/>
        <c:ser>
          <c:idx val="0"/>
          <c:order val="0"/>
          <c:tx>
            <c:strRef>
              <c:f>Sheet1!$B$1</c:f>
              <c:strCache>
                <c:ptCount val="1"/>
                <c:pt idx="0">
                  <c:v>Total</c:v>
                </c:pt>
              </c:strCache>
            </c:strRef>
          </c:tx>
          <c:spPr>
            <a:solidFill>
              <a:srgbClr val="2F8CFF"/>
            </a:solidFill>
            <a:effectLst/>
          </c:spPr>
          <c:invertIfNegative val="0"/>
          <c:dPt>
            <c:idx val="0"/>
            <c:invertIfNegative val="0"/>
            <c:bubble3D val="0"/>
            <c:extLst>
              <c:ext xmlns:c16="http://schemas.microsoft.com/office/drawing/2014/chart" uri="{C3380CC4-5D6E-409C-BE32-E72D297353CC}">
                <c16:uniqueId val="{00000001-06E1-475D-A14C-86EE7B8AFA70}"/>
              </c:ext>
            </c:extLst>
          </c:dPt>
          <c:dPt>
            <c:idx val="1"/>
            <c:invertIfNegative val="0"/>
            <c:bubble3D val="0"/>
            <c:spPr>
              <a:solidFill>
                <a:srgbClr val="3DD9EB"/>
              </a:solidFill>
              <a:effectLst/>
            </c:spPr>
            <c:extLst>
              <c:ext xmlns:c16="http://schemas.microsoft.com/office/drawing/2014/chart" uri="{C3380CC4-5D6E-409C-BE32-E72D297353CC}">
                <c16:uniqueId val="{00000003-06E1-475D-A14C-86EE7B8AFA70}"/>
              </c:ext>
            </c:extLst>
          </c:dPt>
          <c:dPt>
            <c:idx val="2"/>
            <c:invertIfNegative val="0"/>
            <c:bubble3D val="0"/>
            <c:spPr>
              <a:solidFill>
                <a:srgbClr val="FF9F43"/>
              </a:solidFill>
              <a:effectLst/>
            </c:spPr>
            <c:extLst>
              <c:ext xmlns:c16="http://schemas.microsoft.com/office/drawing/2014/chart" uri="{C3380CC4-5D6E-409C-BE32-E72D297353CC}">
                <c16:uniqueId val="{00000005-06E1-475D-A14C-86EE7B8AFA70}"/>
              </c:ext>
            </c:extLst>
          </c:dPt>
          <c:dPt>
            <c:idx val="3"/>
            <c:invertIfNegative val="0"/>
            <c:bubble3D val="0"/>
            <c:spPr>
              <a:solidFill>
                <a:srgbClr val="B07CFF"/>
              </a:solidFill>
              <a:effectLst/>
            </c:spPr>
            <c:extLst>
              <c:ext xmlns:c16="http://schemas.microsoft.com/office/drawing/2014/chart" uri="{C3380CC4-5D6E-409C-BE32-E72D297353CC}">
                <c16:uniqueId val="{00000007-06E1-475D-A14C-86EE7B8AFA70}"/>
              </c:ext>
            </c:extLst>
          </c:dPt>
          <c:dPt>
            <c:idx val="4"/>
            <c:invertIfNegative val="0"/>
            <c:bubble3D val="0"/>
            <c:spPr>
              <a:solidFill>
                <a:srgbClr val="3DDC97"/>
              </a:solidFill>
              <a:effectLst/>
            </c:spPr>
            <c:extLst>
              <c:ext xmlns:c16="http://schemas.microsoft.com/office/drawing/2014/chart" uri="{C3380CC4-5D6E-409C-BE32-E72D297353CC}">
                <c16:uniqueId val="{00000009-06E1-475D-A14C-86EE7B8AFA70}"/>
              </c:ext>
            </c:extLst>
          </c:dPt>
          <c:dPt>
            <c:idx val="5"/>
            <c:invertIfNegative val="0"/>
            <c:bubble3D val="0"/>
            <c:spPr>
              <a:solidFill>
                <a:srgbClr val="FF6B7A"/>
              </a:solidFill>
              <a:effectLst/>
            </c:spPr>
            <c:extLst>
              <c:ext xmlns:c16="http://schemas.microsoft.com/office/drawing/2014/chart" uri="{C3380CC4-5D6E-409C-BE32-E72D297353CC}">
                <c16:uniqueId val="{0000000B-06E1-475D-A14C-86EE7B8AFA70}"/>
              </c:ext>
            </c:extLst>
          </c:dPt>
          <c:dPt>
            <c:idx val="6"/>
            <c:invertIfNegative val="0"/>
            <c:bubble3D val="0"/>
            <c:spPr>
              <a:solidFill>
                <a:srgbClr val="2AD38C"/>
              </a:solidFill>
              <a:effectLst/>
            </c:spPr>
            <c:extLst>
              <c:ext xmlns:c16="http://schemas.microsoft.com/office/drawing/2014/chart" uri="{C3380CC4-5D6E-409C-BE32-E72D297353CC}">
                <c16:uniqueId val="{0000000D-06E1-475D-A14C-86EE7B8AFA70}"/>
              </c:ext>
            </c:extLst>
          </c:dPt>
          <c:dPt>
            <c:idx val="7"/>
            <c:invertIfNegative val="0"/>
            <c:bubble3D val="0"/>
            <c:spPr>
              <a:solidFill>
                <a:srgbClr val="FFB84D"/>
              </a:solidFill>
              <a:effectLst/>
            </c:spPr>
            <c:extLst>
              <c:ext xmlns:c16="http://schemas.microsoft.com/office/drawing/2014/chart" uri="{C3380CC4-5D6E-409C-BE32-E72D297353CC}">
                <c16:uniqueId val="{0000000F-06E1-475D-A14C-86EE7B8AFA70}"/>
              </c:ext>
            </c:extLst>
          </c:dPt>
          <c:dPt>
            <c:idx val="8"/>
            <c:invertIfNegative val="0"/>
            <c:bubble3D val="0"/>
            <c:spPr>
              <a:solidFill>
                <a:srgbClr val="6C8CFF"/>
              </a:solidFill>
              <a:effectLst/>
            </c:spPr>
            <c:extLst>
              <c:ext xmlns:c16="http://schemas.microsoft.com/office/drawing/2014/chart" uri="{C3380CC4-5D6E-409C-BE32-E72D297353CC}">
                <c16:uniqueId val="{00000011-06E1-475D-A14C-86EE7B8AFA70}"/>
              </c:ext>
            </c:extLst>
          </c:dPt>
          <c:dPt>
            <c:idx val="9"/>
            <c:invertIfNegative val="0"/>
            <c:bubble3D val="0"/>
            <c:spPr>
              <a:solidFill>
                <a:srgbClr val="8FD8E8"/>
              </a:solidFill>
              <a:effectLst/>
            </c:spPr>
            <c:extLst>
              <c:ext xmlns:c16="http://schemas.microsoft.com/office/drawing/2014/chart" uri="{C3380CC4-5D6E-409C-BE32-E72D297353CC}">
                <c16:uniqueId val="{00000013-06E1-475D-A14C-86EE7B8AFA70}"/>
              </c:ext>
            </c:extLst>
          </c:dPt>
          <c:dLbls>
            <c:numFmt formatCode="&quot;$&quot;#,##0" sourceLinked="0"/>
            <c:spPr>
              <a:noFill/>
              <a:ln>
                <a:noFill/>
              </a:ln>
              <a:effectLst/>
            </c:spPr>
            <c:txPr>
              <a:bodyPr/>
              <a:lstStyle/>
              <a:p>
                <a:pPr>
                  <a:defRPr sz="1100" b="0" i="0" u="none" strike="noStrike">
                    <a:solidFill>
                      <a:srgbClr val="F4F7FB"/>
                    </a:solidFill>
                    <a:latin typeface="Calibri"/>
                  </a:defRPr>
                </a:pPr>
                <a:endParaRPr lang="he-IL"/>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F5 Distributed Cloud Bot Defense</c:v>
                </c:pt>
                <c:pt idx="1">
                  <c:v>Fortinet Cloud Security Platform</c:v>
                </c:pt>
                <c:pt idx="2">
                  <c:v>Trellix_Private Offer Only</c:v>
                </c:pt>
                <c:pt idx="3">
                  <c:v>All other</c:v>
                </c:pt>
                <c:pt idx="4">
                  <c:v>(Private) Cortex</c:v>
                </c:pt>
                <c:pt idx="5">
                  <c:v>MongoDB Atlas on AWS - Contract ...</c:v>
                </c:pt>
                <c:pt idx="6">
                  <c:v>F5 Distributed Cloud Services</c:v>
                </c:pt>
                <c:pt idx="7">
                  <c:v>CrowdStrike Falcon Identity Prot...</c:v>
                </c:pt>
                <c:pt idx="8">
                  <c:v>TrendAI Enterprise Security Solu...</c:v>
                </c:pt>
                <c:pt idx="9">
                  <c:v>Splunk Private Offer Session 3</c:v>
                </c:pt>
              </c:strCache>
            </c:strRef>
          </c:cat>
          <c:val>
            <c:numRef>
              <c:f>Sheet1!$B$2:$B$11</c:f>
              <c:numCache>
                <c:formatCode>General</c:formatCode>
                <c:ptCount val="10"/>
                <c:pt idx="0">
                  <c:v>43307.51</c:v>
                </c:pt>
                <c:pt idx="1">
                  <c:v>61998.34</c:v>
                </c:pt>
                <c:pt idx="2">
                  <c:v>70680</c:v>
                </c:pt>
                <c:pt idx="3">
                  <c:v>101662.59</c:v>
                </c:pt>
                <c:pt idx="4">
                  <c:v>142960.14000000001</c:v>
                </c:pt>
                <c:pt idx="5">
                  <c:v>163240.16999999998</c:v>
                </c:pt>
                <c:pt idx="6">
                  <c:v>166293</c:v>
                </c:pt>
                <c:pt idx="7">
                  <c:v>171303</c:v>
                </c:pt>
                <c:pt idx="8">
                  <c:v>257323</c:v>
                </c:pt>
                <c:pt idx="9">
                  <c:v>365018</c:v>
                </c:pt>
              </c:numCache>
            </c:numRef>
          </c:val>
          <c:extLst>
            <c:ext xmlns:c16="http://schemas.microsoft.com/office/drawing/2014/chart" uri="{C3380CC4-5D6E-409C-BE32-E72D297353CC}">
              <c16:uniqueId val="{00000014-06E1-475D-A14C-86EE7B8AFA70}"/>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91A0B7"/>
                </a:solidFill>
                <a:latin typeface="Calibri"/>
              </a:defRPr>
            </a:pPr>
            <a:endParaRPr lang="he-IL"/>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23304A"/>
              </a:solidFill>
              <a:prstDash val="solid"/>
              <a:round/>
            </a:ln>
          </c:spPr>
        </c:majorGridlines>
        <c:numFmt formatCode="&quot;$&quot;#,##0" sourceLinked="0"/>
        <c:majorTickMark val="out"/>
        <c:minorTickMark val="none"/>
        <c:tickLblPos val="low"/>
        <c:spPr>
          <a:ln w="12700" cap="flat">
            <a:noFill/>
            <a:prstDash val="solid"/>
            <a:round/>
          </a:ln>
        </c:spPr>
        <c:txPr>
          <a:bodyPr/>
          <a:lstStyle/>
          <a:p>
            <a:pPr>
              <a:defRPr sz="1200" b="0" i="0" u="none" strike="noStrike">
                <a:solidFill>
                  <a:srgbClr val="91A0B7"/>
                </a:solidFill>
                <a:latin typeface="Calibri"/>
              </a:defRPr>
            </a:pPr>
            <a:endParaRPr lang="he-IL"/>
          </a:p>
        </c:txPr>
        <c:crossAx val="2094734554"/>
        <c:crosses val="autoZero"/>
        <c:crossBetween val="between"/>
      </c:valAx>
      <c:spPr>
        <a:solidFill>
          <a:srgbClr val="070A12"/>
        </a:solidFill>
        <a:ln>
          <a:noFill/>
        </a:ln>
        <a:effectLst/>
      </c:spPr>
    </c:plotArea>
    <c:plotVisOnly val="1"/>
    <c:dispBlanksAs val="span"/>
    <c:showDLblsOverMax val="1"/>
  </c:chart>
  <c:spPr>
    <a:solidFill>
      <a:srgbClr val="070A12"/>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1"/>
  <c:style val="2"/>
  <c:chart>
    <c:autoTitleDeleted val="1"/>
    <c:plotArea>
      <c:layout/>
      <c:barChart>
        <c:barDir val="col"/>
        <c:grouping val="stacked"/>
        <c:varyColors val="0"/>
        <c:ser>
          <c:idx val="0"/>
          <c:order val="0"/>
          <c:tx>
            <c:strRef>
              <c:f>Sheet1!$B$1</c:f>
              <c:strCache>
                <c:ptCount val="1"/>
                <c:pt idx="0">
                  <c:v>aws-prod-Digital</c:v>
                </c:pt>
              </c:strCache>
            </c:strRef>
          </c:tx>
          <c:spPr>
            <a:solidFill>
              <a:srgbClr val="2F8CFF"/>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Sheet1!$B$2:$B$8</c:f>
              <c:numCache>
                <c:formatCode>General</c:formatCode>
                <c:ptCount val="7"/>
                <c:pt idx="0">
                  <c:v>22332.66</c:v>
                </c:pt>
                <c:pt idx="1">
                  <c:v>21140.47</c:v>
                </c:pt>
                <c:pt idx="2">
                  <c:v>21628.91</c:v>
                </c:pt>
                <c:pt idx="3">
                  <c:v>21144.81</c:v>
                </c:pt>
                <c:pt idx="4">
                  <c:v>21545.74</c:v>
                </c:pt>
                <c:pt idx="5">
                  <c:v>21516.36</c:v>
                </c:pt>
                <c:pt idx="6">
                  <c:v>22251.5</c:v>
                </c:pt>
              </c:numCache>
            </c:numRef>
          </c:val>
          <c:extLst>
            <c:ext xmlns:c16="http://schemas.microsoft.com/office/drawing/2014/chart" uri="{C3380CC4-5D6E-409C-BE32-E72D297353CC}">
              <c16:uniqueId val="{00000000-F41E-41A5-BF8C-F81052B10E2A}"/>
            </c:ext>
          </c:extLst>
        </c:ser>
        <c:ser>
          <c:idx val="1"/>
          <c:order val="1"/>
          <c:tx>
            <c:strRef>
              <c:f>Sheet1!$C$1</c:f>
              <c:strCache>
                <c:ptCount val="1"/>
                <c:pt idx="0">
                  <c:v>aws-devTest-digital</c:v>
                </c:pt>
              </c:strCache>
            </c:strRef>
          </c:tx>
          <c:spPr>
            <a:solidFill>
              <a:srgbClr val="3DD9EB"/>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Sheet1!$C$2:$C$8</c:f>
              <c:numCache>
                <c:formatCode>General</c:formatCode>
                <c:ptCount val="7"/>
                <c:pt idx="0">
                  <c:v>9774.69</c:v>
                </c:pt>
                <c:pt idx="1">
                  <c:v>9293.5</c:v>
                </c:pt>
                <c:pt idx="2">
                  <c:v>13019.52</c:v>
                </c:pt>
                <c:pt idx="3">
                  <c:v>12889.08</c:v>
                </c:pt>
                <c:pt idx="4">
                  <c:v>14478.53</c:v>
                </c:pt>
                <c:pt idx="5">
                  <c:v>13223.96</c:v>
                </c:pt>
                <c:pt idx="6">
                  <c:v>13679.04</c:v>
                </c:pt>
              </c:numCache>
            </c:numRef>
          </c:val>
          <c:extLst>
            <c:ext xmlns:c16="http://schemas.microsoft.com/office/drawing/2014/chart" uri="{C3380CC4-5D6E-409C-BE32-E72D297353CC}">
              <c16:uniqueId val="{00000001-F41E-41A5-BF8C-F81052B10E2A}"/>
            </c:ext>
          </c:extLst>
        </c:ser>
        <c:ser>
          <c:idx val="2"/>
          <c:order val="2"/>
          <c:tx>
            <c:strRef>
              <c:f>Sheet1!$D$1</c:f>
              <c:strCache>
                <c:ptCount val="1"/>
                <c:pt idx="0">
                  <c:v>aws-preProd-digital</c:v>
                </c:pt>
              </c:strCache>
            </c:strRef>
          </c:tx>
          <c:spPr>
            <a:solidFill>
              <a:srgbClr val="FF9F43"/>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Sheet1!$D$2:$D$8</c:f>
              <c:numCache>
                <c:formatCode>General</c:formatCode>
                <c:ptCount val="7"/>
                <c:pt idx="0">
                  <c:v>10763.47</c:v>
                </c:pt>
                <c:pt idx="1">
                  <c:v>9195.09</c:v>
                </c:pt>
                <c:pt idx="2">
                  <c:v>10753.11</c:v>
                </c:pt>
                <c:pt idx="3">
                  <c:v>10593.41</c:v>
                </c:pt>
                <c:pt idx="4">
                  <c:v>11424.85</c:v>
                </c:pt>
                <c:pt idx="5">
                  <c:v>10158.6</c:v>
                </c:pt>
                <c:pt idx="6">
                  <c:v>10824.22</c:v>
                </c:pt>
              </c:numCache>
            </c:numRef>
          </c:val>
          <c:extLst>
            <c:ext xmlns:c16="http://schemas.microsoft.com/office/drawing/2014/chart" uri="{C3380CC4-5D6E-409C-BE32-E72D297353CC}">
              <c16:uniqueId val="{00000002-F41E-41A5-BF8C-F81052B10E2A}"/>
            </c:ext>
          </c:extLst>
        </c:ser>
        <c:ser>
          <c:idx val="3"/>
          <c:order val="3"/>
          <c:tx>
            <c:strRef>
              <c:f>Sheet1!$E$1</c:f>
              <c:strCache>
                <c:ptCount val="1"/>
                <c:pt idx="0">
                  <c:v>aws-foundation-security</c:v>
                </c:pt>
              </c:strCache>
            </c:strRef>
          </c:tx>
          <c:spPr>
            <a:solidFill>
              <a:srgbClr val="B07CFF"/>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Sheet1!$E$2:$E$8</c:f>
              <c:numCache>
                <c:formatCode>General</c:formatCode>
                <c:ptCount val="7"/>
                <c:pt idx="0">
                  <c:v>8241.01</c:v>
                </c:pt>
                <c:pt idx="1">
                  <c:v>7426.22</c:v>
                </c:pt>
                <c:pt idx="2">
                  <c:v>8018.52</c:v>
                </c:pt>
                <c:pt idx="3">
                  <c:v>7844.99</c:v>
                </c:pt>
                <c:pt idx="4">
                  <c:v>8595.7999999999993</c:v>
                </c:pt>
                <c:pt idx="5">
                  <c:v>8586.64</c:v>
                </c:pt>
                <c:pt idx="6">
                  <c:v>8752.36</c:v>
                </c:pt>
              </c:numCache>
            </c:numRef>
          </c:val>
          <c:extLst>
            <c:ext xmlns:c16="http://schemas.microsoft.com/office/drawing/2014/chart" uri="{C3380CC4-5D6E-409C-BE32-E72D297353CC}">
              <c16:uniqueId val="{00000003-F41E-41A5-BF8C-F81052B10E2A}"/>
            </c:ext>
          </c:extLst>
        </c:ser>
        <c:ser>
          <c:idx val="4"/>
          <c:order val="4"/>
          <c:tx>
            <c:strRef>
              <c:f>Sheet1!$F$1</c:f>
              <c:strCache>
                <c:ptCount val="1"/>
                <c:pt idx="0">
                  <c:v>customers3-prod</c:v>
                </c:pt>
              </c:strCache>
            </c:strRef>
          </c:tx>
          <c:spPr>
            <a:solidFill>
              <a:srgbClr val="3DDC97"/>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Sheet1!$F$2:$F$8</c:f>
              <c:numCache>
                <c:formatCode>General</c:formatCode>
                <c:ptCount val="7"/>
                <c:pt idx="0">
                  <c:v>886.84</c:v>
                </c:pt>
                <c:pt idx="1">
                  <c:v>13482.36</c:v>
                </c:pt>
                <c:pt idx="2">
                  <c:v>11082.36</c:v>
                </c:pt>
                <c:pt idx="3">
                  <c:v>2357.5</c:v>
                </c:pt>
                <c:pt idx="4">
                  <c:v>4222.21</c:v>
                </c:pt>
                <c:pt idx="5">
                  <c:v>6507.56</c:v>
                </c:pt>
                <c:pt idx="6">
                  <c:v>9065.77</c:v>
                </c:pt>
              </c:numCache>
            </c:numRef>
          </c:val>
          <c:extLst>
            <c:ext xmlns:c16="http://schemas.microsoft.com/office/drawing/2014/chart" uri="{C3380CC4-5D6E-409C-BE32-E72D297353CC}">
              <c16:uniqueId val="{00000004-F41E-41A5-BF8C-F81052B10E2A}"/>
            </c:ext>
          </c:extLst>
        </c:ser>
        <c:ser>
          <c:idx val="5"/>
          <c:order val="5"/>
          <c:tx>
            <c:strRef>
              <c:f>Sheet1!$G$1</c:f>
              <c:strCache>
                <c:ptCount val="1"/>
                <c:pt idx="0">
                  <c:v>cloudops-network</c:v>
                </c:pt>
              </c:strCache>
            </c:strRef>
          </c:tx>
          <c:spPr>
            <a:solidFill>
              <a:srgbClr val="FF6B7A"/>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Sheet1!$G$2:$G$8</c:f>
              <c:numCache>
                <c:formatCode>General</c:formatCode>
                <c:ptCount val="7"/>
                <c:pt idx="0">
                  <c:v>6243.55</c:v>
                </c:pt>
                <c:pt idx="1">
                  <c:v>5752.81</c:v>
                </c:pt>
                <c:pt idx="2">
                  <c:v>7021.84</c:v>
                </c:pt>
                <c:pt idx="3">
                  <c:v>6897.91</c:v>
                </c:pt>
                <c:pt idx="4">
                  <c:v>7152.27</c:v>
                </c:pt>
                <c:pt idx="5">
                  <c:v>7100.37</c:v>
                </c:pt>
                <c:pt idx="6">
                  <c:v>7373.13</c:v>
                </c:pt>
              </c:numCache>
            </c:numRef>
          </c:val>
          <c:extLst>
            <c:ext xmlns:c16="http://schemas.microsoft.com/office/drawing/2014/chart" uri="{C3380CC4-5D6E-409C-BE32-E72D297353CC}">
              <c16:uniqueId val="{00000005-F41E-41A5-BF8C-F81052B10E2A}"/>
            </c:ext>
          </c:extLst>
        </c:ser>
        <c:ser>
          <c:idx val="6"/>
          <c:order val="6"/>
          <c:tx>
            <c:strRef>
              <c:f>Sheet1!$H$1</c:f>
              <c:strCache>
                <c:ptCount val="1"/>
                <c:pt idx="0">
                  <c:v>aws-foundation-sharedservices</c:v>
                </c:pt>
              </c:strCache>
            </c:strRef>
          </c:tx>
          <c:spPr>
            <a:solidFill>
              <a:srgbClr val="2AD38C"/>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Sheet1!$H$2:$H$8</c:f>
              <c:numCache>
                <c:formatCode>General</c:formatCode>
                <c:ptCount val="7"/>
                <c:pt idx="0">
                  <c:v>6557.18</c:v>
                </c:pt>
                <c:pt idx="1">
                  <c:v>5506.82</c:v>
                </c:pt>
                <c:pt idx="2">
                  <c:v>5796.97</c:v>
                </c:pt>
                <c:pt idx="3">
                  <c:v>5754.82</c:v>
                </c:pt>
                <c:pt idx="4">
                  <c:v>6022.6</c:v>
                </c:pt>
                <c:pt idx="5">
                  <c:v>6015.61</c:v>
                </c:pt>
                <c:pt idx="6">
                  <c:v>6067.45</c:v>
                </c:pt>
              </c:numCache>
            </c:numRef>
          </c:val>
          <c:extLst>
            <c:ext xmlns:c16="http://schemas.microsoft.com/office/drawing/2014/chart" uri="{C3380CC4-5D6E-409C-BE32-E72D297353CC}">
              <c16:uniqueId val="{00000006-F41E-41A5-BF8C-F81052B10E2A}"/>
            </c:ext>
          </c:extLst>
        </c:ser>
        <c:ser>
          <c:idx val="7"/>
          <c:order val="7"/>
          <c:tx>
            <c:strRef>
              <c:f>Sheet1!$I$1</c:f>
              <c:strCache>
                <c:ptCount val="1"/>
                <c:pt idx="0">
                  <c:v>Harel Insurance</c:v>
                </c:pt>
              </c:strCache>
            </c:strRef>
          </c:tx>
          <c:spPr>
            <a:solidFill>
              <a:srgbClr val="FFB84D"/>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Sheet1!$I$2:$I$8</c:f>
              <c:numCache>
                <c:formatCode>General</c:formatCode>
                <c:ptCount val="7"/>
                <c:pt idx="0">
                  <c:v>6065.71</c:v>
                </c:pt>
                <c:pt idx="1">
                  <c:v>3782.04</c:v>
                </c:pt>
                <c:pt idx="2">
                  <c:v>6397.95</c:v>
                </c:pt>
                <c:pt idx="3">
                  <c:v>8584.51</c:v>
                </c:pt>
                <c:pt idx="4">
                  <c:v>3830.37</c:v>
                </c:pt>
                <c:pt idx="5">
                  <c:v>6197.57</c:v>
                </c:pt>
                <c:pt idx="6">
                  <c:v>5139.8599999999997</c:v>
                </c:pt>
              </c:numCache>
            </c:numRef>
          </c:val>
          <c:extLst>
            <c:ext xmlns:c16="http://schemas.microsoft.com/office/drawing/2014/chart" uri="{C3380CC4-5D6E-409C-BE32-E72D297353CC}">
              <c16:uniqueId val="{00000007-F41E-41A5-BF8C-F81052B10E2A}"/>
            </c:ext>
          </c:extLst>
        </c:ser>
        <c:ser>
          <c:idx val="8"/>
          <c:order val="8"/>
          <c:tx>
            <c:strRef>
              <c:f>Sheet1!$J$1</c:f>
              <c:strCache>
                <c:ptCount val="1"/>
                <c:pt idx="0">
                  <c:v>All other</c:v>
                </c:pt>
              </c:strCache>
            </c:strRef>
          </c:tx>
          <c:spPr>
            <a:solidFill>
              <a:srgbClr val="6C8CFF"/>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Sheet1!$J$2:$J$8</c:f>
              <c:numCache>
                <c:formatCode>General</c:formatCode>
                <c:ptCount val="7"/>
                <c:pt idx="0">
                  <c:v>6260.39</c:v>
                </c:pt>
                <c:pt idx="1">
                  <c:v>7002.8999999999987</c:v>
                </c:pt>
                <c:pt idx="2">
                  <c:v>12141.12</c:v>
                </c:pt>
                <c:pt idx="3">
                  <c:v>5862.0499999999993</c:v>
                </c:pt>
                <c:pt idx="4">
                  <c:v>5790.1100000000015</c:v>
                </c:pt>
                <c:pt idx="5">
                  <c:v>7274.5199999999995</c:v>
                </c:pt>
                <c:pt idx="6">
                  <c:v>-6323.6400000000012</c:v>
                </c:pt>
              </c:numCache>
            </c:numRef>
          </c:val>
          <c:extLst>
            <c:ext xmlns:c16="http://schemas.microsoft.com/office/drawing/2014/chart" uri="{C3380CC4-5D6E-409C-BE32-E72D297353CC}">
              <c16:uniqueId val="{00000008-F41E-41A5-BF8C-F81052B10E2A}"/>
            </c:ext>
          </c:extLst>
        </c:ser>
        <c:dLbls>
          <c:showLegendKey val="0"/>
          <c:showVal val="0"/>
          <c:showCatName val="0"/>
          <c:showSerName val="0"/>
          <c:showPercent val="0"/>
          <c:showBubbleSize val="0"/>
        </c:dLbls>
        <c:gapWidth val="5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91A0B7"/>
                </a:solidFill>
                <a:latin typeface="Calibri"/>
              </a:defRPr>
            </a:pPr>
            <a:endParaRPr lang="he-IL"/>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23304A"/>
              </a:solidFill>
              <a:prstDash val="solid"/>
              <a:round/>
            </a:ln>
          </c:spPr>
        </c:majorGridlines>
        <c:numFmt formatCode="&quot;$&quot;#,##0" sourceLinked="0"/>
        <c:majorTickMark val="out"/>
        <c:minorTickMark val="none"/>
        <c:tickLblPos val="nextTo"/>
        <c:spPr>
          <a:ln w="12700" cap="flat">
            <a:noFill/>
            <a:prstDash val="solid"/>
            <a:round/>
          </a:ln>
        </c:spPr>
        <c:txPr>
          <a:bodyPr/>
          <a:lstStyle/>
          <a:p>
            <a:pPr>
              <a:defRPr sz="1200" b="0" i="0" u="none" strike="noStrike">
                <a:solidFill>
                  <a:srgbClr val="91A0B7"/>
                </a:solidFill>
                <a:latin typeface="Calibri"/>
              </a:defRPr>
            </a:pPr>
            <a:endParaRPr lang="he-IL"/>
          </a:p>
        </c:txPr>
        <c:crossAx val="2094734554"/>
        <c:crosses val="autoZero"/>
        <c:crossBetween val="between"/>
      </c:valAx>
      <c:spPr>
        <a:solidFill>
          <a:srgbClr val="070A12"/>
        </a:solidFill>
        <a:ln>
          <a:noFill/>
        </a:ln>
        <a:effectLst/>
      </c:spPr>
    </c:plotArea>
    <c:legend>
      <c:legendPos val="b"/>
      <c:overlay val="0"/>
      <c:txPr>
        <a:bodyPr/>
        <a:lstStyle/>
        <a:p>
          <a:pPr>
            <a:defRPr sz="1100">
              <a:solidFill>
                <a:srgbClr val="91A0B7"/>
              </a:solidFill>
              <a:latin typeface="Calibri"/>
              <a:cs typeface="Calibri"/>
            </a:defRPr>
          </a:pPr>
          <a:endParaRPr lang="he-IL"/>
        </a:p>
      </c:txPr>
    </c:legend>
    <c:plotVisOnly val="1"/>
    <c:dispBlanksAs val="span"/>
    <c:showDLblsOverMax val="1"/>
  </c:chart>
  <c:spPr>
    <a:solidFill>
      <a:srgbClr val="070A12"/>
    </a:solid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1"/>
  <c:style val="2"/>
  <c:chart>
    <c:autoTitleDeleted val="1"/>
    <c:plotArea>
      <c:layout/>
      <c:barChart>
        <c:barDir val="col"/>
        <c:grouping val="stacked"/>
        <c:varyColors val="0"/>
        <c:ser>
          <c:idx val="0"/>
          <c:order val="0"/>
          <c:tx>
            <c:strRef>
              <c:f>Sheet1!$B$1</c:f>
              <c:strCache>
                <c:ptCount val="1"/>
                <c:pt idx="0">
                  <c:v>EC2 - Compute</c:v>
                </c:pt>
              </c:strCache>
            </c:strRef>
          </c:tx>
          <c:spPr>
            <a:solidFill>
              <a:srgbClr val="2F8CFF"/>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Sheet1!$B$2:$B$8</c:f>
              <c:numCache>
                <c:formatCode>General</c:formatCode>
                <c:ptCount val="7"/>
                <c:pt idx="0">
                  <c:v>31180.69</c:v>
                </c:pt>
                <c:pt idx="1">
                  <c:v>28236.720000000001</c:v>
                </c:pt>
                <c:pt idx="2">
                  <c:v>32994.93</c:v>
                </c:pt>
                <c:pt idx="3">
                  <c:v>32045.93</c:v>
                </c:pt>
                <c:pt idx="4">
                  <c:v>35082.639999999999</c:v>
                </c:pt>
                <c:pt idx="5">
                  <c:v>33427.89</c:v>
                </c:pt>
                <c:pt idx="6">
                  <c:v>35426.33</c:v>
                </c:pt>
              </c:numCache>
            </c:numRef>
          </c:val>
          <c:extLst>
            <c:ext xmlns:c16="http://schemas.microsoft.com/office/drawing/2014/chart" uri="{C3380CC4-5D6E-409C-BE32-E72D297353CC}">
              <c16:uniqueId val="{00000000-FE8D-498B-BF3C-41B5FEC9E780}"/>
            </c:ext>
          </c:extLst>
        </c:ser>
        <c:ser>
          <c:idx val="1"/>
          <c:order val="1"/>
          <c:tx>
            <c:strRef>
              <c:f>Sheet1!$C$1</c:f>
              <c:strCache>
                <c:ptCount val="1"/>
                <c:pt idx="0">
                  <c:v>Business Support</c:v>
                </c:pt>
              </c:strCache>
            </c:strRef>
          </c:tx>
          <c:spPr>
            <a:solidFill>
              <a:srgbClr val="3DD9EB"/>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Sheet1!$C$2:$C$8</c:f>
              <c:numCache>
                <c:formatCode>General</c:formatCode>
                <c:ptCount val="7"/>
                <c:pt idx="0">
                  <c:v>3876.88</c:v>
                </c:pt>
                <c:pt idx="1">
                  <c:v>4268.96</c:v>
                </c:pt>
                <c:pt idx="2">
                  <c:v>4581.17</c:v>
                </c:pt>
                <c:pt idx="3">
                  <c:v>4108.04</c:v>
                </c:pt>
                <c:pt idx="4">
                  <c:v>4478.1000000000004</c:v>
                </c:pt>
                <c:pt idx="5">
                  <c:v>4839.1400000000003</c:v>
                </c:pt>
                <c:pt idx="6">
                  <c:v>5893.49</c:v>
                </c:pt>
              </c:numCache>
            </c:numRef>
          </c:val>
          <c:extLst>
            <c:ext xmlns:c16="http://schemas.microsoft.com/office/drawing/2014/chart" uri="{C3380CC4-5D6E-409C-BE32-E72D297353CC}">
              <c16:uniqueId val="{00000001-FE8D-498B-BF3C-41B5FEC9E780}"/>
            </c:ext>
          </c:extLst>
        </c:ser>
        <c:ser>
          <c:idx val="2"/>
          <c:order val="2"/>
          <c:tx>
            <c:strRef>
              <c:f>Sheet1!$D$1</c:f>
              <c:strCache>
                <c:ptCount val="1"/>
                <c:pt idx="0">
                  <c:v>S3 - Storage</c:v>
                </c:pt>
              </c:strCache>
            </c:strRef>
          </c:tx>
          <c:spPr>
            <a:solidFill>
              <a:srgbClr val="FF9F43"/>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Sheet1!$D$2:$D$8</c:f>
              <c:numCache>
                <c:formatCode>General</c:formatCode>
                <c:ptCount val="7"/>
                <c:pt idx="0">
                  <c:v>1978.49</c:v>
                </c:pt>
                <c:pt idx="1">
                  <c:v>13276.31</c:v>
                </c:pt>
                <c:pt idx="2">
                  <c:v>5868.01</c:v>
                </c:pt>
                <c:pt idx="3">
                  <c:v>2134.4699999999998</c:v>
                </c:pt>
                <c:pt idx="4">
                  <c:v>2249.46</c:v>
                </c:pt>
                <c:pt idx="5">
                  <c:v>2370.09</c:v>
                </c:pt>
                <c:pt idx="6">
                  <c:v>2324.71</c:v>
                </c:pt>
              </c:numCache>
            </c:numRef>
          </c:val>
          <c:extLst>
            <c:ext xmlns:c16="http://schemas.microsoft.com/office/drawing/2014/chart" uri="{C3380CC4-5D6E-409C-BE32-E72D297353CC}">
              <c16:uniqueId val="{00000002-FE8D-498B-BF3C-41B5FEC9E780}"/>
            </c:ext>
          </c:extLst>
        </c:ser>
        <c:ser>
          <c:idx val="3"/>
          <c:order val="3"/>
          <c:tx>
            <c:strRef>
              <c:f>Sheet1!$E$1</c:f>
              <c:strCache>
                <c:ptCount val="1"/>
                <c:pt idx="0">
                  <c:v>Virtual Private Cloud - Transit Gateway</c:v>
                </c:pt>
              </c:strCache>
            </c:strRef>
          </c:tx>
          <c:spPr>
            <a:solidFill>
              <a:srgbClr val="B07CFF"/>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Sheet1!$E$2:$E$8</c:f>
              <c:numCache>
                <c:formatCode>General</c:formatCode>
                <c:ptCount val="7"/>
                <c:pt idx="0">
                  <c:v>3925.73</c:v>
                </c:pt>
                <c:pt idx="1">
                  <c:v>3570.88</c:v>
                </c:pt>
                <c:pt idx="2">
                  <c:v>3963.99</c:v>
                </c:pt>
                <c:pt idx="3">
                  <c:v>3878.04</c:v>
                </c:pt>
                <c:pt idx="4">
                  <c:v>4428.68</c:v>
                </c:pt>
                <c:pt idx="5">
                  <c:v>4573.6000000000004</c:v>
                </c:pt>
                <c:pt idx="6">
                  <c:v>4657.2700000000004</c:v>
                </c:pt>
              </c:numCache>
            </c:numRef>
          </c:val>
          <c:extLst>
            <c:ext xmlns:c16="http://schemas.microsoft.com/office/drawing/2014/chart" uri="{C3380CC4-5D6E-409C-BE32-E72D297353CC}">
              <c16:uniqueId val="{00000003-FE8D-498B-BF3C-41B5FEC9E780}"/>
            </c:ext>
          </c:extLst>
        </c:ser>
        <c:ser>
          <c:idx val="4"/>
          <c:order val="4"/>
          <c:tx>
            <c:strRef>
              <c:f>Sheet1!$F$1</c:f>
              <c:strCache>
                <c:ptCount val="1"/>
                <c:pt idx="0">
                  <c:v>RDS - Compute</c:v>
                </c:pt>
              </c:strCache>
            </c:strRef>
          </c:tx>
          <c:spPr>
            <a:solidFill>
              <a:srgbClr val="3DDC97"/>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Sheet1!$F$2:$F$8</c:f>
              <c:numCache>
                <c:formatCode>General</c:formatCode>
                <c:ptCount val="7"/>
                <c:pt idx="0">
                  <c:v>4939.68</c:v>
                </c:pt>
                <c:pt idx="1">
                  <c:v>3272.18</c:v>
                </c:pt>
                <c:pt idx="2">
                  <c:v>3522.03</c:v>
                </c:pt>
                <c:pt idx="3">
                  <c:v>3408.12</c:v>
                </c:pt>
                <c:pt idx="4">
                  <c:v>3521.72</c:v>
                </c:pt>
                <c:pt idx="5">
                  <c:v>4011.45</c:v>
                </c:pt>
                <c:pt idx="6">
                  <c:v>4355</c:v>
                </c:pt>
              </c:numCache>
            </c:numRef>
          </c:val>
          <c:extLst>
            <c:ext xmlns:c16="http://schemas.microsoft.com/office/drawing/2014/chart" uri="{C3380CC4-5D6E-409C-BE32-E72D297353CC}">
              <c16:uniqueId val="{00000004-FE8D-498B-BF3C-41B5FEC9E780}"/>
            </c:ext>
          </c:extLst>
        </c:ser>
        <c:ser>
          <c:idx val="5"/>
          <c:order val="5"/>
          <c:tx>
            <c:strRef>
              <c:f>Sheet1!$G$1</c:f>
              <c:strCache>
                <c:ptCount val="1"/>
                <c:pt idx="0">
                  <c:v>Direct Connect - Port Hours</c:v>
                </c:pt>
              </c:strCache>
            </c:strRef>
          </c:tx>
          <c:spPr>
            <a:solidFill>
              <a:srgbClr val="FF6B7A"/>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Sheet1!$G$2:$G$8</c:f>
              <c:numCache>
                <c:formatCode>General</c:formatCode>
                <c:ptCount val="7"/>
                <c:pt idx="0">
                  <c:v>3794.4</c:v>
                </c:pt>
                <c:pt idx="1">
                  <c:v>3427.2</c:v>
                </c:pt>
                <c:pt idx="2">
                  <c:v>3794.4</c:v>
                </c:pt>
                <c:pt idx="3">
                  <c:v>3672</c:v>
                </c:pt>
                <c:pt idx="4">
                  <c:v>3794.4</c:v>
                </c:pt>
                <c:pt idx="5">
                  <c:v>3672</c:v>
                </c:pt>
                <c:pt idx="6">
                  <c:v>3794.4</c:v>
                </c:pt>
              </c:numCache>
            </c:numRef>
          </c:val>
          <c:extLst>
            <c:ext xmlns:c16="http://schemas.microsoft.com/office/drawing/2014/chart" uri="{C3380CC4-5D6E-409C-BE32-E72D297353CC}">
              <c16:uniqueId val="{00000005-FE8D-498B-BF3C-41B5FEC9E780}"/>
            </c:ext>
          </c:extLst>
        </c:ser>
        <c:ser>
          <c:idx val="6"/>
          <c:order val="6"/>
          <c:tx>
            <c:strRef>
              <c:f>Sheet1!$H$1</c:f>
              <c:strCache>
                <c:ptCount val="1"/>
                <c:pt idx="0">
                  <c:v>CloudWatch Log Groups</c:v>
                </c:pt>
              </c:strCache>
            </c:strRef>
          </c:tx>
          <c:spPr>
            <a:solidFill>
              <a:srgbClr val="2AD38C"/>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Sheet1!$H$2:$H$8</c:f>
              <c:numCache>
                <c:formatCode>General</c:formatCode>
                <c:ptCount val="7"/>
                <c:pt idx="0">
                  <c:v>2791.6</c:v>
                </c:pt>
                <c:pt idx="1">
                  <c:v>2486.91</c:v>
                </c:pt>
                <c:pt idx="2">
                  <c:v>2914.14</c:v>
                </c:pt>
                <c:pt idx="3">
                  <c:v>2895.9</c:v>
                </c:pt>
                <c:pt idx="4">
                  <c:v>3040.1</c:v>
                </c:pt>
                <c:pt idx="5">
                  <c:v>3061.85</c:v>
                </c:pt>
                <c:pt idx="6">
                  <c:v>2991.11</c:v>
                </c:pt>
              </c:numCache>
            </c:numRef>
          </c:val>
          <c:extLst>
            <c:ext xmlns:c16="http://schemas.microsoft.com/office/drawing/2014/chart" uri="{C3380CC4-5D6E-409C-BE32-E72D297353CC}">
              <c16:uniqueId val="{00000006-FE8D-498B-BF3C-41B5FEC9E780}"/>
            </c:ext>
          </c:extLst>
        </c:ser>
        <c:ser>
          <c:idx val="7"/>
          <c:order val="7"/>
          <c:tx>
            <c:strRef>
              <c:f>Sheet1!$I$1</c:f>
              <c:strCache>
                <c:ptCount val="1"/>
                <c:pt idx="0">
                  <c:v>all other services</c:v>
                </c:pt>
              </c:strCache>
            </c:strRef>
          </c:tx>
          <c:spPr>
            <a:solidFill>
              <a:srgbClr val="FFB84D"/>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Sheet1!$I$2:$I$8</c:f>
              <c:numCache>
                <c:formatCode>General</c:formatCode>
                <c:ptCount val="7"/>
                <c:pt idx="0">
                  <c:v>2981.34</c:v>
                </c:pt>
                <c:pt idx="1">
                  <c:v>4394.96</c:v>
                </c:pt>
                <c:pt idx="2">
                  <c:v>3697.84</c:v>
                </c:pt>
                <c:pt idx="3">
                  <c:v>2273.25</c:v>
                </c:pt>
                <c:pt idx="4">
                  <c:v>2037.07</c:v>
                </c:pt>
                <c:pt idx="5">
                  <c:v>1889.52</c:v>
                </c:pt>
                <c:pt idx="6">
                  <c:v>1276.28</c:v>
                </c:pt>
              </c:numCache>
            </c:numRef>
          </c:val>
          <c:extLst>
            <c:ext xmlns:c16="http://schemas.microsoft.com/office/drawing/2014/chart" uri="{C3380CC4-5D6E-409C-BE32-E72D297353CC}">
              <c16:uniqueId val="{00000007-FE8D-498B-BF3C-41B5FEC9E780}"/>
            </c:ext>
          </c:extLst>
        </c:ser>
        <c:ser>
          <c:idx val="8"/>
          <c:order val="8"/>
          <c:tx>
            <c:strRef>
              <c:f>Sheet1!$J$1</c:f>
              <c:strCache>
                <c:ptCount val="1"/>
                <c:pt idx="0">
                  <c:v>All other</c:v>
                </c:pt>
              </c:strCache>
            </c:strRef>
          </c:tx>
          <c:spPr>
            <a:solidFill>
              <a:srgbClr val="6C8CFF"/>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Sheet1!$J$2:$J$8</c:f>
              <c:numCache>
                <c:formatCode>General</c:formatCode>
                <c:ptCount val="7"/>
                <c:pt idx="0">
                  <c:v>21656.71000000001</c:v>
                </c:pt>
                <c:pt idx="1">
                  <c:v>19648.099999999999</c:v>
                </c:pt>
                <c:pt idx="2">
                  <c:v>34523.78</c:v>
                </c:pt>
                <c:pt idx="3">
                  <c:v>27513.360000000008</c:v>
                </c:pt>
                <c:pt idx="4">
                  <c:v>24430.3</c:v>
                </c:pt>
                <c:pt idx="5">
                  <c:v>28735.639999999996</c:v>
                </c:pt>
                <c:pt idx="6">
                  <c:v>16111.090000000006</c:v>
                </c:pt>
              </c:numCache>
            </c:numRef>
          </c:val>
          <c:extLst>
            <c:ext xmlns:c16="http://schemas.microsoft.com/office/drawing/2014/chart" uri="{C3380CC4-5D6E-409C-BE32-E72D297353CC}">
              <c16:uniqueId val="{00000008-FE8D-498B-BF3C-41B5FEC9E780}"/>
            </c:ext>
          </c:extLst>
        </c:ser>
        <c:dLbls>
          <c:showLegendKey val="0"/>
          <c:showVal val="0"/>
          <c:showCatName val="0"/>
          <c:showSerName val="0"/>
          <c:showPercent val="0"/>
          <c:showBubbleSize val="0"/>
        </c:dLbls>
        <c:gapWidth val="5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91A0B7"/>
                </a:solidFill>
                <a:latin typeface="Calibri"/>
              </a:defRPr>
            </a:pPr>
            <a:endParaRPr lang="he-IL"/>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23304A"/>
              </a:solidFill>
              <a:prstDash val="solid"/>
              <a:round/>
            </a:ln>
          </c:spPr>
        </c:majorGridlines>
        <c:numFmt formatCode="&quot;$&quot;#,##0" sourceLinked="0"/>
        <c:majorTickMark val="out"/>
        <c:minorTickMark val="none"/>
        <c:tickLblPos val="nextTo"/>
        <c:spPr>
          <a:ln w="12700" cap="flat">
            <a:noFill/>
            <a:prstDash val="solid"/>
            <a:round/>
          </a:ln>
        </c:spPr>
        <c:txPr>
          <a:bodyPr/>
          <a:lstStyle/>
          <a:p>
            <a:pPr>
              <a:defRPr sz="1200" b="0" i="0" u="none" strike="noStrike">
                <a:solidFill>
                  <a:srgbClr val="91A0B7"/>
                </a:solidFill>
                <a:latin typeface="Calibri"/>
              </a:defRPr>
            </a:pPr>
            <a:endParaRPr lang="he-IL"/>
          </a:p>
        </c:txPr>
        <c:crossAx val="2094734554"/>
        <c:crosses val="autoZero"/>
        <c:crossBetween val="between"/>
      </c:valAx>
      <c:spPr>
        <a:solidFill>
          <a:srgbClr val="070A12"/>
        </a:solidFill>
        <a:ln>
          <a:noFill/>
        </a:ln>
        <a:effectLst/>
      </c:spPr>
    </c:plotArea>
    <c:legend>
      <c:legendPos val="b"/>
      <c:overlay val="0"/>
      <c:txPr>
        <a:bodyPr/>
        <a:lstStyle/>
        <a:p>
          <a:pPr>
            <a:defRPr sz="1100">
              <a:solidFill>
                <a:srgbClr val="91A0B7"/>
              </a:solidFill>
              <a:latin typeface="Calibri"/>
              <a:cs typeface="Calibri"/>
            </a:defRPr>
          </a:pPr>
          <a:endParaRPr lang="he-IL"/>
        </a:p>
      </c:txPr>
    </c:legend>
    <c:plotVisOnly val="1"/>
    <c:dispBlanksAs val="span"/>
    <c:showDLblsOverMax val="1"/>
  </c:chart>
  <c:spPr>
    <a:solidFill>
      <a:srgbClr val="070A12"/>
    </a:solid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1"/>
  <c:style val="2"/>
  <c:chart>
    <c:autoTitleDeleted val="1"/>
    <c:plotArea>
      <c:layout/>
      <c:barChart>
        <c:barDir val="col"/>
        <c:grouping val="stacked"/>
        <c:varyColors val="0"/>
        <c:ser>
          <c:idx val="0"/>
          <c:order val="0"/>
          <c:tx>
            <c:strRef>
              <c:f>Sheet1!$B$1</c:f>
              <c:strCache>
                <c:ptCount val="1"/>
                <c:pt idx="0">
                  <c:v>datacloud</c:v>
                </c:pt>
              </c:strCache>
            </c:strRef>
          </c:tx>
          <c:spPr>
            <a:solidFill>
              <a:srgbClr val="2F8CFF"/>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Sheet1!$B$2:$B$8</c:f>
              <c:numCache>
                <c:formatCode>General</c:formatCode>
                <c:ptCount val="7"/>
                <c:pt idx="0">
                  <c:v>47462</c:v>
                </c:pt>
                <c:pt idx="1">
                  <c:v>49198.19</c:v>
                </c:pt>
                <c:pt idx="2">
                  <c:v>54536</c:v>
                </c:pt>
                <c:pt idx="3">
                  <c:v>50235.01</c:v>
                </c:pt>
                <c:pt idx="4">
                  <c:v>43924.46</c:v>
                </c:pt>
                <c:pt idx="5">
                  <c:v>44390</c:v>
                </c:pt>
                <c:pt idx="6">
                  <c:v>49118</c:v>
                </c:pt>
              </c:numCache>
            </c:numRef>
          </c:val>
          <c:extLst>
            <c:ext xmlns:c16="http://schemas.microsoft.com/office/drawing/2014/chart" uri="{C3380CC4-5D6E-409C-BE32-E72D297353CC}">
              <c16:uniqueId val="{00000000-F341-4A39-8380-354D4962DC58}"/>
            </c:ext>
          </c:extLst>
        </c:ser>
        <c:ser>
          <c:idx val="1"/>
          <c:order val="1"/>
          <c:tx>
            <c:strRef>
              <c:f>Sheet1!$C$1</c:f>
              <c:strCache>
                <c:ptCount val="1"/>
                <c:pt idx="0">
                  <c:v>sap</c:v>
                </c:pt>
              </c:strCache>
            </c:strRef>
          </c:tx>
          <c:spPr>
            <a:solidFill>
              <a:srgbClr val="3DD9EB"/>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Sheet1!$C$2:$C$8</c:f>
              <c:numCache>
                <c:formatCode>General</c:formatCode>
                <c:ptCount val="7"/>
                <c:pt idx="0">
                  <c:v>42266</c:v>
                </c:pt>
                <c:pt idx="1">
                  <c:v>39098.06</c:v>
                </c:pt>
                <c:pt idx="2">
                  <c:v>41546</c:v>
                </c:pt>
                <c:pt idx="3">
                  <c:v>40825.4</c:v>
                </c:pt>
                <c:pt idx="4">
                  <c:v>46601</c:v>
                </c:pt>
                <c:pt idx="5">
                  <c:v>42665</c:v>
                </c:pt>
                <c:pt idx="6">
                  <c:v>40925</c:v>
                </c:pt>
              </c:numCache>
            </c:numRef>
          </c:val>
          <c:extLst>
            <c:ext xmlns:c16="http://schemas.microsoft.com/office/drawing/2014/chart" uri="{C3380CC4-5D6E-409C-BE32-E72D297353CC}">
              <c16:uniqueId val="{00000001-F341-4A39-8380-354D4962DC58}"/>
            </c:ext>
          </c:extLst>
        </c:ser>
        <c:ser>
          <c:idx val="2"/>
          <c:order val="2"/>
          <c:tx>
            <c:strRef>
              <c:f>Sheet1!$D$1</c:f>
              <c:strCache>
                <c:ptCount val="1"/>
                <c:pt idx="0">
                  <c:v>cloudit</c:v>
                </c:pt>
              </c:strCache>
            </c:strRef>
          </c:tx>
          <c:spPr>
            <a:solidFill>
              <a:srgbClr val="FF9F43"/>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Sheet1!$D$2:$D$8</c:f>
              <c:numCache>
                <c:formatCode>General</c:formatCode>
                <c:ptCount val="7"/>
                <c:pt idx="0">
                  <c:v>30915</c:v>
                </c:pt>
                <c:pt idx="1">
                  <c:v>24680.95</c:v>
                </c:pt>
                <c:pt idx="2">
                  <c:v>40730</c:v>
                </c:pt>
                <c:pt idx="3">
                  <c:v>29195.48</c:v>
                </c:pt>
                <c:pt idx="4">
                  <c:v>28615</c:v>
                </c:pt>
                <c:pt idx="5">
                  <c:v>28585</c:v>
                </c:pt>
                <c:pt idx="6">
                  <c:v>33421</c:v>
                </c:pt>
              </c:numCache>
            </c:numRef>
          </c:val>
          <c:extLst>
            <c:ext xmlns:c16="http://schemas.microsoft.com/office/drawing/2014/chart" uri="{C3380CC4-5D6E-409C-BE32-E72D297353CC}">
              <c16:uniqueId val="{00000002-F341-4A39-8380-354D4962DC58}"/>
            </c:ext>
          </c:extLst>
        </c:ser>
        <c:ser>
          <c:idx val="3"/>
          <c:order val="3"/>
          <c:tx>
            <c:strRef>
              <c:f>Sheet1!$E$1</c:f>
              <c:strCache>
                <c:ptCount val="1"/>
                <c:pt idx="0">
                  <c:v>aifactory</c:v>
                </c:pt>
              </c:strCache>
            </c:strRef>
          </c:tx>
          <c:spPr>
            <a:solidFill>
              <a:srgbClr val="B07CFF"/>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Sheet1!$E$2:$E$8</c:f>
              <c:numCache>
                <c:formatCode>General</c:formatCode>
                <c:ptCount val="7"/>
                <c:pt idx="0">
                  <c:v>854</c:v>
                </c:pt>
                <c:pt idx="1">
                  <c:v>3477.58</c:v>
                </c:pt>
                <c:pt idx="2">
                  <c:v>12632</c:v>
                </c:pt>
                <c:pt idx="3">
                  <c:v>11675.62</c:v>
                </c:pt>
                <c:pt idx="4">
                  <c:v>13656</c:v>
                </c:pt>
                <c:pt idx="5">
                  <c:v>26476</c:v>
                </c:pt>
                <c:pt idx="6">
                  <c:v>24531</c:v>
                </c:pt>
              </c:numCache>
            </c:numRef>
          </c:val>
          <c:extLst>
            <c:ext xmlns:c16="http://schemas.microsoft.com/office/drawing/2014/chart" uri="{C3380CC4-5D6E-409C-BE32-E72D297353CC}">
              <c16:uniqueId val="{00000003-F341-4A39-8380-354D4962DC58}"/>
            </c:ext>
          </c:extLst>
        </c:ser>
        <c:ser>
          <c:idx val="4"/>
          <c:order val="4"/>
          <c:tx>
            <c:strRef>
              <c:f>Sheet1!$F$1</c:f>
              <c:strCache>
                <c:ptCount val="1"/>
                <c:pt idx="0">
                  <c:v>other</c:v>
                </c:pt>
              </c:strCache>
            </c:strRef>
          </c:tx>
          <c:spPr>
            <a:solidFill>
              <a:srgbClr val="3DDC97"/>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Sheet1!$F$2:$F$8</c:f>
              <c:numCache>
                <c:formatCode>General</c:formatCode>
                <c:ptCount val="7"/>
                <c:pt idx="0">
                  <c:v>4371</c:v>
                </c:pt>
                <c:pt idx="1">
                  <c:v>5240</c:v>
                </c:pt>
                <c:pt idx="2">
                  <c:v>5614</c:v>
                </c:pt>
                <c:pt idx="3">
                  <c:v>5760</c:v>
                </c:pt>
                <c:pt idx="4">
                  <c:v>8681.34</c:v>
                </c:pt>
                <c:pt idx="5">
                  <c:v>18094</c:v>
                </c:pt>
                <c:pt idx="6">
                  <c:v>22410</c:v>
                </c:pt>
              </c:numCache>
            </c:numRef>
          </c:val>
          <c:extLst>
            <c:ext xmlns:c16="http://schemas.microsoft.com/office/drawing/2014/chart" uri="{C3380CC4-5D6E-409C-BE32-E72D297353CC}">
              <c16:uniqueId val="{00000004-F341-4A39-8380-354D4962DC58}"/>
            </c:ext>
          </c:extLst>
        </c:ser>
        <c:ser>
          <c:idx val="5"/>
          <c:order val="5"/>
          <c:tx>
            <c:strRef>
              <c:f>Sheet1!$G$1</c:f>
              <c:strCache>
                <c:ptCount val="1"/>
                <c:pt idx="0">
                  <c:v>actuary</c:v>
                </c:pt>
              </c:strCache>
            </c:strRef>
          </c:tx>
          <c:spPr>
            <a:solidFill>
              <a:srgbClr val="FF6B7A"/>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Sheet1!$G$2:$G$8</c:f>
              <c:numCache>
                <c:formatCode>General</c:formatCode>
                <c:ptCount val="7"/>
                <c:pt idx="0">
                  <c:v>15102</c:v>
                </c:pt>
                <c:pt idx="1">
                  <c:v>4959.24</c:v>
                </c:pt>
                <c:pt idx="2">
                  <c:v>3549</c:v>
                </c:pt>
                <c:pt idx="3">
                  <c:v>5341</c:v>
                </c:pt>
                <c:pt idx="4">
                  <c:v>4672</c:v>
                </c:pt>
                <c:pt idx="5">
                  <c:v>2733</c:v>
                </c:pt>
                <c:pt idx="6">
                  <c:v>4058</c:v>
                </c:pt>
              </c:numCache>
            </c:numRef>
          </c:val>
          <c:extLst>
            <c:ext xmlns:c16="http://schemas.microsoft.com/office/drawing/2014/chart" uri="{C3380CC4-5D6E-409C-BE32-E72D297353CC}">
              <c16:uniqueId val="{00000005-F341-4A39-8380-354D4962DC58}"/>
            </c:ext>
          </c:extLst>
        </c:ser>
        <c:ser>
          <c:idx val="6"/>
          <c:order val="6"/>
          <c:tx>
            <c:strRef>
              <c:f>Sheet1!$H$1</c:f>
              <c:strCache>
                <c:ptCount val="1"/>
                <c:pt idx="0">
                  <c:v>Risk Agility</c:v>
                </c:pt>
              </c:strCache>
            </c:strRef>
          </c:tx>
          <c:spPr>
            <a:solidFill>
              <a:srgbClr val="2AD38C"/>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Sheet1!$H$2:$H$8</c:f>
              <c:numCache>
                <c:formatCode>General</c:formatCode>
                <c:ptCount val="7"/>
                <c:pt idx="0">
                  <c:v>13063</c:v>
                </c:pt>
                <c:pt idx="1">
                  <c:v>5274</c:v>
                </c:pt>
                <c:pt idx="2">
                  <c:v>2617</c:v>
                </c:pt>
                <c:pt idx="3">
                  <c:v>5768</c:v>
                </c:pt>
                <c:pt idx="4">
                  <c:v>2842</c:v>
                </c:pt>
                <c:pt idx="5">
                  <c:v>1031</c:v>
                </c:pt>
                <c:pt idx="6">
                  <c:v>1032</c:v>
                </c:pt>
              </c:numCache>
            </c:numRef>
          </c:val>
          <c:extLst>
            <c:ext xmlns:c16="http://schemas.microsoft.com/office/drawing/2014/chart" uri="{C3380CC4-5D6E-409C-BE32-E72D297353CC}">
              <c16:uniqueId val="{00000006-F341-4A39-8380-354D4962DC58}"/>
            </c:ext>
          </c:extLst>
        </c:ser>
        <c:ser>
          <c:idx val="7"/>
          <c:order val="7"/>
          <c:tx>
            <c:strRef>
              <c:f>Sheet1!$I$1</c:f>
              <c:strCache>
                <c:ptCount val="1"/>
                <c:pt idx="0">
                  <c:v>itsec</c:v>
                </c:pt>
              </c:strCache>
            </c:strRef>
          </c:tx>
          <c:spPr>
            <a:solidFill>
              <a:srgbClr val="FFB84D"/>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Sheet1!$I$2:$I$8</c:f>
              <c:numCache>
                <c:formatCode>General</c:formatCode>
                <c:ptCount val="7"/>
                <c:pt idx="0">
                  <c:v>2082</c:v>
                </c:pt>
                <c:pt idx="1">
                  <c:v>1733.66</c:v>
                </c:pt>
                <c:pt idx="2">
                  <c:v>1908</c:v>
                </c:pt>
                <c:pt idx="3">
                  <c:v>1897.79</c:v>
                </c:pt>
                <c:pt idx="4">
                  <c:v>2047</c:v>
                </c:pt>
                <c:pt idx="5">
                  <c:v>2059</c:v>
                </c:pt>
                <c:pt idx="6">
                  <c:v>2221</c:v>
                </c:pt>
              </c:numCache>
            </c:numRef>
          </c:val>
          <c:extLst>
            <c:ext xmlns:c16="http://schemas.microsoft.com/office/drawing/2014/chart" uri="{C3380CC4-5D6E-409C-BE32-E72D297353CC}">
              <c16:uniqueId val="{00000007-F341-4A39-8380-354D4962DC58}"/>
            </c:ext>
          </c:extLst>
        </c:ser>
        <c:ser>
          <c:idx val="8"/>
          <c:order val="8"/>
          <c:tx>
            <c:strRef>
              <c:f>Sheet1!$J$1</c:f>
              <c:strCache>
                <c:ptCount val="1"/>
                <c:pt idx="0">
                  <c:v>All other</c:v>
                </c:pt>
              </c:strCache>
            </c:strRef>
          </c:tx>
          <c:spPr>
            <a:solidFill>
              <a:srgbClr val="6C8CFF"/>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Sheet1!$J$2:$J$8</c:f>
              <c:numCache>
                <c:formatCode>General</c:formatCode>
                <c:ptCount val="7"/>
                <c:pt idx="0">
                  <c:v>874.61</c:v>
                </c:pt>
                <c:pt idx="1">
                  <c:v>2079.7999999999997</c:v>
                </c:pt>
                <c:pt idx="2">
                  <c:v>2067</c:v>
                </c:pt>
                <c:pt idx="3">
                  <c:v>1879.0600000000002</c:v>
                </c:pt>
                <c:pt idx="4">
                  <c:v>1224.2</c:v>
                </c:pt>
                <c:pt idx="5">
                  <c:v>1373</c:v>
                </c:pt>
                <c:pt idx="6">
                  <c:v>9201</c:v>
                </c:pt>
              </c:numCache>
            </c:numRef>
          </c:val>
          <c:extLst>
            <c:ext xmlns:c16="http://schemas.microsoft.com/office/drawing/2014/chart" uri="{C3380CC4-5D6E-409C-BE32-E72D297353CC}">
              <c16:uniqueId val="{00000008-F341-4A39-8380-354D4962DC58}"/>
            </c:ext>
          </c:extLst>
        </c:ser>
        <c:dLbls>
          <c:showLegendKey val="0"/>
          <c:showVal val="0"/>
          <c:showCatName val="0"/>
          <c:showSerName val="0"/>
          <c:showPercent val="0"/>
          <c:showBubbleSize val="0"/>
        </c:dLbls>
        <c:gapWidth val="5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91A0B7"/>
                </a:solidFill>
                <a:latin typeface="Calibri"/>
              </a:defRPr>
            </a:pPr>
            <a:endParaRPr lang="he-IL"/>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23304A"/>
              </a:solidFill>
              <a:prstDash val="solid"/>
              <a:round/>
            </a:ln>
          </c:spPr>
        </c:majorGridlines>
        <c:numFmt formatCode="&quot;$&quot;#,##0" sourceLinked="0"/>
        <c:majorTickMark val="out"/>
        <c:minorTickMark val="none"/>
        <c:tickLblPos val="nextTo"/>
        <c:spPr>
          <a:ln w="12700" cap="flat">
            <a:noFill/>
            <a:prstDash val="solid"/>
            <a:round/>
          </a:ln>
        </c:spPr>
        <c:txPr>
          <a:bodyPr/>
          <a:lstStyle/>
          <a:p>
            <a:pPr>
              <a:defRPr sz="1200" b="0" i="0" u="none" strike="noStrike">
                <a:solidFill>
                  <a:srgbClr val="91A0B7"/>
                </a:solidFill>
                <a:latin typeface="Calibri"/>
              </a:defRPr>
            </a:pPr>
            <a:endParaRPr lang="he-IL"/>
          </a:p>
        </c:txPr>
        <c:crossAx val="2094734554"/>
        <c:crosses val="autoZero"/>
        <c:crossBetween val="between"/>
      </c:valAx>
      <c:spPr>
        <a:solidFill>
          <a:srgbClr val="070A12"/>
        </a:solidFill>
        <a:ln>
          <a:noFill/>
        </a:ln>
        <a:effectLst/>
      </c:spPr>
    </c:plotArea>
    <c:legend>
      <c:legendPos val="b"/>
      <c:overlay val="0"/>
      <c:txPr>
        <a:bodyPr/>
        <a:lstStyle/>
        <a:p>
          <a:pPr>
            <a:defRPr sz="1100">
              <a:solidFill>
                <a:srgbClr val="91A0B7"/>
              </a:solidFill>
              <a:latin typeface="Calibri"/>
              <a:cs typeface="Calibri"/>
            </a:defRPr>
          </a:pPr>
          <a:endParaRPr lang="he-IL"/>
        </a:p>
      </c:txPr>
    </c:legend>
    <c:plotVisOnly val="1"/>
    <c:dispBlanksAs val="span"/>
    <c:showDLblsOverMax val="1"/>
  </c:chart>
  <c:spPr>
    <a:solidFill>
      <a:srgbClr val="070A12"/>
    </a:solid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1"/>
  <c:style val="2"/>
  <c:chart>
    <c:autoTitleDeleted val="1"/>
    <c:plotArea>
      <c:layout/>
      <c:barChart>
        <c:barDir val="col"/>
        <c:grouping val="stacked"/>
        <c:varyColors val="0"/>
        <c:ser>
          <c:idx val="0"/>
          <c:order val="0"/>
          <c:tx>
            <c:strRef>
              <c:f>Sheet1!$B$1</c:f>
              <c:strCache>
                <c:ptCount val="1"/>
                <c:pt idx="0">
                  <c:v>Virtual Machines</c:v>
                </c:pt>
              </c:strCache>
            </c:strRef>
          </c:tx>
          <c:spPr>
            <a:solidFill>
              <a:srgbClr val="2F8CFF"/>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Sheet1!$B$2:$B$8</c:f>
              <c:numCache>
                <c:formatCode>General</c:formatCode>
                <c:ptCount val="7"/>
                <c:pt idx="0">
                  <c:v>58546.14</c:v>
                </c:pt>
                <c:pt idx="1">
                  <c:v>48277</c:v>
                </c:pt>
                <c:pt idx="2">
                  <c:v>52579.27</c:v>
                </c:pt>
                <c:pt idx="3">
                  <c:v>51502.75</c:v>
                </c:pt>
                <c:pt idx="4">
                  <c:v>57465.99</c:v>
                </c:pt>
                <c:pt idx="5">
                  <c:v>52188.55</c:v>
                </c:pt>
                <c:pt idx="6">
                  <c:v>53314.28</c:v>
                </c:pt>
              </c:numCache>
            </c:numRef>
          </c:val>
          <c:extLst>
            <c:ext xmlns:c16="http://schemas.microsoft.com/office/drawing/2014/chart" uri="{C3380CC4-5D6E-409C-BE32-E72D297353CC}">
              <c16:uniqueId val="{00000000-B0DC-427D-8A55-1FFDC572EFE1}"/>
            </c:ext>
          </c:extLst>
        </c:ser>
        <c:ser>
          <c:idx val="1"/>
          <c:order val="1"/>
          <c:tx>
            <c:strRef>
              <c:f>Sheet1!$C$1</c:f>
              <c:strCache>
                <c:ptCount val="1"/>
                <c:pt idx="0">
                  <c:v>Storage</c:v>
                </c:pt>
              </c:strCache>
            </c:strRef>
          </c:tx>
          <c:spPr>
            <a:solidFill>
              <a:srgbClr val="3DD9EB"/>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Sheet1!$C$2:$C$8</c:f>
              <c:numCache>
                <c:formatCode>General</c:formatCode>
                <c:ptCount val="7"/>
                <c:pt idx="0">
                  <c:v>24139.41</c:v>
                </c:pt>
                <c:pt idx="1">
                  <c:v>22951</c:v>
                </c:pt>
                <c:pt idx="2">
                  <c:v>22458.080000000002</c:v>
                </c:pt>
                <c:pt idx="3">
                  <c:v>22680.51</c:v>
                </c:pt>
                <c:pt idx="4">
                  <c:v>24615.18</c:v>
                </c:pt>
                <c:pt idx="5">
                  <c:v>25022.53</c:v>
                </c:pt>
                <c:pt idx="6">
                  <c:v>26364.22</c:v>
                </c:pt>
              </c:numCache>
            </c:numRef>
          </c:val>
          <c:extLst>
            <c:ext xmlns:c16="http://schemas.microsoft.com/office/drawing/2014/chart" uri="{C3380CC4-5D6E-409C-BE32-E72D297353CC}">
              <c16:uniqueId val="{00000001-B0DC-427D-8A55-1FFDC572EFE1}"/>
            </c:ext>
          </c:extLst>
        </c:ser>
        <c:ser>
          <c:idx val="2"/>
          <c:order val="2"/>
          <c:tx>
            <c:strRef>
              <c:f>Sheet1!$D$1</c:f>
              <c:strCache>
                <c:ptCount val="1"/>
                <c:pt idx="0">
                  <c:v>Virtual Network</c:v>
                </c:pt>
              </c:strCache>
            </c:strRef>
          </c:tx>
          <c:spPr>
            <a:solidFill>
              <a:srgbClr val="FF9F43"/>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Sheet1!$D$2:$D$8</c:f>
              <c:numCache>
                <c:formatCode>General</c:formatCode>
                <c:ptCount val="7"/>
                <c:pt idx="0">
                  <c:v>12726.23</c:v>
                </c:pt>
                <c:pt idx="1">
                  <c:v>12145</c:v>
                </c:pt>
                <c:pt idx="2">
                  <c:v>14087.61</c:v>
                </c:pt>
                <c:pt idx="3">
                  <c:v>15311.83</c:v>
                </c:pt>
                <c:pt idx="4">
                  <c:v>18338.27</c:v>
                </c:pt>
                <c:pt idx="5">
                  <c:v>18564.990000000002</c:v>
                </c:pt>
                <c:pt idx="6">
                  <c:v>21999.599999999999</c:v>
                </c:pt>
              </c:numCache>
            </c:numRef>
          </c:val>
          <c:extLst>
            <c:ext xmlns:c16="http://schemas.microsoft.com/office/drawing/2014/chart" uri="{C3380CC4-5D6E-409C-BE32-E72D297353CC}">
              <c16:uniqueId val="{00000002-B0DC-427D-8A55-1FFDC572EFE1}"/>
            </c:ext>
          </c:extLst>
        </c:ser>
        <c:ser>
          <c:idx val="3"/>
          <c:order val="3"/>
          <c:tx>
            <c:strRef>
              <c:f>Sheet1!$E$1</c:f>
              <c:strCache>
                <c:ptCount val="1"/>
                <c:pt idx="0">
                  <c:v>Other services</c:v>
                </c:pt>
              </c:strCache>
            </c:strRef>
          </c:tx>
          <c:spPr>
            <a:solidFill>
              <a:srgbClr val="B07CFF"/>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Sheet1!$E$2:$E$8</c:f>
              <c:numCache>
                <c:formatCode>General</c:formatCode>
                <c:ptCount val="7"/>
                <c:pt idx="0">
                  <c:v>11748.56</c:v>
                </c:pt>
                <c:pt idx="1">
                  <c:v>10773</c:v>
                </c:pt>
                <c:pt idx="2">
                  <c:v>12318.12</c:v>
                </c:pt>
                <c:pt idx="3">
                  <c:v>12412.59</c:v>
                </c:pt>
                <c:pt idx="4">
                  <c:v>15149.61</c:v>
                </c:pt>
                <c:pt idx="5">
                  <c:v>18338.580000000002</c:v>
                </c:pt>
                <c:pt idx="6">
                  <c:v>20600.18</c:v>
                </c:pt>
              </c:numCache>
            </c:numRef>
          </c:val>
          <c:extLst>
            <c:ext xmlns:c16="http://schemas.microsoft.com/office/drawing/2014/chart" uri="{C3380CC4-5D6E-409C-BE32-E72D297353CC}">
              <c16:uniqueId val="{00000003-B0DC-427D-8A55-1FFDC572EFE1}"/>
            </c:ext>
          </c:extLst>
        </c:ser>
        <c:ser>
          <c:idx val="4"/>
          <c:order val="4"/>
          <c:tx>
            <c:strRef>
              <c:f>Sheet1!$F$1</c:f>
              <c:strCache>
                <c:ptCount val="1"/>
                <c:pt idx="0">
                  <c:v>Azure Databricks</c:v>
                </c:pt>
              </c:strCache>
            </c:strRef>
          </c:tx>
          <c:spPr>
            <a:solidFill>
              <a:srgbClr val="3DDC97"/>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Sheet1!$F$2:$F$8</c:f>
              <c:numCache>
                <c:formatCode>General</c:formatCode>
                <c:ptCount val="7"/>
                <c:pt idx="0">
                  <c:v>24556.13</c:v>
                </c:pt>
                <c:pt idx="1">
                  <c:v>18645</c:v>
                </c:pt>
                <c:pt idx="2">
                  <c:v>22427.89</c:v>
                </c:pt>
                <c:pt idx="3">
                  <c:v>19936.330000000002</c:v>
                </c:pt>
                <c:pt idx="4">
                  <c:v>0</c:v>
                </c:pt>
                <c:pt idx="5">
                  <c:v>0</c:v>
                </c:pt>
                <c:pt idx="6">
                  <c:v>0</c:v>
                </c:pt>
              </c:numCache>
            </c:numRef>
          </c:val>
          <c:extLst>
            <c:ext xmlns:c16="http://schemas.microsoft.com/office/drawing/2014/chart" uri="{C3380CC4-5D6E-409C-BE32-E72D297353CC}">
              <c16:uniqueId val="{00000004-B0DC-427D-8A55-1FFDC572EFE1}"/>
            </c:ext>
          </c:extLst>
        </c:ser>
        <c:ser>
          <c:idx val="5"/>
          <c:order val="5"/>
          <c:tx>
            <c:strRef>
              <c:f>Sheet1!$G$1</c:f>
              <c:strCache>
                <c:ptCount val="1"/>
                <c:pt idx="0">
                  <c:v>GitHub</c:v>
                </c:pt>
              </c:strCache>
            </c:strRef>
          </c:tx>
          <c:spPr>
            <a:solidFill>
              <a:srgbClr val="FF6B7A"/>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Sheet1!$G$2:$G$8</c:f>
              <c:numCache>
                <c:formatCode>General</c:formatCode>
                <c:ptCount val="7"/>
                <c:pt idx="0">
                  <c:v>2778.52</c:v>
                </c:pt>
                <c:pt idx="1">
                  <c:v>3618</c:v>
                </c:pt>
                <c:pt idx="2">
                  <c:v>4319.13</c:v>
                </c:pt>
                <c:pt idx="3">
                  <c:v>4079.57</c:v>
                </c:pt>
                <c:pt idx="4">
                  <c:v>6467.04</c:v>
                </c:pt>
                <c:pt idx="5">
                  <c:v>16654.2</c:v>
                </c:pt>
                <c:pt idx="6">
                  <c:v>19259.78</c:v>
                </c:pt>
              </c:numCache>
            </c:numRef>
          </c:val>
          <c:extLst>
            <c:ext xmlns:c16="http://schemas.microsoft.com/office/drawing/2014/chart" uri="{C3380CC4-5D6E-409C-BE32-E72D297353CC}">
              <c16:uniqueId val="{00000005-B0DC-427D-8A55-1FFDC572EFE1}"/>
            </c:ext>
          </c:extLst>
        </c:ser>
        <c:ser>
          <c:idx val="6"/>
          <c:order val="6"/>
          <c:tx>
            <c:strRef>
              <c:f>Sheet1!$H$1</c:f>
              <c:strCache>
                <c:ptCount val="1"/>
                <c:pt idx="0">
                  <c:v>Foundry Models</c:v>
                </c:pt>
              </c:strCache>
            </c:strRef>
          </c:tx>
          <c:spPr>
            <a:solidFill>
              <a:srgbClr val="2AD38C"/>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Sheet1!$H$2:$H$8</c:f>
              <c:numCache>
                <c:formatCode>General</c:formatCode>
                <c:ptCount val="7"/>
                <c:pt idx="0">
                  <c:v>1353.37</c:v>
                </c:pt>
                <c:pt idx="1">
                  <c:v>2260</c:v>
                </c:pt>
                <c:pt idx="2">
                  <c:v>4236.3500000000004</c:v>
                </c:pt>
                <c:pt idx="3">
                  <c:v>8369.39</c:v>
                </c:pt>
                <c:pt idx="4">
                  <c:v>11512.76</c:v>
                </c:pt>
                <c:pt idx="5">
                  <c:v>15453.34</c:v>
                </c:pt>
                <c:pt idx="6">
                  <c:v>12291.25</c:v>
                </c:pt>
              </c:numCache>
            </c:numRef>
          </c:val>
          <c:extLst>
            <c:ext xmlns:c16="http://schemas.microsoft.com/office/drawing/2014/chart" uri="{C3380CC4-5D6E-409C-BE32-E72D297353CC}">
              <c16:uniqueId val="{00000006-B0DC-427D-8A55-1FFDC572EFE1}"/>
            </c:ext>
          </c:extLst>
        </c:ser>
        <c:ser>
          <c:idx val="7"/>
          <c:order val="7"/>
          <c:tx>
            <c:strRef>
              <c:f>Sheet1!$I$1</c:f>
              <c:strCache>
                <c:ptCount val="1"/>
                <c:pt idx="0">
                  <c:v>Log Analytics</c:v>
                </c:pt>
              </c:strCache>
            </c:strRef>
          </c:tx>
          <c:spPr>
            <a:solidFill>
              <a:srgbClr val="FFB84D"/>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Sheet1!$I$2:$I$8</c:f>
              <c:numCache>
                <c:formatCode>General</c:formatCode>
                <c:ptCount val="7"/>
                <c:pt idx="0">
                  <c:v>7521.92</c:v>
                </c:pt>
                <c:pt idx="1">
                  <c:v>3955</c:v>
                </c:pt>
                <c:pt idx="2">
                  <c:v>10858.98</c:v>
                </c:pt>
                <c:pt idx="3">
                  <c:v>3911.97</c:v>
                </c:pt>
                <c:pt idx="4">
                  <c:v>2204.52</c:v>
                </c:pt>
                <c:pt idx="5">
                  <c:v>2318.73</c:v>
                </c:pt>
                <c:pt idx="6">
                  <c:v>2680.5</c:v>
                </c:pt>
              </c:numCache>
            </c:numRef>
          </c:val>
          <c:extLst>
            <c:ext xmlns:c16="http://schemas.microsoft.com/office/drawing/2014/chart" uri="{C3380CC4-5D6E-409C-BE32-E72D297353CC}">
              <c16:uniqueId val="{00000007-B0DC-427D-8A55-1FFDC572EFE1}"/>
            </c:ext>
          </c:extLst>
        </c:ser>
        <c:ser>
          <c:idx val="8"/>
          <c:order val="8"/>
          <c:tx>
            <c:strRef>
              <c:f>Sheet1!$J$1</c:f>
              <c:strCache>
                <c:ptCount val="1"/>
                <c:pt idx="0">
                  <c:v>All other</c:v>
                </c:pt>
              </c:strCache>
            </c:strRef>
          </c:tx>
          <c:spPr>
            <a:solidFill>
              <a:srgbClr val="6C8CFF"/>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Sheet1!$J$2:$J$8</c:f>
              <c:numCache>
                <c:formatCode>General</c:formatCode>
                <c:ptCount val="7"/>
                <c:pt idx="0">
                  <c:v>13619.52</c:v>
                </c:pt>
                <c:pt idx="1">
                  <c:v>13118</c:v>
                </c:pt>
                <c:pt idx="2">
                  <c:v>21913.22</c:v>
                </c:pt>
                <c:pt idx="3">
                  <c:v>14372.410000000002</c:v>
                </c:pt>
                <c:pt idx="4">
                  <c:v>16509.63</c:v>
                </c:pt>
                <c:pt idx="5">
                  <c:v>18865.080000000005</c:v>
                </c:pt>
                <c:pt idx="6">
                  <c:v>30407.200000000001</c:v>
                </c:pt>
              </c:numCache>
            </c:numRef>
          </c:val>
          <c:extLst>
            <c:ext xmlns:c16="http://schemas.microsoft.com/office/drawing/2014/chart" uri="{C3380CC4-5D6E-409C-BE32-E72D297353CC}">
              <c16:uniqueId val="{00000008-B0DC-427D-8A55-1FFDC572EFE1}"/>
            </c:ext>
          </c:extLst>
        </c:ser>
        <c:dLbls>
          <c:showLegendKey val="0"/>
          <c:showVal val="0"/>
          <c:showCatName val="0"/>
          <c:showSerName val="0"/>
          <c:showPercent val="0"/>
          <c:showBubbleSize val="0"/>
        </c:dLbls>
        <c:gapWidth val="5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91A0B7"/>
                </a:solidFill>
                <a:latin typeface="Calibri"/>
              </a:defRPr>
            </a:pPr>
            <a:endParaRPr lang="he-IL"/>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23304A"/>
              </a:solidFill>
              <a:prstDash val="solid"/>
              <a:round/>
            </a:ln>
          </c:spPr>
        </c:majorGridlines>
        <c:numFmt formatCode="&quot;$&quot;#,##0" sourceLinked="0"/>
        <c:majorTickMark val="out"/>
        <c:minorTickMark val="none"/>
        <c:tickLblPos val="nextTo"/>
        <c:spPr>
          <a:ln w="12700" cap="flat">
            <a:noFill/>
            <a:prstDash val="solid"/>
            <a:round/>
          </a:ln>
        </c:spPr>
        <c:txPr>
          <a:bodyPr/>
          <a:lstStyle/>
          <a:p>
            <a:pPr>
              <a:defRPr sz="1200" b="0" i="0" u="none" strike="noStrike">
                <a:solidFill>
                  <a:srgbClr val="91A0B7"/>
                </a:solidFill>
                <a:latin typeface="Calibri"/>
              </a:defRPr>
            </a:pPr>
            <a:endParaRPr lang="he-IL"/>
          </a:p>
        </c:txPr>
        <c:crossAx val="2094734554"/>
        <c:crosses val="autoZero"/>
        <c:crossBetween val="between"/>
      </c:valAx>
      <c:spPr>
        <a:solidFill>
          <a:srgbClr val="070A12"/>
        </a:solidFill>
        <a:ln>
          <a:noFill/>
        </a:ln>
        <a:effectLst/>
      </c:spPr>
    </c:plotArea>
    <c:legend>
      <c:legendPos val="b"/>
      <c:overlay val="0"/>
      <c:txPr>
        <a:bodyPr/>
        <a:lstStyle/>
        <a:p>
          <a:pPr>
            <a:defRPr sz="1100">
              <a:solidFill>
                <a:srgbClr val="91A0B7"/>
              </a:solidFill>
              <a:latin typeface="Calibri"/>
              <a:cs typeface="Calibri"/>
            </a:defRPr>
          </a:pPr>
          <a:endParaRPr lang="he-IL"/>
        </a:p>
      </c:txPr>
    </c:legend>
    <c:plotVisOnly val="1"/>
    <c:dispBlanksAs val="span"/>
    <c:showDLblsOverMax val="1"/>
  </c:chart>
  <c:spPr>
    <a:solidFill>
      <a:srgbClr val="070A12"/>
    </a:solid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1"/>
  <c:style val="2"/>
  <c:chart>
    <c:autoTitleDeleted val="1"/>
    <c:plotArea>
      <c:layout/>
      <c:barChart>
        <c:barDir val="col"/>
        <c:grouping val="stacked"/>
        <c:varyColors val="0"/>
        <c:ser>
          <c:idx val="0"/>
          <c:order val="0"/>
          <c:tx>
            <c:strRef>
              <c:f>Sheet1!$B$1</c:f>
              <c:strCache>
                <c:ptCount val="1"/>
                <c:pt idx="0">
                  <c:v>Virtual Machines</c:v>
                </c:pt>
              </c:strCache>
            </c:strRef>
          </c:tx>
          <c:spPr>
            <a:solidFill>
              <a:srgbClr val="2F8CFF"/>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Sheet1!$B$2:$B$8</c:f>
              <c:numCache>
                <c:formatCode>General</c:formatCode>
                <c:ptCount val="7"/>
                <c:pt idx="0">
                  <c:v>8001.69</c:v>
                </c:pt>
                <c:pt idx="1">
                  <c:v>8851</c:v>
                </c:pt>
                <c:pt idx="2">
                  <c:v>9977</c:v>
                </c:pt>
                <c:pt idx="3">
                  <c:v>8938.34</c:v>
                </c:pt>
                <c:pt idx="4">
                  <c:v>10192.34</c:v>
                </c:pt>
                <c:pt idx="5">
                  <c:v>10365.58</c:v>
                </c:pt>
                <c:pt idx="6">
                  <c:v>11078.33</c:v>
                </c:pt>
              </c:numCache>
            </c:numRef>
          </c:val>
          <c:extLst>
            <c:ext xmlns:c16="http://schemas.microsoft.com/office/drawing/2014/chart" uri="{C3380CC4-5D6E-409C-BE32-E72D297353CC}">
              <c16:uniqueId val="{00000000-A580-483C-B42E-F9A018373946}"/>
            </c:ext>
          </c:extLst>
        </c:ser>
        <c:ser>
          <c:idx val="1"/>
          <c:order val="1"/>
          <c:tx>
            <c:strRef>
              <c:f>Sheet1!$C$1</c:f>
              <c:strCache>
                <c:ptCount val="1"/>
                <c:pt idx="0">
                  <c:v>Azure Databricks</c:v>
                </c:pt>
              </c:strCache>
            </c:strRef>
          </c:tx>
          <c:spPr>
            <a:solidFill>
              <a:srgbClr val="3DD9EB"/>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Sheet1!$C$2:$C$8</c:f>
              <c:numCache>
                <c:formatCode>General</c:formatCode>
                <c:ptCount val="7"/>
                <c:pt idx="0">
                  <c:v>13661.81</c:v>
                </c:pt>
                <c:pt idx="1">
                  <c:v>14023</c:v>
                </c:pt>
                <c:pt idx="2">
                  <c:v>19412</c:v>
                </c:pt>
                <c:pt idx="3">
                  <c:v>16633.53</c:v>
                </c:pt>
                <c:pt idx="4">
                  <c:v>0</c:v>
                </c:pt>
                <c:pt idx="5">
                  <c:v>0</c:v>
                </c:pt>
                <c:pt idx="6">
                  <c:v>0</c:v>
                </c:pt>
              </c:numCache>
            </c:numRef>
          </c:val>
          <c:extLst>
            <c:ext xmlns:c16="http://schemas.microsoft.com/office/drawing/2014/chart" uri="{C3380CC4-5D6E-409C-BE32-E72D297353CC}">
              <c16:uniqueId val="{00000001-A580-483C-B42E-F9A018373946}"/>
            </c:ext>
          </c:extLst>
        </c:ser>
        <c:ser>
          <c:idx val="2"/>
          <c:order val="2"/>
          <c:tx>
            <c:strRef>
              <c:f>Sheet1!$D$1</c:f>
              <c:strCache>
                <c:ptCount val="1"/>
                <c:pt idx="0">
                  <c:v>Storage</c:v>
                </c:pt>
              </c:strCache>
            </c:strRef>
          </c:tx>
          <c:spPr>
            <a:solidFill>
              <a:srgbClr val="FF9F43"/>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Sheet1!$D$2:$D$8</c:f>
              <c:numCache>
                <c:formatCode>General</c:formatCode>
                <c:ptCount val="7"/>
                <c:pt idx="0">
                  <c:v>5134.3100000000004</c:v>
                </c:pt>
                <c:pt idx="1">
                  <c:v>5630</c:v>
                </c:pt>
                <c:pt idx="2">
                  <c:v>5747</c:v>
                </c:pt>
                <c:pt idx="3">
                  <c:v>5515.42</c:v>
                </c:pt>
                <c:pt idx="4">
                  <c:v>6124.59</c:v>
                </c:pt>
                <c:pt idx="5">
                  <c:v>6488.31</c:v>
                </c:pt>
                <c:pt idx="6">
                  <c:v>6847.08</c:v>
                </c:pt>
              </c:numCache>
            </c:numRef>
          </c:val>
          <c:extLst>
            <c:ext xmlns:c16="http://schemas.microsoft.com/office/drawing/2014/chart" uri="{C3380CC4-5D6E-409C-BE32-E72D297353CC}">
              <c16:uniqueId val="{00000002-A580-483C-B42E-F9A018373946}"/>
            </c:ext>
          </c:extLst>
        </c:ser>
        <c:ser>
          <c:idx val="3"/>
          <c:order val="3"/>
          <c:tx>
            <c:strRef>
              <c:f>Sheet1!$E$1</c:f>
              <c:strCache>
                <c:ptCount val="1"/>
                <c:pt idx="0">
                  <c:v>Virtual Network</c:v>
                </c:pt>
              </c:strCache>
            </c:strRef>
          </c:tx>
          <c:spPr>
            <a:solidFill>
              <a:srgbClr val="B07CFF"/>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Sheet1!$E$2:$E$8</c:f>
              <c:numCache>
                <c:formatCode>General</c:formatCode>
                <c:ptCount val="7"/>
                <c:pt idx="0">
                  <c:v>4756.18</c:v>
                </c:pt>
                <c:pt idx="1">
                  <c:v>4988</c:v>
                </c:pt>
                <c:pt idx="2">
                  <c:v>5905.3</c:v>
                </c:pt>
                <c:pt idx="3">
                  <c:v>5036.83</c:v>
                </c:pt>
                <c:pt idx="4">
                  <c:v>5067.49</c:v>
                </c:pt>
                <c:pt idx="5">
                  <c:v>6698.63</c:v>
                </c:pt>
                <c:pt idx="6">
                  <c:v>7400.62</c:v>
                </c:pt>
              </c:numCache>
            </c:numRef>
          </c:val>
          <c:extLst>
            <c:ext xmlns:c16="http://schemas.microsoft.com/office/drawing/2014/chart" uri="{C3380CC4-5D6E-409C-BE32-E72D297353CC}">
              <c16:uniqueId val="{00000003-A580-483C-B42E-F9A018373946}"/>
            </c:ext>
          </c:extLst>
        </c:ser>
        <c:ser>
          <c:idx val="4"/>
          <c:order val="4"/>
          <c:tx>
            <c:strRef>
              <c:f>Sheet1!$F$1</c:f>
              <c:strCache>
                <c:ptCount val="1"/>
                <c:pt idx="0">
                  <c:v>Foundry Models</c:v>
                </c:pt>
              </c:strCache>
            </c:strRef>
          </c:tx>
          <c:spPr>
            <a:solidFill>
              <a:srgbClr val="3DDC97"/>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Sheet1!$F$2:$F$8</c:f>
              <c:numCache>
                <c:formatCode>General</c:formatCode>
                <c:ptCount val="7"/>
                <c:pt idx="0">
                  <c:v>1347.06</c:v>
                </c:pt>
                <c:pt idx="1">
                  <c:v>2243</c:v>
                </c:pt>
                <c:pt idx="2">
                  <c:v>1274.47</c:v>
                </c:pt>
                <c:pt idx="3">
                  <c:v>4218.08</c:v>
                </c:pt>
                <c:pt idx="4">
                  <c:v>10329.629999999999</c:v>
                </c:pt>
                <c:pt idx="5">
                  <c:v>5769.96</c:v>
                </c:pt>
                <c:pt idx="6">
                  <c:v>6649.77</c:v>
                </c:pt>
              </c:numCache>
            </c:numRef>
          </c:val>
          <c:extLst>
            <c:ext xmlns:c16="http://schemas.microsoft.com/office/drawing/2014/chart" uri="{C3380CC4-5D6E-409C-BE32-E72D297353CC}">
              <c16:uniqueId val="{00000004-A580-483C-B42E-F9A018373946}"/>
            </c:ext>
          </c:extLst>
        </c:ser>
        <c:ser>
          <c:idx val="5"/>
          <c:order val="5"/>
          <c:tx>
            <c:strRef>
              <c:f>Sheet1!$G$1</c:f>
              <c:strCache>
                <c:ptCount val="1"/>
                <c:pt idx="0">
                  <c:v>Foundry Tools</c:v>
                </c:pt>
              </c:strCache>
            </c:strRef>
          </c:tx>
          <c:spPr>
            <a:solidFill>
              <a:srgbClr val="FF6B7A"/>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Sheet1!$G$2:$G$8</c:f>
              <c:numCache>
                <c:formatCode>General</c:formatCode>
                <c:ptCount val="7"/>
                <c:pt idx="0">
                  <c:v>4271.49</c:v>
                </c:pt>
                <c:pt idx="1">
                  <c:v>4337</c:v>
                </c:pt>
                <c:pt idx="2">
                  <c:v>3298.75</c:v>
                </c:pt>
                <c:pt idx="3">
                  <c:v>1922.73</c:v>
                </c:pt>
                <c:pt idx="4">
                  <c:v>3305.17</c:v>
                </c:pt>
                <c:pt idx="5">
                  <c:v>5675.5</c:v>
                </c:pt>
                <c:pt idx="6">
                  <c:v>6603.58</c:v>
                </c:pt>
              </c:numCache>
            </c:numRef>
          </c:val>
          <c:extLst>
            <c:ext xmlns:c16="http://schemas.microsoft.com/office/drawing/2014/chart" uri="{C3380CC4-5D6E-409C-BE32-E72D297353CC}">
              <c16:uniqueId val="{00000005-A580-483C-B42E-F9A018373946}"/>
            </c:ext>
          </c:extLst>
        </c:ser>
        <c:ser>
          <c:idx val="6"/>
          <c:order val="6"/>
          <c:tx>
            <c:strRef>
              <c:f>Sheet1!$H$1</c:f>
              <c:strCache>
                <c:ptCount val="1"/>
                <c:pt idx="0">
                  <c:v>All other</c:v>
                </c:pt>
              </c:strCache>
            </c:strRef>
          </c:tx>
          <c:spPr>
            <a:solidFill>
              <a:srgbClr val="2AD38C"/>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Sheet1!$H$2:$H$8</c:f>
              <c:numCache>
                <c:formatCode>General</c:formatCode>
                <c:ptCount val="7"/>
                <c:pt idx="0">
                  <c:v>10289.35</c:v>
                </c:pt>
                <c:pt idx="1">
                  <c:v>9126</c:v>
                </c:pt>
                <c:pt idx="2">
                  <c:v>8921.9800000000014</c:v>
                </c:pt>
                <c:pt idx="3">
                  <c:v>7970.0800000000008</c:v>
                </c:pt>
                <c:pt idx="4">
                  <c:v>8905.24</c:v>
                </c:pt>
                <c:pt idx="5">
                  <c:v>9392.630000000001</c:v>
                </c:pt>
                <c:pt idx="6">
                  <c:v>10538.439999999999</c:v>
                </c:pt>
              </c:numCache>
            </c:numRef>
          </c:val>
          <c:extLst>
            <c:ext xmlns:c16="http://schemas.microsoft.com/office/drawing/2014/chart" uri="{C3380CC4-5D6E-409C-BE32-E72D297353CC}">
              <c16:uniqueId val="{00000006-A580-483C-B42E-F9A018373946}"/>
            </c:ext>
          </c:extLst>
        </c:ser>
        <c:dLbls>
          <c:showLegendKey val="0"/>
          <c:showVal val="0"/>
          <c:showCatName val="0"/>
          <c:showSerName val="0"/>
          <c:showPercent val="0"/>
          <c:showBubbleSize val="0"/>
        </c:dLbls>
        <c:gapWidth val="5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91A0B7"/>
                </a:solidFill>
                <a:latin typeface="Calibri"/>
              </a:defRPr>
            </a:pPr>
            <a:endParaRPr lang="he-IL"/>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23304A"/>
              </a:solidFill>
              <a:prstDash val="solid"/>
              <a:round/>
            </a:ln>
          </c:spPr>
        </c:majorGridlines>
        <c:numFmt formatCode="&quot;$&quot;#,##0" sourceLinked="0"/>
        <c:majorTickMark val="out"/>
        <c:minorTickMark val="none"/>
        <c:tickLblPos val="nextTo"/>
        <c:spPr>
          <a:ln w="12700" cap="flat">
            <a:noFill/>
            <a:prstDash val="solid"/>
            <a:round/>
          </a:ln>
        </c:spPr>
        <c:txPr>
          <a:bodyPr/>
          <a:lstStyle/>
          <a:p>
            <a:pPr>
              <a:defRPr sz="1200" b="0" i="0" u="none" strike="noStrike">
                <a:solidFill>
                  <a:srgbClr val="91A0B7"/>
                </a:solidFill>
                <a:latin typeface="Calibri"/>
              </a:defRPr>
            </a:pPr>
            <a:endParaRPr lang="he-IL"/>
          </a:p>
        </c:txPr>
        <c:crossAx val="2094734554"/>
        <c:crosses val="autoZero"/>
        <c:crossBetween val="between"/>
      </c:valAx>
      <c:spPr>
        <a:solidFill>
          <a:srgbClr val="070A12"/>
        </a:solidFill>
        <a:ln>
          <a:noFill/>
        </a:ln>
        <a:effectLst/>
      </c:spPr>
    </c:plotArea>
    <c:legend>
      <c:legendPos val="b"/>
      <c:overlay val="0"/>
      <c:txPr>
        <a:bodyPr/>
        <a:lstStyle/>
        <a:p>
          <a:pPr>
            <a:defRPr sz="1100">
              <a:solidFill>
                <a:srgbClr val="91A0B7"/>
              </a:solidFill>
              <a:latin typeface="Calibri"/>
              <a:cs typeface="Calibri"/>
            </a:defRPr>
          </a:pPr>
          <a:endParaRPr lang="he-IL"/>
        </a:p>
      </c:txPr>
    </c:legend>
    <c:plotVisOnly val="1"/>
    <c:dispBlanksAs val="span"/>
    <c:showDLblsOverMax val="1"/>
  </c:chart>
  <c:spPr>
    <a:solidFill>
      <a:srgbClr val="070A12"/>
    </a:solid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1"/>
  <c:style val="2"/>
  <c:chart>
    <c:autoTitleDeleted val="1"/>
    <c:plotArea>
      <c:layout/>
      <c:barChart>
        <c:barDir val="col"/>
        <c:grouping val="stacked"/>
        <c:varyColors val="0"/>
        <c:ser>
          <c:idx val="0"/>
          <c:order val="0"/>
          <c:tx>
            <c:strRef>
              <c:f>Sheet1!$B$1</c:f>
              <c:strCache>
                <c:ptCount val="1"/>
                <c:pt idx="0">
                  <c:v>DataCloud prod</c:v>
                </c:pt>
              </c:strCache>
            </c:strRef>
          </c:tx>
          <c:spPr>
            <a:solidFill>
              <a:srgbClr val="2F8CFF"/>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Sheet1!$B$2:$B$8</c:f>
              <c:numCache>
                <c:formatCode>General</c:formatCode>
                <c:ptCount val="7"/>
                <c:pt idx="0">
                  <c:v>40269.800000000003</c:v>
                </c:pt>
                <c:pt idx="1">
                  <c:v>41870.089999999997</c:v>
                </c:pt>
                <c:pt idx="2">
                  <c:v>48649</c:v>
                </c:pt>
                <c:pt idx="3">
                  <c:v>42196.41</c:v>
                </c:pt>
                <c:pt idx="4">
                  <c:v>29317.96</c:v>
                </c:pt>
                <c:pt idx="5">
                  <c:v>33038.949999999997</c:v>
                </c:pt>
                <c:pt idx="6">
                  <c:v>36010.25</c:v>
                </c:pt>
              </c:numCache>
            </c:numRef>
          </c:val>
          <c:extLst>
            <c:ext xmlns:c16="http://schemas.microsoft.com/office/drawing/2014/chart" uri="{C3380CC4-5D6E-409C-BE32-E72D297353CC}">
              <c16:uniqueId val="{00000000-90D1-4C4B-840C-4C96612F5768}"/>
            </c:ext>
          </c:extLst>
        </c:ser>
        <c:ser>
          <c:idx val="1"/>
          <c:order val="1"/>
          <c:tx>
            <c:strRef>
              <c:f>Sheet1!$C$1</c:f>
              <c:strCache>
                <c:ptCount val="1"/>
                <c:pt idx="0">
                  <c:v>Solugen Production</c:v>
                </c:pt>
              </c:strCache>
            </c:strRef>
          </c:tx>
          <c:spPr>
            <a:solidFill>
              <a:srgbClr val="3DD9EB"/>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Sheet1!$C$2:$C$8</c:f>
              <c:numCache>
                <c:formatCode>General</c:formatCode>
                <c:ptCount val="7"/>
                <c:pt idx="0">
                  <c:v>854.16</c:v>
                </c:pt>
                <c:pt idx="1">
                  <c:v>702.78</c:v>
                </c:pt>
                <c:pt idx="2">
                  <c:v>620.89</c:v>
                </c:pt>
                <c:pt idx="3">
                  <c:v>1545.48</c:v>
                </c:pt>
                <c:pt idx="4">
                  <c:v>10021.98</c:v>
                </c:pt>
                <c:pt idx="5">
                  <c:v>6749.23</c:v>
                </c:pt>
                <c:pt idx="6">
                  <c:v>8415.8700000000008</c:v>
                </c:pt>
              </c:numCache>
            </c:numRef>
          </c:val>
          <c:extLst>
            <c:ext xmlns:c16="http://schemas.microsoft.com/office/drawing/2014/chart" uri="{C3380CC4-5D6E-409C-BE32-E72D297353CC}">
              <c16:uniqueId val="{00000001-90D1-4C4B-840C-4C96612F5768}"/>
            </c:ext>
          </c:extLst>
        </c:ser>
        <c:ser>
          <c:idx val="2"/>
          <c:order val="2"/>
          <c:tx>
            <c:strRef>
              <c:f>Sheet1!$D$1</c:f>
              <c:strCache>
                <c:ptCount val="1"/>
                <c:pt idx="0">
                  <c:v>DataCloud dev</c:v>
                </c:pt>
              </c:strCache>
            </c:strRef>
          </c:tx>
          <c:spPr>
            <a:solidFill>
              <a:srgbClr val="FF9F43"/>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Sheet1!$D$2:$D$8</c:f>
              <c:numCache>
                <c:formatCode>General</c:formatCode>
                <c:ptCount val="7"/>
                <c:pt idx="0">
                  <c:v>3242.73</c:v>
                </c:pt>
                <c:pt idx="1">
                  <c:v>2995.17</c:v>
                </c:pt>
                <c:pt idx="2">
                  <c:v>2380</c:v>
                </c:pt>
                <c:pt idx="3">
                  <c:v>3985.63</c:v>
                </c:pt>
                <c:pt idx="4">
                  <c:v>1715.02</c:v>
                </c:pt>
                <c:pt idx="5">
                  <c:v>1838.65</c:v>
                </c:pt>
                <c:pt idx="6">
                  <c:v>1579.05</c:v>
                </c:pt>
              </c:numCache>
            </c:numRef>
          </c:val>
          <c:extLst>
            <c:ext xmlns:c16="http://schemas.microsoft.com/office/drawing/2014/chart" uri="{C3380CC4-5D6E-409C-BE32-E72D297353CC}">
              <c16:uniqueId val="{00000002-90D1-4C4B-840C-4C96612F5768}"/>
            </c:ext>
          </c:extLst>
        </c:ser>
        <c:ser>
          <c:idx val="3"/>
          <c:order val="3"/>
          <c:tx>
            <c:strRef>
              <c:f>Sheet1!$E$1</c:f>
              <c:strCache>
                <c:ptCount val="1"/>
                <c:pt idx="0">
                  <c:v>INSAIT Production</c:v>
                </c:pt>
              </c:strCache>
            </c:strRef>
          </c:tx>
          <c:spPr>
            <a:solidFill>
              <a:srgbClr val="B07CFF"/>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Sheet1!$E$2:$E$8</c:f>
              <c:numCache>
                <c:formatCode>General</c:formatCode>
                <c:ptCount val="7"/>
                <c:pt idx="0">
                  <c:v>1063.6300000000001</c:v>
                </c:pt>
                <c:pt idx="1">
                  <c:v>1914.41</c:v>
                </c:pt>
                <c:pt idx="2">
                  <c:v>1364.48</c:v>
                </c:pt>
                <c:pt idx="3">
                  <c:v>1354.4</c:v>
                </c:pt>
                <c:pt idx="4">
                  <c:v>1456.6</c:v>
                </c:pt>
                <c:pt idx="5">
                  <c:v>1604.48</c:v>
                </c:pt>
                <c:pt idx="6">
                  <c:v>1983.38</c:v>
                </c:pt>
              </c:numCache>
            </c:numRef>
          </c:val>
          <c:extLst>
            <c:ext xmlns:c16="http://schemas.microsoft.com/office/drawing/2014/chart" uri="{C3380CC4-5D6E-409C-BE32-E72D297353CC}">
              <c16:uniqueId val="{00000003-90D1-4C4B-840C-4C96612F5768}"/>
            </c:ext>
          </c:extLst>
        </c:ser>
        <c:ser>
          <c:idx val="4"/>
          <c:order val="4"/>
          <c:tx>
            <c:strRef>
              <c:f>Sheet1!$F$1</c:f>
              <c:strCache>
                <c:ptCount val="1"/>
                <c:pt idx="0">
                  <c:v>DataCloud dev 1</c:v>
                </c:pt>
              </c:strCache>
            </c:strRef>
          </c:tx>
          <c:spPr>
            <a:solidFill>
              <a:srgbClr val="3DDC97"/>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Sheet1!$F$2:$F$8</c:f>
              <c:numCache>
                <c:formatCode>General</c:formatCode>
                <c:ptCount val="7"/>
                <c:pt idx="0">
                  <c:v>324.17</c:v>
                </c:pt>
                <c:pt idx="1">
                  <c:v>275</c:v>
                </c:pt>
                <c:pt idx="2">
                  <c:v>285.86</c:v>
                </c:pt>
                <c:pt idx="3">
                  <c:v>269.83999999999997</c:v>
                </c:pt>
                <c:pt idx="4">
                  <c:v>281.57</c:v>
                </c:pt>
                <c:pt idx="5">
                  <c:v>269.20999999999998</c:v>
                </c:pt>
                <c:pt idx="6">
                  <c:v>278.23</c:v>
                </c:pt>
              </c:numCache>
            </c:numRef>
          </c:val>
          <c:extLst>
            <c:ext xmlns:c16="http://schemas.microsoft.com/office/drawing/2014/chart" uri="{C3380CC4-5D6E-409C-BE32-E72D297353CC}">
              <c16:uniqueId val="{00000004-90D1-4C4B-840C-4C96612F5768}"/>
            </c:ext>
          </c:extLst>
        </c:ser>
        <c:ser>
          <c:idx val="5"/>
          <c:order val="5"/>
          <c:tx>
            <c:strRef>
              <c:f>Sheet1!$G$1</c:f>
              <c:strCache>
                <c:ptCount val="1"/>
                <c:pt idx="0">
                  <c:v>Sandbox System</c:v>
                </c:pt>
              </c:strCache>
            </c:strRef>
          </c:tx>
          <c:spPr>
            <a:solidFill>
              <a:srgbClr val="FF6B7A"/>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Sheet1!$G$2:$G$8</c:f>
              <c:numCache>
                <c:formatCode>General</c:formatCode>
                <c:ptCount val="7"/>
                <c:pt idx="0">
                  <c:v>263.89</c:v>
                </c:pt>
                <c:pt idx="1">
                  <c:v>308.02999999999997</c:v>
                </c:pt>
                <c:pt idx="2">
                  <c:v>265</c:v>
                </c:pt>
                <c:pt idx="3">
                  <c:v>260.07</c:v>
                </c:pt>
                <c:pt idx="4">
                  <c:v>335.75</c:v>
                </c:pt>
                <c:pt idx="5">
                  <c:v>256.14</c:v>
                </c:pt>
                <c:pt idx="6">
                  <c:v>267.43</c:v>
                </c:pt>
              </c:numCache>
            </c:numRef>
          </c:val>
          <c:extLst>
            <c:ext xmlns:c16="http://schemas.microsoft.com/office/drawing/2014/chart" uri="{C3380CC4-5D6E-409C-BE32-E72D297353CC}">
              <c16:uniqueId val="{00000005-90D1-4C4B-840C-4C96612F5768}"/>
            </c:ext>
          </c:extLst>
        </c:ser>
        <c:ser>
          <c:idx val="6"/>
          <c:order val="6"/>
          <c:tx>
            <c:strRef>
              <c:f>Sheet1!$H$1</c:f>
              <c:strCache>
                <c:ptCount val="1"/>
                <c:pt idx="0">
                  <c:v>All other</c:v>
                </c:pt>
              </c:strCache>
            </c:strRef>
          </c:tx>
          <c:spPr>
            <a:solidFill>
              <a:srgbClr val="2AD38C"/>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Sheet1!$H$2:$H$8</c:f>
              <c:numCache>
                <c:formatCode>General</c:formatCode>
                <c:ptCount val="7"/>
                <c:pt idx="0">
                  <c:v>1443.54</c:v>
                </c:pt>
                <c:pt idx="1">
                  <c:v>1132.52</c:v>
                </c:pt>
                <c:pt idx="2">
                  <c:v>971.12000000000012</c:v>
                </c:pt>
                <c:pt idx="3">
                  <c:v>623.18999999999983</c:v>
                </c:pt>
                <c:pt idx="4">
                  <c:v>796.06999999999994</c:v>
                </c:pt>
                <c:pt idx="5">
                  <c:v>633.94999999999993</c:v>
                </c:pt>
                <c:pt idx="6">
                  <c:v>583.62</c:v>
                </c:pt>
              </c:numCache>
            </c:numRef>
          </c:val>
          <c:extLst>
            <c:ext xmlns:c16="http://schemas.microsoft.com/office/drawing/2014/chart" uri="{C3380CC4-5D6E-409C-BE32-E72D297353CC}">
              <c16:uniqueId val="{00000006-90D1-4C4B-840C-4C96612F5768}"/>
            </c:ext>
          </c:extLst>
        </c:ser>
        <c:dLbls>
          <c:showLegendKey val="0"/>
          <c:showVal val="0"/>
          <c:showCatName val="0"/>
          <c:showSerName val="0"/>
          <c:showPercent val="0"/>
          <c:showBubbleSize val="0"/>
        </c:dLbls>
        <c:gapWidth val="5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91A0B7"/>
                </a:solidFill>
                <a:latin typeface="Calibri"/>
              </a:defRPr>
            </a:pPr>
            <a:endParaRPr lang="he-IL"/>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23304A"/>
              </a:solidFill>
              <a:prstDash val="solid"/>
              <a:round/>
            </a:ln>
          </c:spPr>
        </c:majorGridlines>
        <c:numFmt formatCode="&quot;$&quot;#,##0" sourceLinked="0"/>
        <c:majorTickMark val="out"/>
        <c:minorTickMark val="none"/>
        <c:tickLblPos val="nextTo"/>
        <c:spPr>
          <a:ln w="12700" cap="flat">
            <a:noFill/>
            <a:prstDash val="solid"/>
            <a:round/>
          </a:ln>
        </c:spPr>
        <c:txPr>
          <a:bodyPr/>
          <a:lstStyle/>
          <a:p>
            <a:pPr>
              <a:defRPr sz="1200" b="0" i="0" u="none" strike="noStrike">
                <a:solidFill>
                  <a:srgbClr val="91A0B7"/>
                </a:solidFill>
                <a:latin typeface="Calibri"/>
              </a:defRPr>
            </a:pPr>
            <a:endParaRPr lang="he-IL"/>
          </a:p>
        </c:txPr>
        <c:crossAx val="2094734554"/>
        <c:crosses val="autoZero"/>
        <c:crossBetween val="between"/>
      </c:valAx>
      <c:spPr>
        <a:solidFill>
          <a:srgbClr val="070A12"/>
        </a:solidFill>
        <a:ln>
          <a:noFill/>
        </a:ln>
        <a:effectLst/>
      </c:spPr>
    </c:plotArea>
    <c:legend>
      <c:legendPos val="b"/>
      <c:overlay val="0"/>
      <c:txPr>
        <a:bodyPr/>
        <a:lstStyle/>
        <a:p>
          <a:pPr>
            <a:defRPr sz="1100">
              <a:solidFill>
                <a:srgbClr val="91A0B7"/>
              </a:solidFill>
              <a:latin typeface="Calibri"/>
              <a:cs typeface="Calibri"/>
            </a:defRPr>
          </a:pPr>
          <a:endParaRPr lang="he-IL"/>
        </a:p>
      </c:txPr>
    </c:legend>
    <c:plotVisOnly val="1"/>
    <c:dispBlanksAs val="span"/>
    <c:showDLblsOverMax val="1"/>
  </c:chart>
  <c:spPr>
    <a:solidFill>
      <a:srgbClr val="070A12"/>
    </a:solid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1"/>
  <c:style val="2"/>
  <c:chart>
    <c:autoTitleDeleted val="1"/>
    <c:plotArea>
      <c:layout/>
      <c:barChart>
        <c:barDir val="col"/>
        <c:grouping val="stacked"/>
        <c:varyColors val="0"/>
        <c:ser>
          <c:idx val="0"/>
          <c:order val="0"/>
          <c:tx>
            <c:strRef>
              <c:f>Sheet1!$B$1</c:f>
              <c:strCache>
                <c:ptCount val="1"/>
                <c:pt idx="0">
                  <c:v>Virtual Machines</c:v>
                </c:pt>
              </c:strCache>
            </c:strRef>
          </c:tx>
          <c:spPr>
            <a:solidFill>
              <a:srgbClr val="2F8CFF"/>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Sheet1!$B$2:$B$8</c:f>
              <c:numCache>
                <c:formatCode>General</c:formatCode>
                <c:ptCount val="7"/>
                <c:pt idx="0">
                  <c:v>30152.87</c:v>
                </c:pt>
                <c:pt idx="1">
                  <c:v>28348</c:v>
                </c:pt>
                <c:pt idx="2">
                  <c:v>31348</c:v>
                </c:pt>
                <c:pt idx="3">
                  <c:v>30597</c:v>
                </c:pt>
                <c:pt idx="4">
                  <c:v>35586.32</c:v>
                </c:pt>
                <c:pt idx="5">
                  <c:v>31413</c:v>
                </c:pt>
                <c:pt idx="6">
                  <c:v>30117</c:v>
                </c:pt>
              </c:numCache>
            </c:numRef>
          </c:val>
          <c:extLst>
            <c:ext xmlns:c16="http://schemas.microsoft.com/office/drawing/2014/chart" uri="{C3380CC4-5D6E-409C-BE32-E72D297353CC}">
              <c16:uniqueId val="{00000000-B5B3-415D-8B37-41E08BF57B07}"/>
            </c:ext>
          </c:extLst>
        </c:ser>
        <c:ser>
          <c:idx val="1"/>
          <c:order val="1"/>
          <c:tx>
            <c:strRef>
              <c:f>Sheet1!$C$1</c:f>
              <c:strCache>
                <c:ptCount val="1"/>
                <c:pt idx="0">
                  <c:v>Storage</c:v>
                </c:pt>
              </c:strCache>
            </c:strRef>
          </c:tx>
          <c:spPr>
            <a:solidFill>
              <a:srgbClr val="3DD9EB"/>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Sheet1!$C$2:$C$8</c:f>
              <c:numCache>
                <c:formatCode>General</c:formatCode>
                <c:ptCount val="7"/>
                <c:pt idx="0">
                  <c:v>11916.96</c:v>
                </c:pt>
                <c:pt idx="1">
                  <c:v>10639</c:v>
                </c:pt>
                <c:pt idx="2">
                  <c:v>10074</c:v>
                </c:pt>
                <c:pt idx="3">
                  <c:v>10076</c:v>
                </c:pt>
                <c:pt idx="4">
                  <c:v>10811.81</c:v>
                </c:pt>
                <c:pt idx="5">
                  <c:v>11077</c:v>
                </c:pt>
                <c:pt idx="6">
                  <c:v>10526</c:v>
                </c:pt>
              </c:numCache>
            </c:numRef>
          </c:val>
          <c:extLst>
            <c:ext xmlns:c16="http://schemas.microsoft.com/office/drawing/2014/chart" uri="{C3380CC4-5D6E-409C-BE32-E72D297353CC}">
              <c16:uniqueId val="{00000001-B5B3-415D-8B37-41E08BF57B07}"/>
            </c:ext>
          </c:extLst>
        </c:ser>
        <c:ser>
          <c:idx val="2"/>
          <c:order val="2"/>
          <c:tx>
            <c:strRef>
              <c:f>Sheet1!$D$1</c:f>
              <c:strCache>
                <c:ptCount val="1"/>
                <c:pt idx="0">
                  <c:v>Virtual Network</c:v>
                </c:pt>
              </c:strCache>
            </c:strRef>
          </c:tx>
          <c:spPr>
            <a:solidFill>
              <a:srgbClr val="FF9F43"/>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Sheet1!$D$2:$D$8</c:f>
              <c:numCache>
                <c:formatCode>General</c:formatCode>
                <c:ptCount val="7"/>
                <c:pt idx="0">
                  <c:v>195.78</c:v>
                </c:pt>
                <c:pt idx="1">
                  <c:v>112</c:v>
                </c:pt>
                <c:pt idx="2">
                  <c:v>124</c:v>
                </c:pt>
                <c:pt idx="3">
                  <c:v>153</c:v>
                </c:pt>
                <c:pt idx="4">
                  <c:v>166.67</c:v>
                </c:pt>
                <c:pt idx="5">
                  <c:v>134</c:v>
                </c:pt>
                <c:pt idx="6">
                  <c:v>238</c:v>
                </c:pt>
              </c:numCache>
            </c:numRef>
          </c:val>
          <c:extLst>
            <c:ext xmlns:c16="http://schemas.microsoft.com/office/drawing/2014/chart" uri="{C3380CC4-5D6E-409C-BE32-E72D297353CC}">
              <c16:uniqueId val="{00000002-B5B3-415D-8B37-41E08BF57B07}"/>
            </c:ext>
          </c:extLst>
        </c:ser>
        <c:ser>
          <c:idx val="3"/>
          <c:order val="3"/>
          <c:tx>
            <c:strRef>
              <c:f>Sheet1!$E$1</c:f>
              <c:strCache>
                <c:ptCount val="1"/>
                <c:pt idx="0">
                  <c:v>Virtual Machines Licenses</c:v>
                </c:pt>
              </c:strCache>
            </c:strRef>
          </c:tx>
          <c:spPr>
            <a:solidFill>
              <a:srgbClr val="B07CFF"/>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Sheet1!$E$2:$E$8</c:f>
              <c:numCache>
                <c:formatCode>General</c:formatCode>
                <c:ptCount val="7"/>
                <c:pt idx="0">
                  <c:v>0</c:v>
                </c:pt>
                <c:pt idx="1">
                  <c:v>0</c:v>
                </c:pt>
                <c:pt idx="2">
                  <c:v>0</c:v>
                </c:pt>
                <c:pt idx="3">
                  <c:v>0</c:v>
                </c:pt>
                <c:pt idx="4">
                  <c:v>36.53</c:v>
                </c:pt>
                <c:pt idx="5">
                  <c:v>41</c:v>
                </c:pt>
                <c:pt idx="6">
                  <c:v>43</c:v>
                </c:pt>
              </c:numCache>
            </c:numRef>
          </c:val>
          <c:extLst>
            <c:ext xmlns:c16="http://schemas.microsoft.com/office/drawing/2014/chart" uri="{C3380CC4-5D6E-409C-BE32-E72D297353CC}">
              <c16:uniqueId val="{00000003-B5B3-415D-8B37-41E08BF57B07}"/>
            </c:ext>
          </c:extLst>
        </c:ser>
        <c:ser>
          <c:idx val="4"/>
          <c:order val="4"/>
          <c:tx>
            <c:strRef>
              <c:f>Sheet1!$F$1</c:f>
              <c:strCache>
                <c:ptCount val="1"/>
                <c:pt idx="0">
                  <c:v>Bandwidth</c:v>
                </c:pt>
              </c:strCache>
            </c:strRef>
          </c:tx>
          <c:spPr>
            <a:solidFill>
              <a:srgbClr val="3DDC97"/>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Sheet1!$F$2:$F$8</c:f>
              <c:numCache>
                <c:formatCode>General</c:formatCode>
                <c:ptCount val="7"/>
                <c:pt idx="0">
                  <c:v>0</c:v>
                </c:pt>
                <c:pt idx="1">
                  <c:v>0</c:v>
                </c:pt>
                <c:pt idx="2">
                  <c:v>0</c:v>
                </c:pt>
                <c:pt idx="3">
                  <c:v>0</c:v>
                </c:pt>
                <c:pt idx="4">
                  <c:v>0.01</c:v>
                </c:pt>
                <c:pt idx="5">
                  <c:v>0</c:v>
                </c:pt>
                <c:pt idx="6">
                  <c:v>0</c:v>
                </c:pt>
              </c:numCache>
            </c:numRef>
          </c:val>
          <c:extLst>
            <c:ext xmlns:c16="http://schemas.microsoft.com/office/drawing/2014/chart" uri="{C3380CC4-5D6E-409C-BE32-E72D297353CC}">
              <c16:uniqueId val="{00000004-B5B3-415D-8B37-41E08BF57B07}"/>
            </c:ext>
          </c:extLst>
        </c:ser>
        <c:dLbls>
          <c:showLegendKey val="0"/>
          <c:showVal val="0"/>
          <c:showCatName val="0"/>
          <c:showSerName val="0"/>
          <c:showPercent val="0"/>
          <c:showBubbleSize val="0"/>
        </c:dLbls>
        <c:gapWidth val="5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91A0B7"/>
                </a:solidFill>
                <a:latin typeface="Calibri"/>
              </a:defRPr>
            </a:pPr>
            <a:endParaRPr lang="he-IL"/>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23304A"/>
              </a:solidFill>
              <a:prstDash val="solid"/>
              <a:round/>
            </a:ln>
          </c:spPr>
        </c:majorGridlines>
        <c:numFmt formatCode="&quot;$&quot;#,##0" sourceLinked="0"/>
        <c:majorTickMark val="out"/>
        <c:minorTickMark val="none"/>
        <c:tickLblPos val="nextTo"/>
        <c:spPr>
          <a:ln w="12700" cap="flat">
            <a:noFill/>
            <a:prstDash val="solid"/>
            <a:round/>
          </a:ln>
        </c:spPr>
        <c:txPr>
          <a:bodyPr/>
          <a:lstStyle/>
          <a:p>
            <a:pPr>
              <a:defRPr sz="1200" b="0" i="0" u="none" strike="noStrike">
                <a:solidFill>
                  <a:srgbClr val="91A0B7"/>
                </a:solidFill>
                <a:latin typeface="Calibri"/>
              </a:defRPr>
            </a:pPr>
            <a:endParaRPr lang="he-IL"/>
          </a:p>
        </c:txPr>
        <c:crossAx val="2094734554"/>
        <c:crosses val="autoZero"/>
        <c:crossBetween val="between"/>
      </c:valAx>
      <c:spPr>
        <a:solidFill>
          <a:srgbClr val="070A12"/>
        </a:solidFill>
        <a:ln>
          <a:noFill/>
        </a:ln>
        <a:effectLst/>
      </c:spPr>
    </c:plotArea>
    <c:legend>
      <c:legendPos val="b"/>
      <c:overlay val="0"/>
      <c:txPr>
        <a:bodyPr/>
        <a:lstStyle/>
        <a:p>
          <a:pPr>
            <a:defRPr sz="1100">
              <a:solidFill>
                <a:srgbClr val="91A0B7"/>
              </a:solidFill>
              <a:latin typeface="Calibri"/>
              <a:cs typeface="Calibri"/>
            </a:defRPr>
          </a:pPr>
          <a:endParaRPr lang="he-IL"/>
        </a:p>
      </c:txPr>
    </c:legend>
    <c:plotVisOnly val="1"/>
    <c:dispBlanksAs val="span"/>
    <c:showDLblsOverMax val="1"/>
  </c:chart>
  <c:spPr>
    <a:solidFill>
      <a:srgbClr val="070A12"/>
    </a:solid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1"/>
  <c:style val="2"/>
  <c:chart>
    <c:autoTitleDeleted val="1"/>
    <c:plotArea>
      <c:layout/>
      <c:barChart>
        <c:barDir val="col"/>
        <c:grouping val="stacked"/>
        <c:varyColors val="0"/>
        <c:ser>
          <c:idx val="0"/>
          <c:order val="0"/>
          <c:tx>
            <c:strRef>
              <c:f>Sheet1!$B$1</c:f>
              <c:strCache>
                <c:ptCount val="1"/>
                <c:pt idx="0">
                  <c:v>SAP Dev/Test</c:v>
                </c:pt>
              </c:strCache>
            </c:strRef>
          </c:tx>
          <c:spPr>
            <a:solidFill>
              <a:srgbClr val="2F8CFF"/>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Sheet1!$B$2:$B$8</c:f>
              <c:numCache>
                <c:formatCode>General</c:formatCode>
                <c:ptCount val="7"/>
                <c:pt idx="0">
                  <c:v>23275.74</c:v>
                </c:pt>
                <c:pt idx="1">
                  <c:v>22687</c:v>
                </c:pt>
                <c:pt idx="2">
                  <c:v>24090</c:v>
                </c:pt>
                <c:pt idx="3">
                  <c:v>23647</c:v>
                </c:pt>
                <c:pt idx="4">
                  <c:v>26321.74</c:v>
                </c:pt>
                <c:pt idx="5">
                  <c:v>24985</c:v>
                </c:pt>
                <c:pt idx="6">
                  <c:v>23467</c:v>
                </c:pt>
              </c:numCache>
            </c:numRef>
          </c:val>
          <c:extLst>
            <c:ext xmlns:c16="http://schemas.microsoft.com/office/drawing/2014/chart" uri="{C3380CC4-5D6E-409C-BE32-E72D297353CC}">
              <c16:uniqueId val="{00000000-4E75-4989-B5B5-0376CA53C9B4}"/>
            </c:ext>
          </c:extLst>
        </c:ser>
        <c:ser>
          <c:idx val="1"/>
          <c:order val="1"/>
          <c:tx>
            <c:strRef>
              <c:f>Sheet1!$C$1</c:f>
              <c:strCache>
                <c:ptCount val="1"/>
                <c:pt idx="0">
                  <c:v>SAP Production</c:v>
                </c:pt>
              </c:strCache>
            </c:strRef>
          </c:tx>
          <c:spPr>
            <a:solidFill>
              <a:srgbClr val="3DD9EB"/>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Sheet1!$C$2:$C$8</c:f>
              <c:numCache>
                <c:formatCode>General</c:formatCode>
                <c:ptCount val="7"/>
                <c:pt idx="0">
                  <c:v>18989.88</c:v>
                </c:pt>
                <c:pt idx="1">
                  <c:v>16411</c:v>
                </c:pt>
                <c:pt idx="2">
                  <c:v>17456</c:v>
                </c:pt>
                <c:pt idx="3">
                  <c:v>17178</c:v>
                </c:pt>
                <c:pt idx="4">
                  <c:v>20279.59</c:v>
                </c:pt>
                <c:pt idx="5">
                  <c:v>17680</c:v>
                </c:pt>
                <c:pt idx="6">
                  <c:v>17457</c:v>
                </c:pt>
              </c:numCache>
            </c:numRef>
          </c:val>
          <c:extLst>
            <c:ext xmlns:c16="http://schemas.microsoft.com/office/drawing/2014/chart" uri="{C3380CC4-5D6E-409C-BE32-E72D297353CC}">
              <c16:uniqueId val="{00000001-4E75-4989-B5B5-0376CA53C9B4}"/>
            </c:ext>
          </c:extLst>
        </c:ser>
        <c:dLbls>
          <c:showLegendKey val="0"/>
          <c:showVal val="0"/>
          <c:showCatName val="0"/>
          <c:showSerName val="0"/>
          <c:showPercent val="0"/>
          <c:showBubbleSize val="0"/>
        </c:dLbls>
        <c:gapWidth val="5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91A0B7"/>
                </a:solidFill>
                <a:latin typeface="Calibri"/>
              </a:defRPr>
            </a:pPr>
            <a:endParaRPr lang="he-IL"/>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23304A"/>
              </a:solidFill>
              <a:prstDash val="solid"/>
              <a:round/>
            </a:ln>
          </c:spPr>
        </c:majorGridlines>
        <c:numFmt formatCode="&quot;$&quot;#,##0" sourceLinked="0"/>
        <c:majorTickMark val="out"/>
        <c:minorTickMark val="none"/>
        <c:tickLblPos val="nextTo"/>
        <c:spPr>
          <a:ln w="12700" cap="flat">
            <a:noFill/>
            <a:prstDash val="solid"/>
            <a:round/>
          </a:ln>
        </c:spPr>
        <c:txPr>
          <a:bodyPr/>
          <a:lstStyle/>
          <a:p>
            <a:pPr>
              <a:defRPr sz="1200" b="0" i="0" u="none" strike="noStrike">
                <a:solidFill>
                  <a:srgbClr val="91A0B7"/>
                </a:solidFill>
                <a:latin typeface="Calibri"/>
              </a:defRPr>
            </a:pPr>
            <a:endParaRPr lang="he-IL"/>
          </a:p>
        </c:txPr>
        <c:crossAx val="2094734554"/>
        <c:crosses val="autoZero"/>
        <c:crossBetween val="between"/>
      </c:valAx>
      <c:spPr>
        <a:solidFill>
          <a:srgbClr val="070A12"/>
        </a:solidFill>
        <a:ln>
          <a:noFill/>
        </a:ln>
        <a:effectLst/>
      </c:spPr>
    </c:plotArea>
    <c:legend>
      <c:legendPos val="b"/>
      <c:overlay val="0"/>
      <c:txPr>
        <a:bodyPr/>
        <a:lstStyle/>
        <a:p>
          <a:pPr>
            <a:defRPr sz="1100">
              <a:solidFill>
                <a:srgbClr val="91A0B7"/>
              </a:solidFill>
              <a:latin typeface="Calibri"/>
              <a:cs typeface="Calibri"/>
            </a:defRPr>
          </a:pPr>
          <a:endParaRPr lang="he-IL"/>
        </a:p>
      </c:txPr>
    </c:legend>
    <c:plotVisOnly val="1"/>
    <c:dispBlanksAs val="span"/>
    <c:showDLblsOverMax val="1"/>
  </c:chart>
  <c:spPr>
    <a:solidFill>
      <a:srgbClr val="070A12"/>
    </a:solid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1"/>
  <c:style val="2"/>
  <c:chart>
    <c:autoTitleDeleted val="1"/>
    <c:plotArea>
      <c:layout/>
      <c:barChart>
        <c:barDir val="col"/>
        <c:grouping val="stacked"/>
        <c:varyColors val="0"/>
        <c:ser>
          <c:idx val="0"/>
          <c:order val="0"/>
          <c:tx>
            <c:strRef>
              <c:f>Sheet1!$B$1</c:f>
              <c:strCache>
                <c:ptCount val="1"/>
                <c:pt idx="0">
                  <c:v>Virtual Network</c:v>
                </c:pt>
              </c:strCache>
            </c:strRef>
          </c:tx>
          <c:spPr>
            <a:solidFill>
              <a:srgbClr val="2F8CFF"/>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Sheet1!$B$2:$B$8</c:f>
              <c:numCache>
                <c:formatCode>General</c:formatCode>
                <c:ptCount val="7"/>
                <c:pt idx="0">
                  <c:v>5740.91</c:v>
                </c:pt>
                <c:pt idx="1">
                  <c:v>5286</c:v>
                </c:pt>
                <c:pt idx="2">
                  <c:v>5960.04</c:v>
                </c:pt>
                <c:pt idx="3">
                  <c:v>7306.9</c:v>
                </c:pt>
                <c:pt idx="4">
                  <c:v>8900.5</c:v>
                </c:pt>
                <c:pt idx="5">
                  <c:v>8855.65</c:v>
                </c:pt>
                <c:pt idx="6">
                  <c:v>10913.22</c:v>
                </c:pt>
              </c:numCache>
            </c:numRef>
          </c:val>
          <c:extLst>
            <c:ext xmlns:c16="http://schemas.microsoft.com/office/drawing/2014/chart" uri="{C3380CC4-5D6E-409C-BE32-E72D297353CC}">
              <c16:uniqueId val="{00000000-7307-4381-8B90-67A7378595E5}"/>
            </c:ext>
          </c:extLst>
        </c:ser>
        <c:ser>
          <c:idx val="1"/>
          <c:order val="1"/>
          <c:tx>
            <c:strRef>
              <c:f>Sheet1!$C$1</c:f>
              <c:strCache>
                <c:ptCount val="1"/>
                <c:pt idx="0">
                  <c:v>Storage</c:v>
                </c:pt>
              </c:strCache>
            </c:strRef>
          </c:tx>
          <c:spPr>
            <a:solidFill>
              <a:srgbClr val="3DD9EB"/>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Sheet1!$C$2:$C$8</c:f>
              <c:numCache>
                <c:formatCode>General</c:formatCode>
                <c:ptCount val="7"/>
                <c:pt idx="0">
                  <c:v>5000.41</c:v>
                </c:pt>
                <c:pt idx="1">
                  <c:v>4756</c:v>
                </c:pt>
                <c:pt idx="2">
                  <c:v>4679.66</c:v>
                </c:pt>
                <c:pt idx="3">
                  <c:v>4663.37</c:v>
                </c:pt>
                <c:pt idx="4">
                  <c:v>4758.84</c:v>
                </c:pt>
                <c:pt idx="5">
                  <c:v>4887.1499999999996</c:v>
                </c:pt>
                <c:pt idx="6">
                  <c:v>6077.62</c:v>
                </c:pt>
              </c:numCache>
            </c:numRef>
          </c:val>
          <c:extLst>
            <c:ext xmlns:c16="http://schemas.microsoft.com/office/drawing/2014/chart" uri="{C3380CC4-5D6E-409C-BE32-E72D297353CC}">
              <c16:uniqueId val="{00000001-7307-4381-8B90-67A7378595E5}"/>
            </c:ext>
          </c:extLst>
        </c:ser>
        <c:ser>
          <c:idx val="2"/>
          <c:order val="2"/>
          <c:tx>
            <c:strRef>
              <c:f>Sheet1!$D$1</c:f>
              <c:strCache>
                <c:ptCount val="1"/>
                <c:pt idx="0">
                  <c:v>Log Analytics</c:v>
                </c:pt>
              </c:strCache>
            </c:strRef>
          </c:tx>
          <c:spPr>
            <a:solidFill>
              <a:srgbClr val="FF9F43"/>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Sheet1!$D$2:$D$8</c:f>
              <c:numCache>
                <c:formatCode>General</c:formatCode>
                <c:ptCount val="7"/>
                <c:pt idx="0">
                  <c:v>7300.46</c:v>
                </c:pt>
                <c:pt idx="1">
                  <c:v>3692</c:v>
                </c:pt>
                <c:pt idx="2">
                  <c:v>10596.09</c:v>
                </c:pt>
                <c:pt idx="3">
                  <c:v>3911.97</c:v>
                </c:pt>
                <c:pt idx="4">
                  <c:v>1966.89</c:v>
                </c:pt>
                <c:pt idx="5">
                  <c:v>2066.6999999999998</c:v>
                </c:pt>
                <c:pt idx="6">
                  <c:v>2306.0500000000002</c:v>
                </c:pt>
              </c:numCache>
            </c:numRef>
          </c:val>
          <c:extLst>
            <c:ext xmlns:c16="http://schemas.microsoft.com/office/drawing/2014/chart" uri="{C3380CC4-5D6E-409C-BE32-E72D297353CC}">
              <c16:uniqueId val="{00000002-7307-4381-8B90-67A7378595E5}"/>
            </c:ext>
          </c:extLst>
        </c:ser>
        <c:ser>
          <c:idx val="3"/>
          <c:order val="3"/>
          <c:tx>
            <c:strRef>
              <c:f>Sheet1!$E$1</c:f>
              <c:strCache>
                <c:ptCount val="1"/>
                <c:pt idx="0">
                  <c:v>Virtual Machines</c:v>
                </c:pt>
              </c:strCache>
            </c:strRef>
          </c:tx>
          <c:spPr>
            <a:solidFill>
              <a:srgbClr val="B07CFF"/>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Sheet1!$E$2:$E$8</c:f>
              <c:numCache>
                <c:formatCode>General</c:formatCode>
                <c:ptCount val="7"/>
                <c:pt idx="0">
                  <c:v>4242.88</c:v>
                </c:pt>
                <c:pt idx="1">
                  <c:v>3549</c:v>
                </c:pt>
                <c:pt idx="2">
                  <c:v>4067.07</c:v>
                </c:pt>
                <c:pt idx="3">
                  <c:v>3938.6</c:v>
                </c:pt>
                <c:pt idx="4">
                  <c:v>4539.7</c:v>
                </c:pt>
                <c:pt idx="5">
                  <c:v>4344.13</c:v>
                </c:pt>
                <c:pt idx="6">
                  <c:v>4847.43</c:v>
                </c:pt>
              </c:numCache>
            </c:numRef>
          </c:val>
          <c:extLst>
            <c:ext xmlns:c16="http://schemas.microsoft.com/office/drawing/2014/chart" uri="{C3380CC4-5D6E-409C-BE32-E72D297353CC}">
              <c16:uniqueId val="{00000003-7307-4381-8B90-67A7378595E5}"/>
            </c:ext>
          </c:extLst>
        </c:ser>
        <c:ser>
          <c:idx val="4"/>
          <c:order val="4"/>
          <c:tx>
            <c:strRef>
              <c:f>Sheet1!$F$1</c:f>
              <c:strCache>
                <c:ptCount val="1"/>
                <c:pt idx="0">
                  <c:v>Sentinel</c:v>
                </c:pt>
              </c:strCache>
            </c:strRef>
          </c:tx>
          <c:spPr>
            <a:solidFill>
              <a:srgbClr val="3DDC97"/>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Sheet1!$F$2:$F$8</c:f>
              <c:numCache>
                <c:formatCode>General</c:formatCode>
                <c:ptCount val="7"/>
                <c:pt idx="0">
                  <c:v>1732.05</c:v>
                </c:pt>
                <c:pt idx="1">
                  <c:v>1468</c:v>
                </c:pt>
                <c:pt idx="2">
                  <c:v>8874.9</c:v>
                </c:pt>
                <c:pt idx="3">
                  <c:v>3278.03</c:v>
                </c:pt>
                <c:pt idx="4">
                  <c:v>1333.2</c:v>
                </c:pt>
                <c:pt idx="5">
                  <c:v>1369.67</c:v>
                </c:pt>
                <c:pt idx="6">
                  <c:v>1467.73</c:v>
                </c:pt>
              </c:numCache>
            </c:numRef>
          </c:val>
          <c:extLst>
            <c:ext xmlns:c16="http://schemas.microsoft.com/office/drawing/2014/chart" uri="{C3380CC4-5D6E-409C-BE32-E72D297353CC}">
              <c16:uniqueId val="{00000004-7307-4381-8B90-67A7378595E5}"/>
            </c:ext>
          </c:extLst>
        </c:ser>
        <c:ser>
          <c:idx val="5"/>
          <c:order val="5"/>
          <c:tx>
            <c:strRef>
              <c:f>Sheet1!$G$1</c:f>
              <c:strCache>
                <c:ptCount val="1"/>
                <c:pt idx="0">
                  <c:v>Other services</c:v>
                </c:pt>
              </c:strCache>
            </c:strRef>
          </c:tx>
          <c:spPr>
            <a:solidFill>
              <a:srgbClr val="FF6B7A"/>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Sheet1!$G$2:$G$8</c:f>
              <c:numCache>
                <c:formatCode>General</c:formatCode>
                <c:ptCount val="7"/>
                <c:pt idx="0">
                  <c:v>2265</c:v>
                </c:pt>
                <c:pt idx="1">
                  <c:v>1965</c:v>
                </c:pt>
                <c:pt idx="2">
                  <c:v>2206</c:v>
                </c:pt>
                <c:pt idx="3">
                  <c:v>2059</c:v>
                </c:pt>
                <c:pt idx="4">
                  <c:v>2253.46</c:v>
                </c:pt>
                <c:pt idx="5">
                  <c:v>2467.09</c:v>
                </c:pt>
                <c:pt idx="6">
                  <c:v>2528.4699999999998</c:v>
                </c:pt>
              </c:numCache>
            </c:numRef>
          </c:val>
          <c:extLst>
            <c:ext xmlns:c16="http://schemas.microsoft.com/office/drawing/2014/chart" uri="{C3380CC4-5D6E-409C-BE32-E72D297353CC}">
              <c16:uniqueId val="{00000005-7307-4381-8B90-67A7378595E5}"/>
            </c:ext>
          </c:extLst>
        </c:ser>
        <c:ser>
          <c:idx val="6"/>
          <c:order val="6"/>
          <c:tx>
            <c:strRef>
              <c:f>Sheet1!$H$1</c:f>
              <c:strCache>
                <c:ptCount val="1"/>
                <c:pt idx="0">
                  <c:v>All other</c:v>
                </c:pt>
              </c:strCache>
            </c:strRef>
          </c:tx>
          <c:spPr>
            <a:solidFill>
              <a:srgbClr val="2AD38C"/>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Sheet1!$H$2:$H$8</c:f>
              <c:numCache>
                <c:formatCode>General</c:formatCode>
                <c:ptCount val="7"/>
                <c:pt idx="0">
                  <c:v>4634.13</c:v>
                </c:pt>
                <c:pt idx="1">
                  <c:v>3962</c:v>
                </c:pt>
                <c:pt idx="2">
                  <c:v>4345.76</c:v>
                </c:pt>
                <c:pt idx="3">
                  <c:v>4241.6400000000003</c:v>
                </c:pt>
                <c:pt idx="4">
                  <c:v>4862.66</c:v>
                </c:pt>
                <c:pt idx="5">
                  <c:v>4595.34</c:v>
                </c:pt>
                <c:pt idx="6">
                  <c:v>5280.59</c:v>
                </c:pt>
              </c:numCache>
            </c:numRef>
          </c:val>
          <c:extLst>
            <c:ext xmlns:c16="http://schemas.microsoft.com/office/drawing/2014/chart" uri="{C3380CC4-5D6E-409C-BE32-E72D297353CC}">
              <c16:uniqueId val="{00000006-7307-4381-8B90-67A7378595E5}"/>
            </c:ext>
          </c:extLst>
        </c:ser>
        <c:dLbls>
          <c:showLegendKey val="0"/>
          <c:showVal val="0"/>
          <c:showCatName val="0"/>
          <c:showSerName val="0"/>
          <c:showPercent val="0"/>
          <c:showBubbleSize val="0"/>
        </c:dLbls>
        <c:gapWidth val="5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91A0B7"/>
                </a:solidFill>
                <a:latin typeface="Calibri"/>
              </a:defRPr>
            </a:pPr>
            <a:endParaRPr lang="he-IL"/>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23304A"/>
              </a:solidFill>
              <a:prstDash val="solid"/>
              <a:round/>
            </a:ln>
          </c:spPr>
        </c:majorGridlines>
        <c:numFmt formatCode="&quot;$&quot;#,##0" sourceLinked="0"/>
        <c:majorTickMark val="out"/>
        <c:minorTickMark val="none"/>
        <c:tickLblPos val="nextTo"/>
        <c:spPr>
          <a:ln w="12700" cap="flat">
            <a:noFill/>
            <a:prstDash val="solid"/>
            <a:round/>
          </a:ln>
        </c:spPr>
        <c:txPr>
          <a:bodyPr/>
          <a:lstStyle/>
          <a:p>
            <a:pPr>
              <a:defRPr sz="1200" b="0" i="0" u="none" strike="noStrike">
                <a:solidFill>
                  <a:srgbClr val="91A0B7"/>
                </a:solidFill>
                <a:latin typeface="Calibri"/>
              </a:defRPr>
            </a:pPr>
            <a:endParaRPr lang="he-IL"/>
          </a:p>
        </c:txPr>
        <c:crossAx val="2094734554"/>
        <c:crosses val="autoZero"/>
        <c:crossBetween val="between"/>
      </c:valAx>
      <c:spPr>
        <a:solidFill>
          <a:srgbClr val="070A12"/>
        </a:solidFill>
        <a:ln>
          <a:noFill/>
        </a:ln>
        <a:effectLst/>
      </c:spPr>
    </c:plotArea>
    <c:legend>
      <c:legendPos val="b"/>
      <c:overlay val="0"/>
      <c:txPr>
        <a:bodyPr/>
        <a:lstStyle/>
        <a:p>
          <a:pPr>
            <a:defRPr sz="1100">
              <a:solidFill>
                <a:srgbClr val="91A0B7"/>
              </a:solidFill>
              <a:latin typeface="Calibri"/>
              <a:cs typeface="Calibri"/>
            </a:defRPr>
          </a:pPr>
          <a:endParaRPr lang="he-IL"/>
        </a:p>
      </c:txPr>
    </c:legend>
    <c:plotVisOnly val="1"/>
    <c:dispBlanksAs val="span"/>
    <c:showDLblsOverMax val="1"/>
  </c:chart>
  <c:spPr>
    <a:solidFill>
      <a:srgbClr val="070A12"/>
    </a:solid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he-IL"/>
  <c:roundedCorners val="1"/>
  <c:style val="2"/>
  <c:chart>
    <c:autoTitleDeleted val="1"/>
    <c:plotArea>
      <c:layout/>
      <c:barChart>
        <c:barDir val="col"/>
        <c:grouping val="stacked"/>
        <c:varyColors val="0"/>
        <c:ser>
          <c:idx val="0"/>
          <c:order val="0"/>
          <c:tx>
            <c:strRef>
              <c:f>Sheet1!$B$1</c:f>
              <c:strCache>
                <c:ptCount val="1"/>
                <c:pt idx="0">
                  <c:v>Shared Resources</c:v>
                </c:pt>
              </c:strCache>
            </c:strRef>
          </c:tx>
          <c:spPr>
            <a:solidFill>
              <a:srgbClr val="2F8CFF"/>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Sheet1!$B$2:$B$8</c:f>
              <c:numCache>
                <c:formatCode>General</c:formatCode>
                <c:ptCount val="7"/>
                <c:pt idx="0">
                  <c:v>16903.740000000002</c:v>
                </c:pt>
                <c:pt idx="1">
                  <c:v>12321</c:v>
                </c:pt>
                <c:pt idx="2">
                  <c:v>26897.08</c:v>
                </c:pt>
                <c:pt idx="3">
                  <c:v>14231</c:v>
                </c:pt>
                <c:pt idx="4">
                  <c:v>10755.39</c:v>
                </c:pt>
                <c:pt idx="5">
                  <c:v>10557</c:v>
                </c:pt>
                <c:pt idx="6">
                  <c:v>11092.99</c:v>
                </c:pt>
              </c:numCache>
            </c:numRef>
          </c:val>
          <c:extLst>
            <c:ext xmlns:c16="http://schemas.microsoft.com/office/drawing/2014/chart" uri="{C3380CC4-5D6E-409C-BE32-E72D297353CC}">
              <c16:uniqueId val="{00000000-1222-4A91-9CF9-FEC89B2CB5F5}"/>
            </c:ext>
          </c:extLst>
        </c:ser>
        <c:ser>
          <c:idx val="1"/>
          <c:order val="1"/>
          <c:tx>
            <c:strRef>
              <c:f>Sheet1!$C$1</c:f>
              <c:strCache>
                <c:ptCount val="1"/>
                <c:pt idx="0">
                  <c:v>Prod</c:v>
                </c:pt>
              </c:strCache>
            </c:strRef>
          </c:tx>
          <c:spPr>
            <a:solidFill>
              <a:srgbClr val="3DD9EB"/>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Sheet1!$C$2:$C$8</c:f>
              <c:numCache>
                <c:formatCode>General</c:formatCode>
                <c:ptCount val="7"/>
                <c:pt idx="0">
                  <c:v>12493.49</c:v>
                </c:pt>
                <c:pt idx="1">
                  <c:v>11171</c:v>
                </c:pt>
                <c:pt idx="2">
                  <c:v>12360.07</c:v>
                </c:pt>
                <c:pt idx="3">
                  <c:v>13593</c:v>
                </c:pt>
                <c:pt idx="4">
                  <c:v>15743.11</c:v>
                </c:pt>
                <c:pt idx="5">
                  <c:v>15398</c:v>
                </c:pt>
                <c:pt idx="6">
                  <c:v>19303.29</c:v>
                </c:pt>
              </c:numCache>
            </c:numRef>
          </c:val>
          <c:extLst>
            <c:ext xmlns:c16="http://schemas.microsoft.com/office/drawing/2014/chart" uri="{C3380CC4-5D6E-409C-BE32-E72D297353CC}">
              <c16:uniqueId val="{00000001-1222-4A91-9CF9-FEC89B2CB5F5}"/>
            </c:ext>
          </c:extLst>
        </c:ser>
        <c:ser>
          <c:idx val="2"/>
          <c:order val="2"/>
          <c:tx>
            <c:strRef>
              <c:f>Sheet1!$D$1</c:f>
              <c:strCache>
                <c:ptCount val="1"/>
                <c:pt idx="0">
                  <c:v>CloudOps</c:v>
                </c:pt>
              </c:strCache>
            </c:strRef>
          </c:tx>
          <c:spPr>
            <a:solidFill>
              <a:srgbClr val="FF9F43"/>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Sheet1!$D$2:$D$8</c:f>
              <c:numCache>
                <c:formatCode>General</c:formatCode>
                <c:ptCount val="7"/>
                <c:pt idx="0">
                  <c:v>872.66</c:v>
                </c:pt>
                <c:pt idx="1">
                  <c:v>555</c:v>
                </c:pt>
                <c:pt idx="2">
                  <c:v>768.67</c:v>
                </c:pt>
                <c:pt idx="3">
                  <c:v>737</c:v>
                </c:pt>
                <c:pt idx="4">
                  <c:v>971.96</c:v>
                </c:pt>
                <c:pt idx="5">
                  <c:v>1089</c:v>
                </c:pt>
                <c:pt idx="6">
                  <c:v>1225.74</c:v>
                </c:pt>
              </c:numCache>
            </c:numRef>
          </c:val>
          <c:extLst>
            <c:ext xmlns:c16="http://schemas.microsoft.com/office/drawing/2014/chart" uri="{C3380CC4-5D6E-409C-BE32-E72D297353CC}">
              <c16:uniqueId val="{00000002-1222-4A91-9CF9-FEC89B2CB5F5}"/>
            </c:ext>
          </c:extLst>
        </c:ser>
        <c:ser>
          <c:idx val="3"/>
          <c:order val="3"/>
          <c:tx>
            <c:strRef>
              <c:f>Sheet1!$E$1</c:f>
              <c:strCache>
                <c:ptCount val="1"/>
                <c:pt idx="0">
                  <c:v>DataCloud prod</c:v>
                </c:pt>
              </c:strCache>
            </c:strRef>
          </c:tx>
          <c:spPr>
            <a:solidFill>
              <a:srgbClr val="B07CFF"/>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Sheet1!$E$2:$E$8</c:f>
              <c:numCache>
                <c:formatCode>General</c:formatCode>
                <c:ptCount val="7"/>
                <c:pt idx="0">
                  <c:v>363.16</c:v>
                </c:pt>
                <c:pt idx="1">
                  <c:v>357</c:v>
                </c:pt>
                <c:pt idx="2">
                  <c:v>397.3</c:v>
                </c:pt>
                <c:pt idx="3">
                  <c:v>336</c:v>
                </c:pt>
                <c:pt idx="4">
                  <c:v>370.22</c:v>
                </c:pt>
                <c:pt idx="5">
                  <c:v>550</c:v>
                </c:pt>
                <c:pt idx="6">
                  <c:v>818.11</c:v>
                </c:pt>
              </c:numCache>
            </c:numRef>
          </c:val>
          <c:extLst>
            <c:ext xmlns:c16="http://schemas.microsoft.com/office/drawing/2014/chart" uri="{C3380CC4-5D6E-409C-BE32-E72D297353CC}">
              <c16:uniqueId val="{00000003-1222-4A91-9CF9-FEC89B2CB5F5}"/>
            </c:ext>
          </c:extLst>
        </c:ser>
        <c:ser>
          <c:idx val="4"/>
          <c:order val="4"/>
          <c:tx>
            <c:strRef>
              <c:f>Sheet1!$F$1</c:f>
              <c:strCache>
                <c:ptCount val="1"/>
                <c:pt idx="0">
                  <c:v>DataCloud dev</c:v>
                </c:pt>
              </c:strCache>
            </c:strRef>
          </c:tx>
          <c:spPr>
            <a:solidFill>
              <a:srgbClr val="3DDC97"/>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Sheet1!$F$2:$F$8</c:f>
              <c:numCache>
                <c:formatCode>General</c:formatCode>
                <c:ptCount val="7"/>
                <c:pt idx="0">
                  <c:v>188.97</c:v>
                </c:pt>
                <c:pt idx="1">
                  <c:v>169</c:v>
                </c:pt>
                <c:pt idx="2">
                  <c:v>189.53</c:v>
                </c:pt>
                <c:pt idx="3">
                  <c:v>184</c:v>
                </c:pt>
                <c:pt idx="4">
                  <c:v>506.65</c:v>
                </c:pt>
                <c:pt idx="5">
                  <c:v>582</c:v>
                </c:pt>
                <c:pt idx="6">
                  <c:v>573.9</c:v>
                </c:pt>
              </c:numCache>
            </c:numRef>
          </c:val>
          <c:extLst>
            <c:ext xmlns:c16="http://schemas.microsoft.com/office/drawing/2014/chart" uri="{C3380CC4-5D6E-409C-BE32-E72D297353CC}">
              <c16:uniqueId val="{00000004-1222-4A91-9CF9-FEC89B2CB5F5}"/>
            </c:ext>
          </c:extLst>
        </c:ser>
        <c:ser>
          <c:idx val="5"/>
          <c:order val="5"/>
          <c:tx>
            <c:strRef>
              <c:f>Sheet1!$G$1</c:f>
              <c:strCache>
                <c:ptCount val="1"/>
                <c:pt idx="0">
                  <c:v>All other</c:v>
                </c:pt>
              </c:strCache>
            </c:strRef>
          </c:tx>
          <c:spPr>
            <a:solidFill>
              <a:srgbClr val="FF6B7A"/>
            </a:solidFill>
            <a:effectLst/>
          </c:spPr>
          <c:invertIfNegative val="0"/>
          <c:cat>
            <c:strRef>
              <c:f>Sheet1!$A$2:$A$8</c:f>
              <c:strCache>
                <c:ptCount val="7"/>
                <c:pt idx="0">
                  <c:v>Jan</c:v>
                </c:pt>
                <c:pt idx="1">
                  <c:v>Feb</c:v>
                </c:pt>
                <c:pt idx="2">
                  <c:v>Mar</c:v>
                </c:pt>
                <c:pt idx="3">
                  <c:v>Apr</c:v>
                </c:pt>
                <c:pt idx="4">
                  <c:v>May</c:v>
                </c:pt>
                <c:pt idx="5">
                  <c:v>Jun</c:v>
                </c:pt>
                <c:pt idx="6">
                  <c:v>Jul</c:v>
                </c:pt>
              </c:strCache>
            </c:strRef>
          </c:cat>
          <c:val>
            <c:numRef>
              <c:f>Sheet1!$G$2:$G$8</c:f>
              <c:numCache>
                <c:formatCode>General</c:formatCode>
                <c:ptCount val="7"/>
                <c:pt idx="0">
                  <c:v>93.22</c:v>
                </c:pt>
                <c:pt idx="1">
                  <c:v>107</c:v>
                </c:pt>
                <c:pt idx="2">
                  <c:v>117.14</c:v>
                </c:pt>
                <c:pt idx="3">
                  <c:v>114</c:v>
                </c:pt>
                <c:pt idx="4">
                  <c:v>268.11</c:v>
                </c:pt>
                <c:pt idx="5">
                  <c:v>407</c:v>
                </c:pt>
                <c:pt idx="6">
                  <c:v>406.88000000000005</c:v>
                </c:pt>
              </c:numCache>
            </c:numRef>
          </c:val>
          <c:extLst>
            <c:ext xmlns:c16="http://schemas.microsoft.com/office/drawing/2014/chart" uri="{C3380CC4-5D6E-409C-BE32-E72D297353CC}">
              <c16:uniqueId val="{00000005-1222-4A91-9CF9-FEC89B2CB5F5}"/>
            </c:ext>
          </c:extLst>
        </c:ser>
        <c:dLbls>
          <c:showLegendKey val="0"/>
          <c:showVal val="0"/>
          <c:showCatName val="0"/>
          <c:showSerName val="0"/>
          <c:showPercent val="0"/>
          <c:showBubbleSize val="0"/>
        </c:dLbls>
        <c:gapWidth val="55"/>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91A0B7"/>
                </a:solidFill>
                <a:latin typeface="Calibri"/>
              </a:defRPr>
            </a:pPr>
            <a:endParaRPr lang="he-IL"/>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23304A"/>
              </a:solidFill>
              <a:prstDash val="solid"/>
              <a:round/>
            </a:ln>
          </c:spPr>
        </c:majorGridlines>
        <c:numFmt formatCode="&quot;$&quot;#,##0" sourceLinked="0"/>
        <c:majorTickMark val="out"/>
        <c:minorTickMark val="none"/>
        <c:tickLblPos val="nextTo"/>
        <c:spPr>
          <a:ln w="12700" cap="flat">
            <a:noFill/>
            <a:prstDash val="solid"/>
            <a:round/>
          </a:ln>
        </c:spPr>
        <c:txPr>
          <a:bodyPr/>
          <a:lstStyle/>
          <a:p>
            <a:pPr>
              <a:defRPr sz="1200" b="0" i="0" u="none" strike="noStrike">
                <a:solidFill>
                  <a:srgbClr val="91A0B7"/>
                </a:solidFill>
                <a:latin typeface="Calibri"/>
              </a:defRPr>
            </a:pPr>
            <a:endParaRPr lang="he-IL"/>
          </a:p>
        </c:txPr>
        <c:crossAx val="2094734554"/>
        <c:crosses val="autoZero"/>
        <c:crossBetween val="between"/>
      </c:valAx>
      <c:spPr>
        <a:solidFill>
          <a:srgbClr val="070A12"/>
        </a:solidFill>
        <a:ln>
          <a:noFill/>
        </a:ln>
        <a:effectLst/>
      </c:spPr>
    </c:plotArea>
    <c:legend>
      <c:legendPos val="b"/>
      <c:overlay val="0"/>
      <c:txPr>
        <a:bodyPr/>
        <a:lstStyle/>
        <a:p>
          <a:pPr>
            <a:defRPr sz="1100">
              <a:solidFill>
                <a:srgbClr val="91A0B7"/>
              </a:solidFill>
              <a:latin typeface="Calibri"/>
              <a:cs typeface="Calibri"/>
            </a:defRPr>
          </a:pPr>
          <a:endParaRPr lang="he-IL"/>
        </a:p>
      </c:txPr>
    </c:legend>
    <c:plotVisOnly val="1"/>
    <c:dispBlanksAs val="span"/>
    <c:showDLblsOverMax val="1"/>
  </c:chart>
  <c:spPr>
    <a:solidFill>
      <a:srgbClr val="070A12"/>
    </a:solidFill>
    <a:ln>
      <a:noFill/>
    </a:ln>
    <a:effectLst/>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Total</c:v>
                </c:pt>
              </c:strCache>
            </c:strRef>
          </c:tx>
          <c:spPr>
            <a:solidFill>
              <a:srgbClr val="2F8CFF"/>
            </a:solidFill>
            <a:effectLst/>
          </c:spPr>
          <c:invertIfNegative val="0"/>
          <c:dLbls>
            <c:numFmt formatCode="&quot;$&quot;#,##0" sourceLinked="0"/>
            <c:txPr>
              <a:bodyPr/>
              <a:lstStyle/>
              <a:p>
                <a:pPr>
                  <a:defRPr b="0" i="0" strike="noStrike" sz="1100" u="none">
                    <a:solidFill>
                      <a:srgbClr val="F4F7FB"/>
                    </a:solidFill>
                    <a:latin typeface="Calibri"/>
                  </a:defRPr>
                </a:pPr>
              </a:p>
            </c:txPr>
            <c:showLegendKey val="0"/>
            <c:showVal val="1"/>
            <c:showCatName val="0"/>
            <c:showSerName val="0"/>
            <c:showPercent val="0"/>
            <c:showBubbleSize val="0"/>
            <c:showLeaderLines val="0"/>
          </c:dLbls>
          <c:cat>
            <c:multiLvlStrRef>
              <c:f>Sheet1!$A$2:$A$10</c:f>
              <c:multiLvlStrCache>
                <c:ptCount val="9"/>
                <c:lvl>
                  <c:pt idx="0">
                    <c:v>Application Gateway</c:v>
                  </c:pt>
                  <c:pt idx="1">
                    <c:v>Storage</c:v>
                  </c:pt>
                  <c:pt idx="2">
                    <c:v>SQL Database</c:v>
                  </c:pt>
                  <c:pt idx="3">
                    <c:v>Virtual Network</c:v>
                  </c:pt>
                  <c:pt idx="4">
                    <c:v>Microsoft Defender for Cloud</c:v>
                  </c:pt>
                  <c:pt idx="5">
                    <c:v>Azure Database for PostgreSQL</c:v>
                  </c:pt>
                  <c:pt idx="6">
                    <c:v>14 smaller services</c:v>
                  </c:pt>
                  <c:pt idx="7">
                    <c:v>Virtual Machines</c:v>
                  </c:pt>
                  <c:pt idx="8">
                    <c:v>API Management</c:v>
                  </c:pt>
                </c:lvl>
              </c:multiLvlStrCache>
            </c:multiLvlStrRef>
          </c:cat>
          <c:val>
            <c:numRef>
              <c:f>Sheet1!$B$2:$B$10</c:f>
              <c:numCache>
                <c:formatCode>General</c:formatCode>
                <c:ptCount val="9"/>
                <c:pt idx="0">
                  <c:v>2136.51</c:v>
                </c:pt>
                <c:pt idx="1">
                  <c:v>2240.92</c:v>
                </c:pt>
                <c:pt idx="2">
                  <c:v>2415.87</c:v>
                </c:pt>
                <c:pt idx="3">
                  <c:v>3450.26</c:v>
                </c:pt>
                <c:pt idx="4">
                  <c:v>4141.06</c:v>
                </c:pt>
                <c:pt idx="5">
                  <c:v>5331.429999999999</c:v>
                </c:pt>
                <c:pt idx="6">
                  <c:v>10176.409999999998</c:v>
                </c:pt>
                <c:pt idx="7">
                  <c:v>23493.350000000006</c:v>
                </c:pt>
                <c:pt idx="8">
                  <c:v>23663.35</c:v>
                </c:pt>
              </c:numCache>
            </c:numRef>
          </c:val>
        </c:ser>
        <c:dLbls>
          <c:numFmt formatCode="&quot;$&quot;#,##0" sourceLinked="0"/>
          <c:txPr>
            <a:bodyPr/>
            <a:lstStyle/>
            <a:p>
              <a:pPr>
                <a:defRPr b="0" i="0" strike="noStrike" sz="1100" u="none">
                  <a:solidFill>
                    <a:srgbClr val="F4F7FB"/>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91A0B7"/>
                </a:solidFill>
                <a:latin typeface="Calibri"/>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23304A"/>
              </a:solidFill>
              <a:prstDash val="solid"/>
              <a:round/>
            </a:ln>
          </c:spPr>
        </c:majorGridlines>
        <c:numFmt formatCode="&quot;$&quot;#,##0" sourceLinked="0"/>
        <c:majorTickMark val="out"/>
        <c:minorTickMark val="none"/>
        <c:tickLblPos val="low"/>
        <c:spPr>
          <a:ln w="12700" cap="flat">
            <a:noFill/>
            <a:prstDash val="solid"/>
            <a:round/>
          </a:ln>
        </c:spPr>
        <c:txPr>
          <a:bodyPr/>
          <a:lstStyle/>
          <a:p>
            <a:pPr>
              <a:defRPr sz="1200" b="0" i="0" u="none" strike="noStrike">
                <a:solidFill>
                  <a:srgbClr val="91A0B7"/>
                </a:solidFill>
                <a:latin typeface="Calibri"/>
              </a:defRPr>
            </a:pPr>
            <a:endParaRPr lang="en-US"/>
          </a:p>
        </c:txPr>
        <c:crossAx val="2094734554"/>
        <c:crosses val="autoZero"/>
        <c:crossBetween val="between"/>
      </c:valAx>
      <c:spPr>
        <a:solidFill>
          <a:srgbClr val="070A12"/>
        </a:solidFill>
        <a:ln>
          <a:noFill/>
        </a:ln>
        <a:effectLst/>
      </c:spPr>
    </c:plotArea>
    <c:plotVisOnly val="1"/>
    <c:dispBlanksAs val="span"/>
  </c:chart>
  <c:spPr>
    <a:solidFill>
      <a:srgbClr val="070A12"/>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64451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r>
              <a:rPr lang="en-US" dirty="0"/>
              <a:t>ONE BASIS FOR THE WHOLE DECK: metered consumption, January to July 2026,
all three clouds. Seven months, one series, no switching.
Marketplace purchases are excluded throughout and reported on their own slide.
AWS July is shown gross of the $16,100 MAP credit, which has its own slide.
If asked why this differs from the May-July briefing: same estate, longer
window. Seven months of data instead of two.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r>
              <a:rPr lang="en-US" dirty="0"/>
              <a:t>HOW $3.4M IS BUILT, one month, times twelve. No model, no forecast.
  Azure    186,917
  AWS       92,930   (gross, before the $16,100 MAP credit)
  GCP        3,707
  ------------------
  July     283,554   per month
  x 12   3,402,648   per year   -&gt;  $3.4M
If July repeats for a full year, we are at a $3.4M pace. That is all it says.
WHERE THE $593K COMES FROM
  Jan    234,115 x 12 = 2,809,384
  Jul    283,554 x 12 = 3,402,648
  difference              593,264   = +21.1%
Six months, and the annual pace rose by about $593K.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r>
              <a:rPr lang="en-US" dirty="0"/>
              <a:t>THE UPPER BOUND. Same start, same method, faster rate.
Rates from the May-July window, as published in the July briefing:
  GCP     +$1 Azure  +13.3% per month
  AWS     +5.8% per month.1K per month
Carried from July's actual 283,554:
  Aug 314,904   Sep 349,873   Oct 388,919   Nov 432,559   Dec 481,378
  481,378 x 12 = $5.78M
WHAT IT COSTS IF IT HAPPENS
  December run-rate   5,776,533  vs  4,011,077   = +1,765,456 a year
  Cash Aug-Dec        1,967,632  vs  1,567,166   =   +400,465
HOW TO POSITION IT
Do not present this as the forecast, present it as the range's top. The
base case is the previous slide at $4.0M. This slide answers 'what if the
acceleration was real', and it is the number the July briefing carried.
Note the Azure rate here is v33's 13.3%, measured off the invoiced May
figure of 145,254. On the consumption basis this deck uses, May was 152,263
and the same window gives 10.8% a month. The 13.3% is deliberately the
harsher of the two, which is what an upper bound should be.
The trigger to watch: if August lands above roughly 300K, we are on the red
line, not the orange one.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r>
              <a:rPr lang="en-US" dirty="0"/>
              <a:t>Everything from here is the same seven-month consumption series, unless a slide says otherwise on its face.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platform cut of the slide that follows. Same basis, same total:
  $199,531 of billed AI, January to July 2026.
  Azure AI Foundry             $87,158  43.7%  +240% Jan to Jul
  GitHub Copilot               $57,177  28.7%  +593% Jan to Jul
  AWS Bedrock (Claude)         $42,056  21.1%  First billed in Mar
  Cowork                        $9,444  4.7%  $97 to $8,920
  Google Vertex AI              $3,696  1.9%  First billed in May
WHAT IS NOT HERE
Databricks. It draws down the 600,000 DBU pre-purchase paid in April and
bills at $0, so it would show as the largest platform while costing nothing
this month. It has its own slide.
AWS July is gross of the $16,100 MAP credit, same footing as the rest of
the deck, and that credit has its own slide too.
IF ASKED WHY THIS DIFFERS FROM THE v33 VERSION: v33 showed the May-July
invoiced window. This is the full seven months, on the deck's one basis.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NUMBER OFF THIS SLIDE: $77,049 of the $165,588
AI Factory programme is infrastructure, not AI models. That is 46.5%.
THE TWO BIG LINES
  API Management          $23,663
  Virtual Machines        $23,493
Between them, 61.2% of all the infrastructure in the programme.
WHAT IS EXCLUDED: Foundry Models, Foundry Tools, Azure Cognitive Search, and every
Document Intelligence page meter. Those are on the AI platform slides, not here.
WHERE THIS GOES: this is the half of the AI bill that right-sizing and reservations
can move. The next slide shows how unevenly it falls across the four projects.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four projects as the infrastructure slide, now compared to each other
rather than added together.
  AI Factory                $92,247   infra 66%   $854 to $23,610
  Solugen                   $31,631   infra 20%   +846% Jan to Jul
  Document Intelligence     $30,970   infra 0%   +72% Jan to Jul
  INSAIT                    $10,740   infra 90%   +86% Jan to Jul
THE RANGE IS THE POINT: from 0% to 90% infrastructure, inside the same programme.
Document Intelligence is a hosted OCR API, there is nothing under it to build.
INSAIT is a research workload running on its own containers and
gateway, so nearly all of it is platform.
AI Factory sits in the middle because it is the shared platform everyone
else's model traffic runs through, that gateway is the largest single
infrastructure line in the whole programme. See the previous slide.
IF ASKED FOR THE MONTH-BY-MONTH VIEW: it is in the appendix, on the
operational review's own copy of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9810600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812976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4579992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dirty="0"/>
          </a:p>
        </p:txBody>
      </p:sp>
    </p:spTree>
    <p:extLst>
      <p:ext uri="{BB962C8B-B14F-4D97-AF65-F5344CB8AC3E}">
        <p14:creationId xmlns:p14="http://schemas.microsoft.com/office/powerpoint/2010/main" val="26744762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mesh is the argument. Five consumer groups, six platforms, nothing in
the middle. Thirty direct paths, no single place that can see the spend,
refuse a request, or attribute a bill.
Databricks is on the list because it is bought the same way as the rest, and
it is the largest single commitment of the year. It bills at $0 today because
it draws down the April pre-purchase, which is exactly why nobody is watching
it. See the Databricks slide.
This slide sets up the gateway slide. Do not solve it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r>
              <a:rPr lang="en-US" dirty="0"/>
              <a:t>WHY ITEM 3 ON THE NEXT SLIDE IS TWO JOBS, NOT ONE.
Resource tagging, owner, application, environment, cost centre, business
unit, fixes attribution for VMs, storage and databases. That work is in
progress and it is worth finishing: it is what closes the 23.4% untagged gap.
It will NOT fix AI attribution. AI cost does not sit on a resource; it sits
on a request. One Bedrock key served $25,288 of Claude in July across an
unknown number of use cases. No tag on a resource can split that.
WHAT CHANGES
Every AI call goes through the gateway anyway, for budgets and quotas. The
same gateway stamps each request with use case, agent, model and provider.
Cost then lands against a use case instead of a subscription.
The telemetry side already exists in our Elastic design, OpenTelemetry
spans carry token counts and tool activity. This is the missing half.
IF ASKED WHAT IT COSTS: nothing new to buy. It is a schema decision plus
gateway configuration, done once, enforced in CI/CD.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2276198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r>
              <a:rPr lang="en-US" dirty="0"/>
              <a:t>WHY A BUDGET IS NOT A KILL SWITCH
Azure Cost Management budgets are a reporting mechanism: cost data arrives
roughly 8-24 hours late, the budget is evaluated about once a day, and
breaching it does not stop consumption. By the time it fires, the money is
spent. APIM token quota is the enforcement point; the budget is the late
financial control.
SEPARATE IDENTITY PER APPLICATION
Each application gets its own APIM subscription or Entra client_id, carrying
owner, cost centre, environment, monthly budget, approved models, TPM, and
daily plus monthly quota. Never share one key across applications, you can
then neither limit nor attribute.
HARD LIMITS IN APIM, three llm-token-limit instances in &lt;inbound&gt;:
  minute   tokens-per-minute="20000"                    burst protection
  daily    token-quota="3000000"  period="Daily"        runaway job
  monthly  token-quota="60000000" period="Monthly"      hard ceiling
  counter-key on context.Subscription.Id, estimate-prompt-tokens="true"
  so an oversized prompt is blocked before it reaches the model.
  TPM breach returns 429; quota breach returns 403.
Add rate-limit-by-key, cap max_output_tokens, disable streaming and tool
calling where not needed, and cap concurrency for agents.
HIERARCHY: low TPM per user; TPM plus quotas per application; cumulative
quota per cost centre; a ceiling on each expensive model; sandbox well
below production. One user cannot drain an application, one application
cannot drain the organisation.
BUDGET INTO TOKENS, the policy counts tokens, not dollars, so each model
needs its own quota:
  cost = (input tokens x input price + output tokens x output price) / 1M
On a $1,000 budget set the hard quota near $750-$850. The margin covers
in-flight parallel requests, reasoning tokens, price differences between
models, counting lag, and multiple gateways. Microsoft notes concurrent
requests can temporarily exceed the quota, and that in multi-region APIM
each gateway counts separately rather than globally, so split the quota
across regions.
ALERTS: emit llm-emit-token-metric to Application Insights with application,
cost centre, model, environment and owner as dimensions. Alert on an
abnormal token rate over 5 and 15 minutes; 70% of quota to the owner; 85%
to FinOps with a rate reduction; 100% automatic block; a jump in the
output-to-input ratio; and repeated 429s, 403s or agent retries.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41093946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35905566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35611103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3059861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26046197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he-IL"/>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Pr>
        <a:solidFill>
          <a:srgbClr val="070A12"/>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chart" Target="../charts/chart19.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chart" Target="../charts/chart4.xml"/></Relationships>
</file>

<file path=ppt/slides/_rels/slide9.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chart" Target="../charts/chart14.xml"/></Relationships>
</file>

<file path=ppt/slides/_rels/slide36.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chart" Target="../charts/chart16.xml"/></Relationships>
</file>

<file path=ppt/slides/_rels/slide37.xml.rels><?xml version="1.0" encoding="UTF-8" standalone="yes"?>
<Relationships xmlns="http://schemas.openxmlformats.org/package/2006/relationships"><Relationship Id="rId3" Type="http://schemas.openxmlformats.org/officeDocument/2006/relationships/chart" Target="../charts/chart17.xml"/><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chart" Target="../charts/chart1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txBody>
          <a:bodyPr/>
          <a:lstStyle/>
          <a:p>
            <a:endParaRPr lang="he-IL" dirty="0"/>
          </a:p>
        </p:txBody>
      </p:sp>
      <p:sp>
        <p:nvSpPr>
          <p:cNvPr id="3" name="Shape 1"/>
          <p:cNvSpPr/>
          <p:nvPr/>
        </p:nvSpPr>
        <p:spPr>
          <a:xfrm>
            <a:off x="7863840" y="-1280160"/>
            <a:ext cx="5852160" cy="5852160"/>
          </a:xfrm>
          <a:prstGeom prst="ellipse">
            <a:avLst/>
          </a:prstGeom>
          <a:solidFill>
            <a:srgbClr val="3DD9EB">
              <a:alpha val="8000"/>
            </a:srgbClr>
          </a:solidFill>
          <a:ln w="12700">
            <a:solidFill>
              <a:srgbClr val="3DD9EB">
                <a:alpha val="0"/>
              </a:srgbClr>
            </a:solidFill>
            <a:prstDash val="solid"/>
          </a:ln>
        </p:spPr>
        <p:txBody>
          <a:bodyPr/>
          <a:lstStyle/>
          <a:p>
            <a:endParaRPr lang="he-IL" dirty="0"/>
          </a:p>
        </p:txBody>
      </p:sp>
      <p:sp>
        <p:nvSpPr>
          <p:cNvPr id="4" name="Shape 2"/>
          <p:cNvSpPr/>
          <p:nvPr/>
        </p:nvSpPr>
        <p:spPr>
          <a:xfrm>
            <a:off x="9144000" y="2377440"/>
            <a:ext cx="4754880" cy="4754880"/>
          </a:xfrm>
          <a:prstGeom prst="ellipse">
            <a:avLst/>
          </a:prstGeom>
          <a:solidFill>
            <a:srgbClr val="3DD9EB">
              <a:alpha val="7000"/>
            </a:srgbClr>
          </a:solidFill>
          <a:ln w="12700">
            <a:solidFill>
              <a:srgbClr val="3DD9EB">
                <a:alpha val="0"/>
              </a:srgbClr>
            </a:solidFill>
            <a:prstDash val="solid"/>
          </a:ln>
        </p:spPr>
        <p:txBody>
          <a:bodyPr/>
          <a:lstStyle/>
          <a:p>
            <a:endParaRPr lang="he-IL" dirty="0"/>
          </a:p>
        </p:txBody>
      </p:sp>
      <p:sp>
        <p:nvSpPr>
          <p:cNvPr id="5" name="Text 3"/>
          <p:cNvSpPr/>
          <p:nvPr/>
        </p:nvSpPr>
        <p:spPr>
          <a:xfrm>
            <a:off x="457200" y="2331720"/>
            <a:ext cx="8229600" cy="274320"/>
          </a:xfrm>
          <a:prstGeom prst="rect">
            <a:avLst/>
          </a:prstGeom>
          <a:noFill/>
          <a:ln/>
        </p:spPr>
        <p:txBody>
          <a:bodyPr wrap="square" lIns="0" tIns="0" rIns="0" bIns="0" rtlCol="0" anchor="ctr"/>
          <a:lstStyle/>
          <a:p>
            <a:pPr marL="0" indent="0">
              <a:buNone/>
            </a:pPr>
            <a:r>
              <a:rPr lang="en-US" sz="1300" b="1" kern="0" spc="300" dirty="0">
                <a:solidFill>
                  <a:srgbClr val="3DD9EB"/>
                </a:solidFill>
                <a:latin typeface="Calibri" pitchFamily="34" charset="0"/>
                <a:ea typeface="Calibri" pitchFamily="34" charset="-122"/>
                <a:cs typeface="Calibri" pitchFamily="34" charset="-120"/>
              </a:rPr>
              <a:t>HAREL INSURANCE / CLOUD FINOPS</a:t>
            </a:r>
            <a:endParaRPr lang="en-US" sz="1300" dirty="0"/>
          </a:p>
        </p:txBody>
      </p:sp>
      <p:sp>
        <p:nvSpPr>
          <p:cNvPr id="6" name="Text 4"/>
          <p:cNvSpPr/>
          <p:nvPr/>
        </p:nvSpPr>
        <p:spPr>
          <a:xfrm>
            <a:off x="457200" y="2651760"/>
            <a:ext cx="8412480" cy="1005840"/>
          </a:xfrm>
          <a:prstGeom prst="rect">
            <a:avLst/>
          </a:prstGeom>
          <a:noFill/>
          <a:ln/>
        </p:spPr>
        <p:txBody>
          <a:bodyPr wrap="square" lIns="0" tIns="0" rIns="0" bIns="0" rtlCol="0" anchor="ctr"/>
          <a:lstStyle/>
          <a:p>
            <a:pPr marL="0" indent="0">
              <a:buNone/>
            </a:pPr>
            <a:r>
              <a:rPr lang="en-US" sz="4000" b="1" dirty="0">
                <a:solidFill>
                  <a:srgbClr val="F4F7FB"/>
                </a:solidFill>
                <a:latin typeface="Calibri" pitchFamily="34" charset="0"/>
                <a:ea typeface="Calibri" pitchFamily="34" charset="-122"/>
                <a:cs typeface="Calibri" pitchFamily="34" charset="-120"/>
              </a:rPr>
              <a:t>Cloud spend, the AI shift</a:t>
            </a:r>
            <a:endParaRPr lang="en-US" sz="4000" dirty="0"/>
          </a:p>
        </p:txBody>
      </p:sp>
      <p:sp>
        <p:nvSpPr>
          <p:cNvPr id="7" name="Text 5"/>
          <p:cNvSpPr/>
          <p:nvPr/>
        </p:nvSpPr>
        <p:spPr>
          <a:xfrm>
            <a:off x="457200" y="3703320"/>
            <a:ext cx="7863840" cy="457200"/>
          </a:xfrm>
          <a:prstGeom prst="rect">
            <a:avLst/>
          </a:prstGeom>
          <a:noFill/>
          <a:ln/>
        </p:spPr>
        <p:txBody>
          <a:bodyPr wrap="square" lIns="0" tIns="0" rIns="0" bIns="0" rtlCol="0" anchor="ctr"/>
          <a:lstStyle/>
          <a:p>
            <a:pPr marL="0" indent="0">
              <a:buNone/>
            </a:pPr>
            <a:r>
              <a:rPr lang="en-US" sz="1500" dirty="0">
                <a:solidFill>
                  <a:srgbClr val="91A0B7"/>
                </a:solidFill>
                <a:latin typeface="Calibri" pitchFamily="34" charset="0"/>
                <a:ea typeface="Calibri" pitchFamily="34" charset="-122"/>
                <a:cs typeface="Calibri" pitchFamily="34" charset="-120"/>
              </a:rPr>
              <a:t>Seven months of consumption, January to July 2026, CIO briefing</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txBody>
          <a:bodyPr/>
          <a:lstStyle/>
          <a:p>
            <a:endParaRPr lang="he-IL" dirty="0"/>
          </a:p>
        </p:txBody>
      </p:sp>
      <p:sp>
        <p:nvSpPr>
          <p:cNvPr id="3" name="Shape 1"/>
          <p:cNvSpPr/>
          <p:nvPr/>
        </p:nvSpPr>
        <p:spPr>
          <a:xfrm>
            <a:off x="457200" y="306324"/>
            <a:ext cx="109728" cy="109728"/>
          </a:xfrm>
          <a:prstGeom prst="ellipse">
            <a:avLst/>
          </a:prstGeom>
          <a:solidFill>
            <a:srgbClr val="3DD9EB"/>
          </a:solidFill>
          <a:ln w="12700">
            <a:solidFill>
              <a:srgbClr val="3DD9EB"/>
            </a:solidFill>
            <a:prstDash val="solid"/>
          </a:ln>
        </p:spPr>
        <p:txBody>
          <a:bodyPr/>
          <a:lstStyle/>
          <a:p>
            <a:endParaRPr lang="he-IL" dirty="0"/>
          </a:p>
        </p:txBody>
      </p:sp>
      <p:sp>
        <p:nvSpPr>
          <p:cNvPr id="4" name="Text 2"/>
          <p:cNvSpPr/>
          <p:nvPr/>
        </p:nvSpPr>
        <p:spPr>
          <a:xfrm>
            <a:off x="640080" y="274320"/>
            <a:ext cx="7315200" cy="237744"/>
          </a:xfrm>
          <a:prstGeom prst="rect">
            <a:avLst/>
          </a:prstGeom>
          <a:noFill/>
          <a:ln/>
        </p:spPr>
        <p:txBody>
          <a:bodyPr wrap="square" lIns="0" tIns="0" rIns="0" bIns="0" rtlCol="0" anchor="ctr"/>
          <a:lstStyle/>
          <a:p>
            <a:pPr marL="0" indent="0">
              <a:buNone/>
            </a:pPr>
            <a:r>
              <a:rPr lang="en-US" sz="1300" b="1" kern="0" spc="200" dirty="0">
                <a:solidFill>
                  <a:srgbClr val="3DD9EB"/>
                </a:solidFill>
                <a:latin typeface="Calibri" pitchFamily="34" charset="0"/>
                <a:ea typeface="Calibri" pitchFamily="34" charset="-122"/>
                <a:cs typeface="Calibri" pitchFamily="34" charset="-120"/>
              </a:rPr>
              <a:t>WHERE WE ARE</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Today's run-rate</a:t>
            </a:r>
            <a:endParaRPr lang="en-US" sz="2800" dirty="0"/>
          </a:p>
        </p:txBody>
      </p:sp>
      <p:sp>
        <p:nvSpPr>
          <p:cNvPr id="6" name="Text 4"/>
          <p:cNvSpPr/>
          <p:nvPr/>
        </p:nvSpPr>
        <p:spPr>
          <a:xfrm>
            <a:off x="8321040" y="493776"/>
            <a:ext cx="3413455" cy="658368"/>
          </a:xfrm>
          <a:prstGeom prst="rect">
            <a:avLst/>
          </a:prstGeom>
          <a:noFill/>
          <a:ln/>
        </p:spPr>
        <p:txBody>
          <a:bodyPr wrap="square" lIns="0" tIns="0" rIns="0" bIns="0" rtlCol="0" anchor="t"/>
          <a:lstStyle/>
          <a:p>
            <a:pPr marL="0" indent="0" algn="r">
              <a:lnSpc>
                <a:spcPct val="115000"/>
              </a:lnSpc>
              <a:buNone/>
            </a:pP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marL="0" indent="0">
              <a:lnSpc>
                <a:spcPct val="115000"/>
              </a:lnSpc>
              <a:buNone/>
            </a:pPr>
            <a:endParaRPr lang="en-US" sz="1200" dirty="0"/>
          </a:p>
        </p:txBody>
      </p:sp>
      <p:sp>
        <p:nvSpPr>
          <p:cNvPr id="8" name="Text 6"/>
          <p:cNvSpPr/>
          <p:nvPr/>
        </p:nvSpPr>
        <p:spPr>
          <a:xfrm>
            <a:off x="457200" y="1691640"/>
            <a:ext cx="5669280" cy="1371600"/>
          </a:xfrm>
          <a:prstGeom prst="rect">
            <a:avLst/>
          </a:prstGeom>
          <a:noFill/>
          <a:ln/>
        </p:spPr>
        <p:txBody>
          <a:bodyPr wrap="square" lIns="0" tIns="0" rIns="0" bIns="0" rtlCol="0" anchor="ctr"/>
          <a:lstStyle/>
          <a:p>
            <a:pPr marL="0" indent="0">
              <a:buNone/>
            </a:pPr>
            <a:r>
              <a:rPr lang="en-US" sz="9600" b="1" dirty="0">
                <a:solidFill>
                  <a:srgbClr val="F4F7FB"/>
                </a:solidFill>
                <a:latin typeface="Calibri" pitchFamily="34" charset="0"/>
                <a:ea typeface="Calibri" pitchFamily="34" charset="-122"/>
                <a:cs typeface="Calibri" pitchFamily="34" charset="-120"/>
              </a:rPr>
              <a:t>$3.4M</a:t>
            </a:r>
            <a:endParaRPr lang="en-US" sz="9600" dirty="0"/>
          </a:p>
        </p:txBody>
      </p:sp>
      <p:sp>
        <p:nvSpPr>
          <p:cNvPr id="9" name="Text 7"/>
          <p:cNvSpPr/>
          <p:nvPr/>
        </p:nvSpPr>
        <p:spPr>
          <a:xfrm>
            <a:off x="457200" y="3063240"/>
            <a:ext cx="5669280" cy="365760"/>
          </a:xfrm>
          <a:prstGeom prst="rect">
            <a:avLst/>
          </a:prstGeom>
          <a:noFill/>
          <a:ln/>
        </p:spPr>
        <p:txBody>
          <a:bodyPr wrap="square" lIns="0" tIns="0" rIns="0" bIns="0" rtlCol="0" anchor="ctr"/>
          <a:lstStyle/>
          <a:p>
            <a:pPr marL="0" indent="0">
              <a:buNone/>
            </a:pPr>
            <a:r>
              <a:rPr lang="en-US" sz="1500" dirty="0">
                <a:solidFill>
                  <a:srgbClr val="91A0B7"/>
                </a:solidFill>
                <a:latin typeface="Calibri" pitchFamily="34" charset="0"/>
                <a:ea typeface="Calibri" pitchFamily="34" charset="-122"/>
                <a:cs typeface="Calibri" pitchFamily="34" charset="-120"/>
              </a:rPr>
              <a:t>run-rate today. July consumption x 12, across Azure, AWS and GCP</a:t>
            </a:r>
            <a:endParaRPr lang="en-US" sz="1500" dirty="0"/>
          </a:p>
        </p:txBody>
      </p:sp>
      <p:sp>
        <p:nvSpPr>
          <p:cNvPr id="10" name="Text 8"/>
          <p:cNvSpPr/>
          <p:nvPr/>
        </p:nvSpPr>
        <p:spPr>
          <a:xfrm>
            <a:off x="457200" y="3456432"/>
            <a:ext cx="5669280" cy="365760"/>
          </a:xfrm>
          <a:prstGeom prst="rect">
            <a:avLst/>
          </a:prstGeom>
          <a:noFill/>
          <a:ln/>
        </p:spPr>
        <p:txBody>
          <a:bodyPr wrap="square" lIns="0" tIns="0" rIns="0" bIns="0" rtlCol="0" anchor="ctr"/>
          <a:lstStyle/>
          <a:p>
            <a:pPr marL="0" indent="0">
              <a:buNone/>
            </a:pPr>
            <a:r>
              <a:rPr lang="en-US" sz="1700" b="1" dirty="0">
                <a:solidFill>
                  <a:srgbClr val="FF6B7A"/>
                </a:solidFill>
                <a:latin typeface="Calibri" pitchFamily="34" charset="0"/>
                <a:ea typeface="Calibri" pitchFamily="34" charset="-122"/>
                <a:cs typeface="Calibri" pitchFamily="34" charset="-120"/>
              </a:rPr>
              <a:t>up $593K since January, +21.1%</a:t>
            </a:r>
            <a:endParaRPr lang="en-US" sz="1700" dirty="0"/>
          </a:p>
        </p:txBody>
      </p:sp>
      <p:sp>
        <p:nvSpPr>
          <p:cNvPr id="11" name="Shape 9"/>
          <p:cNvSpPr/>
          <p:nvPr/>
        </p:nvSpPr>
        <p:spPr>
          <a:xfrm>
            <a:off x="6492240" y="1554480"/>
            <a:ext cx="5242255" cy="914400"/>
          </a:xfrm>
          <a:prstGeom prst="roundRect">
            <a:avLst>
              <a:gd name="adj" fmla="val 6000"/>
            </a:avLst>
          </a:prstGeom>
          <a:solidFill>
            <a:srgbClr val="121B2D"/>
          </a:solidFill>
          <a:ln w="12700">
            <a:solidFill>
              <a:srgbClr val="23304A"/>
            </a:solidFill>
            <a:prstDash val="solid"/>
          </a:ln>
        </p:spPr>
        <p:txBody>
          <a:bodyPr/>
          <a:lstStyle/>
          <a:p>
            <a:endParaRPr lang="he-IL" dirty="0"/>
          </a:p>
        </p:txBody>
      </p:sp>
      <p:sp>
        <p:nvSpPr>
          <p:cNvPr id="12" name="Text 10"/>
          <p:cNvSpPr/>
          <p:nvPr/>
        </p:nvSpPr>
        <p:spPr>
          <a:xfrm>
            <a:off x="6693408" y="1682496"/>
            <a:ext cx="4839919" cy="274320"/>
          </a:xfrm>
          <a:prstGeom prst="rect">
            <a:avLst/>
          </a:prstGeom>
          <a:noFill/>
          <a:ln/>
        </p:spPr>
        <p:txBody>
          <a:bodyPr wrap="square" lIns="0" tIns="0" rIns="0" bIns="0" rtlCol="0" anchor="ctr"/>
          <a:lstStyle/>
          <a:p>
            <a:pPr marL="0" indent="0">
              <a:buNone/>
            </a:pPr>
            <a:r>
              <a:rPr lang="en-US" sz="1500" b="1" dirty="0">
                <a:solidFill>
                  <a:srgbClr val="2F8CFF"/>
                </a:solidFill>
                <a:latin typeface="Calibri" pitchFamily="34" charset="0"/>
                <a:ea typeface="Calibri" pitchFamily="34" charset="-122"/>
                <a:cs typeface="Calibri" pitchFamily="34" charset="-120"/>
              </a:rPr>
              <a:t>Azure</a:t>
            </a:r>
            <a:endParaRPr lang="en-US" sz="1500" dirty="0"/>
          </a:p>
        </p:txBody>
      </p:sp>
      <p:sp>
        <p:nvSpPr>
          <p:cNvPr id="13" name="Text 11"/>
          <p:cNvSpPr/>
          <p:nvPr/>
        </p:nvSpPr>
        <p:spPr>
          <a:xfrm>
            <a:off x="6693408" y="1975104"/>
            <a:ext cx="2419960" cy="347472"/>
          </a:xfrm>
          <a:prstGeom prst="rect">
            <a:avLst/>
          </a:prstGeom>
          <a:noFill/>
          <a:ln/>
        </p:spPr>
        <p:txBody>
          <a:bodyPr wrap="square" lIns="0" tIns="0" rIns="0" bIns="0" rtlCol="0" anchor="ctr"/>
          <a:lstStyle/>
          <a:p>
            <a:pPr marL="0" indent="0">
              <a:buNone/>
            </a:pPr>
            <a:r>
              <a:rPr lang="en-US" sz="2200" b="1" dirty="0">
                <a:solidFill>
                  <a:srgbClr val="F4F7FB"/>
                </a:solidFill>
                <a:latin typeface="Calibri" pitchFamily="34" charset="0"/>
                <a:ea typeface="Calibri" pitchFamily="34" charset="-122"/>
                <a:cs typeface="Calibri" pitchFamily="34" charset="-120"/>
              </a:rPr>
              <a:t>$186,917</a:t>
            </a:r>
            <a:endParaRPr lang="en-US" sz="2200" dirty="0"/>
          </a:p>
        </p:txBody>
      </p:sp>
      <p:sp>
        <p:nvSpPr>
          <p:cNvPr id="14" name="Text 12"/>
          <p:cNvSpPr/>
          <p:nvPr/>
        </p:nvSpPr>
        <p:spPr>
          <a:xfrm>
            <a:off x="9113368" y="1975104"/>
            <a:ext cx="2419960" cy="347472"/>
          </a:xfrm>
          <a:prstGeom prst="rect">
            <a:avLst/>
          </a:prstGeom>
          <a:noFill/>
          <a:ln/>
        </p:spPr>
        <p:txBody>
          <a:bodyPr wrap="square" lIns="0" tIns="0" rIns="0" bIns="0" rtlCol="0" anchor="ctr"/>
          <a:lstStyle/>
          <a:p>
            <a:pPr marL="0" indent="0" algn="r">
              <a:buNone/>
            </a:pPr>
            <a:r>
              <a:rPr lang="en-US" sz="1200" dirty="0">
                <a:solidFill>
                  <a:srgbClr val="91A0B7"/>
                </a:solidFill>
                <a:latin typeface="Calibri" pitchFamily="34" charset="0"/>
                <a:ea typeface="Calibri" pitchFamily="34" charset="-122"/>
                <a:cs typeface="Calibri" pitchFamily="34" charset="-120"/>
              </a:rPr>
              <a:t>66% of the bill</a:t>
            </a:r>
            <a:endParaRPr lang="en-US" sz="1200" dirty="0"/>
          </a:p>
        </p:txBody>
      </p:sp>
      <p:sp>
        <p:nvSpPr>
          <p:cNvPr id="15" name="Shape 13"/>
          <p:cNvSpPr/>
          <p:nvPr/>
        </p:nvSpPr>
        <p:spPr>
          <a:xfrm>
            <a:off x="6492240" y="2606040"/>
            <a:ext cx="5242255" cy="914400"/>
          </a:xfrm>
          <a:prstGeom prst="roundRect">
            <a:avLst>
              <a:gd name="adj" fmla="val 6000"/>
            </a:avLst>
          </a:prstGeom>
          <a:solidFill>
            <a:srgbClr val="121B2D"/>
          </a:solidFill>
          <a:ln w="12700">
            <a:solidFill>
              <a:srgbClr val="23304A"/>
            </a:solidFill>
            <a:prstDash val="solid"/>
          </a:ln>
        </p:spPr>
        <p:txBody>
          <a:bodyPr/>
          <a:lstStyle/>
          <a:p>
            <a:endParaRPr lang="he-IL" dirty="0"/>
          </a:p>
        </p:txBody>
      </p:sp>
      <p:sp>
        <p:nvSpPr>
          <p:cNvPr id="16" name="Text 14"/>
          <p:cNvSpPr/>
          <p:nvPr/>
        </p:nvSpPr>
        <p:spPr>
          <a:xfrm>
            <a:off x="6693408" y="2734056"/>
            <a:ext cx="4839919" cy="274320"/>
          </a:xfrm>
          <a:prstGeom prst="rect">
            <a:avLst/>
          </a:prstGeom>
          <a:noFill/>
          <a:ln/>
        </p:spPr>
        <p:txBody>
          <a:bodyPr wrap="square" lIns="0" tIns="0" rIns="0" bIns="0" rtlCol="0" anchor="ctr"/>
          <a:lstStyle/>
          <a:p>
            <a:pPr marL="0" indent="0">
              <a:buNone/>
            </a:pPr>
            <a:r>
              <a:rPr lang="en-US" sz="1500" b="1" dirty="0">
                <a:solidFill>
                  <a:srgbClr val="FF9F43"/>
                </a:solidFill>
                <a:latin typeface="Calibri" pitchFamily="34" charset="0"/>
                <a:ea typeface="Calibri" pitchFamily="34" charset="-122"/>
                <a:cs typeface="Calibri" pitchFamily="34" charset="-120"/>
              </a:rPr>
              <a:t>AWS</a:t>
            </a:r>
            <a:endParaRPr lang="en-US" sz="1500" dirty="0"/>
          </a:p>
        </p:txBody>
      </p:sp>
      <p:sp>
        <p:nvSpPr>
          <p:cNvPr id="17" name="Text 15"/>
          <p:cNvSpPr/>
          <p:nvPr/>
        </p:nvSpPr>
        <p:spPr>
          <a:xfrm>
            <a:off x="6693408" y="3026664"/>
            <a:ext cx="2419960" cy="347472"/>
          </a:xfrm>
          <a:prstGeom prst="rect">
            <a:avLst/>
          </a:prstGeom>
          <a:noFill/>
          <a:ln/>
        </p:spPr>
        <p:txBody>
          <a:bodyPr wrap="square" lIns="0" tIns="0" rIns="0" bIns="0" rtlCol="0" anchor="ctr"/>
          <a:lstStyle/>
          <a:p>
            <a:pPr marL="0" indent="0">
              <a:buNone/>
            </a:pPr>
            <a:r>
              <a:rPr lang="en-US" sz="2200" b="1" dirty="0">
                <a:solidFill>
                  <a:srgbClr val="F4F7FB"/>
                </a:solidFill>
                <a:latin typeface="Calibri" pitchFamily="34" charset="0"/>
                <a:ea typeface="Calibri" pitchFamily="34" charset="-122"/>
                <a:cs typeface="Calibri" pitchFamily="34" charset="-120"/>
              </a:rPr>
              <a:t>$92,930</a:t>
            </a:r>
            <a:endParaRPr lang="en-US" sz="2200" dirty="0"/>
          </a:p>
        </p:txBody>
      </p:sp>
      <p:sp>
        <p:nvSpPr>
          <p:cNvPr id="18" name="Text 16"/>
          <p:cNvSpPr/>
          <p:nvPr/>
        </p:nvSpPr>
        <p:spPr>
          <a:xfrm>
            <a:off x="9113368" y="3026664"/>
            <a:ext cx="2419960" cy="347472"/>
          </a:xfrm>
          <a:prstGeom prst="rect">
            <a:avLst/>
          </a:prstGeom>
          <a:noFill/>
          <a:ln/>
        </p:spPr>
        <p:txBody>
          <a:bodyPr wrap="square" lIns="0" tIns="0" rIns="0" bIns="0" rtlCol="0" anchor="ctr"/>
          <a:lstStyle/>
          <a:p>
            <a:pPr marL="0" indent="0" algn="r">
              <a:buNone/>
            </a:pPr>
            <a:r>
              <a:rPr lang="en-US" sz="1200" dirty="0">
                <a:solidFill>
                  <a:srgbClr val="91A0B7"/>
                </a:solidFill>
                <a:latin typeface="Calibri" pitchFamily="34" charset="0"/>
                <a:ea typeface="Calibri" pitchFamily="34" charset="-122"/>
                <a:cs typeface="Calibri" pitchFamily="34" charset="-120"/>
              </a:rPr>
              <a:t>33% of the bill</a:t>
            </a:r>
            <a:endParaRPr lang="en-US" sz="1200" dirty="0"/>
          </a:p>
        </p:txBody>
      </p:sp>
      <p:sp>
        <p:nvSpPr>
          <p:cNvPr id="19" name="Shape 17"/>
          <p:cNvSpPr/>
          <p:nvPr/>
        </p:nvSpPr>
        <p:spPr>
          <a:xfrm>
            <a:off x="6492240" y="3657600"/>
            <a:ext cx="5242255" cy="914400"/>
          </a:xfrm>
          <a:prstGeom prst="roundRect">
            <a:avLst>
              <a:gd name="adj" fmla="val 6000"/>
            </a:avLst>
          </a:prstGeom>
          <a:solidFill>
            <a:srgbClr val="121B2D"/>
          </a:solidFill>
          <a:ln w="12700">
            <a:solidFill>
              <a:srgbClr val="23304A"/>
            </a:solidFill>
            <a:prstDash val="solid"/>
          </a:ln>
        </p:spPr>
        <p:txBody>
          <a:bodyPr/>
          <a:lstStyle/>
          <a:p>
            <a:endParaRPr lang="he-IL" dirty="0"/>
          </a:p>
        </p:txBody>
      </p:sp>
      <p:sp>
        <p:nvSpPr>
          <p:cNvPr id="20" name="Text 18"/>
          <p:cNvSpPr/>
          <p:nvPr/>
        </p:nvSpPr>
        <p:spPr>
          <a:xfrm>
            <a:off x="6693408" y="3785616"/>
            <a:ext cx="4839919" cy="274320"/>
          </a:xfrm>
          <a:prstGeom prst="rect">
            <a:avLst/>
          </a:prstGeom>
          <a:noFill/>
          <a:ln/>
        </p:spPr>
        <p:txBody>
          <a:bodyPr wrap="square" lIns="0" tIns="0" rIns="0" bIns="0" rtlCol="0" anchor="ctr"/>
          <a:lstStyle/>
          <a:p>
            <a:pPr marL="0" indent="0">
              <a:buNone/>
            </a:pPr>
            <a:r>
              <a:rPr lang="en-US" sz="1500" b="1" dirty="0">
                <a:solidFill>
                  <a:srgbClr val="3DDC97"/>
                </a:solidFill>
                <a:latin typeface="Calibri" pitchFamily="34" charset="0"/>
                <a:ea typeface="Calibri" pitchFamily="34" charset="-122"/>
                <a:cs typeface="Calibri" pitchFamily="34" charset="-120"/>
              </a:rPr>
              <a:t>GCP</a:t>
            </a:r>
            <a:endParaRPr lang="en-US" sz="1500" dirty="0"/>
          </a:p>
        </p:txBody>
      </p:sp>
      <p:sp>
        <p:nvSpPr>
          <p:cNvPr id="21" name="Text 19"/>
          <p:cNvSpPr/>
          <p:nvPr/>
        </p:nvSpPr>
        <p:spPr>
          <a:xfrm>
            <a:off x="6693408" y="4078224"/>
            <a:ext cx="2419960" cy="347472"/>
          </a:xfrm>
          <a:prstGeom prst="rect">
            <a:avLst/>
          </a:prstGeom>
          <a:noFill/>
          <a:ln/>
        </p:spPr>
        <p:txBody>
          <a:bodyPr wrap="square" lIns="0" tIns="0" rIns="0" bIns="0" rtlCol="0" anchor="ctr"/>
          <a:lstStyle/>
          <a:p>
            <a:pPr marL="0" indent="0">
              <a:buNone/>
            </a:pPr>
            <a:r>
              <a:rPr lang="en-US" sz="2200" b="1" dirty="0">
                <a:solidFill>
                  <a:srgbClr val="F4F7FB"/>
                </a:solidFill>
                <a:latin typeface="Calibri" pitchFamily="34" charset="0"/>
                <a:ea typeface="Calibri" pitchFamily="34" charset="-122"/>
                <a:cs typeface="Calibri" pitchFamily="34" charset="-120"/>
              </a:rPr>
              <a:t>$3,707</a:t>
            </a:r>
            <a:endParaRPr lang="en-US" sz="2200" dirty="0"/>
          </a:p>
        </p:txBody>
      </p:sp>
      <p:sp>
        <p:nvSpPr>
          <p:cNvPr id="22" name="Text 20"/>
          <p:cNvSpPr/>
          <p:nvPr/>
        </p:nvSpPr>
        <p:spPr>
          <a:xfrm>
            <a:off x="9113368" y="4078224"/>
            <a:ext cx="2419960" cy="347472"/>
          </a:xfrm>
          <a:prstGeom prst="rect">
            <a:avLst/>
          </a:prstGeom>
          <a:noFill/>
          <a:ln/>
        </p:spPr>
        <p:txBody>
          <a:bodyPr wrap="square" lIns="0" tIns="0" rIns="0" bIns="0" rtlCol="0" anchor="ctr"/>
          <a:lstStyle/>
          <a:p>
            <a:pPr marL="0" indent="0" algn="r">
              <a:buNone/>
            </a:pPr>
            <a:r>
              <a:rPr lang="en-US" sz="1200" dirty="0">
                <a:solidFill>
                  <a:srgbClr val="91A0B7"/>
                </a:solidFill>
                <a:latin typeface="Calibri" pitchFamily="34" charset="0"/>
                <a:ea typeface="Calibri" pitchFamily="34" charset="-122"/>
                <a:cs typeface="Calibri" pitchFamily="34" charset="-120"/>
              </a:rPr>
              <a:t>1.3% of the bill</a:t>
            </a:r>
            <a:endParaRPr lang="en-US" sz="1200" dirty="0"/>
          </a:p>
        </p:txBody>
      </p:sp>
      <p:sp>
        <p:nvSpPr>
          <p:cNvPr id="23" name="Text 21"/>
          <p:cNvSpPr/>
          <p:nvPr/>
        </p:nvSpPr>
        <p:spPr>
          <a:xfrm>
            <a:off x="457200" y="4069080"/>
            <a:ext cx="5669280" cy="219456"/>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WHAT MOVED SINCE JANUARY</a:t>
            </a:r>
            <a:endParaRPr lang="en-US" sz="1200" dirty="0"/>
          </a:p>
        </p:txBody>
      </p:sp>
      <p:sp>
        <p:nvSpPr>
          <p:cNvPr id="24" name="Shape 22"/>
          <p:cNvSpPr/>
          <p:nvPr/>
        </p:nvSpPr>
        <p:spPr>
          <a:xfrm>
            <a:off x="457200" y="4443984"/>
            <a:ext cx="64008" cy="64008"/>
          </a:xfrm>
          <a:prstGeom prst="rect">
            <a:avLst/>
          </a:prstGeom>
          <a:solidFill>
            <a:srgbClr val="3DD9EB"/>
          </a:solidFill>
          <a:ln w="12700">
            <a:solidFill>
              <a:srgbClr val="3DD9EB"/>
            </a:solidFill>
            <a:prstDash val="solid"/>
          </a:ln>
        </p:spPr>
        <p:txBody>
          <a:bodyPr/>
          <a:lstStyle/>
          <a:p>
            <a:endParaRPr lang="he-IL" dirty="0"/>
          </a:p>
        </p:txBody>
      </p:sp>
      <p:sp>
        <p:nvSpPr>
          <p:cNvPr id="25" name="Text 23"/>
          <p:cNvSpPr/>
          <p:nvPr/>
        </p:nvSpPr>
        <p:spPr>
          <a:xfrm>
            <a:off x="630936" y="4361688"/>
            <a:ext cx="5495544" cy="365760"/>
          </a:xfrm>
          <a:prstGeom prst="rect">
            <a:avLst/>
          </a:prstGeom>
          <a:noFill/>
          <a:ln/>
        </p:spPr>
        <p:txBody>
          <a:bodyPr wrap="square" lIns="0" tIns="0" rIns="0" bIns="0" rtlCol="0" anchor="t"/>
          <a:lstStyle/>
          <a:p>
            <a:pPr marL="0" indent="0">
              <a:lnSpc>
                <a:spcPct val="110000"/>
              </a:lnSpc>
              <a:buNone/>
            </a:pPr>
            <a:r>
              <a:rPr lang="en-US" sz="1250" dirty="0">
                <a:solidFill>
                  <a:srgbClr val="F4F7FB"/>
                </a:solidFill>
                <a:latin typeface="Calibri" pitchFamily="34" charset="0"/>
                <a:ea typeface="Calibri" pitchFamily="34" charset="-122"/>
                <a:cs typeface="Calibri" pitchFamily="34" charset="-120"/>
              </a:rPr>
              <a:t>Azure added $29,927 a month, billed AI accounts for more than the whole increase</a:t>
            </a:r>
            <a:endParaRPr lang="en-US" sz="1250" dirty="0"/>
          </a:p>
        </p:txBody>
      </p:sp>
      <p:sp>
        <p:nvSpPr>
          <p:cNvPr id="26" name="Shape 24"/>
          <p:cNvSpPr/>
          <p:nvPr/>
        </p:nvSpPr>
        <p:spPr>
          <a:xfrm>
            <a:off x="457200" y="5010912"/>
            <a:ext cx="64008" cy="64008"/>
          </a:xfrm>
          <a:prstGeom prst="rect">
            <a:avLst/>
          </a:prstGeom>
          <a:solidFill>
            <a:srgbClr val="3DD9EB"/>
          </a:solidFill>
          <a:ln w="12700">
            <a:solidFill>
              <a:srgbClr val="3DD9EB"/>
            </a:solidFill>
            <a:prstDash val="solid"/>
          </a:ln>
        </p:spPr>
        <p:txBody>
          <a:bodyPr/>
          <a:lstStyle/>
          <a:p>
            <a:endParaRPr lang="he-IL" dirty="0"/>
          </a:p>
        </p:txBody>
      </p:sp>
      <p:sp>
        <p:nvSpPr>
          <p:cNvPr id="27" name="Text 25"/>
          <p:cNvSpPr/>
          <p:nvPr/>
        </p:nvSpPr>
        <p:spPr>
          <a:xfrm>
            <a:off x="630936" y="4928616"/>
            <a:ext cx="5495544" cy="457200"/>
          </a:xfrm>
          <a:prstGeom prst="rect">
            <a:avLst/>
          </a:prstGeom>
          <a:noFill/>
          <a:ln/>
        </p:spPr>
        <p:txBody>
          <a:bodyPr wrap="square" lIns="0" tIns="0" rIns="0" bIns="0" rtlCol="0" anchor="t"/>
          <a:lstStyle/>
          <a:p>
            <a:pPr marL="0" indent="0">
              <a:lnSpc>
                <a:spcPct val="110000"/>
              </a:lnSpc>
              <a:buNone/>
            </a:pPr>
            <a:r>
              <a:rPr lang="en-US" sz="1250" dirty="0">
                <a:solidFill>
                  <a:srgbClr val="F4F7FB"/>
                </a:solidFill>
                <a:latin typeface="Calibri" pitchFamily="34" charset="0"/>
                <a:ea typeface="Calibri" pitchFamily="34" charset="-122"/>
                <a:cs typeface="Calibri" pitchFamily="34" charset="-120"/>
              </a:rPr>
              <a:t>AWS added $15,804 a month of usage, before Marketplace, which is reported separately</a:t>
            </a:r>
            <a:endParaRPr lang="en-US" sz="1250" dirty="0"/>
          </a:p>
        </p:txBody>
      </p:sp>
      <p:sp>
        <p:nvSpPr>
          <p:cNvPr id="28" name="Shape 26"/>
          <p:cNvSpPr/>
          <p:nvPr/>
        </p:nvSpPr>
        <p:spPr>
          <a:xfrm>
            <a:off x="457200" y="5577840"/>
            <a:ext cx="64008" cy="64008"/>
          </a:xfrm>
          <a:prstGeom prst="rect">
            <a:avLst/>
          </a:prstGeom>
          <a:solidFill>
            <a:srgbClr val="3DD9EB"/>
          </a:solidFill>
          <a:ln w="12700">
            <a:solidFill>
              <a:srgbClr val="3DD9EB"/>
            </a:solidFill>
            <a:prstDash val="solid"/>
          </a:ln>
        </p:spPr>
        <p:txBody>
          <a:bodyPr/>
          <a:lstStyle/>
          <a:p>
            <a:endParaRPr lang="he-IL" dirty="0"/>
          </a:p>
        </p:txBody>
      </p:sp>
      <p:sp>
        <p:nvSpPr>
          <p:cNvPr id="29" name="Text 27"/>
          <p:cNvSpPr/>
          <p:nvPr/>
        </p:nvSpPr>
        <p:spPr>
          <a:xfrm>
            <a:off x="630936" y="5495544"/>
            <a:ext cx="5495544" cy="365760"/>
          </a:xfrm>
          <a:prstGeom prst="rect">
            <a:avLst/>
          </a:prstGeom>
          <a:noFill/>
          <a:ln/>
        </p:spPr>
        <p:txBody>
          <a:bodyPr wrap="square" lIns="0" tIns="0" rIns="0" bIns="0" rtlCol="0" anchor="t"/>
          <a:lstStyle/>
          <a:p>
            <a:pPr marL="0" indent="0">
              <a:lnSpc>
                <a:spcPct val="110000"/>
              </a:lnSpc>
              <a:buNone/>
            </a:pPr>
            <a:r>
              <a:rPr lang="en-US" sz="1250" dirty="0">
                <a:solidFill>
                  <a:srgbClr val="F4F7FB"/>
                </a:solidFill>
                <a:latin typeface="Calibri" pitchFamily="34" charset="0"/>
                <a:ea typeface="Calibri" pitchFamily="34" charset="-122"/>
                <a:cs typeface="Calibri" pitchFamily="34" charset="-120"/>
              </a:rPr>
              <a:t>GCP started from nothing in March and is now $3,707 a month, almost entirely Vertex AI</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txBody>
          <a:bodyPr/>
          <a:lstStyle/>
          <a:p>
            <a:endParaRPr lang="he-IL" dirty="0"/>
          </a:p>
        </p:txBody>
      </p:sp>
      <p:sp>
        <p:nvSpPr>
          <p:cNvPr id="3" name="Shape 1"/>
          <p:cNvSpPr/>
          <p:nvPr/>
        </p:nvSpPr>
        <p:spPr>
          <a:xfrm>
            <a:off x="457200" y="306324"/>
            <a:ext cx="109728" cy="109728"/>
          </a:xfrm>
          <a:prstGeom prst="ellipse">
            <a:avLst/>
          </a:prstGeom>
          <a:solidFill>
            <a:srgbClr val="FF6B7A"/>
          </a:solidFill>
          <a:ln w="12700">
            <a:solidFill>
              <a:srgbClr val="FF6B7A"/>
            </a:solidFill>
            <a:prstDash val="solid"/>
          </a:ln>
        </p:spPr>
        <p:txBody>
          <a:bodyPr/>
          <a:lstStyle/>
          <a:p>
            <a:endParaRPr lang="he-IL" dirty="0"/>
          </a:p>
        </p:txBody>
      </p:sp>
      <p:sp>
        <p:nvSpPr>
          <p:cNvPr id="4" name="Text 2"/>
          <p:cNvSpPr/>
          <p:nvPr/>
        </p:nvSpPr>
        <p:spPr>
          <a:xfrm>
            <a:off x="640080" y="274320"/>
            <a:ext cx="7315200" cy="237744"/>
          </a:xfrm>
          <a:prstGeom prst="rect">
            <a:avLst/>
          </a:prstGeom>
          <a:noFill/>
          <a:ln/>
        </p:spPr>
        <p:txBody>
          <a:bodyPr wrap="square" lIns="0" tIns="0" rIns="0" bIns="0" rtlCol="0" anchor="ctr"/>
          <a:lstStyle/>
          <a:p>
            <a:pPr marL="0" indent="0">
              <a:buNone/>
            </a:pPr>
            <a:r>
              <a:rPr lang="en-US" sz="1300" b="1" kern="0" spc="200" dirty="0">
                <a:solidFill>
                  <a:srgbClr val="FF6B7A"/>
                </a:solidFill>
                <a:latin typeface="Calibri" pitchFamily="34" charset="0"/>
                <a:ea typeface="Calibri" pitchFamily="34" charset="-122"/>
                <a:cs typeface="Calibri" pitchFamily="34" charset="-120"/>
              </a:rPr>
              <a:t>THE RISK CASE</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marL="0" indent="0">
              <a:buNone/>
            </a:pPr>
            <a:r>
              <a:rPr lang="en-US" sz="2400" b="1" dirty="0">
                <a:solidFill>
                  <a:srgbClr val="F4F7FB"/>
                </a:solidFill>
                <a:latin typeface="Calibri" pitchFamily="34" charset="0"/>
                <a:ea typeface="Calibri" pitchFamily="34" charset="-122"/>
                <a:cs typeface="Calibri" pitchFamily="34" charset="-120"/>
              </a:rPr>
              <a:t>If the May-July pace returns: $5.8M</a:t>
            </a:r>
            <a:endParaRPr lang="en-US" sz="2400" dirty="0"/>
          </a:p>
        </p:txBody>
      </p:sp>
      <p:sp>
        <p:nvSpPr>
          <p:cNvPr id="6" name="Text 4"/>
          <p:cNvSpPr/>
          <p:nvPr/>
        </p:nvSpPr>
        <p:spPr>
          <a:xfrm>
            <a:off x="8321040" y="493776"/>
            <a:ext cx="3413455" cy="658368"/>
          </a:xfrm>
          <a:prstGeom prst="rect">
            <a:avLst/>
          </a:prstGeom>
          <a:noFill/>
          <a:ln/>
        </p:spPr>
        <p:txBody>
          <a:bodyPr wrap="square" lIns="0" tIns="0" rIns="0" bIns="0" rtlCol="0" anchor="t"/>
          <a:lstStyle/>
          <a:p>
            <a:pPr marL="0" indent="0" algn="r">
              <a:lnSpc>
                <a:spcPct val="115000"/>
              </a:lnSpc>
              <a:buNone/>
            </a:pPr>
            <a:r>
              <a:rPr lang="en-US" sz="1200" dirty="0">
                <a:solidFill>
                  <a:srgbClr val="91A0B7"/>
                </a:solidFill>
                <a:latin typeface="Calibri" pitchFamily="34" charset="0"/>
                <a:ea typeface="Calibri" pitchFamily="34" charset="-122"/>
                <a:cs typeface="Calibri" pitchFamily="34" charset="-120"/>
              </a:rPr>
              <a:t>The same arithmetic as the previous slide, carried at the faster rate the last three months set.</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marL="0" indent="0">
              <a:lnSpc>
                <a:spcPct val="115000"/>
              </a:lnSpc>
              <a:buNone/>
            </a:pPr>
            <a:r>
              <a:rPr lang="en-US" sz="1200" dirty="0">
                <a:solidFill>
                  <a:srgbClr val="536078"/>
                </a:solidFill>
                <a:latin typeface="Calibri" pitchFamily="34" charset="0"/>
                <a:ea typeface="Calibri" pitchFamily="34" charset="-122"/>
                <a:cs typeface="Calibri" pitchFamily="34" charset="-120"/>
              </a:rPr>
              <a:t>The July briefing's number, recomputed from today's July actual. It is the upper bound, not the forecast: it assumes Azure resumes 13.3% a month, a rate seen over two months only. August and September decide which line we are on.</a:t>
            </a:r>
            <a:endParaRPr lang="en-US" sz="1200" dirty="0"/>
          </a:p>
        </p:txBody>
      </p:sp>
      <p:sp>
        <p:nvSpPr>
          <p:cNvPr id="8" name="Text 6"/>
          <p:cNvSpPr/>
          <p:nvPr/>
        </p:nvSpPr>
        <p:spPr>
          <a:xfrm>
            <a:off x="457200" y="1234440"/>
            <a:ext cx="7360920" cy="237744"/>
          </a:xfrm>
          <a:prstGeom prst="rect">
            <a:avLst/>
          </a:prstGeom>
          <a:noFill/>
          <a:ln/>
        </p:spPr>
        <p:txBody>
          <a:bodyPr wrap="square" lIns="0" tIns="0" rIns="0" bIns="0" rtlCol="0" anchor="ctr"/>
          <a:lstStyle/>
          <a:p>
            <a:pPr marL="0" indent="0">
              <a:buNone/>
            </a:pPr>
            <a:r>
              <a:rPr lang="en-US" sz="1500" b="1" dirty="0">
                <a:solidFill>
                  <a:srgbClr val="F4F7FB"/>
                </a:solidFill>
                <a:latin typeface="Calibri" pitchFamily="34" charset="0"/>
                <a:ea typeface="Calibri" pitchFamily="34" charset="-122"/>
                <a:cs typeface="Calibri" pitchFamily="34" charset="-120"/>
              </a:rPr>
              <a:t>Monthly spend to December, on both paces</a:t>
            </a:r>
            <a:endParaRPr lang="en-US" sz="1500" dirty="0"/>
          </a:p>
        </p:txBody>
      </p:sp>
      <p:graphicFrame>
        <p:nvGraphicFramePr>
          <p:cNvPr id="9" name="Chart 0"/>
          <p:cNvGraphicFramePr/>
          <p:nvPr/>
        </p:nvGraphicFramePr>
        <p:xfrm>
          <a:off x="411480" y="1508760"/>
          <a:ext cx="736092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10" name="Shape 7"/>
          <p:cNvSpPr/>
          <p:nvPr/>
        </p:nvSpPr>
        <p:spPr>
          <a:xfrm>
            <a:off x="8092440" y="1234440"/>
            <a:ext cx="3642055" cy="1097280"/>
          </a:xfrm>
          <a:prstGeom prst="roundRect">
            <a:avLst>
              <a:gd name="adj" fmla="val 5000"/>
            </a:avLst>
          </a:prstGeom>
          <a:solidFill>
            <a:srgbClr val="121B2D"/>
          </a:solidFill>
          <a:ln w="12700">
            <a:solidFill>
              <a:srgbClr val="23304A"/>
            </a:solidFill>
            <a:prstDash val="solid"/>
          </a:ln>
        </p:spPr>
        <p:txBody>
          <a:bodyPr/>
          <a:lstStyle/>
          <a:p>
            <a:endParaRPr lang="he-IL" dirty="0"/>
          </a:p>
        </p:txBody>
      </p:sp>
      <p:sp>
        <p:nvSpPr>
          <p:cNvPr id="11" name="Text 8"/>
          <p:cNvSpPr/>
          <p:nvPr/>
        </p:nvSpPr>
        <p:spPr>
          <a:xfrm>
            <a:off x="8293608" y="1325880"/>
            <a:ext cx="3239719"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DECEMBER RUN-RATE</a:t>
            </a:r>
            <a:endParaRPr lang="en-US" sz="1200" dirty="0"/>
          </a:p>
        </p:txBody>
      </p:sp>
      <p:sp>
        <p:nvSpPr>
          <p:cNvPr id="12" name="Text 9"/>
          <p:cNvSpPr/>
          <p:nvPr/>
        </p:nvSpPr>
        <p:spPr>
          <a:xfrm>
            <a:off x="8293608" y="1527048"/>
            <a:ext cx="3239719"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$5.78M</a:t>
            </a:r>
            <a:endParaRPr lang="en-US" sz="2800" dirty="0"/>
          </a:p>
        </p:txBody>
      </p:sp>
      <p:sp>
        <p:nvSpPr>
          <p:cNvPr id="13" name="Text 10"/>
          <p:cNvSpPr/>
          <p:nvPr/>
        </p:nvSpPr>
        <p:spPr>
          <a:xfrm>
            <a:off x="8293608" y="1929384"/>
            <a:ext cx="3239719" cy="329184"/>
          </a:xfrm>
          <a:prstGeom prst="rect">
            <a:avLst/>
          </a:prstGeom>
          <a:noFill/>
          <a:ln/>
        </p:spPr>
        <p:txBody>
          <a:bodyPr wrap="square" lIns="0" tIns="0" rIns="0" bIns="0" rtlCol="0" anchor="t"/>
          <a:lstStyle/>
          <a:p>
            <a:pPr marL="0" indent="0">
              <a:lnSpc>
                <a:spcPct val="105000"/>
              </a:lnSpc>
              <a:buNone/>
            </a:pPr>
            <a:r>
              <a:rPr lang="en-US" sz="1200" b="1" dirty="0">
                <a:solidFill>
                  <a:srgbClr val="FF6B7A"/>
                </a:solidFill>
                <a:latin typeface="Calibri" pitchFamily="34" charset="0"/>
                <a:ea typeface="Calibri" pitchFamily="34" charset="-122"/>
                <a:cs typeface="Calibri" pitchFamily="34" charset="-120"/>
              </a:rPr>
              <a:t>+70% on today's $3.4M</a:t>
            </a:r>
            <a:endParaRPr lang="en-US" sz="1200" dirty="0"/>
          </a:p>
        </p:txBody>
      </p:sp>
      <p:sp>
        <p:nvSpPr>
          <p:cNvPr id="14" name="Shape 11"/>
          <p:cNvSpPr/>
          <p:nvPr/>
        </p:nvSpPr>
        <p:spPr>
          <a:xfrm>
            <a:off x="8092440" y="2459736"/>
            <a:ext cx="3642055" cy="1097280"/>
          </a:xfrm>
          <a:prstGeom prst="roundRect">
            <a:avLst>
              <a:gd name="adj" fmla="val 5000"/>
            </a:avLst>
          </a:prstGeom>
          <a:solidFill>
            <a:srgbClr val="121B2D"/>
          </a:solidFill>
          <a:ln w="12700">
            <a:solidFill>
              <a:srgbClr val="23304A"/>
            </a:solidFill>
            <a:prstDash val="solid"/>
          </a:ln>
        </p:spPr>
        <p:txBody>
          <a:bodyPr/>
          <a:lstStyle/>
          <a:p>
            <a:endParaRPr lang="he-IL" dirty="0"/>
          </a:p>
        </p:txBody>
      </p:sp>
      <p:sp>
        <p:nvSpPr>
          <p:cNvPr id="15" name="Text 12"/>
          <p:cNvSpPr/>
          <p:nvPr/>
        </p:nvSpPr>
        <p:spPr>
          <a:xfrm>
            <a:off x="8293608" y="2551176"/>
            <a:ext cx="3239719"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AGAINST THE BASE CASE</a:t>
            </a:r>
            <a:endParaRPr lang="en-US" sz="1200" dirty="0"/>
          </a:p>
        </p:txBody>
      </p:sp>
      <p:sp>
        <p:nvSpPr>
          <p:cNvPr id="16" name="Text 13"/>
          <p:cNvSpPr/>
          <p:nvPr/>
        </p:nvSpPr>
        <p:spPr>
          <a:xfrm>
            <a:off x="8293608" y="2752344"/>
            <a:ext cx="3239719"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+$1.77M</a:t>
            </a:r>
            <a:endParaRPr lang="en-US" sz="2800" dirty="0"/>
          </a:p>
        </p:txBody>
      </p:sp>
      <p:sp>
        <p:nvSpPr>
          <p:cNvPr id="17" name="Text 14"/>
          <p:cNvSpPr/>
          <p:nvPr/>
        </p:nvSpPr>
        <p:spPr>
          <a:xfrm>
            <a:off x="8293608" y="3154680"/>
            <a:ext cx="3239719" cy="329184"/>
          </a:xfrm>
          <a:prstGeom prst="rect">
            <a:avLst/>
          </a:prstGeom>
          <a:noFill/>
          <a:ln/>
        </p:spPr>
        <p:txBody>
          <a:bodyPr wrap="square" lIns="0" tIns="0" rIns="0" bIns="0" rtlCol="0" anchor="t"/>
          <a:lstStyle/>
          <a:p>
            <a:pPr marL="0" indent="0">
              <a:lnSpc>
                <a:spcPct val="105000"/>
              </a:lnSpc>
              <a:buNone/>
            </a:pPr>
            <a:r>
              <a:rPr lang="en-US" sz="1200" b="1" dirty="0">
                <a:solidFill>
                  <a:srgbClr val="E0A030"/>
                </a:solidFill>
                <a:latin typeface="Calibri" pitchFamily="34" charset="0"/>
                <a:ea typeface="Calibri" pitchFamily="34" charset="-122"/>
                <a:cs typeface="Calibri" pitchFamily="34" charset="-120"/>
              </a:rPr>
              <a:t>a year more than the Jan-Jul pace</a:t>
            </a:r>
            <a:endParaRPr lang="en-US" sz="1200" dirty="0"/>
          </a:p>
        </p:txBody>
      </p:sp>
      <p:sp>
        <p:nvSpPr>
          <p:cNvPr id="18" name="Shape 15"/>
          <p:cNvSpPr/>
          <p:nvPr/>
        </p:nvSpPr>
        <p:spPr>
          <a:xfrm>
            <a:off x="8092440" y="3685032"/>
            <a:ext cx="3642055" cy="1097280"/>
          </a:xfrm>
          <a:prstGeom prst="roundRect">
            <a:avLst>
              <a:gd name="adj" fmla="val 5000"/>
            </a:avLst>
          </a:prstGeom>
          <a:solidFill>
            <a:srgbClr val="121B2D"/>
          </a:solidFill>
          <a:ln w="12700">
            <a:solidFill>
              <a:srgbClr val="23304A"/>
            </a:solidFill>
            <a:prstDash val="solid"/>
          </a:ln>
        </p:spPr>
        <p:txBody>
          <a:bodyPr/>
          <a:lstStyle/>
          <a:p>
            <a:endParaRPr lang="he-IL" dirty="0"/>
          </a:p>
        </p:txBody>
      </p:sp>
      <p:sp>
        <p:nvSpPr>
          <p:cNvPr id="19" name="Text 16"/>
          <p:cNvSpPr/>
          <p:nvPr/>
        </p:nvSpPr>
        <p:spPr>
          <a:xfrm>
            <a:off x="8293608" y="3776472"/>
            <a:ext cx="3239719"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EXTRA CASH, AUG-DEC</a:t>
            </a:r>
            <a:endParaRPr lang="en-US" sz="1200" dirty="0"/>
          </a:p>
        </p:txBody>
      </p:sp>
      <p:sp>
        <p:nvSpPr>
          <p:cNvPr id="20" name="Text 17"/>
          <p:cNvSpPr/>
          <p:nvPr/>
        </p:nvSpPr>
        <p:spPr>
          <a:xfrm>
            <a:off x="8293608" y="3977640"/>
            <a:ext cx="3239719"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$400,465</a:t>
            </a:r>
            <a:endParaRPr lang="en-US" sz="2800" dirty="0"/>
          </a:p>
        </p:txBody>
      </p:sp>
      <p:sp>
        <p:nvSpPr>
          <p:cNvPr id="21" name="Text 18"/>
          <p:cNvSpPr/>
          <p:nvPr/>
        </p:nvSpPr>
        <p:spPr>
          <a:xfrm>
            <a:off x="8293608" y="4379976"/>
            <a:ext cx="3239719" cy="329184"/>
          </a:xfrm>
          <a:prstGeom prst="rect">
            <a:avLst/>
          </a:prstGeom>
          <a:noFill/>
          <a:ln/>
        </p:spPr>
        <p:txBody>
          <a:bodyPr wrap="square" lIns="0" tIns="0" rIns="0" bIns="0" rtlCol="0" anchor="t"/>
          <a:lstStyle/>
          <a:p>
            <a:pPr marL="0" indent="0">
              <a:lnSpc>
                <a:spcPct val="105000"/>
              </a:lnSpc>
              <a:buNone/>
            </a:pPr>
            <a:r>
              <a:rPr lang="en-US" sz="1200" b="1" dirty="0">
                <a:solidFill>
                  <a:srgbClr val="3DD9EB"/>
                </a:solidFill>
                <a:latin typeface="Calibri" pitchFamily="34" charset="0"/>
                <a:ea typeface="Calibri" pitchFamily="34" charset="-122"/>
                <a:cs typeface="Calibri" pitchFamily="34" charset="-120"/>
              </a:rPr>
              <a:t>if the faster pace resumes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txBody>
          <a:bodyPr/>
          <a:lstStyle/>
          <a:p>
            <a:endParaRPr lang="he-IL" dirty="0"/>
          </a:p>
        </p:txBody>
      </p:sp>
      <p:sp>
        <p:nvSpPr>
          <p:cNvPr id="3" name="Shape 1"/>
          <p:cNvSpPr/>
          <p:nvPr/>
        </p:nvSpPr>
        <p:spPr>
          <a:xfrm>
            <a:off x="7863840" y="-1280160"/>
            <a:ext cx="5852160" cy="5852160"/>
          </a:xfrm>
          <a:prstGeom prst="ellipse">
            <a:avLst/>
          </a:prstGeom>
          <a:solidFill>
            <a:srgbClr val="2F8CFF">
              <a:alpha val="8000"/>
            </a:srgbClr>
          </a:solidFill>
          <a:ln w="12700">
            <a:solidFill>
              <a:srgbClr val="2F8CFF">
                <a:alpha val="0"/>
              </a:srgbClr>
            </a:solidFill>
            <a:prstDash val="solid"/>
          </a:ln>
        </p:spPr>
        <p:txBody>
          <a:bodyPr/>
          <a:lstStyle/>
          <a:p>
            <a:endParaRPr lang="he-IL" dirty="0"/>
          </a:p>
        </p:txBody>
      </p:sp>
      <p:sp>
        <p:nvSpPr>
          <p:cNvPr id="4" name="Shape 2"/>
          <p:cNvSpPr/>
          <p:nvPr/>
        </p:nvSpPr>
        <p:spPr>
          <a:xfrm>
            <a:off x="9144000" y="2377440"/>
            <a:ext cx="4754880" cy="4754880"/>
          </a:xfrm>
          <a:prstGeom prst="ellipse">
            <a:avLst/>
          </a:prstGeom>
          <a:solidFill>
            <a:srgbClr val="3DD9EB">
              <a:alpha val="7000"/>
            </a:srgbClr>
          </a:solidFill>
          <a:ln w="12700">
            <a:solidFill>
              <a:srgbClr val="3DD9EB">
                <a:alpha val="0"/>
              </a:srgbClr>
            </a:solidFill>
            <a:prstDash val="solid"/>
          </a:ln>
        </p:spPr>
        <p:txBody>
          <a:bodyPr/>
          <a:lstStyle/>
          <a:p>
            <a:endParaRPr lang="he-IL" dirty="0"/>
          </a:p>
        </p:txBody>
      </p:sp>
      <p:sp>
        <p:nvSpPr>
          <p:cNvPr id="5" name="Text 3"/>
          <p:cNvSpPr/>
          <p:nvPr/>
        </p:nvSpPr>
        <p:spPr>
          <a:xfrm>
            <a:off x="457200" y="2331720"/>
            <a:ext cx="8229600" cy="274320"/>
          </a:xfrm>
          <a:prstGeom prst="rect">
            <a:avLst/>
          </a:prstGeom>
          <a:noFill/>
          <a:ln/>
        </p:spPr>
        <p:txBody>
          <a:bodyPr wrap="square" lIns="0" tIns="0" rIns="0" bIns="0" rtlCol="0" anchor="ctr"/>
          <a:lstStyle/>
          <a:p>
            <a:pPr marL="0" indent="0">
              <a:buNone/>
            </a:pPr>
            <a:r>
              <a:rPr lang="en-US" sz="1300" b="1" kern="0" spc="300" dirty="0">
                <a:solidFill>
                  <a:srgbClr val="2F8CFF"/>
                </a:solidFill>
                <a:latin typeface="Calibri" pitchFamily="34" charset="0"/>
                <a:ea typeface="Calibri" pitchFamily="34" charset="-122"/>
                <a:cs typeface="Calibri" pitchFamily="34" charset="-120"/>
              </a:rPr>
              <a:t>PART ONE</a:t>
            </a:r>
            <a:endParaRPr lang="en-US" sz="1300" dirty="0"/>
          </a:p>
        </p:txBody>
      </p:sp>
      <p:sp>
        <p:nvSpPr>
          <p:cNvPr id="6" name="Text 4"/>
          <p:cNvSpPr/>
          <p:nvPr/>
        </p:nvSpPr>
        <p:spPr>
          <a:xfrm>
            <a:off x="457200" y="2651760"/>
            <a:ext cx="8412480" cy="1005840"/>
          </a:xfrm>
          <a:prstGeom prst="rect">
            <a:avLst/>
          </a:prstGeom>
          <a:noFill/>
          <a:ln/>
        </p:spPr>
        <p:txBody>
          <a:bodyPr wrap="square" lIns="0" tIns="0" rIns="0" bIns="0" rtlCol="0" anchor="ctr"/>
          <a:lstStyle/>
          <a:p>
            <a:pPr marL="0" indent="0">
              <a:buNone/>
            </a:pPr>
            <a:r>
              <a:rPr lang="en-US" sz="4000" b="1" dirty="0">
                <a:solidFill>
                  <a:srgbClr val="F4F7FB"/>
                </a:solidFill>
                <a:latin typeface="Calibri" pitchFamily="34" charset="0"/>
                <a:ea typeface="Calibri" pitchFamily="34" charset="-122"/>
                <a:cs typeface="Calibri" pitchFamily="34" charset="-120"/>
              </a:rPr>
              <a:t>What the money is doing</a:t>
            </a:r>
            <a:endParaRPr lang="en-US" sz="4000" dirty="0"/>
          </a:p>
        </p:txBody>
      </p:sp>
      <p:sp>
        <p:nvSpPr>
          <p:cNvPr id="7" name="Text 5"/>
          <p:cNvSpPr/>
          <p:nvPr/>
        </p:nvSpPr>
        <p:spPr>
          <a:xfrm>
            <a:off x="457200" y="3703320"/>
            <a:ext cx="7863840" cy="457200"/>
          </a:xfrm>
          <a:prstGeom prst="rect">
            <a:avLst/>
          </a:prstGeom>
          <a:noFill/>
          <a:ln/>
        </p:spPr>
        <p:txBody>
          <a:bodyPr wrap="square" lIns="0" tIns="0" rIns="0" bIns="0" rtlCol="0" anchor="ctr"/>
          <a:lstStyle/>
          <a:p>
            <a:pPr marL="0" indent="0">
              <a:buNone/>
            </a:pPr>
            <a:r>
              <a:rPr lang="en-US" sz="1500" dirty="0">
                <a:solidFill>
                  <a:srgbClr val="91A0B7"/>
                </a:solidFill>
                <a:latin typeface="Calibri" pitchFamily="34" charset="0"/>
                <a:ea typeface="Calibri" pitchFamily="34" charset="-122"/>
                <a:cs typeface="Calibri" pitchFamily="34" charset="-120"/>
              </a:rPr>
              <a:t>Where it sits, where it grew, and one number that did not add up</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B07CFF"/>
          </a:solidFill>
          <a:ln w="12700">
            <a:solidFill>
              <a:srgbClr val="B07CFF"/>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marL="0" indent="0">
              <a:buNone/>
            </a:pPr>
            <a:r>
              <a:rPr lang="en-US" sz="1300" b="1" kern="0" spc="200" dirty="0">
                <a:solidFill>
                  <a:srgbClr val="B07CFF"/>
                </a:solidFill>
                <a:latin typeface="Calibri" pitchFamily="34" charset="0"/>
                <a:ea typeface="Calibri" pitchFamily="34" charset="-122"/>
                <a:cs typeface="Calibri" pitchFamily="34" charset="-120"/>
              </a:rPr>
              <a:t>ALL PROVIDERS</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Spend by AI platform</a:t>
            </a:r>
            <a:endParaRPr lang="en-US" sz="2800" dirty="0"/>
          </a:p>
        </p:txBody>
      </p:sp>
      <p:sp>
        <p:nvSpPr>
          <p:cNvPr id="6" name="Text 4"/>
          <p:cNvSpPr/>
          <p:nvPr/>
        </p:nvSpPr>
        <p:spPr>
          <a:xfrm>
            <a:off x="8321040" y="493776"/>
            <a:ext cx="3413455" cy="658368"/>
          </a:xfrm>
          <a:prstGeom prst="rect">
            <a:avLst/>
          </a:prstGeom>
          <a:noFill/>
          <a:ln/>
        </p:spPr>
        <p:txBody>
          <a:bodyPr wrap="square" lIns="0" tIns="0" rIns="0" bIns="0" rtlCol="0" anchor="t"/>
          <a:lstStyle/>
          <a:p>
            <a:pPr marL="0" indent="0" algn="r">
              <a:lnSpc>
                <a:spcPct val="115000"/>
              </a:lnSpc>
              <a:buNone/>
            </a:pPr>
            <a:r>
              <a:rPr lang="en-US" sz="1200" dirty="0">
                <a:solidFill>
                  <a:srgbClr val="91A0B7"/>
                </a:solidFill>
                <a:latin typeface="Calibri" pitchFamily="34" charset="0"/>
                <a:ea typeface="Calibri" pitchFamily="34" charset="-122"/>
                <a:cs typeface="Calibri" pitchFamily="34" charset="-120"/>
              </a:rPr>
              <a:t>Billed AI, all three clouds, January to July. Excludes the Databricks pre-purchase, which bills at $0.</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marL="0" indent="0">
              <a:lnSpc>
                <a:spcPct val="115000"/>
              </a:lnSpc>
              <a:buNone/>
            </a:pPr>
            <a:r>
              <a:rPr lang="en-US" sz="1200" dirty="0">
                <a:solidFill>
                  <a:srgbClr val="536078"/>
                </a:solidFill>
                <a:latin typeface="Calibri" pitchFamily="34" charset="0"/>
                <a:ea typeface="Calibri" pitchFamily="34" charset="-122"/>
                <a:cs typeface="Calibri" pitchFamily="34" charset="-120"/>
              </a:rPr>
              <a:t>Five platforms, bought separately by different teams, on three clouds and two enrolments. Every one of them grew, and the two that did not exist in January are already 22% of the July bill. $199,531 over the seven months.</a:t>
            </a:r>
            <a:endParaRPr lang="en-US" sz="1200" dirty="0"/>
          </a:p>
        </p:txBody>
      </p:sp>
      <p:sp>
        <p:nvSpPr>
          <p:cNvPr id="8" name="Shape 6"/>
          <p:cNvSpPr/>
          <p:nvPr/>
        </p:nvSpPr>
        <p:spPr>
          <a:xfrm>
            <a:off x="457200" y="1234440"/>
            <a:ext cx="4823713" cy="182880"/>
          </a:xfrm>
          <a:prstGeom prst="rect">
            <a:avLst/>
          </a:prstGeom>
          <a:solidFill>
            <a:srgbClr val="2F8CFF"/>
          </a:solidFill>
          <a:ln w="12700">
            <a:solidFill>
              <a:srgbClr val="2F8CFF"/>
            </a:solidFill>
            <a:prstDash val="solid"/>
          </a:ln>
        </p:spPr>
      </p:sp>
      <p:sp>
        <p:nvSpPr>
          <p:cNvPr id="9" name="Shape 7"/>
          <p:cNvSpPr/>
          <p:nvPr/>
        </p:nvSpPr>
        <p:spPr>
          <a:xfrm>
            <a:off x="5326633" y="1234440"/>
            <a:ext cx="3164430" cy="182880"/>
          </a:xfrm>
          <a:prstGeom prst="rect">
            <a:avLst/>
          </a:prstGeom>
          <a:solidFill>
            <a:srgbClr val="3DD9EB"/>
          </a:solidFill>
          <a:ln w="12700">
            <a:solidFill>
              <a:srgbClr val="3DD9EB"/>
            </a:solidFill>
            <a:prstDash val="solid"/>
          </a:ln>
        </p:spPr>
      </p:sp>
      <p:sp>
        <p:nvSpPr>
          <p:cNvPr id="10" name="Shape 8"/>
          <p:cNvSpPr/>
          <p:nvPr/>
        </p:nvSpPr>
        <p:spPr>
          <a:xfrm>
            <a:off x="8536783" y="1234440"/>
            <a:ext cx="2327567" cy="182880"/>
          </a:xfrm>
          <a:prstGeom prst="rect">
            <a:avLst/>
          </a:prstGeom>
          <a:solidFill>
            <a:srgbClr val="FF9F43"/>
          </a:solidFill>
          <a:ln w="12700">
            <a:solidFill>
              <a:srgbClr val="FF9F43"/>
            </a:solidFill>
            <a:prstDash val="solid"/>
          </a:ln>
        </p:spPr>
      </p:sp>
      <p:sp>
        <p:nvSpPr>
          <p:cNvPr id="11" name="Shape 9"/>
          <p:cNvSpPr/>
          <p:nvPr/>
        </p:nvSpPr>
        <p:spPr>
          <a:xfrm>
            <a:off x="10910070" y="1234440"/>
            <a:ext cx="522673" cy="182880"/>
          </a:xfrm>
          <a:prstGeom prst="rect">
            <a:avLst/>
          </a:prstGeom>
          <a:solidFill>
            <a:srgbClr val="B07CFF"/>
          </a:solidFill>
          <a:ln w="12700">
            <a:solidFill>
              <a:srgbClr val="B07CFF"/>
            </a:solidFill>
            <a:prstDash val="solid"/>
          </a:ln>
        </p:spPr>
      </p:sp>
      <p:sp>
        <p:nvSpPr>
          <p:cNvPr id="12" name="Shape 10"/>
          <p:cNvSpPr/>
          <p:nvPr/>
        </p:nvSpPr>
        <p:spPr>
          <a:xfrm>
            <a:off x="11478463" y="1234440"/>
            <a:ext cx="256032" cy="182880"/>
          </a:xfrm>
          <a:prstGeom prst="rect">
            <a:avLst/>
          </a:prstGeom>
          <a:solidFill>
            <a:srgbClr val="3DDC97"/>
          </a:solidFill>
          <a:ln w="12700">
            <a:solidFill>
              <a:srgbClr val="3DDC97"/>
            </a:solidFill>
            <a:prstDash val="solid"/>
          </a:ln>
        </p:spPr>
      </p:sp>
      <p:sp>
        <p:nvSpPr>
          <p:cNvPr id="13" name="Shape 11"/>
          <p:cNvSpPr/>
          <p:nvPr/>
        </p:nvSpPr>
        <p:spPr>
          <a:xfrm>
            <a:off x="457200" y="1618488"/>
            <a:ext cx="2094525" cy="3977640"/>
          </a:xfrm>
          <a:prstGeom prst="roundRect">
            <a:avLst>
              <a:gd name="adj" fmla="val 2619"/>
            </a:avLst>
          </a:prstGeom>
          <a:solidFill>
            <a:srgbClr val="121B2D"/>
          </a:solidFill>
          <a:ln w="12700">
            <a:solidFill>
              <a:srgbClr val="23304A"/>
            </a:solidFill>
            <a:prstDash val="solid"/>
          </a:ln>
        </p:spPr>
      </p:sp>
      <p:sp>
        <p:nvSpPr>
          <p:cNvPr id="14" name="Shape 12"/>
          <p:cNvSpPr/>
          <p:nvPr/>
        </p:nvSpPr>
        <p:spPr>
          <a:xfrm>
            <a:off x="457200" y="1618488"/>
            <a:ext cx="2094525" cy="45720"/>
          </a:xfrm>
          <a:prstGeom prst="rect">
            <a:avLst/>
          </a:prstGeom>
          <a:solidFill>
            <a:srgbClr val="2F8CFF"/>
          </a:solidFill>
          <a:ln w="12700">
            <a:solidFill>
              <a:srgbClr val="2F8CFF"/>
            </a:solidFill>
            <a:prstDash val="solid"/>
          </a:ln>
        </p:spPr>
      </p:sp>
      <p:sp>
        <p:nvSpPr>
          <p:cNvPr id="15" name="Text 13"/>
          <p:cNvSpPr/>
          <p:nvPr/>
        </p:nvSpPr>
        <p:spPr>
          <a:xfrm>
            <a:off x="640080" y="1783080"/>
            <a:ext cx="1728765" cy="438912"/>
          </a:xfrm>
          <a:prstGeom prst="rect">
            <a:avLst/>
          </a:prstGeom>
          <a:noFill/>
          <a:ln/>
        </p:spPr>
        <p:txBody>
          <a:bodyPr wrap="square" lIns="0" tIns="0" rIns="0" bIns="0" rtlCol="0" anchor="t"/>
          <a:lstStyle/>
          <a:p>
            <a:pPr marL="0" indent="0">
              <a:lnSpc>
                <a:spcPct val="105000"/>
              </a:lnSpc>
              <a:buNone/>
            </a:pPr>
            <a:r>
              <a:rPr lang="en-US" sz="1200" b="1" kern="0" spc="110" dirty="0">
                <a:solidFill>
                  <a:srgbClr val="91A0B7"/>
                </a:solidFill>
                <a:latin typeface="Calibri" pitchFamily="34" charset="0"/>
                <a:ea typeface="Calibri" pitchFamily="34" charset="-122"/>
                <a:cs typeface="Calibri" pitchFamily="34" charset="-120"/>
              </a:rPr>
              <a:t>AZURE AI FOUNDRY</a:t>
            </a:r>
            <a:endParaRPr lang="en-US" sz="1200" dirty="0"/>
          </a:p>
        </p:txBody>
      </p:sp>
      <p:sp>
        <p:nvSpPr>
          <p:cNvPr id="16" name="Text 14"/>
          <p:cNvSpPr/>
          <p:nvPr/>
        </p:nvSpPr>
        <p:spPr>
          <a:xfrm>
            <a:off x="640080" y="2276856"/>
            <a:ext cx="1728765" cy="457200"/>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$87,158</a:t>
            </a:r>
            <a:endParaRPr lang="en-US" sz="2800" dirty="0"/>
          </a:p>
        </p:txBody>
      </p:sp>
      <p:sp>
        <p:nvSpPr>
          <p:cNvPr id="17" name="Text 15"/>
          <p:cNvSpPr/>
          <p:nvPr/>
        </p:nvSpPr>
        <p:spPr>
          <a:xfrm>
            <a:off x="640080" y="2734056"/>
            <a:ext cx="1728765" cy="237744"/>
          </a:xfrm>
          <a:prstGeom prst="rect">
            <a:avLst/>
          </a:prstGeom>
          <a:noFill/>
          <a:ln/>
        </p:spPr>
        <p:txBody>
          <a:bodyPr wrap="square" lIns="0" tIns="0" rIns="0" bIns="0" rtlCol="0" anchor="ctr"/>
          <a:lstStyle/>
          <a:p>
            <a:pPr marL="0" indent="0">
              <a:buNone/>
            </a:pPr>
            <a:r>
              <a:rPr lang="en-US" sz="1200" b="1" dirty="0">
                <a:solidFill>
                  <a:srgbClr val="2F8CFF"/>
                </a:solidFill>
                <a:latin typeface="Calibri" pitchFamily="34" charset="0"/>
                <a:ea typeface="Calibri" pitchFamily="34" charset="-122"/>
                <a:cs typeface="Calibri" pitchFamily="34" charset="-120"/>
              </a:rPr>
              <a:t>43.7% of billed AI</a:t>
            </a:r>
            <a:endParaRPr lang="en-US" sz="1200" dirty="0"/>
          </a:p>
        </p:txBody>
      </p:sp>
      <p:sp>
        <p:nvSpPr>
          <p:cNvPr id="18" name="Shape 16"/>
          <p:cNvSpPr/>
          <p:nvPr/>
        </p:nvSpPr>
        <p:spPr>
          <a:xfrm>
            <a:off x="640080" y="3081528"/>
            <a:ext cx="1728765" cy="9144"/>
          </a:xfrm>
          <a:prstGeom prst="rect">
            <a:avLst/>
          </a:prstGeom>
          <a:solidFill>
            <a:srgbClr val="23304A"/>
          </a:solidFill>
          <a:ln w="12700">
            <a:solidFill>
              <a:srgbClr val="23304A"/>
            </a:solidFill>
            <a:prstDash val="solid"/>
          </a:ln>
        </p:spPr>
      </p:sp>
      <p:sp>
        <p:nvSpPr>
          <p:cNvPr id="19" name="Text 17"/>
          <p:cNvSpPr/>
          <p:nvPr/>
        </p:nvSpPr>
        <p:spPr>
          <a:xfrm>
            <a:off x="640080" y="3209544"/>
            <a:ext cx="864382" cy="274320"/>
          </a:xfrm>
          <a:prstGeom prst="rect">
            <a:avLst/>
          </a:prstGeom>
          <a:noFill/>
          <a:ln/>
        </p:spPr>
        <p:txBody>
          <a:bodyPr wrap="square" lIns="0" tIns="0" rIns="0" bIns="0" rtlCol="0" anchor="ctr"/>
          <a:lstStyle/>
          <a:p>
            <a:pPr marL="0" indent="0">
              <a:buNone/>
            </a:pPr>
            <a:r>
              <a:rPr lang="en-US" sz="1200" b="1" kern="0" spc="100" dirty="0">
                <a:solidFill>
                  <a:srgbClr val="536078"/>
                </a:solidFill>
                <a:latin typeface="Calibri" pitchFamily="34" charset="0"/>
                <a:ea typeface="Calibri" pitchFamily="34" charset="-122"/>
                <a:cs typeface="Calibri" pitchFamily="34" charset="-120"/>
              </a:rPr>
              <a:t>JAN</a:t>
            </a:r>
            <a:endParaRPr lang="en-US" sz="1200" dirty="0"/>
          </a:p>
        </p:txBody>
      </p:sp>
      <p:sp>
        <p:nvSpPr>
          <p:cNvPr id="20" name="Text 18"/>
          <p:cNvSpPr/>
          <p:nvPr/>
        </p:nvSpPr>
        <p:spPr>
          <a:xfrm>
            <a:off x="1504462" y="3209544"/>
            <a:ext cx="864382" cy="274320"/>
          </a:xfrm>
          <a:prstGeom prst="rect">
            <a:avLst/>
          </a:prstGeom>
          <a:noFill/>
          <a:ln/>
        </p:spPr>
        <p:txBody>
          <a:bodyPr wrap="square" lIns="0" tIns="0" rIns="0" bIns="0" rtlCol="0" anchor="ctr"/>
          <a:lstStyle/>
          <a:p>
            <a:pPr marL="0" indent="0" algn="r">
              <a:buNone/>
            </a:pPr>
            <a:r>
              <a:rPr lang="en-US" sz="1300" b="1" dirty="0">
                <a:solidFill>
                  <a:srgbClr val="F4F7FB"/>
                </a:solidFill>
                <a:latin typeface="Calibri" pitchFamily="34" charset="0"/>
                <a:ea typeface="Calibri" pitchFamily="34" charset="-122"/>
                <a:cs typeface="Calibri" pitchFamily="34" charset="-120"/>
              </a:rPr>
              <a:t>$5,764</a:t>
            </a:r>
            <a:endParaRPr lang="en-US" sz="1300" dirty="0"/>
          </a:p>
        </p:txBody>
      </p:sp>
      <p:sp>
        <p:nvSpPr>
          <p:cNvPr id="21" name="Text 19"/>
          <p:cNvSpPr/>
          <p:nvPr/>
        </p:nvSpPr>
        <p:spPr>
          <a:xfrm>
            <a:off x="640080" y="3593592"/>
            <a:ext cx="864382" cy="274320"/>
          </a:xfrm>
          <a:prstGeom prst="rect">
            <a:avLst/>
          </a:prstGeom>
          <a:noFill/>
          <a:ln/>
        </p:spPr>
        <p:txBody>
          <a:bodyPr wrap="square" lIns="0" tIns="0" rIns="0" bIns="0" rtlCol="0" anchor="ctr"/>
          <a:lstStyle/>
          <a:p>
            <a:pPr marL="0" indent="0">
              <a:buNone/>
            </a:pPr>
            <a:r>
              <a:rPr lang="en-US" sz="1200" b="1" kern="0" spc="100" dirty="0">
                <a:solidFill>
                  <a:srgbClr val="536078"/>
                </a:solidFill>
                <a:latin typeface="Calibri" pitchFamily="34" charset="0"/>
                <a:ea typeface="Calibri" pitchFamily="34" charset="-122"/>
                <a:cs typeface="Calibri" pitchFamily="34" charset="-120"/>
              </a:rPr>
              <a:t>JUL</a:t>
            </a:r>
            <a:endParaRPr lang="en-US" sz="1200" dirty="0"/>
          </a:p>
        </p:txBody>
      </p:sp>
      <p:sp>
        <p:nvSpPr>
          <p:cNvPr id="22" name="Text 20"/>
          <p:cNvSpPr/>
          <p:nvPr/>
        </p:nvSpPr>
        <p:spPr>
          <a:xfrm>
            <a:off x="1504462" y="3593592"/>
            <a:ext cx="864382" cy="274320"/>
          </a:xfrm>
          <a:prstGeom prst="rect">
            <a:avLst/>
          </a:prstGeom>
          <a:noFill/>
          <a:ln/>
        </p:spPr>
        <p:txBody>
          <a:bodyPr wrap="square" lIns="0" tIns="0" rIns="0" bIns="0" rtlCol="0" anchor="ctr"/>
          <a:lstStyle/>
          <a:p>
            <a:pPr marL="0" indent="0" algn="r">
              <a:buNone/>
            </a:pPr>
            <a:r>
              <a:rPr lang="en-US" sz="1300" b="1" dirty="0">
                <a:solidFill>
                  <a:srgbClr val="F4F7FB"/>
                </a:solidFill>
                <a:latin typeface="Calibri" pitchFamily="34" charset="0"/>
                <a:ea typeface="Calibri" pitchFamily="34" charset="-122"/>
                <a:cs typeface="Calibri" pitchFamily="34" charset="-120"/>
              </a:rPr>
              <a:t>$19,613</a:t>
            </a:r>
            <a:endParaRPr lang="en-US" sz="1300" dirty="0"/>
          </a:p>
        </p:txBody>
      </p:sp>
      <p:sp>
        <p:nvSpPr>
          <p:cNvPr id="23" name="Shape 21"/>
          <p:cNvSpPr/>
          <p:nvPr/>
        </p:nvSpPr>
        <p:spPr>
          <a:xfrm>
            <a:off x="640080" y="4069080"/>
            <a:ext cx="1728765" cy="329184"/>
          </a:xfrm>
          <a:prstGeom prst="roundRect">
            <a:avLst>
              <a:gd name="adj" fmla="val 27778"/>
            </a:avLst>
          </a:prstGeom>
          <a:solidFill>
            <a:srgbClr val="1D2D42"/>
          </a:solidFill>
          <a:ln w="12700">
            <a:solidFill>
              <a:srgbClr val="2F8CFF"/>
            </a:solidFill>
            <a:prstDash val="solid"/>
          </a:ln>
        </p:spPr>
      </p:sp>
      <p:sp>
        <p:nvSpPr>
          <p:cNvPr id="24" name="Text 22"/>
          <p:cNvSpPr/>
          <p:nvPr/>
        </p:nvSpPr>
        <p:spPr>
          <a:xfrm>
            <a:off x="640080" y="4069080"/>
            <a:ext cx="1728765" cy="329184"/>
          </a:xfrm>
          <a:prstGeom prst="rect">
            <a:avLst/>
          </a:prstGeom>
          <a:noFill/>
          <a:ln/>
        </p:spPr>
        <p:txBody>
          <a:bodyPr wrap="square" lIns="0" tIns="0" rIns="0" bIns="0" rtlCol="0" anchor="ctr"/>
          <a:lstStyle/>
          <a:p>
            <a:pPr marL="0" indent="0" algn="ctr">
              <a:buNone/>
            </a:pPr>
            <a:r>
              <a:rPr lang="en-US" sz="1200" b="1" dirty="0">
                <a:solidFill>
                  <a:srgbClr val="2F8CFF"/>
                </a:solidFill>
                <a:latin typeface="Calibri" pitchFamily="34" charset="0"/>
                <a:ea typeface="Calibri" pitchFamily="34" charset="-122"/>
                <a:cs typeface="Calibri" pitchFamily="34" charset="-120"/>
              </a:rPr>
              <a:t>+240% Jan to Jul</a:t>
            </a:r>
            <a:endParaRPr lang="en-US" sz="1200" dirty="0"/>
          </a:p>
        </p:txBody>
      </p:sp>
      <p:sp>
        <p:nvSpPr>
          <p:cNvPr id="25" name="Text 23"/>
          <p:cNvSpPr/>
          <p:nvPr/>
        </p:nvSpPr>
        <p:spPr>
          <a:xfrm>
            <a:off x="640080" y="4526280"/>
            <a:ext cx="1728765" cy="923544"/>
          </a:xfrm>
          <a:prstGeom prst="rect">
            <a:avLst/>
          </a:prstGeom>
          <a:noFill/>
          <a:ln/>
        </p:spPr>
        <p:txBody>
          <a:bodyPr wrap="square" lIns="0" tIns="0" rIns="0" bIns="0" rtlCol="0" anchor="t"/>
          <a:lstStyle/>
          <a:p>
            <a:pPr marL="0" indent="0">
              <a:lnSpc>
                <a:spcPct val="115000"/>
              </a:lnSpc>
              <a:buNone/>
            </a:pPr>
            <a:r>
              <a:rPr lang="en-US" sz="1200" dirty="0">
                <a:solidFill>
                  <a:srgbClr val="91A0B7"/>
                </a:solidFill>
                <a:latin typeface="Calibri" pitchFamily="34" charset="0"/>
                <a:ea typeface="Calibri" pitchFamily="34" charset="-122"/>
                <a:cs typeface="Calibri" pitchFamily="34" charset="-120"/>
              </a:rPr>
              <a:t>Foundry models, Document Intelligence, AI Search and Defender for AI.</a:t>
            </a:r>
            <a:endParaRPr lang="en-US" sz="1200" dirty="0"/>
          </a:p>
        </p:txBody>
      </p:sp>
      <p:sp>
        <p:nvSpPr>
          <p:cNvPr id="26" name="Shape 24"/>
          <p:cNvSpPr/>
          <p:nvPr/>
        </p:nvSpPr>
        <p:spPr>
          <a:xfrm>
            <a:off x="2752893" y="1618488"/>
            <a:ext cx="2094525" cy="3977640"/>
          </a:xfrm>
          <a:prstGeom prst="roundRect">
            <a:avLst>
              <a:gd name="adj" fmla="val 2619"/>
            </a:avLst>
          </a:prstGeom>
          <a:solidFill>
            <a:srgbClr val="121B2D"/>
          </a:solidFill>
          <a:ln w="12700">
            <a:solidFill>
              <a:srgbClr val="23304A"/>
            </a:solidFill>
            <a:prstDash val="solid"/>
          </a:ln>
        </p:spPr>
      </p:sp>
      <p:sp>
        <p:nvSpPr>
          <p:cNvPr id="27" name="Shape 25"/>
          <p:cNvSpPr/>
          <p:nvPr/>
        </p:nvSpPr>
        <p:spPr>
          <a:xfrm>
            <a:off x="2752893" y="1618488"/>
            <a:ext cx="2094525" cy="45720"/>
          </a:xfrm>
          <a:prstGeom prst="rect">
            <a:avLst/>
          </a:prstGeom>
          <a:solidFill>
            <a:srgbClr val="3DD9EB"/>
          </a:solidFill>
          <a:ln w="12700">
            <a:solidFill>
              <a:srgbClr val="3DD9EB"/>
            </a:solidFill>
            <a:prstDash val="solid"/>
          </a:ln>
        </p:spPr>
      </p:sp>
      <p:sp>
        <p:nvSpPr>
          <p:cNvPr id="28" name="Text 26"/>
          <p:cNvSpPr/>
          <p:nvPr/>
        </p:nvSpPr>
        <p:spPr>
          <a:xfrm>
            <a:off x="2935773" y="1783080"/>
            <a:ext cx="1728765" cy="438912"/>
          </a:xfrm>
          <a:prstGeom prst="rect">
            <a:avLst/>
          </a:prstGeom>
          <a:noFill/>
          <a:ln/>
        </p:spPr>
        <p:txBody>
          <a:bodyPr wrap="square" lIns="0" tIns="0" rIns="0" bIns="0" rtlCol="0" anchor="t"/>
          <a:lstStyle/>
          <a:p>
            <a:pPr marL="0" indent="0">
              <a:lnSpc>
                <a:spcPct val="105000"/>
              </a:lnSpc>
              <a:buNone/>
            </a:pPr>
            <a:r>
              <a:rPr lang="en-US" sz="1200" b="1" kern="0" spc="110" dirty="0">
                <a:solidFill>
                  <a:srgbClr val="91A0B7"/>
                </a:solidFill>
                <a:latin typeface="Calibri" pitchFamily="34" charset="0"/>
                <a:ea typeface="Calibri" pitchFamily="34" charset="-122"/>
                <a:cs typeface="Calibri" pitchFamily="34" charset="-120"/>
              </a:rPr>
              <a:t>GITHUB COPILOT</a:t>
            </a:r>
            <a:endParaRPr lang="en-US" sz="1200" dirty="0"/>
          </a:p>
        </p:txBody>
      </p:sp>
      <p:sp>
        <p:nvSpPr>
          <p:cNvPr id="29" name="Text 27"/>
          <p:cNvSpPr/>
          <p:nvPr/>
        </p:nvSpPr>
        <p:spPr>
          <a:xfrm>
            <a:off x="2935773" y="2276856"/>
            <a:ext cx="1728765" cy="457200"/>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$57,177</a:t>
            </a:r>
            <a:endParaRPr lang="en-US" sz="2800" dirty="0"/>
          </a:p>
        </p:txBody>
      </p:sp>
      <p:sp>
        <p:nvSpPr>
          <p:cNvPr id="30" name="Text 28"/>
          <p:cNvSpPr/>
          <p:nvPr/>
        </p:nvSpPr>
        <p:spPr>
          <a:xfrm>
            <a:off x="2935773" y="2734056"/>
            <a:ext cx="1728765" cy="237744"/>
          </a:xfrm>
          <a:prstGeom prst="rect">
            <a:avLst/>
          </a:prstGeom>
          <a:noFill/>
          <a:ln/>
        </p:spPr>
        <p:txBody>
          <a:bodyPr wrap="square" lIns="0" tIns="0" rIns="0" bIns="0" rtlCol="0" anchor="ctr"/>
          <a:lstStyle/>
          <a:p>
            <a:pPr marL="0" indent="0">
              <a:buNone/>
            </a:pPr>
            <a:r>
              <a:rPr lang="en-US" sz="1200" b="1" dirty="0">
                <a:solidFill>
                  <a:srgbClr val="3DD9EB"/>
                </a:solidFill>
                <a:latin typeface="Calibri" pitchFamily="34" charset="0"/>
                <a:ea typeface="Calibri" pitchFamily="34" charset="-122"/>
                <a:cs typeface="Calibri" pitchFamily="34" charset="-120"/>
              </a:rPr>
              <a:t>28.7% of billed AI</a:t>
            </a:r>
            <a:endParaRPr lang="en-US" sz="1200" dirty="0"/>
          </a:p>
        </p:txBody>
      </p:sp>
      <p:sp>
        <p:nvSpPr>
          <p:cNvPr id="31" name="Shape 29"/>
          <p:cNvSpPr/>
          <p:nvPr/>
        </p:nvSpPr>
        <p:spPr>
          <a:xfrm>
            <a:off x="2935773" y="3081528"/>
            <a:ext cx="1728765" cy="9144"/>
          </a:xfrm>
          <a:prstGeom prst="rect">
            <a:avLst/>
          </a:prstGeom>
          <a:solidFill>
            <a:srgbClr val="23304A"/>
          </a:solidFill>
          <a:ln w="12700">
            <a:solidFill>
              <a:srgbClr val="23304A"/>
            </a:solidFill>
            <a:prstDash val="solid"/>
          </a:ln>
        </p:spPr>
      </p:sp>
      <p:sp>
        <p:nvSpPr>
          <p:cNvPr id="32" name="Text 30"/>
          <p:cNvSpPr/>
          <p:nvPr/>
        </p:nvSpPr>
        <p:spPr>
          <a:xfrm>
            <a:off x="2935773" y="3209544"/>
            <a:ext cx="864382" cy="274320"/>
          </a:xfrm>
          <a:prstGeom prst="rect">
            <a:avLst/>
          </a:prstGeom>
          <a:noFill/>
          <a:ln/>
        </p:spPr>
        <p:txBody>
          <a:bodyPr wrap="square" lIns="0" tIns="0" rIns="0" bIns="0" rtlCol="0" anchor="ctr"/>
          <a:lstStyle/>
          <a:p>
            <a:pPr marL="0" indent="0">
              <a:buNone/>
            </a:pPr>
            <a:r>
              <a:rPr lang="en-US" sz="1200" b="1" kern="0" spc="100" dirty="0">
                <a:solidFill>
                  <a:srgbClr val="536078"/>
                </a:solidFill>
                <a:latin typeface="Calibri" pitchFamily="34" charset="0"/>
                <a:ea typeface="Calibri" pitchFamily="34" charset="-122"/>
                <a:cs typeface="Calibri" pitchFamily="34" charset="-120"/>
              </a:rPr>
              <a:t>JAN</a:t>
            </a:r>
            <a:endParaRPr lang="en-US" sz="1200" dirty="0"/>
          </a:p>
        </p:txBody>
      </p:sp>
      <p:sp>
        <p:nvSpPr>
          <p:cNvPr id="33" name="Text 31"/>
          <p:cNvSpPr/>
          <p:nvPr/>
        </p:nvSpPr>
        <p:spPr>
          <a:xfrm>
            <a:off x="3800155" y="3209544"/>
            <a:ext cx="864382" cy="274320"/>
          </a:xfrm>
          <a:prstGeom prst="rect">
            <a:avLst/>
          </a:prstGeom>
          <a:noFill/>
          <a:ln/>
        </p:spPr>
        <p:txBody>
          <a:bodyPr wrap="square" lIns="0" tIns="0" rIns="0" bIns="0" rtlCol="0" anchor="ctr"/>
          <a:lstStyle/>
          <a:p>
            <a:pPr marL="0" indent="0" algn="r">
              <a:buNone/>
            </a:pPr>
            <a:r>
              <a:rPr lang="en-US" sz="1300" b="1" dirty="0">
                <a:solidFill>
                  <a:srgbClr val="F4F7FB"/>
                </a:solidFill>
                <a:latin typeface="Calibri" pitchFamily="34" charset="0"/>
                <a:ea typeface="Calibri" pitchFamily="34" charset="-122"/>
                <a:cs typeface="Calibri" pitchFamily="34" charset="-120"/>
              </a:rPr>
              <a:t>$2,779</a:t>
            </a:r>
            <a:endParaRPr lang="en-US" sz="1300" dirty="0"/>
          </a:p>
        </p:txBody>
      </p:sp>
      <p:sp>
        <p:nvSpPr>
          <p:cNvPr id="34" name="Text 32"/>
          <p:cNvSpPr/>
          <p:nvPr/>
        </p:nvSpPr>
        <p:spPr>
          <a:xfrm>
            <a:off x="2935773" y="3593592"/>
            <a:ext cx="864382" cy="274320"/>
          </a:xfrm>
          <a:prstGeom prst="rect">
            <a:avLst/>
          </a:prstGeom>
          <a:noFill/>
          <a:ln/>
        </p:spPr>
        <p:txBody>
          <a:bodyPr wrap="square" lIns="0" tIns="0" rIns="0" bIns="0" rtlCol="0" anchor="ctr"/>
          <a:lstStyle/>
          <a:p>
            <a:pPr marL="0" indent="0">
              <a:buNone/>
            </a:pPr>
            <a:r>
              <a:rPr lang="en-US" sz="1200" b="1" kern="0" spc="100" dirty="0">
                <a:solidFill>
                  <a:srgbClr val="536078"/>
                </a:solidFill>
                <a:latin typeface="Calibri" pitchFamily="34" charset="0"/>
                <a:ea typeface="Calibri" pitchFamily="34" charset="-122"/>
                <a:cs typeface="Calibri" pitchFamily="34" charset="-120"/>
              </a:rPr>
              <a:t>JUL</a:t>
            </a:r>
            <a:endParaRPr lang="en-US" sz="1200" dirty="0"/>
          </a:p>
        </p:txBody>
      </p:sp>
      <p:sp>
        <p:nvSpPr>
          <p:cNvPr id="35" name="Text 33"/>
          <p:cNvSpPr/>
          <p:nvPr/>
        </p:nvSpPr>
        <p:spPr>
          <a:xfrm>
            <a:off x="3800155" y="3593592"/>
            <a:ext cx="864382" cy="274320"/>
          </a:xfrm>
          <a:prstGeom prst="rect">
            <a:avLst/>
          </a:prstGeom>
          <a:noFill/>
          <a:ln/>
        </p:spPr>
        <p:txBody>
          <a:bodyPr wrap="square" lIns="0" tIns="0" rIns="0" bIns="0" rtlCol="0" anchor="ctr"/>
          <a:lstStyle/>
          <a:p>
            <a:pPr marL="0" indent="0" algn="r">
              <a:buNone/>
            </a:pPr>
            <a:r>
              <a:rPr lang="en-US" sz="1300" b="1" dirty="0">
                <a:solidFill>
                  <a:srgbClr val="F4F7FB"/>
                </a:solidFill>
                <a:latin typeface="Calibri" pitchFamily="34" charset="0"/>
                <a:ea typeface="Calibri" pitchFamily="34" charset="-122"/>
                <a:cs typeface="Calibri" pitchFamily="34" charset="-120"/>
              </a:rPr>
              <a:t>$19,260</a:t>
            </a:r>
            <a:endParaRPr lang="en-US" sz="1300" dirty="0"/>
          </a:p>
        </p:txBody>
      </p:sp>
      <p:sp>
        <p:nvSpPr>
          <p:cNvPr id="36" name="Shape 34"/>
          <p:cNvSpPr/>
          <p:nvPr/>
        </p:nvSpPr>
        <p:spPr>
          <a:xfrm>
            <a:off x="2935773" y="4069080"/>
            <a:ext cx="1728765" cy="329184"/>
          </a:xfrm>
          <a:prstGeom prst="roundRect">
            <a:avLst>
              <a:gd name="adj" fmla="val 27778"/>
            </a:avLst>
          </a:prstGeom>
          <a:solidFill>
            <a:srgbClr val="1D2D42"/>
          </a:solidFill>
          <a:ln w="12700">
            <a:solidFill>
              <a:srgbClr val="3DD9EB"/>
            </a:solidFill>
            <a:prstDash val="solid"/>
          </a:ln>
        </p:spPr>
      </p:sp>
      <p:sp>
        <p:nvSpPr>
          <p:cNvPr id="37" name="Text 35"/>
          <p:cNvSpPr/>
          <p:nvPr/>
        </p:nvSpPr>
        <p:spPr>
          <a:xfrm>
            <a:off x="2935773" y="4069080"/>
            <a:ext cx="1728765" cy="329184"/>
          </a:xfrm>
          <a:prstGeom prst="rect">
            <a:avLst/>
          </a:prstGeom>
          <a:noFill/>
          <a:ln/>
        </p:spPr>
        <p:txBody>
          <a:bodyPr wrap="square" lIns="0" tIns="0" rIns="0" bIns="0" rtlCol="0" anchor="ctr"/>
          <a:lstStyle/>
          <a:p>
            <a:pPr marL="0" indent="0" algn="ctr">
              <a:buNone/>
            </a:pPr>
            <a:r>
              <a:rPr lang="en-US" sz="1200" b="1" dirty="0">
                <a:solidFill>
                  <a:srgbClr val="3DD9EB"/>
                </a:solidFill>
                <a:latin typeface="Calibri" pitchFamily="34" charset="0"/>
                <a:ea typeface="Calibri" pitchFamily="34" charset="-122"/>
                <a:cs typeface="Calibri" pitchFamily="34" charset="-120"/>
              </a:rPr>
              <a:t>+593% Jan to Jul</a:t>
            </a:r>
            <a:endParaRPr lang="en-US" sz="1200" dirty="0"/>
          </a:p>
        </p:txBody>
      </p:sp>
      <p:sp>
        <p:nvSpPr>
          <p:cNvPr id="38" name="Text 36"/>
          <p:cNvSpPr/>
          <p:nvPr/>
        </p:nvSpPr>
        <p:spPr>
          <a:xfrm>
            <a:off x="2935773" y="4526280"/>
            <a:ext cx="1728765" cy="923544"/>
          </a:xfrm>
          <a:prstGeom prst="rect">
            <a:avLst/>
          </a:prstGeom>
          <a:noFill/>
          <a:ln/>
        </p:spPr>
        <p:txBody>
          <a:bodyPr wrap="square" lIns="0" tIns="0" rIns="0" bIns="0" rtlCol="0" anchor="t"/>
          <a:lstStyle/>
          <a:p>
            <a:pPr marL="0" indent="0">
              <a:lnSpc>
                <a:spcPct val="115000"/>
              </a:lnSpc>
              <a:buNone/>
            </a:pPr>
            <a:r>
              <a:rPr lang="en-US" sz="1200" dirty="0">
                <a:solidFill>
                  <a:srgbClr val="91A0B7"/>
                </a:solidFill>
                <a:latin typeface="Calibri" pitchFamily="34" charset="0"/>
                <a:ea typeface="Calibri" pitchFamily="34" charset="-122"/>
                <a:cs typeface="Calibri" pitchFamily="34" charset="-120"/>
              </a:rPr>
              <a:t>Developer seats plus AI credit overage. Billed in full.</a:t>
            </a:r>
            <a:endParaRPr lang="en-US" sz="1200" dirty="0"/>
          </a:p>
        </p:txBody>
      </p:sp>
      <p:sp>
        <p:nvSpPr>
          <p:cNvPr id="39" name="Shape 37"/>
          <p:cNvSpPr/>
          <p:nvPr/>
        </p:nvSpPr>
        <p:spPr>
          <a:xfrm>
            <a:off x="5048585" y="1618488"/>
            <a:ext cx="2094525" cy="3977640"/>
          </a:xfrm>
          <a:prstGeom prst="roundRect">
            <a:avLst>
              <a:gd name="adj" fmla="val 2619"/>
            </a:avLst>
          </a:prstGeom>
          <a:solidFill>
            <a:srgbClr val="121B2D"/>
          </a:solidFill>
          <a:ln w="12700">
            <a:solidFill>
              <a:srgbClr val="23304A"/>
            </a:solidFill>
            <a:prstDash val="solid"/>
          </a:ln>
        </p:spPr>
      </p:sp>
      <p:sp>
        <p:nvSpPr>
          <p:cNvPr id="40" name="Shape 38"/>
          <p:cNvSpPr/>
          <p:nvPr/>
        </p:nvSpPr>
        <p:spPr>
          <a:xfrm>
            <a:off x="5048585" y="1618488"/>
            <a:ext cx="2094525" cy="45720"/>
          </a:xfrm>
          <a:prstGeom prst="rect">
            <a:avLst/>
          </a:prstGeom>
          <a:solidFill>
            <a:srgbClr val="FF9F43"/>
          </a:solidFill>
          <a:ln w="12700">
            <a:solidFill>
              <a:srgbClr val="FF9F43"/>
            </a:solidFill>
            <a:prstDash val="solid"/>
          </a:ln>
        </p:spPr>
      </p:sp>
      <p:sp>
        <p:nvSpPr>
          <p:cNvPr id="41" name="Text 39"/>
          <p:cNvSpPr/>
          <p:nvPr/>
        </p:nvSpPr>
        <p:spPr>
          <a:xfrm>
            <a:off x="5231465" y="1783080"/>
            <a:ext cx="1728765" cy="438912"/>
          </a:xfrm>
          <a:prstGeom prst="rect">
            <a:avLst/>
          </a:prstGeom>
          <a:noFill/>
          <a:ln/>
        </p:spPr>
        <p:txBody>
          <a:bodyPr wrap="square" lIns="0" tIns="0" rIns="0" bIns="0" rtlCol="0" anchor="t"/>
          <a:lstStyle/>
          <a:p>
            <a:pPr marL="0" indent="0">
              <a:lnSpc>
                <a:spcPct val="105000"/>
              </a:lnSpc>
              <a:buNone/>
            </a:pPr>
            <a:r>
              <a:rPr lang="en-US" sz="1200" b="1" kern="0" spc="110" dirty="0">
                <a:solidFill>
                  <a:srgbClr val="91A0B7"/>
                </a:solidFill>
                <a:latin typeface="Calibri" pitchFamily="34" charset="0"/>
                <a:ea typeface="Calibri" pitchFamily="34" charset="-122"/>
                <a:cs typeface="Calibri" pitchFamily="34" charset="-120"/>
              </a:rPr>
              <a:t>AWS BEDROCK (CLAUDE)</a:t>
            </a:r>
            <a:endParaRPr lang="en-US" sz="1200" dirty="0"/>
          </a:p>
        </p:txBody>
      </p:sp>
      <p:sp>
        <p:nvSpPr>
          <p:cNvPr id="42" name="Text 40"/>
          <p:cNvSpPr/>
          <p:nvPr/>
        </p:nvSpPr>
        <p:spPr>
          <a:xfrm>
            <a:off x="5231465" y="2276856"/>
            <a:ext cx="1728765" cy="457200"/>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$42,056</a:t>
            </a:r>
            <a:endParaRPr lang="en-US" sz="2800" dirty="0"/>
          </a:p>
        </p:txBody>
      </p:sp>
      <p:sp>
        <p:nvSpPr>
          <p:cNvPr id="43" name="Text 41"/>
          <p:cNvSpPr/>
          <p:nvPr/>
        </p:nvSpPr>
        <p:spPr>
          <a:xfrm>
            <a:off x="5231465" y="2734056"/>
            <a:ext cx="1728765" cy="237744"/>
          </a:xfrm>
          <a:prstGeom prst="rect">
            <a:avLst/>
          </a:prstGeom>
          <a:noFill/>
          <a:ln/>
        </p:spPr>
        <p:txBody>
          <a:bodyPr wrap="square" lIns="0" tIns="0" rIns="0" bIns="0" rtlCol="0" anchor="ctr"/>
          <a:lstStyle/>
          <a:p>
            <a:pPr marL="0" indent="0">
              <a:buNone/>
            </a:pPr>
            <a:r>
              <a:rPr lang="en-US" sz="1200" b="1" dirty="0">
                <a:solidFill>
                  <a:srgbClr val="FF9F43"/>
                </a:solidFill>
                <a:latin typeface="Calibri" pitchFamily="34" charset="0"/>
                <a:ea typeface="Calibri" pitchFamily="34" charset="-122"/>
                <a:cs typeface="Calibri" pitchFamily="34" charset="-120"/>
              </a:rPr>
              <a:t>21.1% of billed AI</a:t>
            </a:r>
            <a:endParaRPr lang="en-US" sz="1200" dirty="0"/>
          </a:p>
        </p:txBody>
      </p:sp>
      <p:sp>
        <p:nvSpPr>
          <p:cNvPr id="44" name="Shape 42"/>
          <p:cNvSpPr/>
          <p:nvPr/>
        </p:nvSpPr>
        <p:spPr>
          <a:xfrm>
            <a:off x="5231465" y="3081528"/>
            <a:ext cx="1728765" cy="9144"/>
          </a:xfrm>
          <a:prstGeom prst="rect">
            <a:avLst/>
          </a:prstGeom>
          <a:solidFill>
            <a:srgbClr val="23304A"/>
          </a:solidFill>
          <a:ln w="12700">
            <a:solidFill>
              <a:srgbClr val="23304A"/>
            </a:solidFill>
            <a:prstDash val="solid"/>
          </a:ln>
        </p:spPr>
      </p:sp>
      <p:sp>
        <p:nvSpPr>
          <p:cNvPr id="45" name="Text 43"/>
          <p:cNvSpPr/>
          <p:nvPr/>
        </p:nvSpPr>
        <p:spPr>
          <a:xfrm>
            <a:off x="5231465" y="3209544"/>
            <a:ext cx="864382" cy="274320"/>
          </a:xfrm>
          <a:prstGeom prst="rect">
            <a:avLst/>
          </a:prstGeom>
          <a:noFill/>
          <a:ln/>
        </p:spPr>
        <p:txBody>
          <a:bodyPr wrap="square" lIns="0" tIns="0" rIns="0" bIns="0" rtlCol="0" anchor="ctr"/>
          <a:lstStyle/>
          <a:p>
            <a:pPr marL="0" indent="0">
              <a:buNone/>
            </a:pPr>
            <a:r>
              <a:rPr lang="en-US" sz="1200" b="1" kern="0" spc="100" dirty="0">
                <a:solidFill>
                  <a:srgbClr val="536078"/>
                </a:solidFill>
                <a:latin typeface="Calibri" pitchFamily="34" charset="0"/>
                <a:ea typeface="Calibri" pitchFamily="34" charset="-122"/>
                <a:cs typeface="Calibri" pitchFamily="34" charset="-120"/>
              </a:rPr>
              <a:t>JAN</a:t>
            </a:r>
            <a:endParaRPr lang="en-US" sz="1200" dirty="0"/>
          </a:p>
        </p:txBody>
      </p:sp>
      <p:sp>
        <p:nvSpPr>
          <p:cNvPr id="46" name="Text 44"/>
          <p:cNvSpPr/>
          <p:nvPr/>
        </p:nvSpPr>
        <p:spPr>
          <a:xfrm>
            <a:off x="6095848" y="3209544"/>
            <a:ext cx="864382" cy="274320"/>
          </a:xfrm>
          <a:prstGeom prst="rect">
            <a:avLst/>
          </a:prstGeom>
          <a:noFill/>
          <a:ln/>
        </p:spPr>
        <p:txBody>
          <a:bodyPr wrap="square" lIns="0" tIns="0" rIns="0" bIns="0" rtlCol="0" anchor="ctr"/>
          <a:lstStyle/>
          <a:p>
            <a:pPr marL="0" indent="0" algn="r">
              <a:buNone/>
            </a:pPr>
            <a:r>
              <a:rPr lang="en-US" sz="1300" b="1" dirty="0">
                <a:solidFill>
                  <a:srgbClr val="536078"/>
                </a:solidFill>
                <a:latin typeface="Calibri" pitchFamily="34" charset="0"/>
                <a:ea typeface="Calibri" pitchFamily="34" charset="-122"/>
                <a:cs typeface="Calibri" pitchFamily="34" charset="-120"/>
              </a:rPr>
              <a:t>-</a:t>
            </a:r>
            <a:endParaRPr lang="en-US" sz="1300" dirty="0"/>
          </a:p>
        </p:txBody>
      </p:sp>
      <p:sp>
        <p:nvSpPr>
          <p:cNvPr id="47" name="Text 45"/>
          <p:cNvSpPr/>
          <p:nvPr/>
        </p:nvSpPr>
        <p:spPr>
          <a:xfrm>
            <a:off x="5231465" y="3593592"/>
            <a:ext cx="864382" cy="274320"/>
          </a:xfrm>
          <a:prstGeom prst="rect">
            <a:avLst/>
          </a:prstGeom>
          <a:noFill/>
          <a:ln/>
        </p:spPr>
        <p:txBody>
          <a:bodyPr wrap="square" lIns="0" tIns="0" rIns="0" bIns="0" rtlCol="0" anchor="ctr"/>
          <a:lstStyle/>
          <a:p>
            <a:pPr marL="0" indent="0">
              <a:buNone/>
            </a:pPr>
            <a:r>
              <a:rPr lang="en-US" sz="1200" b="1" kern="0" spc="100" dirty="0">
                <a:solidFill>
                  <a:srgbClr val="536078"/>
                </a:solidFill>
                <a:latin typeface="Calibri" pitchFamily="34" charset="0"/>
                <a:ea typeface="Calibri" pitchFamily="34" charset="-122"/>
                <a:cs typeface="Calibri" pitchFamily="34" charset="-120"/>
              </a:rPr>
              <a:t>JUL</a:t>
            </a:r>
            <a:endParaRPr lang="en-US" sz="1200" dirty="0"/>
          </a:p>
        </p:txBody>
      </p:sp>
      <p:sp>
        <p:nvSpPr>
          <p:cNvPr id="48" name="Text 46"/>
          <p:cNvSpPr/>
          <p:nvPr/>
        </p:nvSpPr>
        <p:spPr>
          <a:xfrm>
            <a:off x="6095848" y="3593592"/>
            <a:ext cx="864382" cy="274320"/>
          </a:xfrm>
          <a:prstGeom prst="rect">
            <a:avLst/>
          </a:prstGeom>
          <a:noFill/>
          <a:ln/>
        </p:spPr>
        <p:txBody>
          <a:bodyPr wrap="square" lIns="0" tIns="0" rIns="0" bIns="0" rtlCol="0" anchor="ctr"/>
          <a:lstStyle/>
          <a:p>
            <a:pPr marL="0" indent="0" algn="r">
              <a:buNone/>
            </a:pPr>
            <a:r>
              <a:rPr lang="en-US" sz="1300" b="1" dirty="0">
                <a:solidFill>
                  <a:srgbClr val="F4F7FB"/>
                </a:solidFill>
                <a:latin typeface="Calibri" pitchFamily="34" charset="0"/>
                <a:ea typeface="Calibri" pitchFamily="34" charset="-122"/>
                <a:cs typeface="Calibri" pitchFamily="34" charset="-120"/>
              </a:rPr>
              <a:t>$25,288</a:t>
            </a:r>
            <a:endParaRPr lang="en-US" sz="1300" dirty="0"/>
          </a:p>
        </p:txBody>
      </p:sp>
      <p:sp>
        <p:nvSpPr>
          <p:cNvPr id="49" name="Shape 47"/>
          <p:cNvSpPr/>
          <p:nvPr/>
        </p:nvSpPr>
        <p:spPr>
          <a:xfrm>
            <a:off x="5231465" y="4069080"/>
            <a:ext cx="1728765" cy="329184"/>
          </a:xfrm>
          <a:prstGeom prst="roundRect">
            <a:avLst>
              <a:gd name="adj" fmla="val 27778"/>
            </a:avLst>
          </a:prstGeom>
          <a:solidFill>
            <a:srgbClr val="1D2D42"/>
          </a:solidFill>
          <a:ln w="12700">
            <a:solidFill>
              <a:srgbClr val="FF9F43"/>
            </a:solidFill>
            <a:prstDash val="solid"/>
          </a:ln>
        </p:spPr>
      </p:sp>
      <p:sp>
        <p:nvSpPr>
          <p:cNvPr id="50" name="Text 48"/>
          <p:cNvSpPr/>
          <p:nvPr/>
        </p:nvSpPr>
        <p:spPr>
          <a:xfrm>
            <a:off x="5231465" y="4069080"/>
            <a:ext cx="1728765" cy="329184"/>
          </a:xfrm>
          <a:prstGeom prst="rect">
            <a:avLst/>
          </a:prstGeom>
          <a:noFill/>
          <a:ln/>
        </p:spPr>
        <p:txBody>
          <a:bodyPr wrap="square" lIns="0" tIns="0" rIns="0" bIns="0" rtlCol="0" anchor="ctr"/>
          <a:lstStyle/>
          <a:p>
            <a:pPr marL="0" indent="0" algn="ctr">
              <a:buNone/>
            </a:pPr>
            <a:r>
              <a:rPr lang="en-US" sz="1200" b="1" dirty="0">
                <a:solidFill>
                  <a:srgbClr val="FF9F43"/>
                </a:solidFill>
                <a:latin typeface="Calibri" pitchFamily="34" charset="0"/>
                <a:ea typeface="Calibri" pitchFamily="34" charset="-122"/>
                <a:cs typeface="Calibri" pitchFamily="34" charset="-120"/>
              </a:rPr>
              <a:t>First billed in Mar</a:t>
            </a:r>
            <a:endParaRPr lang="en-US" sz="1200" dirty="0"/>
          </a:p>
        </p:txBody>
      </p:sp>
      <p:sp>
        <p:nvSpPr>
          <p:cNvPr id="51" name="Text 49"/>
          <p:cNvSpPr/>
          <p:nvPr/>
        </p:nvSpPr>
        <p:spPr>
          <a:xfrm>
            <a:off x="5231465" y="4526280"/>
            <a:ext cx="1728765" cy="923544"/>
          </a:xfrm>
          <a:prstGeom prst="rect">
            <a:avLst/>
          </a:prstGeom>
          <a:noFill/>
          <a:ln/>
        </p:spPr>
        <p:txBody>
          <a:bodyPr wrap="square" lIns="0" tIns="0" rIns="0" bIns="0" rtlCol="0" anchor="t"/>
          <a:lstStyle/>
          <a:p>
            <a:pPr marL="0" indent="0">
              <a:lnSpc>
                <a:spcPct val="115000"/>
              </a:lnSpc>
              <a:buNone/>
            </a:pPr>
            <a:r>
              <a:rPr lang="en-US" sz="1200" dirty="0">
                <a:solidFill>
                  <a:srgbClr val="91A0B7"/>
                </a:solidFill>
                <a:latin typeface="Calibri" pitchFamily="34" charset="0"/>
                <a:ea typeface="Calibri" pitchFamily="34" charset="-122"/>
                <a:cs typeface="Calibri" pitchFamily="34" charset="-120"/>
              </a:rPr>
              <a:t>Claude models via Claude Code. July gross of the MAP credit.</a:t>
            </a:r>
            <a:endParaRPr lang="en-US" sz="1200" dirty="0"/>
          </a:p>
        </p:txBody>
      </p:sp>
      <p:sp>
        <p:nvSpPr>
          <p:cNvPr id="52" name="Shape 50"/>
          <p:cNvSpPr/>
          <p:nvPr/>
        </p:nvSpPr>
        <p:spPr>
          <a:xfrm>
            <a:off x="7344278" y="1618488"/>
            <a:ext cx="2094525" cy="3977640"/>
          </a:xfrm>
          <a:prstGeom prst="roundRect">
            <a:avLst>
              <a:gd name="adj" fmla="val 2619"/>
            </a:avLst>
          </a:prstGeom>
          <a:solidFill>
            <a:srgbClr val="121B2D"/>
          </a:solidFill>
          <a:ln w="12700">
            <a:solidFill>
              <a:srgbClr val="23304A"/>
            </a:solidFill>
            <a:prstDash val="solid"/>
          </a:ln>
        </p:spPr>
      </p:sp>
      <p:sp>
        <p:nvSpPr>
          <p:cNvPr id="53" name="Shape 51"/>
          <p:cNvSpPr/>
          <p:nvPr/>
        </p:nvSpPr>
        <p:spPr>
          <a:xfrm>
            <a:off x="7344278" y="1618488"/>
            <a:ext cx="2094525" cy="45720"/>
          </a:xfrm>
          <a:prstGeom prst="rect">
            <a:avLst/>
          </a:prstGeom>
          <a:solidFill>
            <a:srgbClr val="B07CFF"/>
          </a:solidFill>
          <a:ln w="12700">
            <a:solidFill>
              <a:srgbClr val="B07CFF"/>
            </a:solidFill>
            <a:prstDash val="solid"/>
          </a:ln>
        </p:spPr>
      </p:sp>
      <p:sp>
        <p:nvSpPr>
          <p:cNvPr id="54" name="Text 52"/>
          <p:cNvSpPr/>
          <p:nvPr/>
        </p:nvSpPr>
        <p:spPr>
          <a:xfrm>
            <a:off x="7527158" y="1783080"/>
            <a:ext cx="1728765" cy="438912"/>
          </a:xfrm>
          <a:prstGeom prst="rect">
            <a:avLst/>
          </a:prstGeom>
          <a:noFill/>
          <a:ln/>
        </p:spPr>
        <p:txBody>
          <a:bodyPr wrap="square" lIns="0" tIns="0" rIns="0" bIns="0" rtlCol="0" anchor="t"/>
          <a:lstStyle/>
          <a:p>
            <a:pPr marL="0" indent="0">
              <a:lnSpc>
                <a:spcPct val="105000"/>
              </a:lnSpc>
              <a:buNone/>
            </a:pPr>
            <a:r>
              <a:rPr lang="en-US" sz="1200" b="1" kern="0" spc="110" dirty="0">
                <a:solidFill>
                  <a:srgbClr val="91A0B7"/>
                </a:solidFill>
                <a:latin typeface="Calibri" pitchFamily="34" charset="0"/>
                <a:ea typeface="Calibri" pitchFamily="34" charset="-122"/>
                <a:cs typeface="Calibri" pitchFamily="34" charset="-120"/>
              </a:rPr>
              <a:t>COWORK</a:t>
            </a:r>
            <a:endParaRPr lang="en-US" sz="1200" dirty="0"/>
          </a:p>
        </p:txBody>
      </p:sp>
      <p:sp>
        <p:nvSpPr>
          <p:cNvPr id="55" name="Text 53"/>
          <p:cNvSpPr/>
          <p:nvPr/>
        </p:nvSpPr>
        <p:spPr>
          <a:xfrm>
            <a:off x="7527158" y="2276856"/>
            <a:ext cx="1728765" cy="457200"/>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$9,444</a:t>
            </a:r>
            <a:endParaRPr lang="en-US" sz="2800" dirty="0"/>
          </a:p>
        </p:txBody>
      </p:sp>
      <p:sp>
        <p:nvSpPr>
          <p:cNvPr id="56" name="Text 54"/>
          <p:cNvSpPr/>
          <p:nvPr/>
        </p:nvSpPr>
        <p:spPr>
          <a:xfrm>
            <a:off x="7527158" y="2734056"/>
            <a:ext cx="1728765" cy="237744"/>
          </a:xfrm>
          <a:prstGeom prst="rect">
            <a:avLst/>
          </a:prstGeom>
          <a:noFill/>
          <a:ln/>
        </p:spPr>
        <p:txBody>
          <a:bodyPr wrap="square" lIns="0" tIns="0" rIns="0" bIns="0" rtlCol="0" anchor="ctr"/>
          <a:lstStyle/>
          <a:p>
            <a:pPr marL="0" indent="0">
              <a:buNone/>
            </a:pPr>
            <a:r>
              <a:rPr lang="en-US" sz="1200" b="1" dirty="0">
                <a:solidFill>
                  <a:srgbClr val="B07CFF"/>
                </a:solidFill>
                <a:latin typeface="Calibri" pitchFamily="34" charset="0"/>
                <a:ea typeface="Calibri" pitchFamily="34" charset="-122"/>
                <a:cs typeface="Calibri" pitchFamily="34" charset="-120"/>
              </a:rPr>
              <a:t>4.7% of billed AI</a:t>
            </a:r>
            <a:endParaRPr lang="en-US" sz="1200" dirty="0"/>
          </a:p>
        </p:txBody>
      </p:sp>
      <p:sp>
        <p:nvSpPr>
          <p:cNvPr id="57" name="Shape 55"/>
          <p:cNvSpPr/>
          <p:nvPr/>
        </p:nvSpPr>
        <p:spPr>
          <a:xfrm>
            <a:off x="7527158" y="3081528"/>
            <a:ext cx="1728765" cy="9144"/>
          </a:xfrm>
          <a:prstGeom prst="rect">
            <a:avLst/>
          </a:prstGeom>
          <a:solidFill>
            <a:srgbClr val="23304A"/>
          </a:solidFill>
          <a:ln w="12700">
            <a:solidFill>
              <a:srgbClr val="23304A"/>
            </a:solidFill>
            <a:prstDash val="solid"/>
          </a:ln>
        </p:spPr>
      </p:sp>
      <p:sp>
        <p:nvSpPr>
          <p:cNvPr id="58" name="Text 56"/>
          <p:cNvSpPr/>
          <p:nvPr/>
        </p:nvSpPr>
        <p:spPr>
          <a:xfrm>
            <a:off x="7527158" y="3209544"/>
            <a:ext cx="864382" cy="274320"/>
          </a:xfrm>
          <a:prstGeom prst="rect">
            <a:avLst/>
          </a:prstGeom>
          <a:noFill/>
          <a:ln/>
        </p:spPr>
        <p:txBody>
          <a:bodyPr wrap="square" lIns="0" tIns="0" rIns="0" bIns="0" rtlCol="0" anchor="ctr"/>
          <a:lstStyle/>
          <a:p>
            <a:pPr marL="0" indent="0">
              <a:buNone/>
            </a:pPr>
            <a:r>
              <a:rPr lang="en-US" sz="1200" b="1" kern="0" spc="100" dirty="0">
                <a:solidFill>
                  <a:srgbClr val="536078"/>
                </a:solidFill>
                <a:latin typeface="Calibri" pitchFamily="34" charset="0"/>
                <a:ea typeface="Calibri" pitchFamily="34" charset="-122"/>
                <a:cs typeface="Calibri" pitchFamily="34" charset="-120"/>
              </a:rPr>
              <a:t>JAN</a:t>
            </a:r>
            <a:endParaRPr lang="en-US" sz="1200" dirty="0"/>
          </a:p>
        </p:txBody>
      </p:sp>
      <p:sp>
        <p:nvSpPr>
          <p:cNvPr id="59" name="Text 57"/>
          <p:cNvSpPr/>
          <p:nvPr/>
        </p:nvSpPr>
        <p:spPr>
          <a:xfrm>
            <a:off x="8391540" y="3209544"/>
            <a:ext cx="864382" cy="274320"/>
          </a:xfrm>
          <a:prstGeom prst="rect">
            <a:avLst/>
          </a:prstGeom>
          <a:noFill/>
          <a:ln/>
        </p:spPr>
        <p:txBody>
          <a:bodyPr wrap="square" lIns="0" tIns="0" rIns="0" bIns="0" rtlCol="0" anchor="ctr"/>
          <a:lstStyle/>
          <a:p>
            <a:pPr marL="0" indent="0" algn="r">
              <a:buNone/>
            </a:pPr>
            <a:r>
              <a:rPr lang="en-US" sz="1300" b="1" dirty="0">
                <a:solidFill>
                  <a:srgbClr val="F4F7FB"/>
                </a:solidFill>
                <a:latin typeface="Calibri" pitchFamily="34" charset="0"/>
                <a:ea typeface="Calibri" pitchFamily="34" charset="-122"/>
                <a:cs typeface="Calibri" pitchFamily="34" charset="-120"/>
              </a:rPr>
              <a:t>$97</a:t>
            </a:r>
            <a:endParaRPr lang="en-US" sz="1300" dirty="0"/>
          </a:p>
        </p:txBody>
      </p:sp>
      <p:sp>
        <p:nvSpPr>
          <p:cNvPr id="60" name="Text 58"/>
          <p:cNvSpPr/>
          <p:nvPr/>
        </p:nvSpPr>
        <p:spPr>
          <a:xfrm>
            <a:off x="7527158" y="3593592"/>
            <a:ext cx="864382" cy="274320"/>
          </a:xfrm>
          <a:prstGeom prst="rect">
            <a:avLst/>
          </a:prstGeom>
          <a:noFill/>
          <a:ln/>
        </p:spPr>
        <p:txBody>
          <a:bodyPr wrap="square" lIns="0" tIns="0" rIns="0" bIns="0" rtlCol="0" anchor="ctr"/>
          <a:lstStyle/>
          <a:p>
            <a:pPr marL="0" indent="0">
              <a:buNone/>
            </a:pPr>
            <a:r>
              <a:rPr lang="en-US" sz="1200" b="1" kern="0" spc="100" dirty="0">
                <a:solidFill>
                  <a:srgbClr val="536078"/>
                </a:solidFill>
                <a:latin typeface="Calibri" pitchFamily="34" charset="0"/>
                <a:ea typeface="Calibri" pitchFamily="34" charset="-122"/>
                <a:cs typeface="Calibri" pitchFamily="34" charset="-120"/>
              </a:rPr>
              <a:t>JUL</a:t>
            </a:r>
            <a:endParaRPr lang="en-US" sz="1200" dirty="0"/>
          </a:p>
        </p:txBody>
      </p:sp>
      <p:sp>
        <p:nvSpPr>
          <p:cNvPr id="61" name="Text 59"/>
          <p:cNvSpPr/>
          <p:nvPr/>
        </p:nvSpPr>
        <p:spPr>
          <a:xfrm>
            <a:off x="8391540" y="3593592"/>
            <a:ext cx="864382" cy="274320"/>
          </a:xfrm>
          <a:prstGeom prst="rect">
            <a:avLst/>
          </a:prstGeom>
          <a:noFill/>
          <a:ln/>
        </p:spPr>
        <p:txBody>
          <a:bodyPr wrap="square" lIns="0" tIns="0" rIns="0" bIns="0" rtlCol="0" anchor="ctr"/>
          <a:lstStyle/>
          <a:p>
            <a:pPr marL="0" indent="0" algn="r">
              <a:buNone/>
            </a:pPr>
            <a:r>
              <a:rPr lang="en-US" sz="1300" b="1" dirty="0">
                <a:solidFill>
                  <a:srgbClr val="F4F7FB"/>
                </a:solidFill>
                <a:latin typeface="Calibri" pitchFamily="34" charset="0"/>
                <a:ea typeface="Calibri" pitchFamily="34" charset="-122"/>
                <a:cs typeface="Calibri" pitchFamily="34" charset="-120"/>
              </a:rPr>
              <a:t>$8,920</a:t>
            </a:r>
            <a:endParaRPr lang="en-US" sz="1300" dirty="0"/>
          </a:p>
        </p:txBody>
      </p:sp>
      <p:sp>
        <p:nvSpPr>
          <p:cNvPr id="62" name="Shape 60"/>
          <p:cNvSpPr/>
          <p:nvPr/>
        </p:nvSpPr>
        <p:spPr>
          <a:xfrm>
            <a:off x="7527158" y="4069080"/>
            <a:ext cx="1728765" cy="329184"/>
          </a:xfrm>
          <a:prstGeom prst="roundRect">
            <a:avLst>
              <a:gd name="adj" fmla="val 27778"/>
            </a:avLst>
          </a:prstGeom>
          <a:solidFill>
            <a:srgbClr val="1D2D42"/>
          </a:solidFill>
          <a:ln w="12700">
            <a:solidFill>
              <a:srgbClr val="B07CFF"/>
            </a:solidFill>
            <a:prstDash val="solid"/>
          </a:ln>
        </p:spPr>
      </p:sp>
      <p:sp>
        <p:nvSpPr>
          <p:cNvPr id="63" name="Text 61"/>
          <p:cNvSpPr/>
          <p:nvPr/>
        </p:nvSpPr>
        <p:spPr>
          <a:xfrm>
            <a:off x="7527158" y="4069080"/>
            <a:ext cx="1728765" cy="329184"/>
          </a:xfrm>
          <a:prstGeom prst="rect">
            <a:avLst/>
          </a:prstGeom>
          <a:noFill/>
          <a:ln/>
        </p:spPr>
        <p:txBody>
          <a:bodyPr wrap="square" lIns="0" tIns="0" rIns="0" bIns="0" rtlCol="0" anchor="ctr"/>
          <a:lstStyle/>
          <a:p>
            <a:pPr marL="0" indent="0" algn="ctr">
              <a:buNone/>
            </a:pPr>
            <a:r>
              <a:rPr lang="en-US" sz="1200" b="1" dirty="0">
                <a:solidFill>
                  <a:srgbClr val="B07CFF"/>
                </a:solidFill>
                <a:latin typeface="Calibri" pitchFamily="34" charset="0"/>
                <a:ea typeface="Calibri" pitchFamily="34" charset="-122"/>
                <a:cs typeface="Calibri" pitchFamily="34" charset="-120"/>
              </a:rPr>
              <a:t>$97 to $8,920</a:t>
            </a:r>
            <a:endParaRPr lang="en-US" sz="1200" dirty="0"/>
          </a:p>
        </p:txBody>
      </p:sp>
      <p:sp>
        <p:nvSpPr>
          <p:cNvPr id="64" name="Text 62"/>
          <p:cNvSpPr/>
          <p:nvPr/>
        </p:nvSpPr>
        <p:spPr>
          <a:xfrm>
            <a:off x="7527158" y="4526280"/>
            <a:ext cx="1728765" cy="923544"/>
          </a:xfrm>
          <a:prstGeom prst="rect">
            <a:avLst/>
          </a:prstGeom>
          <a:noFill/>
          <a:ln/>
        </p:spPr>
        <p:txBody>
          <a:bodyPr wrap="square" lIns="0" tIns="0" rIns="0" bIns="0" rtlCol="0" anchor="t"/>
          <a:lstStyle/>
          <a:p>
            <a:pPr marL="0" indent="0">
              <a:lnSpc>
                <a:spcPct val="115000"/>
              </a:lnSpc>
              <a:buNone/>
            </a:pPr>
            <a:r>
              <a:rPr lang="en-US" sz="1200" dirty="0">
                <a:solidFill>
                  <a:srgbClr val="91A0B7"/>
                </a:solidFill>
                <a:latin typeface="Calibri" pitchFamily="34" charset="0"/>
                <a:ea typeface="Calibri" pitchFamily="34" charset="-122"/>
                <a:cs typeface="Calibri" pitchFamily="34" charset="-120"/>
              </a:rPr>
              <a:t>Pay-as-you-go agent credits, billed through Power Platform.</a:t>
            </a:r>
            <a:endParaRPr lang="en-US" sz="1200" dirty="0"/>
          </a:p>
        </p:txBody>
      </p:sp>
      <p:sp>
        <p:nvSpPr>
          <p:cNvPr id="65" name="Shape 63"/>
          <p:cNvSpPr/>
          <p:nvPr/>
        </p:nvSpPr>
        <p:spPr>
          <a:xfrm>
            <a:off x="9639971" y="1618488"/>
            <a:ext cx="2094525" cy="3977640"/>
          </a:xfrm>
          <a:prstGeom prst="roundRect">
            <a:avLst>
              <a:gd name="adj" fmla="val 2619"/>
            </a:avLst>
          </a:prstGeom>
          <a:solidFill>
            <a:srgbClr val="121B2D"/>
          </a:solidFill>
          <a:ln w="12700">
            <a:solidFill>
              <a:srgbClr val="23304A"/>
            </a:solidFill>
            <a:prstDash val="solid"/>
          </a:ln>
        </p:spPr>
      </p:sp>
      <p:sp>
        <p:nvSpPr>
          <p:cNvPr id="66" name="Shape 64"/>
          <p:cNvSpPr/>
          <p:nvPr/>
        </p:nvSpPr>
        <p:spPr>
          <a:xfrm>
            <a:off x="9639971" y="1618488"/>
            <a:ext cx="2094525" cy="45720"/>
          </a:xfrm>
          <a:prstGeom prst="rect">
            <a:avLst/>
          </a:prstGeom>
          <a:solidFill>
            <a:srgbClr val="3DDC97"/>
          </a:solidFill>
          <a:ln w="12700">
            <a:solidFill>
              <a:srgbClr val="3DDC97"/>
            </a:solidFill>
            <a:prstDash val="solid"/>
          </a:ln>
        </p:spPr>
      </p:sp>
      <p:sp>
        <p:nvSpPr>
          <p:cNvPr id="67" name="Text 65"/>
          <p:cNvSpPr/>
          <p:nvPr/>
        </p:nvSpPr>
        <p:spPr>
          <a:xfrm>
            <a:off x="9822851" y="1783080"/>
            <a:ext cx="1728765" cy="438912"/>
          </a:xfrm>
          <a:prstGeom prst="rect">
            <a:avLst/>
          </a:prstGeom>
          <a:noFill/>
          <a:ln/>
        </p:spPr>
        <p:txBody>
          <a:bodyPr wrap="square" lIns="0" tIns="0" rIns="0" bIns="0" rtlCol="0" anchor="t"/>
          <a:lstStyle/>
          <a:p>
            <a:pPr marL="0" indent="0">
              <a:lnSpc>
                <a:spcPct val="105000"/>
              </a:lnSpc>
              <a:buNone/>
            </a:pPr>
            <a:r>
              <a:rPr lang="en-US" sz="1200" b="1" kern="0" spc="110" dirty="0">
                <a:solidFill>
                  <a:srgbClr val="91A0B7"/>
                </a:solidFill>
                <a:latin typeface="Calibri" pitchFamily="34" charset="0"/>
                <a:ea typeface="Calibri" pitchFamily="34" charset="-122"/>
                <a:cs typeface="Calibri" pitchFamily="34" charset="-120"/>
              </a:rPr>
              <a:t>GOOGLE VERTEX AI</a:t>
            </a:r>
            <a:endParaRPr lang="en-US" sz="1200" dirty="0"/>
          </a:p>
        </p:txBody>
      </p:sp>
      <p:sp>
        <p:nvSpPr>
          <p:cNvPr id="68" name="Text 66"/>
          <p:cNvSpPr/>
          <p:nvPr/>
        </p:nvSpPr>
        <p:spPr>
          <a:xfrm>
            <a:off x="9822851" y="2276856"/>
            <a:ext cx="1728765" cy="457200"/>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$3,696</a:t>
            </a:r>
            <a:endParaRPr lang="en-US" sz="2800" dirty="0"/>
          </a:p>
        </p:txBody>
      </p:sp>
      <p:sp>
        <p:nvSpPr>
          <p:cNvPr id="69" name="Text 67"/>
          <p:cNvSpPr/>
          <p:nvPr/>
        </p:nvSpPr>
        <p:spPr>
          <a:xfrm>
            <a:off x="9822851" y="2734056"/>
            <a:ext cx="1728765" cy="237744"/>
          </a:xfrm>
          <a:prstGeom prst="rect">
            <a:avLst/>
          </a:prstGeom>
          <a:noFill/>
          <a:ln/>
        </p:spPr>
        <p:txBody>
          <a:bodyPr wrap="square" lIns="0" tIns="0" rIns="0" bIns="0" rtlCol="0" anchor="ctr"/>
          <a:lstStyle/>
          <a:p>
            <a:pPr marL="0" indent="0">
              <a:buNone/>
            </a:pPr>
            <a:r>
              <a:rPr lang="en-US" sz="1200" b="1" dirty="0">
                <a:solidFill>
                  <a:srgbClr val="3DDC97"/>
                </a:solidFill>
                <a:latin typeface="Calibri" pitchFamily="34" charset="0"/>
                <a:ea typeface="Calibri" pitchFamily="34" charset="-122"/>
                <a:cs typeface="Calibri" pitchFamily="34" charset="-120"/>
              </a:rPr>
              <a:t>1.9% of billed AI</a:t>
            </a:r>
            <a:endParaRPr lang="en-US" sz="1200" dirty="0"/>
          </a:p>
        </p:txBody>
      </p:sp>
      <p:sp>
        <p:nvSpPr>
          <p:cNvPr id="70" name="Shape 68"/>
          <p:cNvSpPr/>
          <p:nvPr/>
        </p:nvSpPr>
        <p:spPr>
          <a:xfrm>
            <a:off x="9822851" y="3081528"/>
            <a:ext cx="1728765" cy="9144"/>
          </a:xfrm>
          <a:prstGeom prst="rect">
            <a:avLst/>
          </a:prstGeom>
          <a:solidFill>
            <a:srgbClr val="23304A"/>
          </a:solidFill>
          <a:ln w="12700">
            <a:solidFill>
              <a:srgbClr val="23304A"/>
            </a:solidFill>
            <a:prstDash val="solid"/>
          </a:ln>
        </p:spPr>
      </p:sp>
      <p:sp>
        <p:nvSpPr>
          <p:cNvPr id="71" name="Text 69"/>
          <p:cNvSpPr/>
          <p:nvPr/>
        </p:nvSpPr>
        <p:spPr>
          <a:xfrm>
            <a:off x="9822851" y="3209544"/>
            <a:ext cx="864382" cy="274320"/>
          </a:xfrm>
          <a:prstGeom prst="rect">
            <a:avLst/>
          </a:prstGeom>
          <a:noFill/>
          <a:ln/>
        </p:spPr>
        <p:txBody>
          <a:bodyPr wrap="square" lIns="0" tIns="0" rIns="0" bIns="0" rtlCol="0" anchor="ctr"/>
          <a:lstStyle/>
          <a:p>
            <a:pPr marL="0" indent="0">
              <a:buNone/>
            </a:pPr>
            <a:r>
              <a:rPr lang="en-US" sz="1200" b="1" kern="0" spc="100" dirty="0">
                <a:solidFill>
                  <a:srgbClr val="536078"/>
                </a:solidFill>
                <a:latin typeface="Calibri" pitchFamily="34" charset="0"/>
                <a:ea typeface="Calibri" pitchFamily="34" charset="-122"/>
                <a:cs typeface="Calibri" pitchFamily="34" charset="-120"/>
              </a:rPr>
              <a:t>JAN</a:t>
            </a:r>
            <a:endParaRPr lang="en-US" sz="1200" dirty="0"/>
          </a:p>
        </p:txBody>
      </p:sp>
      <p:sp>
        <p:nvSpPr>
          <p:cNvPr id="72" name="Text 70"/>
          <p:cNvSpPr/>
          <p:nvPr/>
        </p:nvSpPr>
        <p:spPr>
          <a:xfrm>
            <a:off x="10687233" y="3209544"/>
            <a:ext cx="864382" cy="274320"/>
          </a:xfrm>
          <a:prstGeom prst="rect">
            <a:avLst/>
          </a:prstGeom>
          <a:noFill/>
          <a:ln/>
        </p:spPr>
        <p:txBody>
          <a:bodyPr wrap="square" lIns="0" tIns="0" rIns="0" bIns="0" rtlCol="0" anchor="ctr"/>
          <a:lstStyle/>
          <a:p>
            <a:pPr marL="0" indent="0" algn="r">
              <a:buNone/>
            </a:pPr>
            <a:r>
              <a:rPr lang="en-US" sz="1300" b="1" dirty="0">
                <a:solidFill>
                  <a:srgbClr val="536078"/>
                </a:solidFill>
                <a:latin typeface="Calibri" pitchFamily="34" charset="0"/>
                <a:ea typeface="Calibri" pitchFamily="34" charset="-122"/>
                <a:cs typeface="Calibri" pitchFamily="34" charset="-120"/>
              </a:rPr>
              <a:t>-</a:t>
            </a:r>
            <a:endParaRPr lang="en-US" sz="1300" dirty="0"/>
          </a:p>
        </p:txBody>
      </p:sp>
      <p:sp>
        <p:nvSpPr>
          <p:cNvPr id="73" name="Text 71"/>
          <p:cNvSpPr/>
          <p:nvPr/>
        </p:nvSpPr>
        <p:spPr>
          <a:xfrm>
            <a:off x="9822851" y="3593592"/>
            <a:ext cx="864382" cy="274320"/>
          </a:xfrm>
          <a:prstGeom prst="rect">
            <a:avLst/>
          </a:prstGeom>
          <a:noFill/>
          <a:ln/>
        </p:spPr>
        <p:txBody>
          <a:bodyPr wrap="square" lIns="0" tIns="0" rIns="0" bIns="0" rtlCol="0" anchor="ctr"/>
          <a:lstStyle/>
          <a:p>
            <a:pPr marL="0" indent="0">
              <a:buNone/>
            </a:pPr>
            <a:r>
              <a:rPr lang="en-US" sz="1200" b="1" kern="0" spc="100" dirty="0">
                <a:solidFill>
                  <a:srgbClr val="536078"/>
                </a:solidFill>
                <a:latin typeface="Calibri" pitchFamily="34" charset="0"/>
                <a:ea typeface="Calibri" pitchFamily="34" charset="-122"/>
                <a:cs typeface="Calibri" pitchFamily="34" charset="-120"/>
              </a:rPr>
              <a:t>JUL</a:t>
            </a:r>
            <a:endParaRPr lang="en-US" sz="1200" dirty="0"/>
          </a:p>
        </p:txBody>
      </p:sp>
      <p:sp>
        <p:nvSpPr>
          <p:cNvPr id="74" name="Text 72"/>
          <p:cNvSpPr/>
          <p:nvPr/>
        </p:nvSpPr>
        <p:spPr>
          <a:xfrm>
            <a:off x="10687233" y="3593592"/>
            <a:ext cx="864382" cy="274320"/>
          </a:xfrm>
          <a:prstGeom prst="rect">
            <a:avLst/>
          </a:prstGeom>
          <a:noFill/>
          <a:ln/>
        </p:spPr>
        <p:txBody>
          <a:bodyPr wrap="square" lIns="0" tIns="0" rIns="0" bIns="0" rtlCol="0" anchor="ctr"/>
          <a:lstStyle/>
          <a:p>
            <a:pPr marL="0" indent="0" algn="r">
              <a:buNone/>
            </a:pPr>
            <a:r>
              <a:rPr lang="en-US" sz="1300" b="1" dirty="0">
                <a:solidFill>
                  <a:srgbClr val="F4F7FB"/>
                </a:solidFill>
                <a:latin typeface="Calibri" pitchFamily="34" charset="0"/>
                <a:ea typeface="Calibri" pitchFamily="34" charset="-122"/>
                <a:cs typeface="Calibri" pitchFamily="34" charset="-120"/>
              </a:rPr>
              <a:t>$2,359</a:t>
            </a:r>
            <a:endParaRPr lang="en-US" sz="1300" dirty="0"/>
          </a:p>
        </p:txBody>
      </p:sp>
      <p:sp>
        <p:nvSpPr>
          <p:cNvPr id="75" name="Shape 73"/>
          <p:cNvSpPr/>
          <p:nvPr/>
        </p:nvSpPr>
        <p:spPr>
          <a:xfrm>
            <a:off x="9822851" y="4069080"/>
            <a:ext cx="1728765" cy="329184"/>
          </a:xfrm>
          <a:prstGeom prst="roundRect">
            <a:avLst>
              <a:gd name="adj" fmla="val 27778"/>
            </a:avLst>
          </a:prstGeom>
          <a:solidFill>
            <a:srgbClr val="1D2D42"/>
          </a:solidFill>
          <a:ln w="12700">
            <a:solidFill>
              <a:srgbClr val="3DDC97"/>
            </a:solidFill>
            <a:prstDash val="solid"/>
          </a:ln>
        </p:spPr>
      </p:sp>
      <p:sp>
        <p:nvSpPr>
          <p:cNvPr id="76" name="Text 74"/>
          <p:cNvSpPr/>
          <p:nvPr/>
        </p:nvSpPr>
        <p:spPr>
          <a:xfrm>
            <a:off x="9822851" y="4069080"/>
            <a:ext cx="1728765" cy="329184"/>
          </a:xfrm>
          <a:prstGeom prst="rect">
            <a:avLst/>
          </a:prstGeom>
          <a:noFill/>
          <a:ln/>
        </p:spPr>
        <p:txBody>
          <a:bodyPr wrap="square" lIns="0" tIns="0" rIns="0" bIns="0" rtlCol="0" anchor="ctr"/>
          <a:lstStyle/>
          <a:p>
            <a:pPr marL="0" indent="0" algn="ctr">
              <a:buNone/>
            </a:pPr>
            <a:r>
              <a:rPr lang="en-US" sz="1200" b="1" dirty="0">
                <a:solidFill>
                  <a:srgbClr val="3DDC97"/>
                </a:solidFill>
                <a:latin typeface="Calibri" pitchFamily="34" charset="0"/>
                <a:ea typeface="Calibri" pitchFamily="34" charset="-122"/>
                <a:cs typeface="Calibri" pitchFamily="34" charset="-120"/>
              </a:rPr>
              <a:t>First billed in May</a:t>
            </a:r>
            <a:endParaRPr lang="en-US" sz="1200" dirty="0"/>
          </a:p>
        </p:txBody>
      </p:sp>
      <p:sp>
        <p:nvSpPr>
          <p:cNvPr id="77" name="Text 75"/>
          <p:cNvSpPr/>
          <p:nvPr/>
        </p:nvSpPr>
        <p:spPr>
          <a:xfrm>
            <a:off x="9822851" y="4526280"/>
            <a:ext cx="1728765" cy="923544"/>
          </a:xfrm>
          <a:prstGeom prst="rect">
            <a:avLst/>
          </a:prstGeom>
          <a:noFill/>
          <a:ln/>
        </p:spPr>
        <p:txBody>
          <a:bodyPr wrap="square" lIns="0" tIns="0" rIns="0" bIns="0" rtlCol="0" anchor="t"/>
          <a:lstStyle/>
          <a:p>
            <a:pPr marL="0" indent="0">
              <a:lnSpc>
                <a:spcPct val="115000"/>
              </a:lnSpc>
              <a:buNone/>
            </a:pPr>
            <a:r>
              <a:rPr lang="en-US" sz="1200" dirty="0">
                <a:solidFill>
                  <a:srgbClr val="91A0B7"/>
                </a:solidFill>
                <a:latin typeface="Calibri" pitchFamily="34" charset="0"/>
                <a:ea typeface="Calibri" pitchFamily="34" charset="-122"/>
                <a:cs typeface="Calibri" pitchFamily="34" charset="-120"/>
              </a:rPr>
              <a:t>Gemini prediction tokens on the shared GCP projects.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2">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2F8CFF"/>
          </a:solidFill>
          <a:ln w="12700">
            <a:solidFill>
              <a:srgbClr val="2F8CFF"/>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2F8CFF"/>
                </a:solidFill>
                <a:latin typeface="Calibri" pitchFamily="34" charset="0"/>
                <a:ea typeface="Calibri" pitchFamily="34" charset="-122"/>
                <a:cs typeface="Calibri" pitchFamily="34" charset="-120"/>
              </a:rPr>
              <a:t>AI FACTORY / INFRASTRUCTURE</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1800" b="1" dirty="0">
                <a:solidFill>
                  <a:srgbClr val="F4F7FB"/>
                </a:solidFill>
                <a:latin typeface="Calibri" pitchFamily="34" charset="0"/>
                <a:ea typeface="Calibri" pitchFamily="34" charset="-122"/>
                <a:cs typeface="Calibri" pitchFamily="34" charset="-120"/>
              </a:rPr>
              <a:t>The AI programme carries $77,049 of infrastructure</a:t>
            </a:r>
            <a:endParaRPr lang="en-US" sz="1800" dirty="0"/>
          </a:p>
        </p:txBody>
      </p:sp>
      <p:sp>
        <p:nvSpPr>
          <p:cNvPr id="6" name="Text 4"/>
          <p:cNvSpPr/>
          <p:nvPr/>
        </p:nvSpPr>
        <p:spPr>
          <a:xfrm>
            <a:off x="8321040" y="493776"/>
            <a:ext cx="3413455" cy="658368"/>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All four projects, January to July. AI meters are excluded here, models, tools, search and OCR pages have their own slides.</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indent="0" marL="0">
              <a:lnSpc>
                <a:spcPct val="115000"/>
              </a:lnSpc>
              <a:buNone/>
            </a:pPr>
            <a:r>
              <a:rPr lang="en-US" sz="1200" dirty="0">
                <a:solidFill>
                  <a:srgbClr val="536078"/>
                </a:solidFill>
                <a:latin typeface="Calibri" pitchFamily="34" charset="0"/>
                <a:ea typeface="Calibri" pitchFamily="34" charset="-122"/>
                <a:cs typeface="Calibri" pitchFamily="34" charset="-120"/>
              </a:rPr>
              <a:t>Every project carries some infrastructure except Document Intelligence, a hosted OCR API with none at all, the next slide breaks this out project by project. Inference running on a plain virtual machine still bills as infrastructure, so this is a floor.</a:t>
            </a:r>
            <a:endParaRPr lang="en-US" sz="1200" dirty="0"/>
          </a:p>
        </p:txBody>
      </p:sp>
      <p:sp>
        <p:nvSpPr>
          <p:cNvPr id="8" name="Text 6"/>
          <p:cNvSpPr/>
          <p:nvPr/>
        </p:nvSpPr>
        <p:spPr>
          <a:xfrm>
            <a:off x="457200" y="1234440"/>
            <a:ext cx="7360920" cy="237744"/>
          </a:xfrm>
          <a:prstGeom prst="rect">
            <a:avLst/>
          </a:prstGeom>
          <a:noFill/>
          <a:ln/>
        </p:spPr>
        <p:txBody>
          <a:bodyPr wrap="square" lIns="0" tIns="0" rIns="0" bIns="0" rtlCol="0" anchor="ctr"/>
          <a:lstStyle/>
          <a:p>
            <a:pPr indent="0" marL="0">
              <a:buNone/>
            </a:pPr>
            <a:r>
              <a:rPr lang="en-US" sz="1500" b="1" dirty="0">
                <a:solidFill>
                  <a:srgbClr val="F4F7FB"/>
                </a:solidFill>
                <a:latin typeface="Calibri" pitchFamily="34" charset="0"/>
                <a:ea typeface="Calibri" pitchFamily="34" charset="-122"/>
                <a:cs typeface="Calibri" pitchFamily="34" charset="-120"/>
              </a:rPr>
              <a:t>Infrastructure spend by service, every project combined</a:t>
            </a:r>
            <a:endParaRPr lang="en-US" sz="1500" dirty="0"/>
          </a:p>
        </p:txBody>
      </p:sp>
      <p:graphicFrame>
        <p:nvGraphicFramePr>
          <p:cNvPr id="9" name="Chart 0" descr=""/>
          <p:cNvGraphicFramePr/>
          <p:nvPr/>
        </p:nvGraphicFramePr>
        <p:xfrm>
          <a:off x="411480" y="1508760"/>
          <a:ext cx="7360920" cy="4572000"/>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8092440" y="1234440"/>
            <a:ext cx="3642055" cy="1097280"/>
          </a:xfrm>
          <a:prstGeom prst="roundRect">
            <a:avLst>
              <a:gd name="adj" fmla="val 5000"/>
            </a:avLst>
          </a:prstGeom>
          <a:solidFill>
            <a:srgbClr val="121B2D"/>
          </a:solidFill>
          <a:ln w="12700">
            <a:solidFill>
              <a:srgbClr val="23304A"/>
            </a:solidFill>
            <a:prstDash val="solid"/>
          </a:ln>
        </p:spPr>
      </p:sp>
      <p:sp>
        <p:nvSpPr>
          <p:cNvPr id="11" name="Text 8"/>
          <p:cNvSpPr/>
          <p:nvPr/>
        </p:nvSpPr>
        <p:spPr>
          <a:xfrm>
            <a:off x="8293608" y="1325880"/>
            <a:ext cx="323971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INFRASTRUCTURE</a:t>
            </a:r>
            <a:endParaRPr lang="en-US" sz="1200" dirty="0"/>
          </a:p>
        </p:txBody>
      </p:sp>
      <p:sp>
        <p:nvSpPr>
          <p:cNvPr id="12" name="Text 9"/>
          <p:cNvSpPr/>
          <p:nvPr/>
        </p:nvSpPr>
        <p:spPr>
          <a:xfrm>
            <a:off x="8293608" y="1527048"/>
            <a:ext cx="323971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$77,049</a:t>
            </a:r>
            <a:endParaRPr lang="en-US" sz="2800" dirty="0"/>
          </a:p>
        </p:txBody>
      </p:sp>
      <p:sp>
        <p:nvSpPr>
          <p:cNvPr id="13" name="Text 10"/>
          <p:cNvSpPr/>
          <p:nvPr/>
        </p:nvSpPr>
        <p:spPr>
          <a:xfrm>
            <a:off x="8293608" y="1929384"/>
            <a:ext cx="3239719" cy="329184"/>
          </a:xfrm>
          <a:prstGeom prst="rect">
            <a:avLst/>
          </a:prstGeom>
          <a:noFill/>
          <a:ln/>
        </p:spPr>
        <p:txBody>
          <a:bodyPr wrap="square" lIns="0" tIns="0" rIns="0" bIns="0" rtlCol="0" anchor="t"/>
          <a:lstStyle/>
          <a:p>
            <a:pPr indent="0" marL="0">
              <a:lnSpc>
                <a:spcPct val="105000"/>
              </a:lnSpc>
              <a:buNone/>
            </a:pPr>
            <a:r>
              <a:rPr lang="en-US" sz="1200" b="1" dirty="0">
                <a:solidFill>
                  <a:srgbClr val="2F8CFF"/>
                </a:solidFill>
                <a:latin typeface="Calibri" pitchFamily="34" charset="0"/>
                <a:ea typeface="Calibri" pitchFamily="34" charset="-122"/>
                <a:cs typeface="Calibri" pitchFamily="34" charset="-120"/>
              </a:rPr>
              <a:t>46.5% of the programme</a:t>
            </a:r>
            <a:endParaRPr lang="en-US" sz="1200" dirty="0"/>
          </a:p>
        </p:txBody>
      </p:sp>
      <p:sp>
        <p:nvSpPr>
          <p:cNvPr id="14" name="Shape 11"/>
          <p:cNvSpPr/>
          <p:nvPr/>
        </p:nvSpPr>
        <p:spPr>
          <a:xfrm>
            <a:off x="8092440" y="2459736"/>
            <a:ext cx="3642055" cy="1097280"/>
          </a:xfrm>
          <a:prstGeom prst="roundRect">
            <a:avLst>
              <a:gd name="adj" fmla="val 5000"/>
            </a:avLst>
          </a:prstGeom>
          <a:solidFill>
            <a:srgbClr val="121B2D"/>
          </a:solidFill>
          <a:ln w="12700">
            <a:solidFill>
              <a:srgbClr val="23304A"/>
            </a:solidFill>
            <a:prstDash val="solid"/>
          </a:ln>
        </p:spPr>
      </p:sp>
      <p:sp>
        <p:nvSpPr>
          <p:cNvPr id="15" name="Text 12"/>
          <p:cNvSpPr/>
          <p:nvPr/>
        </p:nvSpPr>
        <p:spPr>
          <a:xfrm>
            <a:off x="8293608" y="2551176"/>
            <a:ext cx="323971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LARGEST LINE</a:t>
            </a:r>
            <a:endParaRPr lang="en-US" sz="1200" dirty="0"/>
          </a:p>
        </p:txBody>
      </p:sp>
      <p:sp>
        <p:nvSpPr>
          <p:cNvPr id="16" name="Text 13"/>
          <p:cNvSpPr/>
          <p:nvPr/>
        </p:nvSpPr>
        <p:spPr>
          <a:xfrm>
            <a:off x="8293608" y="2752344"/>
            <a:ext cx="323971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$23,663</a:t>
            </a:r>
            <a:endParaRPr lang="en-US" sz="2800" dirty="0"/>
          </a:p>
        </p:txBody>
      </p:sp>
      <p:sp>
        <p:nvSpPr>
          <p:cNvPr id="17" name="Text 14"/>
          <p:cNvSpPr/>
          <p:nvPr/>
        </p:nvSpPr>
        <p:spPr>
          <a:xfrm>
            <a:off x="8293608" y="3154680"/>
            <a:ext cx="3239719" cy="329184"/>
          </a:xfrm>
          <a:prstGeom prst="rect">
            <a:avLst/>
          </a:prstGeom>
          <a:noFill/>
          <a:ln/>
        </p:spPr>
        <p:txBody>
          <a:bodyPr wrap="square" lIns="0" tIns="0" rIns="0" bIns="0" rtlCol="0" anchor="t"/>
          <a:lstStyle/>
          <a:p>
            <a:pPr indent="0" marL="0">
              <a:lnSpc>
                <a:spcPct val="105000"/>
              </a:lnSpc>
              <a:buNone/>
            </a:pPr>
            <a:r>
              <a:rPr lang="en-US" sz="1200" b="1" dirty="0">
                <a:solidFill>
                  <a:srgbClr val="3DD9EB"/>
                </a:solidFill>
                <a:latin typeface="Calibri" pitchFamily="34" charset="0"/>
                <a:ea typeface="Calibri" pitchFamily="34" charset="-122"/>
                <a:cs typeface="Calibri" pitchFamily="34" charset="-120"/>
              </a:rPr>
              <a:t>API Management</a:t>
            </a:r>
            <a:endParaRPr lang="en-US" sz="1200" dirty="0"/>
          </a:p>
        </p:txBody>
      </p:sp>
      <p:sp>
        <p:nvSpPr>
          <p:cNvPr id="18" name="Shape 15"/>
          <p:cNvSpPr/>
          <p:nvPr/>
        </p:nvSpPr>
        <p:spPr>
          <a:xfrm>
            <a:off x="8092440" y="3685032"/>
            <a:ext cx="3642055" cy="1097280"/>
          </a:xfrm>
          <a:prstGeom prst="roundRect">
            <a:avLst>
              <a:gd name="adj" fmla="val 5000"/>
            </a:avLst>
          </a:prstGeom>
          <a:solidFill>
            <a:srgbClr val="121B2D"/>
          </a:solidFill>
          <a:ln w="12700">
            <a:solidFill>
              <a:srgbClr val="23304A"/>
            </a:solidFill>
            <a:prstDash val="solid"/>
          </a:ln>
        </p:spPr>
      </p:sp>
      <p:sp>
        <p:nvSpPr>
          <p:cNvPr id="19" name="Text 16"/>
          <p:cNvSpPr/>
          <p:nvPr/>
        </p:nvSpPr>
        <p:spPr>
          <a:xfrm>
            <a:off x="8293608" y="3776472"/>
            <a:ext cx="3239719"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AI, FOR CONTRAST</a:t>
            </a:r>
            <a:endParaRPr lang="en-US" sz="1200" dirty="0"/>
          </a:p>
        </p:txBody>
      </p:sp>
      <p:sp>
        <p:nvSpPr>
          <p:cNvPr id="20" name="Text 17"/>
          <p:cNvSpPr/>
          <p:nvPr/>
        </p:nvSpPr>
        <p:spPr>
          <a:xfrm>
            <a:off x="8293608" y="3977640"/>
            <a:ext cx="3239719"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$88,540</a:t>
            </a:r>
            <a:endParaRPr lang="en-US" sz="2800" dirty="0"/>
          </a:p>
        </p:txBody>
      </p:sp>
      <p:sp>
        <p:nvSpPr>
          <p:cNvPr id="21" name="Text 18"/>
          <p:cNvSpPr/>
          <p:nvPr/>
        </p:nvSpPr>
        <p:spPr>
          <a:xfrm>
            <a:off x="8293608" y="4379976"/>
            <a:ext cx="3239719" cy="329184"/>
          </a:xfrm>
          <a:prstGeom prst="rect">
            <a:avLst/>
          </a:prstGeom>
          <a:noFill/>
          <a:ln/>
        </p:spPr>
        <p:txBody>
          <a:bodyPr wrap="square" lIns="0" tIns="0" rIns="0" bIns="0" rtlCol="0" anchor="t"/>
          <a:lstStyle/>
          <a:p>
            <a:pPr indent="0" marL="0">
              <a:lnSpc>
                <a:spcPct val="105000"/>
              </a:lnSpc>
              <a:buNone/>
            </a:pPr>
            <a:r>
              <a:rPr lang="en-US" sz="1200" b="1" dirty="0">
                <a:solidFill>
                  <a:srgbClr val="B07CFF"/>
                </a:solidFill>
                <a:latin typeface="Calibri" pitchFamily="34" charset="0"/>
                <a:ea typeface="Calibri" pitchFamily="34" charset="-122"/>
                <a:cs typeface="Calibri" pitchFamily="34" charset="-120"/>
              </a:rPr>
              <a:t>53.5% of the programme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B07CFF"/>
          </a:solidFill>
          <a:ln w="12700">
            <a:solidFill>
              <a:srgbClr val="B07CFF"/>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B07CFF"/>
                </a:solidFill>
                <a:latin typeface="Calibri" pitchFamily="34" charset="0"/>
                <a:ea typeface="Calibri" pitchFamily="34" charset="-122"/>
                <a:cs typeface="Calibri" pitchFamily="34" charset="-120"/>
              </a:rPr>
              <a:t>AI FACTORY / PROJECTS</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1867" b="1" dirty="0">
                <a:solidFill>
                  <a:srgbClr val="F4F7FB"/>
                </a:solidFill>
                <a:latin typeface="Calibri" pitchFamily="34" charset="0"/>
                <a:ea typeface="Calibri" pitchFamily="34" charset="-122"/>
                <a:cs typeface="Calibri" pitchFamily="34" charset="-120"/>
              </a:rPr>
              <a:t>The same programme, built four different ways</a:t>
            </a:r>
            <a:endParaRPr lang="en-US" sz="1867" dirty="0"/>
          </a:p>
        </p:txBody>
      </p:sp>
      <p:sp>
        <p:nvSpPr>
          <p:cNvPr id="6" name="Text 4"/>
          <p:cNvSpPr/>
          <p:nvPr/>
        </p:nvSpPr>
        <p:spPr>
          <a:xfrm>
            <a:off x="8321040" y="493776"/>
            <a:ext cx="3413455" cy="658368"/>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Four projects, January to July. Blue is infrastructure, purple is AI, the same colours as the programme total.</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indent="0" marL="0">
              <a:lnSpc>
                <a:spcPct val="115000"/>
              </a:lnSpc>
              <a:buNone/>
            </a:pPr>
            <a:r>
              <a:rPr lang="en-US" sz="1200" dirty="0">
                <a:solidFill>
                  <a:srgbClr val="536078"/>
                </a:solidFill>
                <a:latin typeface="Calibri" pitchFamily="34" charset="0"/>
                <a:ea typeface="Calibri" pitchFamily="34" charset="-122"/>
                <a:cs typeface="Calibri" pitchFamily="34" charset="-120"/>
              </a:rPr>
              <a:t>Document Intelligence buys AI as a hosted API and carries no infrastructure at all. INSAIT builds its own, so 90% of it is infrastructure. The gap is what a project buys versus what it builds, not how well it is run.</a:t>
            </a:r>
            <a:endParaRPr lang="en-US" sz="1200" dirty="0"/>
          </a:p>
        </p:txBody>
      </p:sp>
      <p:sp>
        <p:nvSpPr>
          <p:cNvPr id="8" name="Shape 6"/>
          <p:cNvSpPr/>
          <p:nvPr/>
        </p:nvSpPr>
        <p:spPr>
          <a:xfrm>
            <a:off x="457200" y="1234440"/>
            <a:ext cx="3606698" cy="960120"/>
          </a:xfrm>
          <a:prstGeom prst="roundRect">
            <a:avLst>
              <a:gd name="adj" fmla="val 5714"/>
            </a:avLst>
          </a:prstGeom>
          <a:solidFill>
            <a:srgbClr val="121B2D"/>
          </a:solidFill>
          <a:ln w="12700">
            <a:solidFill>
              <a:srgbClr val="23304A"/>
            </a:solidFill>
            <a:prstDash val="solid"/>
          </a:ln>
        </p:spPr>
      </p:sp>
      <p:sp>
        <p:nvSpPr>
          <p:cNvPr id="9" name="Text 7"/>
          <p:cNvSpPr/>
          <p:nvPr/>
        </p:nvSpPr>
        <p:spPr>
          <a:xfrm>
            <a:off x="658368" y="1325880"/>
            <a:ext cx="3204362"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TOTAL, JAN-JUL</a:t>
            </a:r>
            <a:endParaRPr lang="en-US" sz="1200" dirty="0"/>
          </a:p>
        </p:txBody>
      </p:sp>
      <p:sp>
        <p:nvSpPr>
          <p:cNvPr id="10" name="Text 8"/>
          <p:cNvSpPr/>
          <p:nvPr/>
        </p:nvSpPr>
        <p:spPr>
          <a:xfrm>
            <a:off x="658368" y="1527048"/>
            <a:ext cx="3204362"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$165,588</a:t>
            </a:r>
            <a:endParaRPr lang="en-US" sz="2800" dirty="0"/>
          </a:p>
        </p:txBody>
      </p:sp>
      <p:sp>
        <p:nvSpPr>
          <p:cNvPr id="11" name="Text 9"/>
          <p:cNvSpPr/>
          <p:nvPr/>
        </p:nvSpPr>
        <p:spPr>
          <a:xfrm>
            <a:off x="658368" y="1929384"/>
            <a:ext cx="3204362" cy="329184"/>
          </a:xfrm>
          <a:prstGeom prst="rect">
            <a:avLst/>
          </a:prstGeom>
          <a:noFill/>
          <a:ln/>
        </p:spPr>
        <p:txBody>
          <a:bodyPr wrap="square" lIns="0" tIns="0" rIns="0" bIns="0" rtlCol="0" anchor="t"/>
          <a:lstStyle/>
          <a:p>
            <a:pPr indent="0" marL="0">
              <a:lnSpc>
                <a:spcPct val="105000"/>
              </a:lnSpc>
              <a:buNone/>
            </a:pPr>
            <a:r>
              <a:rPr lang="en-US" sz="1200" b="1" dirty="0">
                <a:solidFill>
                  <a:srgbClr val="B07CFF"/>
                </a:solidFill>
                <a:latin typeface="Calibri" pitchFamily="34" charset="0"/>
                <a:ea typeface="Calibri" pitchFamily="34" charset="-122"/>
                <a:cs typeface="Calibri" pitchFamily="34" charset="-120"/>
              </a:rPr>
              <a:t>+489% Jan to Jul</a:t>
            </a:r>
            <a:endParaRPr lang="en-US" sz="1200" dirty="0"/>
          </a:p>
        </p:txBody>
      </p:sp>
      <p:sp>
        <p:nvSpPr>
          <p:cNvPr id="12" name="Shape 10"/>
          <p:cNvSpPr/>
          <p:nvPr/>
        </p:nvSpPr>
        <p:spPr>
          <a:xfrm>
            <a:off x="4292498" y="1234440"/>
            <a:ext cx="3606698" cy="960120"/>
          </a:xfrm>
          <a:prstGeom prst="roundRect">
            <a:avLst>
              <a:gd name="adj" fmla="val 5714"/>
            </a:avLst>
          </a:prstGeom>
          <a:solidFill>
            <a:srgbClr val="121B2D"/>
          </a:solidFill>
          <a:ln w="12700">
            <a:solidFill>
              <a:srgbClr val="23304A"/>
            </a:solidFill>
            <a:prstDash val="solid"/>
          </a:ln>
        </p:spPr>
      </p:sp>
      <p:sp>
        <p:nvSpPr>
          <p:cNvPr id="13" name="Text 11"/>
          <p:cNvSpPr/>
          <p:nvPr/>
        </p:nvSpPr>
        <p:spPr>
          <a:xfrm>
            <a:off x="4493666" y="1325880"/>
            <a:ext cx="3204362"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LARGEST PROJECT</a:t>
            </a:r>
            <a:endParaRPr lang="en-US" sz="1200" dirty="0"/>
          </a:p>
        </p:txBody>
      </p:sp>
      <p:sp>
        <p:nvSpPr>
          <p:cNvPr id="14" name="Text 12"/>
          <p:cNvSpPr/>
          <p:nvPr/>
        </p:nvSpPr>
        <p:spPr>
          <a:xfrm>
            <a:off x="4493666" y="1527048"/>
            <a:ext cx="3204362"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AI Factory</a:t>
            </a:r>
            <a:endParaRPr lang="en-US" sz="2800" dirty="0"/>
          </a:p>
        </p:txBody>
      </p:sp>
      <p:sp>
        <p:nvSpPr>
          <p:cNvPr id="15" name="Text 13"/>
          <p:cNvSpPr/>
          <p:nvPr/>
        </p:nvSpPr>
        <p:spPr>
          <a:xfrm>
            <a:off x="4493666" y="1929384"/>
            <a:ext cx="3204362" cy="329184"/>
          </a:xfrm>
          <a:prstGeom prst="rect">
            <a:avLst/>
          </a:prstGeom>
          <a:noFill/>
          <a:ln/>
        </p:spPr>
        <p:txBody>
          <a:bodyPr wrap="square" lIns="0" tIns="0" rIns="0" bIns="0" rtlCol="0" anchor="t"/>
          <a:lstStyle/>
          <a:p>
            <a:pPr indent="0" marL="0">
              <a:lnSpc>
                <a:spcPct val="105000"/>
              </a:lnSpc>
              <a:buNone/>
            </a:pPr>
            <a:r>
              <a:rPr lang="en-US" sz="1200" b="1" dirty="0">
                <a:solidFill>
                  <a:srgbClr val="3DD9EB"/>
                </a:solidFill>
                <a:latin typeface="Calibri" pitchFamily="34" charset="0"/>
                <a:ea typeface="Calibri" pitchFamily="34" charset="-122"/>
                <a:cs typeface="Calibri" pitchFamily="34" charset="-120"/>
              </a:rPr>
              <a:t>55.7% of the programme</a:t>
            </a:r>
            <a:endParaRPr lang="en-US" sz="1200" dirty="0"/>
          </a:p>
        </p:txBody>
      </p:sp>
      <p:sp>
        <p:nvSpPr>
          <p:cNvPr id="16" name="Shape 14"/>
          <p:cNvSpPr/>
          <p:nvPr/>
        </p:nvSpPr>
        <p:spPr>
          <a:xfrm>
            <a:off x="8127797" y="1234440"/>
            <a:ext cx="3606698" cy="960120"/>
          </a:xfrm>
          <a:prstGeom prst="roundRect">
            <a:avLst>
              <a:gd name="adj" fmla="val 5714"/>
            </a:avLst>
          </a:prstGeom>
          <a:solidFill>
            <a:srgbClr val="121B2D"/>
          </a:solidFill>
          <a:ln w="12700">
            <a:solidFill>
              <a:srgbClr val="23304A"/>
            </a:solidFill>
            <a:prstDash val="solid"/>
          </a:ln>
        </p:spPr>
      </p:sp>
      <p:sp>
        <p:nvSpPr>
          <p:cNvPr id="17" name="Text 15"/>
          <p:cNvSpPr/>
          <p:nvPr/>
        </p:nvSpPr>
        <p:spPr>
          <a:xfrm>
            <a:off x="8328965" y="1325880"/>
            <a:ext cx="3204362" cy="237744"/>
          </a:xfrm>
          <a:prstGeom prst="rect">
            <a:avLst/>
          </a:prstGeom>
          <a:noFill/>
          <a:ln/>
        </p:spPr>
        <p:txBody>
          <a:bodyPr wrap="square" lIns="0" tIns="0" rIns="0" bIns="0" rtlCol="0" anchor="ctr"/>
          <a:lstStyle/>
          <a:p>
            <a:pPr indent="0" marL="0">
              <a:buNone/>
            </a:pPr>
            <a:r>
              <a:rPr lang="en-US" sz="1200" b="1" spc="120" kern="0" dirty="0">
                <a:solidFill>
                  <a:srgbClr val="91A0B7"/>
                </a:solidFill>
                <a:latin typeface="Calibri" pitchFamily="34" charset="0"/>
                <a:ea typeface="Calibri" pitchFamily="34" charset="-122"/>
                <a:cs typeface="Calibri" pitchFamily="34" charset="-120"/>
              </a:rPr>
              <a:t>INFRASTRUCTURE SHARE</a:t>
            </a:r>
            <a:endParaRPr lang="en-US" sz="1200" dirty="0"/>
          </a:p>
        </p:txBody>
      </p:sp>
      <p:sp>
        <p:nvSpPr>
          <p:cNvPr id="18" name="Text 16"/>
          <p:cNvSpPr/>
          <p:nvPr/>
        </p:nvSpPr>
        <p:spPr>
          <a:xfrm>
            <a:off x="8328965" y="1527048"/>
            <a:ext cx="3204362" cy="438912"/>
          </a:xfrm>
          <a:prstGeom prst="rect">
            <a:avLst/>
          </a:prstGeom>
          <a:noFill/>
          <a:ln/>
        </p:spPr>
        <p:txBody>
          <a:bodyPr wrap="square" lIns="0" tIns="0" rIns="0" bIns="0" rtlCol="0" anchor="ctr"/>
          <a:lstStyle/>
          <a:p>
            <a:pPr indent="0" marL="0">
              <a:buNone/>
            </a:pPr>
            <a:r>
              <a:rPr lang="en-US" sz="2800" b="1" dirty="0">
                <a:solidFill>
                  <a:srgbClr val="F4F7FB"/>
                </a:solidFill>
                <a:latin typeface="Calibri" pitchFamily="34" charset="0"/>
                <a:ea typeface="Calibri" pitchFamily="34" charset="-122"/>
                <a:cs typeface="Calibri" pitchFamily="34" charset="-120"/>
              </a:rPr>
              <a:t>0% to 90%</a:t>
            </a:r>
            <a:endParaRPr lang="en-US" sz="2800" dirty="0"/>
          </a:p>
        </p:txBody>
      </p:sp>
      <p:sp>
        <p:nvSpPr>
          <p:cNvPr id="19" name="Text 17"/>
          <p:cNvSpPr/>
          <p:nvPr/>
        </p:nvSpPr>
        <p:spPr>
          <a:xfrm>
            <a:off x="8328965" y="1929384"/>
            <a:ext cx="3204362" cy="329184"/>
          </a:xfrm>
          <a:prstGeom prst="rect">
            <a:avLst/>
          </a:prstGeom>
          <a:noFill/>
          <a:ln/>
        </p:spPr>
        <p:txBody>
          <a:bodyPr wrap="square" lIns="0" tIns="0" rIns="0" bIns="0" rtlCol="0" anchor="t"/>
          <a:lstStyle/>
          <a:p>
            <a:pPr indent="0" marL="0">
              <a:lnSpc>
                <a:spcPct val="105000"/>
              </a:lnSpc>
              <a:buNone/>
            </a:pPr>
            <a:r>
              <a:rPr lang="en-US" sz="1200" b="1" dirty="0">
                <a:solidFill>
                  <a:srgbClr val="2F8CFF"/>
                </a:solidFill>
                <a:latin typeface="Calibri" pitchFamily="34" charset="0"/>
                <a:ea typeface="Calibri" pitchFamily="34" charset="-122"/>
                <a:cs typeface="Calibri" pitchFamily="34" charset="-120"/>
              </a:rPr>
              <a:t>Document Intelligence to INSAIT</a:t>
            </a:r>
            <a:endParaRPr lang="en-US" sz="1200" dirty="0"/>
          </a:p>
        </p:txBody>
      </p:sp>
      <p:sp>
        <p:nvSpPr>
          <p:cNvPr id="20" name="Text 18"/>
          <p:cNvSpPr/>
          <p:nvPr/>
        </p:nvSpPr>
        <p:spPr>
          <a:xfrm>
            <a:off x="457200" y="2404872"/>
            <a:ext cx="8899855" cy="274320"/>
          </a:xfrm>
          <a:prstGeom prst="rect">
            <a:avLst/>
          </a:prstGeom>
          <a:noFill/>
          <a:ln/>
        </p:spPr>
        <p:txBody>
          <a:bodyPr wrap="square" lIns="0" tIns="0" rIns="0" bIns="0" rtlCol="0" anchor="ctr"/>
          <a:lstStyle/>
          <a:p>
            <a:pPr indent="0" marL="0">
              <a:buNone/>
            </a:pPr>
            <a:r>
              <a:rPr lang="en-US" sz="1600" b="1" dirty="0">
                <a:solidFill>
                  <a:srgbClr val="F4F7FB"/>
                </a:solidFill>
                <a:latin typeface="Calibri" pitchFamily="34" charset="0"/>
                <a:ea typeface="Calibri" pitchFamily="34" charset="-122"/>
                <a:cs typeface="Calibri" pitchFamily="34" charset="-120"/>
              </a:rPr>
              <a:t>AI Factory</a:t>
            </a:r>
            <a:endParaRPr lang="en-US" sz="1600" dirty="0"/>
          </a:p>
        </p:txBody>
      </p:sp>
      <p:sp>
        <p:nvSpPr>
          <p:cNvPr id="21" name="Text 19"/>
          <p:cNvSpPr/>
          <p:nvPr/>
        </p:nvSpPr>
        <p:spPr>
          <a:xfrm>
            <a:off x="9539935" y="2404872"/>
            <a:ext cx="2194560" cy="274320"/>
          </a:xfrm>
          <a:prstGeom prst="rect">
            <a:avLst/>
          </a:prstGeom>
          <a:noFill/>
          <a:ln/>
        </p:spPr>
        <p:txBody>
          <a:bodyPr wrap="square" lIns="0" tIns="0" rIns="0" bIns="0" rtlCol="0" anchor="ctr"/>
          <a:lstStyle/>
          <a:p>
            <a:pPr algn="r" indent="0" marL="0">
              <a:buNone/>
            </a:pPr>
            <a:r>
              <a:rPr lang="en-US" sz="1200" b="1" dirty="0">
                <a:solidFill>
                  <a:srgbClr val="91A0B7"/>
                </a:solidFill>
                <a:latin typeface="Calibri" pitchFamily="34" charset="0"/>
                <a:ea typeface="Calibri" pitchFamily="34" charset="-122"/>
                <a:cs typeface="Calibri" pitchFamily="34" charset="-120"/>
              </a:rPr>
              <a:t>$854 to $23,610</a:t>
            </a:r>
            <a:endParaRPr lang="en-US" sz="1200" dirty="0"/>
          </a:p>
        </p:txBody>
      </p:sp>
      <p:sp>
        <p:nvSpPr>
          <p:cNvPr id="22" name="Shape 20"/>
          <p:cNvSpPr/>
          <p:nvPr/>
        </p:nvSpPr>
        <p:spPr>
          <a:xfrm>
            <a:off x="457200" y="2752344"/>
            <a:ext cx="9905695" cy="365760"/>
          </a:xfrm>
          <a:prstGeom prst="rect">
            <a:avLst/>
          </a:prstGeom>
          <a:solidFill>
            <a:srgbClr val="0E1422"/>
          </a:solidFill>
          <a:ln w="9525">
            <a:solidFill>
              <a:srgbClr val="23304A"/>
            </a:solidFill>
            <a:prstDash val="solid"/>
          </a:ln>
        </p:spPr>
      </p:sp>
      <p:sp>
        <p:nvSpPr>
          <p:cNvPr id="23" name="Shape 21"/>
          <p:cNvSpPr/>
          <p:nvPr/>
        </p:nvSpPr>
        <p:spPr>
          <a:xfrm>
            <a:off x="457200" y="2752344"/>
            <a:ext cx="6568394" cy="365760"/>
          </a:xfrm>
          <a:prstGeom prst="rect">
            <a:avLst/>
          </a:prstGeom>
          <a:solidFill>
            <a:srgbClr val="2F8CFF"/>
          </a:solidFill>
          <a:ln w="12700">
            <a:solidFill>
              <a:srgbClr val="2F8CFF"/>
            </a:solidFill>
            <a:prstDash val="solid"/>
          </a:ln>
        </p:spPr>
      </p:sp>
      <p:sp>
        <p:nvSpPr>
          <p:cNvPr id="24" name="Shape 22"/>
          <p:cNvSpPr/>
          <p:nvPr/>
        </p:nvSpPr>
        <p:spPr>
          <a:xfrm>
            <a:off x="7025594" y="2752344"/>
            <a:ext cx="3337301" cy="365760"/>
          </a:xfrm>
          <a:prstGeom prst="rect">
            <a:avLst/>
          </a:prstGeom>
          <a:solidFill>
            <a:srgbClr val="B07CFF"/>
          </a:solidFill>
          <a:ln w="12700">
            <a:solidFill>
              <a:srgbClr val="B07CFF"/>
            </a:solidFill>
            <a:prstDash val="solid"/>
          </a:ln>
        </p:spPr>
      </p:sp>
      <p:sp>
        <p:nvSpPr>
          <p:cNvPr id="25" name="Text 23"/>
          <p:cNvSpPr/>
          <p:nvPr/>
        </p:nvSpPr>
        <p:spPr>
          <a:xfrm>
            <a:off x="10500055" y="2752344"/>
            <a:ext cx="1234440" cy="365760"/>
          </a:xfrm>
          <a:prstGeom prst="rect">
            <a:avLst/>
          </a:prstGeom>
          <a:noFill/>
          <a:ln/>
        </p:spPr>
        <p:txBody>
          <a:bodyPr wrap="square" lIns="0" tIns="0" rIns="0" bIns="0" rtlCol="0" anchor="ctr"/>
          <a:lstStyle/>
          <a:p>
            <a:pPr indent="0" marL="0">
              <a:buNone/>
            </a:pPr>
            <a:r>
              <a:rPr lang="en-US" sz="1800" b="1" dirty="0">
                <a:solidFill>
                  <a:srgbClr val="F4F7FB"/>
                </a:solidFill>
                <a:latin typeface="Calibri" pitchFamily="34" charset="0"/>
                <a:ea typeface="Calibri" pitchFamily="34" charset="-122"/>
                <a:cs typeface="Calibri" pitchFamily="34" charset="-120"/>
              </a:rPr>
              <a:t>$92,247</a:t>
            </a:r>
            <a:endParaRPr lang="en-US" sz="1800" dirty="0"/>
          </a:p>
        </p:txBody>
      </p:sp>
      <p:sp>
        <p:nvSpPr>
          <p:cNvPr id="26" name="Text 24"/>
          <p:cNvSpPr/>
          <p:nvPr/>
        </p:nvSpPr>
        <p:spPr>
          <a:xfrm>
            <a:off x="457200" y="3163824"/>
            <a:ext cx="9905695" cy="201168"/>
          </a:xfrm>
          <a:prstGeom prst="rect">
            <a:avLst/>
          </a:prstGeom>
          <a:noFill/>
          <a:ln/>
        </p:spPr>
        <p:txBody>
          <a:bodyPr wrap="square" lIns="0" tIns="0" rIns="0" bIns="0" rtlCol="0" anchor="ctr"/>
          <a:lstStyle/>
          <a:p>
            <a:pPr indent="0" marL="0">
              <a:buNone/>
            </a:pPr>
            <a:r>
              <a:rPr lang="en-US" sz="1200" dirty="0">
                <a:solidFill>
                  <a:srgbClr val="91A0B7"/>
                </a:solidFill>
                <a:latin typeface="Calibri" pitchFamily="34" charset="0"/>
                <a:ea typeface="Calibri" pitchFamily="34" charset="-122"/>
                <a:cs typeface="Calibri" pitchFamily="34" charset="-120"/>
              </a:rPr>
              <a:t>66% infrastructure, 34% AI</a:t>
            </a:r>
            <a:endParaRPr lang="en-US" sz="1200" dirty="0"/>
          </a:p>
        </p:txBody>
      </p:sp>
      <p:sp>
        <p:nvSpPr>
          <p:cNvPr id="27" name="Text 25"/>
          <p:cNvSpPr/>
          <p:nvPr/>
        </p:nvSpPr>
        <p:spPr>
          <a:xfrm>
            <a:off x="457200" y="3364992"/>
            <a:ext cx="8899855" cy="274320"/>
          </a:xfrm>
          <a:prstGeom prst="rect">
            <a:avLst/>
          </a:prstGeom>
          <a:noFill/>
          <a:ln/>
        </p:spPr>
        <p:txBody>
          <a:bodyPr wrap="square" lIns="0" tIns="0" rIns="0" bIns="0" rtlCol="0" anchor="ctr"/>
          <a:lstStyle/>
          <a:p>
            <a:pPr indent="0" marL="0">
              <a:buNone/>
            </a:pPr>
            <a:r>
              <a:rPr lang="en-US" sz="1600" b="1" dirty="0">
                <a:solidFill>
                  <a:srgbClr val="F4F7FB"/>
                </a:solidFill>
                <a:latin typeface="Calibri" pitchFamily="34" charset="0"/>
                <a:ea typeface="Calibri" pitchFamily="34" charset="-122"/>
                <a:cs typeface="Calibri" pitchFamily="34" charset="-120"/>
              </a:rPr>
              <a:t>Solugen</a:t>
            </a:r>
            <a:endParaRPr lang="en-US" sz="1600" dirty="0"/>
          </a:p>
        </p:txBody>
      </p:sp>
      <p:sp>
        <p:nvSpPr>
          <p:cNvPr id="28" name="Text 26"/>
          <p:cNvSpPr/>
          <p:nvPr/>
        </p:nvSpPr>
        <p:spPr>
          <a:xfrm>
            <a:off x="9539935" y="3364992"/>
            <a:ext cx="2194560" cy="274320"/>
          </a:xfrm>
          <a:prstGeom prst="rect">
            <a:avLst/>
          </a:prstGeom>
          <a:noFill/>
          <a:ln/>
        </p:spPr>
        <p:txBody>
          <a:bodyPr wrap="square" lIns="0" tIns="0" rIns="0" bIns="0" rtlCol="0" anchor="ctr"/>
          <a:lstStyle/>
          <a:p>
            <a:pPr algn="r" indent="0" marL="0">
              <a:buNone/>
            </a:pPr>
            <a:r>
              <a:rPr lang="en-US" sz="1200" b="1" dirty="0">
                <a:solidFill>
                  <a:srgbClr val="91A0B7"/>
                </a:solidFill>
                <a:latin typeface="Calibri" pitchFamily="34" charset="0"/>
                <a:ea typeface="Calibri" pitchFamily="34" charset="-122"/>
                <a:cs typeface="Calibri" pitchFamily="34" charset="-120"/>
              </a:rPr>
              <a:t>+846% Jan to Jul</a:t>
            </a:r>
            <a:endParaRPr lang="en-US" sz="1200" dirty="0"/>
          </a:p>
        </p:txBody>
      </p:sp>
      <p:sp>
        <p:nvSpPr>
          <p:cNvPr id="29" name="Shape 27"/>
          <p:cNvSpPr/>
          <p:nvPr/>
        </p:nvSpPr>
        <p:spPr>
          <a:xfrm>
            <a:off x="457200" y="3712464"/>
            <a:ext cx="9905695" cy="365760"/>
          </a:xfrm>
          <a:prstGeom prst="rect">
            <a:avLst/>
          </a:prstGeom>
          <a:solidFill>
            <a:srgbClr val="0E1422"/>
          </a:solidFill>
          <a:ln w="9525">
            <a:solidFill>
              <a:srgbClr val="23304A"/>
            </a:solidFill>
            <a:prstDash val="solid"/>
          </a:ln>
        </p:spPr>
      </p:sp>
      <p:sp>
        <p:nvSpPr>
          <p:cNvPr id="30" name="Shape 28"/>
          <p:cNvSpPr/>
          <p:nvPr/>
        </p:nvSpPr>
        <p:spPr>
          <a:xfrm>
            <a:off x="457200" y="3712464"/>
            <a:ext cx="664572" cy="365760"/>
          </a:xfrm>
          <a:prstGeom prst="rect">
            <a:avLst/>
          </a:prstGeom>
          <a:solidFill>
            <a:srgbClr val="2F8CFF"/>
          </a:solidFill>
          <a:ln w="12700">
            <a:solidFill>
              <a:srgbClr val="2F8CFF"/>
            </a:solidFill>
            <a:prstDash val="solid"/>
          </a:ln>
        </p:spPr>
      </p:sp>
      <p:sp>
        <p:nvSpPr>
          <p:cNvPr id="31" name="Shape 29"/>
          <p:cNvSpPr/>
          <p:nvPr/>
        </p:nvSpPr>
        <p:spPr>
          <a:xfrm>
            <a:off x="1121772" y="3712464"/>
            <a:ext cx="2732009" cy="365760"/>
          </a:xfrm>
          <a:prstGeom prst="rect">
            <a:avLst/>
          </a:prstGeom>
          <a:solidFill>
            <a:srgbClr val="B07CFF"/>
          </a:solidFill>
          <a:ln w="12700">
            <a:solidFill>
              <a:srgbClr val="B07CFF"/>
            </a:solidFill>
            <a:prstDash val="solid"/>
          </a:ln>
        </p:spPr>
      </p:sp>
      <p:sp>
        <p:nvSpPr>
          <p:cNvPr id="32" name="Text 30"/>
          <p:cNvSpPr/>
          <p:nvPr/>
        </p:nvSpPr>
        <p:spPr>
          <a:xfrm>
            <a:off x="10500055" y="3712464"/>
            <a:ext cx="1234440" cy="365760"/>
          </a:xfrm>
          <a:prstGeom prst="rect">
            <a:avLst/>
          </a:prstGeom>
          <a:noFill/>
          <a:ln/>
        </p:spPr>
        <p:txBody>
          <a:bodyPr wrap="square" lIns="0" tIns="0" rIns="0" bIns="0" rtlCol="0" anchor="ctr"/>
          <a:lstStyle/>
          <a:p>
            <a:pPr indent="0" marL="0">
              <a:buNone/>
            </a:pPr>
            <a:r>
              <a:rPr lang="en-US" sz="1800" b="1" dirty="0">
                <a:solidFill>
                  <a:srgbClr val="F4F7FB"/>
                </a:solidFill>
                <a:latin typeface="Calibri" pitchFamily="34" charset="0"/>
                <a:ea typeface="Calibri" pitchFamily="34" charset="-122"/>
                <a:cs typeface="Calibri" pitchFamily="34" charset="-120"/>
              </a:rPr>
              <a:t>$31,631</a:t>
            </a:r>
            <a:endParaRPr lang="en-US" sz="1800" dirty="0"/>
          </a:p>
        </p:txBody>
      </p:sp>
      <p:sp>
        <p:nvSpPr>
          <p:cNvPr id="33" name="Text 31"/>
          <p:cNvSpPr/>
          <p:nvPr/>
        </p:nvSpPr>
        <p:spPr>
          <a:xfrm>
            <a:off x="457200" y="4123944"/>
            <a:ext cx="9905695" cy="201168"/>
          </a:xfrm>
          <a:prstGeom prst="rect">
            <a:avLst/>
          </a:prstGeom>
          <a:noFill/>
          <a:ln/>
        </p:spPr>
        <p:txBody>
          <a:bodyPr wrap="square" lIns="0" tIns="0" rIns="0" bIns="0" rtlCol="0" anchor="ctr"/>
          <a:lstStyle/>
          <a:p>
            <a:pPr indent="0" marL="0">
              <a:buNone/>
            </a:pPr>
            <a:r>
              <a:rPr lang="en-US" sz="1200" dirty="0">
                <a:solidFill>
                  <a:srgbClr val="91A0B7"/>
                </a:solidFill>
                <a:latin typeface="Calibri" pitchFamily="34" charset="0"/>
                <a:ea typeface="Calibri" pitchFamily="34" charset="-122"/>
                <a:cs typeface="Calibri" pitchFamily="34" charset="-120"/>
              </a:rPr>
              <a:t>20% infrastructure, 80% AI</a:t>
            </a:r>
            <a:endParaRPr lang="en-US" sz="1200" dirty="0"/>
          </a:p>
        </p:txBody>
      </p:sp>
      <p:sp>
        <p:nvSpPr>
          <p:cNvPr id="34" name="Text 32"/>
          <p:cNvSpPr/>
          <p:nvPr/>
        </p:nvSpPr>
        <p:spPr>
          <a:xfrm>
            <a:off x="457200" y="4325112"/>
            <a:ext cx="8899855" cy="274320"/>
          </a:xfrm>
          <a:prstGeom prst="rect">
            <a:avLst/>
          </a:prstGeom>
          <a:noFill/>
          <a:ln/>
        </p:spPr>
        <p:txBody>
          <a:bodyPr wrap="square" lIns="0" tIns="0" rIns="0" bIns="0" rtlCol="0" anchor="ctr"/>
          <a:lstStyle/>
          <a:p>
            <a:pPr indent="0" marL="0">
              <a:buNone/>
            </a:pPr>
            <a:r>
              <a:rPr lang="en-US" sz="1600" b="1" dirty="0">
                <a:solidFill>
                  <a:srgbClr val="F4F7FB"/>
                </a:solidFill>
                <a:latin typeface="Calibri" pitchFamily="34" charset="0"/>
                <a:ea typeface="Calibri" pitchFamily="34" charset="-122"/>
                <a:cs typeface="Calibri" pitchFamily="34" charset="-120"/>
              </a:rPr>
              <a:t>Document Intelligence</a:t>
            </a:r>
            <a:endParaRPr lang="en-US" sz="1600" dirty="0"/>
          </a:p>
        </p:txBody>
      </p:sp>
      <p:sp>
        <p:nvSpPr>
          <p:cNvPr id="35" name="Text 33"/>
          <p:cNvSpPr/>
          <p:nvPr/>
        </p:nvSpPr>
        <p:spPr>
          <a:xfrm>
            <a:off x="9539935" y="4325112"/>
            <a:ext cx="2194560" cy="274320"/>
          </a:xfrm>
          <a:prstGeom prst="rect">
            <a:avLst/>
          </a:prstGeom>
          <a:noFill/>
          <a:ln/>
        </p:spPr>
        <p:txBody>
          <a:bodyPr wrap="square" lIns="0" tIns="0" rIns="0" bIns="0" rtlCol="0" anchor="ctr"/>
          <a:lstStyle/>
          <a:p>
            <a:pPr algn="r" indent="0" marL="0">
              <a:buNone/>
            </a:pPr>
            <a:r>
              <a:rPr lang="en-US" sz="1200" b="1" dirty="0">
                <a:solidFill>
                  <a:srgbClr val="91A0B7"/>
                </a:solidFill>
                <a:latin typeface="Calibri" pitchFamily="34" charset="0"/>
                <a:ea typeface="Calibri" pitchFamily="34" charset="-122"/>
                <a:cs typeface="Calibri" pitchFamily="34" charset="-120"/>
              </a:rPr>
              <a:t>+72% Jan to Jul</a:t>
            </a:r>
            <a:endParaRPr lang="en-US" sz="1200" dirty="0"/>
          </a:p>
        </p:txBody>
      </p:sp>
      <p:sp>
        <p:nvSpPr>
          <p:cNvPr id="36" name="Shape 34"/>
          <p:cNvSpPr/>
          <p:nvPr/>
        </p:nvSpPr>
        <p:spPr>
          <a:xfrm>
            <a:off x="457200" y="4672584"/>
            <a:ext cx="9905695" cy="365760"/>
          </a:xfrm>
          <a:prstGeom prst="rect">
            <a:avLst/>
          </a:prstGeom>
          <a:solidFill>
            <a:srgbClr val="0E1422"/>
          </a:solidFill>
          <a:ln w="9525">
            <a:solidFill>
              <a:srgbClr val="23304A"/>
            </a:solidFill>
            <a:prstDash val="solid"/>
          </a:ln>
        </p:spPr>
      </p:sp>
      <p:sp>
        <p:nvSpPr>
          <p:cNvPr id="37" name="Shape 35"/>
          <p:cNvSpPr/>
          <p:nvPr/>
        </p:nvSpPr>
        <p:spPr>
          <a:xfrm>
            <a:off x="457200" y="4672584"/>
            <a:ext cx="3325619" cy="365760"/>
          </a:xfrm>
          <a:prstGeom prst="rect">
            <a:avLst/>
          </a:prstGeom>
          <a:solidFill>
            <a:srgbClr val="B07CFF"/>
          </a:solidFill>
          <a:ln w="12700">
            <a:solidFill>
              <a:srgbClr val="B07CFF"/>
            </a:solidFill>
            <a:prstDash val="solid"/>
          </a:ln>
        </p:spPr>
      </p:sp>
      <p:sp>
        <p:nvSpPr>
          <p:cNvPr id="38" name="Text 36"/>
          <p:cNvSpPr/>
          <p:nvPr/>
        </p:nvSpPr>
        <p:spPr>
          <a:xfrm>
            <a:off x="10500055" y="4672584"/>
            <a:ext cx="1234440" cy="365760"/>
          </a:xfrm>
          <a:prstGeom prst="rect">
            <a:avLst/>
          </a:prstGeom>
          <a:noFill/>
          <a:ln/>
        </p:spPr>
        <p:txBody>
          <a:bodyPr wrap="square" lIns="0" tIns="0" rIns="0" bIns="0" rtlCol="0" anchor="ctr"/>
          <a:lstStyle/>
          <a:p>
            <a:pPr indent="0" marL="0">
              <a:buNone/>
            </a:pPr>
            <a:r>
              <a:rPr lang="en-US" sz="1800" b="1" dirty="0">
                <a:solidFill>
                  <a:srgbClr val="F4F7FB"/>
                </a:solidFill>
                <a:latin typeface="Calibri" pitchFamily="34" charset="0"/>
                <a:ea typeface="Calibri" pitchFamily="34" charset="-122"/>
                <a:cs typeface="Calibri" pitchFamily="34" charset="-120"/>
              </a:rPr>
              <a:t>$30,970</a:t>
            </a:r>
            <a:endParaRPr lang="en-US" sz="1800" dirty="0"/>
          </a:p>
        </p:txBody>
      </p:sp>
      <p:sp>
        <p:nvSpPr>
          <p:cNvPr id="39" name="Text 37"/>
          <p:cNvSpPr/>
          <p:nvPr/>
        </p:nvSpPr>
        <p:spPr>
          <a:xfrm>
            <a:off x="457200" y="5084064"/>
            <a:ext cx="9905695" cy="201168"/>
          </a:xfrm>
          <a:prstGeom prst="rect">
            <a:avLst/>
          </a:prstGeom>
          <a:noFill/>
          <a:ln/>
        </p:spPr>
        <p:txBody>
          <a:bodyPr wrap="square" lIns="0" tIns="0" rIns="0" bIns="0" rtlCol="0" anchor="ctr"/>
          <a:lstStyle/>
          <a:p>
            <a:pPr indent="0" marL="0">
              <a:buNone/>
            </a:pPr>
            <a:r>
              <a:rPr lang="en-US" sz="1200" dirty="0">
                <a:solidFill>
                  <a:srgbClr val="91A0B7"/>
                </a:solidFill>
                <a:latin typeface="Calibri" pitchFamily="34" charset="0"/>
                <a:ea typeface="Calibri" pitchFamily="34" charset="-122"/>
                <a:cs typeface="Calibri" pitchFamily="34" charset="-120"/>
              </a:rPr>
              <a:t>entirely AI, no infrastructure</a:t>
            </a:r>
            <a:endParaRPr lang="en-US" sz="1200" dirty="0"/>
          </a:p>
        </p:txBody>
      </p:sp>
      <p:sp>
        <p:nvSpPr>
          <p:cNvPr id="40" name="Text 38"/>
          <p:cNvSpPr/>
          <p:nvPr/>
        </p:nvSpPr>
        <p:spPr>
          <a:xfrm>
            <a:off x="457200" y="5285232"/>
            <a:ext cx="8899855" cy="274320"/>
          </a:xfrm>
          <a:prstGeom prst="rect">
            <a:avLst/>
          </a:prstGeom>
          <a:noFill/>
          <a:ln/>
        </p:spPr>
        <p:txBody>
          <a:bodyPr wrap="square" lIns="0" tIns="0" rIns="0" bIns="0" rtlCol="0" anchor="ctr"/>
          <a:lstStyle/>
          <a:p>
            <a:pPr indent="0" marL="0">
              <a:buNone/>
            </a:pPr>
            <a:r>
              <a:rPr lang="en-US" sz="1600" b="1" dirty="0">
                <a:solidFill>
                  <a:srgbClr val="F4F7FB"/>
                </a:solidFill>
                <a:latin typeface="Calibri" pitchFamily="34" charset="0"/>
                <a:ea typeface="Calibri" pitchFamily="34" charset="-122"/>
                <a:cs typeface="Calibri" pitchFamily="34" charset="-120"/>
              </a:rPr>
              <a:t>INSAIT</a:t>
            </a:r>
            <a:endParaRPr lang="en-US" sz="1600" dirty="0"/>
          </a:p>
        </p:txBody>
      </p:sp>
      <p:sp>
        <p:nvSpPr>
          <p:cNvPr id="41" name="Text 39"/>
          <p:cNvSpPr/>
          <p:nvPr/>
        </p:nvSpPr>
        <p:spPr>
          <a:xfrm>
            <a:off x="9539935" y="5285232"/>
            <a:ext cx="2194560" cy="274320"/>
          </a:xfrm>
          <a:prstGeom prst="rect">
            <a:avLst/>
          </a:prstGeom>
          <a:noFill/>
          <a:ln/>
        </p:spPr>
        <p:txBody>
          <a:bodyPr wrap="square" lIns="0" tIns="0" rIns="0" bIns="0" rtlCol="0" anchor="ctr"/>
          <a:lstStyle/>
          <a:p>
            <a:pPr algn="r" indent="0" marL="0">
              <a:buNone/>
            </a:pPr>
            <a:r>
              <a:rPr lang="en-US" sz="1200" b="1" dirty="0">
                <a:solidFill>
                  <a:srgbClr val="91A0B7"/>
                </a:solidFill>
                <a:latin typeface="Calibri" pitchFamily="34" charset="0"/>
                <a:ea typeface="Calibri" pitchFamily="34" charset="-122"/>
                <a:cs typeface="Calibri" pitchFamily="34" charset="-120"/>
              </a:rPr>
              <a:t>+86% Jan to Jul</a:t>
            </a:r>
            <a:endParaRPr lang="en-US" sz="1200" dirty="0"/>
          </a:p>
        </p:txBody>
      </p:sp>
      <p:sp>
        <p:nvSpPr>
          <p:cNvPr id="42" name="Shape 40"/>
          <p:cNvSpPr/>
          <p:nvPr/>
        </p:nvSpPr>
        <p:spPr>
          <a:xfrm>
            <a:off x="457200" y="5632704"/>
            <a:ext cx="9905695" cy="365760"/>
          </a:xfrm>
          <a:prstGeom prst="rect">
            <a:avLst/>
          </a:prstGeom>
          <a:solidFill>
            <a:srgbClr val="0E1422"/>
          </a:solidFill>
          <a:ln w="9525">
            <a:solidFill>
              <a:srgbClr val="23304A"/>
            </a:solidFill>
            <a:prstDash val="solid"/>
          </a:ln>
        </p:spPr>
      </p:sp>
      <p:sp>
        <p:nvSpPr>
          <p:cNvPr id="43" name="Shape 41"/>
          <p:cNvSpPr/>
          <p:nvPr/>
        </p:nvSpPr>
        <p:spPr>
          <a:xfrm>
            <a:off x="457200" y="5632704"/>
            <a:ext cx="1040722" cy="365760"/>
          </a:xfrm>
          <a:prstGeom prst="rect">
            <a:avLst/>
          </a:prstGeom>
          <a:solidFill>
            <a:srgbClr val="2F8CFF"/>
          </a:solidFill>
          <a:ln w="12700">
            <a:solidFill>
              <a:srgbClr val="2F8CFF"/>
            </a:solidFill>
            <a:prstDash val="solid"/>
          </a:ln>
        </p:spPr>
      </p:sp>
      <p:sp>
        <p:nvSpPr>
          <p:cNvPr id="44" name="Shape 42"/>
          <p:cNvSpPr/>
          <p:nvPr/>
        </p:nvSpPr>
        <p:spPr>
          <a:xfrm>
            <a:off x="1497922" y="5632704"/>
            <a:ext cx="112550" cy="365760"/>
          </a:xfrm>
          <a:prstGeom prst="rect">
            <a:avLst/>
          </a:prstGeom>
          <a:solidFill>
            <a:srgbClr val="B07CFF"/>
          </a:solidFill>
          <a:ln w="12700">
            <a:solidFill>
              <a:srgbClr val="B07CFF"/>
            </a:solidFill>
            <a:prstDash val="solid"/>
          </a:ln>
        </p:spPr>
      </p:sp>
      <p:sp>
        <p:nvSpPr>
          <p:cNvPr id="45" name="Text 43"/>
          <p:cNvSpPr/>
          <p:nvPr/>
        </p:nvSpPr>
        <p:spPr>
          <a:xfrm>
            <a:off x="10500055" y="5632704"/>
            <a:ext cx="1234440" cy="365760"/>
          </a:xfrm>
          <a:prstGeom prst="rect">
            <a:avLst/>
          </a:prstGeom>
          <a:noFill/>
          <a:ln/>
        </p:spPr>
        <p:txBody>
          <a:bodyPr wrap="square" lIns="0" tIns="0" rIns="0" bIns="0" rtlCol="0" anchor="ctr"/>
          <a:lstStyle/>
          <a:p>
            <a:pPr indent="0" marL="0">
              <a:buNone/>
            </a:pPr>
            <a:r>
              <a:rPr lang="en-US" sz="1800" b="1" dirty="0">
                <a:solidFill>
                  <a:srgbClr val="F4F7FB"/>
                </a:solidFill>
                <a:latin typeface="Calibri" pitchFamily="34" charset="0"/>
                <a:ea typeface="Calibri" pitchFamily="34" charset="-122"/>
                <a:cs typeface="Calibri" pitchFamily="34" charset="-120"/>
              </a:rPr>
              <a:t>$10,740</a:t>
            </a:r>
            <a:endParaRPr lang="en-US" sz="1800" dirty="0"/>
          </a:p>
        </p:txBody>
      </p:sp>
      <p:sp>
        <p:nvSpPr>
          <p:cNvPr id="46" name="Text 44"/>
          <p:cNvSpPr/>
          <p:nvPr/>
        </p:nvSpPr>
        <p:spPr>
          <a:xfrm>
            <a:off x="457200" y="6044184"/>
            <a:ext cx="9905695" cy="201168"/>
          </a:xfrm>
          <a:prstGeom prst="rect">
            <a:avLst/>
          </a:prstGeom>
          <a:noFill/>
          <a:ln/>
        </p:spPr>
        <p:txBody>
          <a:bodyPr wrap="square" lIns="0" tIns="0" rIns="0" bIns="0" rtlCol="0" anchor="ctr"/>
          <a:lstStyle/>
          <a:p>
            <a:pPr indent="0" marL="0">
              <a:buNone/>
            </a:pPr>
            <a:r>
              <a:rPr lang="en-US" sz="1200" dirty="0">
                <a:solidFill>
                  <a:srgbClr val="91A0B7"/>
                </a:solidFill>
                <a:latin typeface="Calibri" pitchFamily="34" charset="0"/>
                <a:ea typeface="Calibri" pitchFamily="34" charset="-122"/>
                <a:cs typeface="Calibri" pitchFamily="34" charset="-120"/>
              </a:rPr>
              <a:t>90% infrastructure, 10% AI</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txBody>
          <a:bodyPr/>
          <a:lstStyle/>
          <a:p>
            <a:endParaRPr lang="he-IL"/>
          </a:p>
        </p:txBody>
      </p:sp>
      <p:sp>
        <p:nvSpPr>
          <p:cNvPr id="3" name="Shape 1"/>
          <p:cNvSpPr/>
          <p:nvPr/>
        </p:nvSpPr>
        <p:spPr>
          <a:xfrm>
            <a:off x="457200" y="306324"/>
            <a:ext cx="109728" cy="109728"/>
          </a:xfrm>
          <a:prstGeom prst="ellipse">
            <a:avLst/>
          </a:prstGeom>
          <a:solidFill>
            <a:srgbClr val="B07CFF"/>
          </a:solidFill>
          <a:ln w="12700">
            <a:solidFill>
              <a:srgbClr val="B07CFF"/>
            </a:solidFill>
            <a:prstDash val="solid"/>
          </a:ln>
        </p:spPr>
        <p:txBody>
          <a:bodyPr/>
          <a:lstStyle/>
          <a:p>
            <a:endParaRPr lang="he-IL"/>
          </a:p>
        </p:txBody>
      </p:sp>
      <p:sp>
        <p:nvSpPr>
          <p:cNvPr id="4" name="Text 2"/>
          <p:cNvSpPr/>
          <p:nvPr/>
        </p:nvSpPr>
        <p:spPr>
          <a:xfrm>
            <a:off x="640080" y="274320"/>
            <a:ext cx="7315200" cy="237744"/>
          </a:xfrm>
          <a:prstGeom prst="rect">
            <a:avLst/>
          </a:prstGeom>
          <a:noFill/>
          <a:ln/>
        </p:spPr>
        <p:txBody>
          <a:bodyPr wrap="square" lIns="0" tIns="0" rIns="0" bIns="0" rtlCol="0" anchor="ctr"/>
          <a:lstStyle/>
          <a:p>
            <a:pPr marL="0" indent="0">
              <a:buNone/>
            </a:pPr>
            <a:r>
              <a:rPr lang="en-US" sz="1300" b="1" kern="0" spc="200" dirty="0">
                <a:solidFill>
                  <a:srgbClr val="B07CFF"/>
                </a:solidFill>
                <a:latin typeface="Calibri" pitchFamily="34" charset="0"/>
                <a:ea typeface="Calibri" pitchFamily="34" charset="-122"/>
                <a:cs typeface="Calibri" pitchFamily="34" charset="-120"/>
              </a:rPr>
              <a:t>AI FACTORY / CORE PROJECT</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AI Factory project</a:t>
            </a:r>
            <a:endParaRPr lang="en-US" sz="2800" dirty="0"/>
          </a:p>
        </p:txBody>
      </p:sp>
      <p:sp>
        <p:nvSpPr>
          <p:cNvPr id="6" name="Text 4"/>
          <p:cNvSpPr/>
          <p:nvPr/>
        </p:nvSpPr>
        <p:spPr>
          <a:xfrm>
            <a:off x="8321040" y="493776"/>
            <a:ext cx="3413455" cy="658368"/>
          </a:xfrm>
          <a:prstGeom prst="rect">
            <a:avLst/>
          </a:prstGeom>
          <a:noFill/>
          <a:ln/>
        </p:spPr>
        <p:txBody>
          <a:bodyPr wrap="square" lIns="0" tIns="0" rIns="0" bIns="0" rtlCol="0" anchor="t"/>
          <a:lstStyle/>
          <a:p>
            <a:pPr marL="0" indent="0" algn="r">
              <a:lnSpc>
                <a:spcPct val="115000"/>
              </a:lnSpc>
              <a:buNone/>
            </a:pPr>
            <a:r>
              <a:rPr lang="en-US" sz="1200" dirty="0">
                <a:solidFill>
                  <a:srgbClr val="91A0B7"/>
                </a:solidFill>
                <a:latin typeface="Calibri" pitchFamily="34" charset="0"/>
                <a:ea typeface="Calibri" pitchFamily="34" charset="-122"/>
                <a:cs typeface="Calibri" pitchFamily="34" charset="-120"/>
              </a:rPr>
              <a:t>The tag covers far more than models. API Management and VMs are the two largest lines.</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marL="0" indent="0">
              <a:lnSpc>
                <a:spcPct val="115000"/>
              </a:lnSpc>
              <a:buNone/>
            </a:pPr>
            <a:r>
              <a:rPr lang="en-US" sz="1200" dirty="0">
                <a:solidFill>
                  <a:srgbClr val="536078"/>
                </a:solidFill>
                <a:latin typeface="Calibri" pitchFamily="34" charset="0"/>
                <a:ea typeface="Calibri" pitchFamily="34" charset="-122"/>
                <a:cs typeface="Calibri" pitchFamily="34" charset="-120"/>
              </a:rPr>
              <a:t>Most of what is tagged AI Factory is infrastructure rather than inference. That is not automatically wrong, since models need somewhere to run, but it is the part right-sizing can move.</a:t>
            </a:r>
            <a:endParaRPr lang="en-US" sz="1200" dirty="0"/>
          </a:p>
        </p:txBody>
      </p:sp>
      <p:sp>
        <p:nvSpPr>
          <p:cNvPr id="8" name="Shape 6"/>
          <p:cNvSpPr/>
          <p:nvPr/>
        </p:nvSpPr>
        <p:spPr>
          <a:xfrm>
            <a:off x="457200" y="1188720"/>
            <a:ext cx="3606698" cy="1078992"/>
          </a:xfrm>
          <a:prstGeom prst="roundRect">
            <a:avLst>
              <a:gd name="adj" fmla="val 5085"/>
            </a:avLst>
          </a:prstGeom>
          <a:solidFill>
            <a:srgbClr val="121B2D"/>
          </a:solidFill>
          <a:ln w="12700">
            <a:solidFill>
              <a:srgbClr val="23304A"/>
            </a:solidFill>
            <a:prstDash val="solid"/>
          </a:ln>
        </p:spPr>
        <p:txBody>
          <a:bodyPr/>
          <a:lstStyle/>
          <a:p>
            <a:endParaRPr lang="he-IL"/>
          </a:p>
        </p:txBody>
      </p:sp>
      <p:sp>
        <p:nvSpPr>
          <p:cNvPr id="9" name="Text 7"/>
          <p:cNvSpPr/>
          <p:nvPr/>
        </p:nvSpPr>
        <p:spPr>
          <a:xfrm>
            <a:off x="658368" y="1280160"/>
            <a:ext cx="3204362"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TOTAL, JAN-JUL</a:t>
            </a:r>
            <a:endParaRPr lang="en-US" sz="1200" dirty="0"/>
          </a:p>
        </p:txBody>
      </p:sp>
      <p:sp>
        <p:nvSpPr>
          <p:cNvPr id="10" name="Text 8"/>
          <p:cNvSpPr/>
          <p:nvPr/>
        </p:nvSpPr>
        <p:spPr>
          <a:xfrm>
            <a:off x="658368" y="1481328"/>
            <a:ext cx="3204362"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$92K</a:t>
            </a:r>
            <a:endParaRPr lang="en-US" sz="2800" dirty="0"/>
          </a:p>
        </p:txBody>
      </p:sp>
      <p:sp>
        <p:nvSpPr>
          <p:cNvPr id="11" name="Text 9"/>
          <p:cNvSpPr/>
          <p:nvPr/>
        </p:nvSpPr>
        <p:spPr>
          <a:xfrm>
            <a:off x="658368" y="1883664"/>
            <a:ext cx="3204362" cy="329184"/>
          </a:xfrm>
          <a:prstGeom prst="rect">
            <a:avLst/>
          </a:prstGeom>
          <a:noFill/>
          <a:ln/>
        </p:spPr>
        <p:txBody>
          <a:bodyPr wrap="square" lIns="0" tIns="0" rIns="0" bIns="0" rtlCol="0" anchor="t"/>
          <a:lstStyle/>
          <a:p>
            <a:pPr marL="0" indent="0">
              <a:lnSpc>
                <a:spcPct val="105000"/>
              </a:lnSpc>
              <a:buNone/>
            </a:pPr>
            <a:r>
              <a:rPr lang="en-US" sz="1200" b="1" dirty="0">
                <a:solidFill>
                  <a:srgbClr val="B07CFF"/>
                </a:solidFill>
                <a:latin typeface="Calibri" pitchFamily="34" charset="0"/>
                <a:ea typeface="Calibri" pitchFamily="34" charset="-122"/>
                <a:cs typeface="Calibri" pitchFamily="34" charset="-120"/>
              </a:rPr>
              <a:t>+2664% Jan to Jul</a:t>
            </a:r>
            <a:endParaRPr lang="en-US" sz="1200" dirty="0"/>
          </a:p>
        </p:txBody>
      </p:sp>
      <p:sp>
        <p:nvSpPr>
          <p:cNvPr id="12" name="Shape 10"/>
          <p:cNvSpPr/>
          <p:nvPr/>
        </p:nvSpPr>
        <p:spPr>
          <a:xfrm>
            <a:off x="4292498" y="1188720"/>
            <a:ext cx="3606698" cy="1078992"/>
          </a:xfrm>
          <a:prstGeom prst="roundRect">
            <a:avLst>
              <a:gd name="adj" fmla="val 5085"/>
            </a:avLst>
          </a:prstGeom>
          <a:solidFill>
            <a:srgbClr val="121B2D"/>
          </a:solidFill>
          <a:ln w="12700">
            <a:solidFill>
              <a:srgbClr val="23304A"/>
            </a:solidFill>
            <a:prstDash val="solid"/>
          </a:ln>
        </p:spPr>
        <p:txBody>
          <a:bodyPr/>
          <a:lstStyle/>
          <a:p>
            <a:endParaRPr lang="he-IL"/>
          </a:p>
        </p:txBody>
      </p:sp>
      <p:sp>
        <p:nvSpPr>
          <p:cNvPr id="13" name="Text 11"/>
          <p:cNvSpPr/>
          <p:nvPr/>
        </p:nvSpPr>
        <p:spPr>
          <a:xfrm>
            <a:off x="4493666" y="1280160"/>
            <a:ext cx="3204362"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LARGEST SERVICE</a:t>
            </a:r>
            <a:endParaRPr lang="en-US" sz="1200" dirty="0"/>
          </a:p>
        </p:txBody>
      </p:sp>
      <p:sp>
        <p:nvSpPr>
          <p:cNvPr id="14" name="Text 12"/>
          <p:cNvSpPr/>
          <p:nvPr/>
        </p:nvSpPr>
        <p:spPr>
          <a:xfrm>
            <a:off x="4493666" y="1481328"/>
            <a:ext cx="3204362"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API Management</a:t>
            </a:r>
            <a:endParaRPr lang="en-US" sz="2800" dirty="0"/>
          </a:p>
        </p:txBody>
      </p:sp>
      <p:sp>
        <p:nvSpPr>
          <p:cNvPr id="15" name="Text 13"/>
          <p:cNvSpPr/>
          <p:nvPr/>
        </p:nvSpPr>
        <p:spPr>
          <a:xfrm>
            <a:off x="4493666" y="1883664"/>
            <a:ext cx="3204362" cy="329184"/>
          </a:xfrm>
          <a:prstGeom prst="rect">
            <a:avLst/>
          </a:prstGeom>
          <a:noFill/>
          <a:ln/>
        </p:spPr>
        <p:txBody>
          <a:bodyPr wrap="square" lIns="0" tIns="0" rIns="0" bIns="0" rtlCol="0" anchor="t"/>
          <a:lstStyle/>
          <a:p>
            <a:pPr marL="0" indent="0">
              <a:lnSpc>
                <a:spcPct val="105000"/>
              </a:lnSpc>
              <a:buNone/>
            </a:pPr>
            <a:r>
              <a:rPr lang="en-US" sz="1200" b="1" dirty="0">
                <a:solidFill>
                  <a:srgbClr val="3DD9EB"/>
                </a:solidFill>
                <a:latin typeface="Calibri" pitchFamily="34" charset="0"/>
                <a:ea typeface="Calibri" pitchFamily="34" charset="-122"/>
                <a:cs typeface="Calibri" pitchFamily="34" charset="-120"/>
              </a:rPr>
              <a:t>26% of the total</a:t>
            </a:r>
            <a:endParaRPr lang="en-US" sz="1200" dirty="0"/>
          </a:p>
        </p:txBody>
      </p:sp>
      <p:sp>
        <p:nvSpPr>
          <p:cNvPr id="16" name="Shape 14"/>
          <p:cNvSpPr/>
          <p:nvPr/>
        </p:nvSpPr>
        <p:spPr>
          <a:xfrm>
            <a:off x="8127797" y="1188720"/>
            <a:ext cx="3606698" cy="1078992"/>
          </a:xfrm>
          <a:prstGeom prst="roundRect">
            <a:avLst>
              <a:gd name="adj" fmla="val 5085"/>
            </a:avLst>
          </a:prstGeom>
          <a:solidFill>
            <a:srgbClr val="121B2D"/>
          </a:solidFill>
          <a:ln w="12700">
            <a:solidFill>
              <a:srgbClr val="23304A"/>
            </a:solidFill>
            <a:prstDash val="solid"/>
          </a:ln>
        </p:spPr>
        <p:txBody>
          <a:bodyPr/>
          <a:lstStyle/>
          <a:p>
            <a:endParaRPr lang="he-IL"/>
          </a:p>
        </p:txBody>
      </p:sp>
      <p:sp>
        <p:nvSpPr>
          <p:cNvPr id="17" name="Text 15"/>
          <p:cNvSpPr/>
          <p:nvPr/>
        </p:nvSpPr>
        <p:spPr>
          <a:xfrm>
            <a:off x="8328965" y="1280160"/>
            <a:ext cx="3204362"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FOUNDRY MODELS</a:t>
            </a:r>
            <a:endParaRPr lang="en-US" sz="1200" dirty="0"/>
          </a:p>
        </p:txBody>
      </p:sp>
      <p:sp>
        <p:nvSpPr>
          <p:cNvPr id="18" name="Text 16"/>
          <p:cNvSpPr/>
          <p:nvPr/>
        </p:nvSpPr>
        <p:spPr>
          <a:xfrm>
            <a:off x="8328965" y="1481328"/>
            <a:ext cx="3204362"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$24K</a:t>
            </a:r>
            <a:endParaRPr lang="en-US" sz="2800" dirty="0"/>
          </a:p>
        </p:txBody>
      </p:sp>
      <p:sp>
        <p:nvSpPr>
          <p:cNvPr id="19" name="Text 17"/>
          <p:cNvSpPr/>
          <p:nvPr/>
        </p:nvSpPr>
        <p:spPr>
          <a:xfrm>
            <a:off x="8328965" y="1883664"/>
            <a:ext cx="3204362" cy="329184"/>
          </a:xfrm>
          <a:prstGeom prst="rect">
            <a:avLst/>
          </a:prstGeom>
          <a:noFill/>
          <a:ln/>
        </p:spPr>
        <p:txBody>
          <a:bodyPr wrap="square" lIns="0" tIns="0" rIns="0" bIns="0" rtlCol="0" anchor="t"/>
          <a:lstStyle/>
          <a:p>
            <a:pPr marL="0" indent="0">
              <a:lnSpc>
                <a:spcPct val="105000"/>
              </a:lnSpc>
              <a:buNone/>
            </a:pPr>
            <a:r>
              <a:rPr lang="en-US" sz="1200" b="1" dirty="0">
                <a:solidFill>
                  <a:srgbClr val="B07CFF"/>
                </a:solidFill>
                <a:latin typeface="Calibri" pitchFamily="34" charset="0"/>
                <a:ea typeface="Calibri" pitchFamily="34" charset="-122"/>
                <a:cs typeface="Calibri" pitchFamily="34" charset="-120"/>
              </a:rPr>
              <a:t>the actual model spend</a:t>
            </a:r>
            <a:endParaRPr lang="en-US" sz="1200" dirty="0"/>
          </a:p>
        </p:txBody>
      </p:sp>
      <p:sp>
        <p:nvSpPr>
          <p:cNvPr id="20" name="Text 18"/>
          <p:cNvSpPr/>
          <p:nvPr/>
        </p:nvSpPr>
        <p:spPr>
          <a:xfrm>
            <a:off x="457200" y="2423160"/>
            <a:ext cx="5478628" cy="237744"/>
          </a:xfrm>
          <a:prstGeom prst="rect">
            <a:avLst/>
          </a:prstGeom>
          <a:noFill/>
          <a:ln/>
        </p:spPr>
        <p:txBody>
          <a:bodyPr wrap="square" lIns="0" tIns="0" rIns="0" bIns="0" rtlCol="0" anchor="ctr"/>
          <a:lstStyle/>
          <a:p>
            <a:pPr marL="0" indent="0">
              <a:buNone/>
            </a:pPr>
            <a:r>
              <a:rPr lang="en-US" sz="1500" b="1" dirty="0">
                <a:solidFill>
                  <a:srgbClr val="F4F7FB"/>
                </a:solidFill>
                <a:latin typeface="Calibri" pitchFamily="34" charset="0"/>
                <a:ea typeface="Calibri" pitchFamily="34" charset="-122"/>
                <a:cs typeface="Calibri" pitchFamily="34" charset="-120"/>
              </a:rPr>
              <a:t>By service</a:t>
            </a:r>
            <a:endParaRPr lang="en-US" sz="1500" dirty="0"/>
          </a:p>
        </p:txBody>
      </p:sp>
      <p:graphicFrame>
        <p:nvGraphicFramePr>
          <p:cNvPr id="21" name="Chart 0"/>
          <p:cNvGraphicFramePr/>
          <p:nvPr/>
        </p:nvGraphicFramePr>
        <p:xfrm>
          <a:off x="411480" y="2697480"/>
          <a:ext cx="5478628" cy="3337560"/>
        </p:xfrm>
        <a:graphic>
          <a:graphicData uri="http://schemas.openxmlformats.org/drawingml/2006/chart">
            <c:chart xmlns:c="http://schemas.openxmlformats.org/drawingml/2006/chart" xmlns:r="http://schemas.openxmlformats.org/officeDocument/2006/relationships" r:id="rId3"/>
          </a:graphicData>
        </a:graphic>
      </p:graphicFrame>
      <p:sp>
        <p:nvSpPr>
          <p:cNvPr id="22" name="Text 19"/>
          <p:cNvSpPr/>
          <p:nvPr/>
        </p:nvSpPr>
        <p:spPr>
          <a:xfrm>
            <a:off x="6255868" y="2423160"/>
            <a:ext cx="5478628" cy="237744"/>
          </a:xfrm>
          <a:prstGeom prst="rect">
            <a:avLst/>
          </a:prstGeom>
          <a:noFill/>
          <a:ln/>
        </p:spPr>
        <p:txBody>
          <a:bodyPr wrap="square" lIns="0" tIns="0" rIns="0" bIns="0" rtlCol="0" anchor="ctr"/>
          <a:lstStyle/>
          <a:p>
            <a:pPr marL="0" indent="0">
              <a:buNone/>
            </a:pPr>
            <a:r>
              <a:rPr lang="en-US" sz="1500" b="1" dirty="0">
                <a:solidFill>
                  <a:srgbClr val="F4F7FB"/>
                </a:solidFill>
                <a:latin typeface="Calibri" pitchFamily="34" charset="0"/>
                <a:ea typeface="Calibri" pitchFamily="34" charset="-122"/>
                <a:cs typeface="Calibri" pitchFamily="34" charset="-120"/>
              </a:rPr>
              <a:t>By subscription</a:t>
            </a:r>
            <a:endParaRPr lang="en-US" sz="1500" dirty="0"/>
          </a:p>
        </p:txBody>
      </p:sp>
      <p:graphicFrame>
        <p:nvGraphicFramePr>
          <p:cNvPr id="23" name="Chart 1"/>
          <p:cNvGraphicFramePr/>
          <p:nvPr/>
        </p:nvGraphicFramePr>
        <p:xfrm>
          <a:off x="6210148" y="2697480"/>
          <a:ext cx="5478628" cy="333756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6903195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txBody>
          <a:bodyPr/>
          <a:lstStyle/>
          <a:p>
            <a:endParaRPr lang="he-IL"/>
          </a:p>
        </p:txBody>
      </p:sp>
      <p:sp>
        <p:nvSpPr>
          <p:cNvPr id="3" name="Shape 1"/>
          <p:cNvSpPr/>
          <p:nvPr/>
        </p:nvSpPr>
        <p:spPr>
          <a:xfrm>
            <a:off x="457200" y="306324"/>
            <a:ext cx="109728" cy="109728"/>
          </a:xfrm>
          <a:prstGeom prst="ellipse">
            <a:avLst/>
          </a:prstGeom>
          <a:solidFill>
            <a:srgbClr val="B07CFF"/>
          </a:solidFill>
          <a:ln w="12700">
            <a:solidFill>
              <a:srgbClr val="B07CFF"/>
            </a:solidFill>
            <a:prstDash val="solid"/>
          </a:ln>
        </p:spPr>
        <p:txBody>
          <a:bodyPr/>
          <a:lstStyle/>
          <a:p>
            <a:endParaRPr lang="he-IL"/>
          </a:p>
        </p:txBody>
      </p:sp>
      <p:sp>
        <p:nvSpPr>
          <p:cNvPr id="4" name="Text 2"/>
          <p:cNvSpPr/>
          <p:nvPr/>
        </p:nvSpPr>
        <p:spPr>
          <a:xfrm>
            <a:off x="640080" y="274320"/>
            <a:ext cx="7315200" cy="237744"/>
          </a:xfrm>
          <a:prstGeom prst="rect">
            <a:avLst/>
          </a:prstGeom>
          <a:noFill/>
          <a:ln/>
        </p:spPr>
        <p:txBody>
          <a:bodyPr wrap="square" lIns="0" tIns="0" rIns="0" bIns="0" rtlCol="0" anchor="ctr"/>
          <a:lstStyle/>
          <a:p>
            <a:pPr marL="0" indent="0">
              <a:buNone/>
            </a:pPr>
            <a:r>
              <a:rPr lang="en-US" sz="1300" b="1" kern="0" spc="200" dirty="0">
                <a:solidFill>
                  <a:srgbClr val="B07CFF"/>
                </a:solidFill>
                <a:latin typeface="Calibri" pitchFamily="34" charset="0"/>
                <a:ea typeface="Calibri" pitchFamily="34" charset="-122"/>
                <a:cs typeface="Calibri" pitchFamily="34" charset="-120"/>
              </a:rPr>
              <a:t>AI FACTORY / MODELS</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Foundry models and tools</a:t>
            </a:r>
            <a:endParaRPr lang="en-US" sz="2800" dirty="0"/>
          </a:p>
        </p:txBody>
      </p:sp>
      <p:sp>
        <p:nvSpPr>
          <p:cNvPr id="6" name="Text 4"/>
          <p:cNvSpPr/>
          <p:nvPr/>
        </p:nvSpPr>
        <p:spPr>
          <a:xfrm>
            <a:off x="8321040" y="493776"/>
            <a:ext cx="3413455" cy="658368"/>
          </a:xfrm>
          <a:prstGeom prst="rect">
            <a:avLst/>
          </a:prstGeom>
          <a:noFill/>
          <a:ln/>
        </p:spPr>
        <p:txBody>
          <a:bodyPr wrap="square" lIns="0" tIns="0" rIns="0" bIns="0" rtlCol="0" anchor="t"/>
          <a:lstStyle/>
          <a:p>
            <a:pPr marL="0" indent="0" algn="r">
              <a:lnSpc>
                <a:spcPct val="115000"/>
              </a:lnSpc>
              <a:buNone/>
            </a:pPr>
            <a:r>
              <a:rPr lang="en-US" sz="1200" dirty="0">
                <a:solidFill>
                  <a:srgbClr val="91A0B7"/>
                </a:solidFill>
                <a:latin typeface="Calibri" pitchFamily="34" charset="0"/>
                <a:ea typeface="Calibri" pitchFamily="34" charset="-122"/>
                <a:cs typeface="Calibri" pitchFamily="34" charset="-120"/>
              </a:rPr>
              <a:t>Consumption by model and meter. This is the closest view of what the models themselves cost.</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marL="0" indent="0">
              <a:lnSpc>
                <a:spcPct val="115000"/>
              </a:lnSpc>
              <a:buNone/>
            </a:pPr>
            <a:r>
              <a:rPr lang="en-US" sz="1200" dirty="0">
                <a:solidFill>
                  <a:srgbClr val="536078"/>
                </a:solidFill>
                <a:latin typeface="Calibri" pitchFamily="34" charset="0"/>
                <a:ea typeface="Calibri" pitchFamily="34" charset="-122"/>
                <a:cs typeface="Calibri" pitchFamily="34" charset="-120"/>
              </a:rPr>
              <a:t>GPT-5.4 input and output become the dominant meters from June. Document intelligence page meters (S0 Custom / Pre-built / Add-on) are the steady base underneath them.</a:t>
            </a:r>
            <a:endParaRPr lang="en-US" sz="1200" dirty="0"/>
          </a:p>
        </p:txBody>
      </p:sp>
      <p:sp>
        <p:nvSpPr>
          <p:cNvPr id="8" name="Text 6"/>
          <p:cNvSpPr/>
          <p:nvPr/>
        </p:nvSpPr>
        <p:spPr>
          <a:xfrm>
            <a:off x="457200" y="1234440"/>
            <a:ext cx="7360920" cy="237744"/>
          </a:xfrm>
          <a:prstGeom prst="rect">
            <a:avLst/>
          </a:prstGeom>
          <a:noFill/>
          <a:ln/>
        </p:spPr>
        <p:txBody>
          <a:bodyPr wrap="square" lIns="0" tIns="0" rIns="0" bIns="0" rtlCol="0" anchor="ctr"/>
          <a:lstStyle/>
          <a:p>
            <a:pPr marL="0" indent="0">
              <a:buNone/>
            </a:pPr>
            <a:r>
              <a:rPr lang="en-US" sz="1500" b="1" dirty="0">
                <a:solidFill>
                  <a:srgbClr val="F4F7FB"/>
                </a:solidFill>
                <a:latin typeface="Calibri" pitchFamily="34" charset="0"/>
                <a:ea typeface="Calibri" pitchFamily="34" charset="-122"/>
                <a:cs typeface="Calibri" pitchFamily="34" charset="-120"/>
              </a:rPr>
              <a:t>Monthly spend by model and meter</a:t>
            </a:r>
            <a:endParaRPr lang="en-US" sz="1500" dirty="0"/>
          </a:p>
        </p:txBody>
      </p:sp>
      <p:graphicFrame>
        <p:nvGraphicFramePr>
          <p:cNvPr id="9" name="Chart 0"/>
          <p:cNvGraphicFramePr/>
          <p:nvPr/>
        </p:nvGraphicFramePr>
        <p:xfrm>
          <a:off x="411480" y="1508760"/>
          <a:ext cx="736092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10" name="Shape 7"/>
          <p:cNvSpPr/>
          <p:nvPr/>
        </p:nvSpPr>
        <p:spPr>
          <a:xfrm>
            <a:off x="8092440" y="1234440"/>
            <a:ext cx="3642055" cy="1097280"/>
          </a:xfrm>
          <a:prstGeom prst="roundRect">
            <a:avLst>
              <a:gd name="adj" fmla="val 5000"/>
            </a:avLst>
          </a:prstGeom>
          <a:solidFill>
            <a:srgbClr val="121B2D"/>
          </a:solidFill>
          <a:ln w="12700">
            <a:solidFill>
              <a:srgbClr val="23304A"/>
            </a:solidFill>
            <a:prstDash val="solid"/>
          </a:ln>
        </p:spPr>
        <p:txBody>
          <a:bodyPr/>
          <a:lstStyle/>
          <a:p>
            <a:endParaRPr lang="he-IL"/>
          </a:p>
        </p:txBody>
      </p:sp>
      <p:sp>
        <p:nvSpPr>
          <p:cNvPr id="11" name="Text 8"/>
          <p:cNvSpPr/>
          <p:nvPr/>
        </p:nvSpPr>
        <p:spPr>
          <a:xfrm>
            <a:off x="8293608" y="1325880"/>
            <a:ext cx="3239719"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TOTAL, JAN-JUL</a:t>
            </a:r>
            <a:endParaRPr lang="en-US" sz="1200" dirty="0"/>
          </a:p>
        </p:txBody>
      </p:sp>
      <p:sp>
        <p:nvSpPr>
          <p:cNvPr id="12" name="Text 9"/>
          <p:cNvSpPr/>
          <p:nvPr/>
        </p:nvSpPr>
        <p:spPr>
          <a:xfrm>
            <a:off x="8293608" y="1527048"/>
            <a:ext cx="3239719"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$87K</a:t>
            </a:r>
            <a:endParaRPr lang="en-US" sz="2800" dirty="0"/>
          </a:p>
        </p:txBody>
      </p:sp>
      <p:sp>
        <p:nvSpPr>
          <p:cNvPr id="13" name="Text 10"/>
          <p:cNvSpPr/>
          <p:nvPr/>
        </p:nvSpPr>
        <p:spPr>
          <a:xfrm>
            <a:off x="8293608" y="1929384"/>
            <a:ext cx="3239719" cy="329184"/>
          </a:xfrm>
          <a:prstGeom prst="rect">
            <a:avLst/>
          </a:prstGeom>
          <a:noFill/>
          <a:ln/>
        </p:spPr>
        <p:txBody>
          <a:bodyPr wrap="square" lIns="0" tIns="0" rIns="0" bIns="0" rtlCol="0" anchor="t"/>
          <a:lstStyle/>
          <a:p>
            <a:pPr marL="0" indent="0">
              <a:lnSpc>
                <a:spcPct val="105000"/>
              </a:lnSpc>
              <a:buNone/>
            </a:pPr>
            <a:r>
              <a:rPr lang="en-US" sz="1200" b="1" dirty="0">
                <a:solidFill>
                  <a:srgbClr val="B07CFF"/>
                </a:solidFill>
                <a:latin typeface="Calibri" pitchFamily="34" charset="0"/>
                <a:ea typeface="Calibri" pitchFamily="34" charset="-122"/>
                <a:cs typeface="Calibri" pitchFamily="34" charset="-120"/>
              </a:rPr>
              <a:t>+240% Jan to Jul</a:t>
            </a:r>
            <a:endParaRPr lang="en-US" sz="1200" dirty="0"/>
          </a:p>
        </p:txBody>
      </p:sp>
      <p:sp>
        <p:nvSpPr>
          <p:cNvPr id="14" name="Shape 11"/>
          <p:cNvSpPr/>
          <p:nvPr/>
        </p:nvSpPr>
        <p:spPr>
          <a:xfrm>
            <a:off x="8092440" y="2459736"/>
            <a:ext cx="3642055" cy="1097280"/>
          </a:xfrm>
          <a:prstGeom prst="roundRect">
            <a:avLst>
              <a:gd name="adj" fmla="val 5000"/>
            </a:avLst>
          </a:prstGeom>
          <a:solidFill>
            <a:srgbClr val="121B2D"/>
          </a:solidFill>
          <a:ln w="12700">
            <a:solidFill>
              <a:srgbClr val="23304A"/>
            </a:solidFill>
            <a:prstDash val="solid"/>
          </a:ln>
        </p:spPr>
        <p:txBody>
          <a:bodyPr/>
          <a:lstStyle/>
          <a:p>
            <a:endParaRPr lang="he-IL"/>
          </a:p>
        </p:txBody>
      </p:sp>
      <p:sp>
        <p:nvSpPr>
          <p:cNvPr id="15" name="Text 12"/>
          <p:cNvSpPr/>
          <p:nvPr/>
        </p:nvSpPr>
        <p:spPr>
          <a:xfrm>
            <a:off x="8293608" y="2551176"/>
            <a:ext cx="3239719"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LARGEST METER</a:t>
            </a:r>
            <a:endParaRPr lang="en-US" sz="1200" dirty="0"/>
          </a:p>
        </p:txBody>
      </p:sp>
      <p:sp>
        <p:nvSpPr>
          <p:cNvPr id="16" name="Text 13"/>
          <p:cNvSpPr/>
          <p:nvPr/>
        </p:nvSpPr>
        <p:spPr>
          <a:xfrm>
            <a:off x="8293608" y="2752344"/>
            <a:ext cx="3239719" cy="438912"/>
          </a:xfrm>
          <a:prstGeom prst="rect">
            <a:avLst/>
          </a:prstGeom>
          <a:noFill/>
          <a:ln/>
        </p:spPr>
        <p:txBody>
          <a:bodyPr wrap="square" lIns="0" tIns="0" rIns="0" bIns="0" rtlCol="0" anchor="ctr"/>
          <a:lstStyle/>
          <a:p>
            <a:pPr marL="0" indent="0">
              <a:buNone/>
            </a:pPr>
            <a:r>
              <a:rPr lang="en-US" sz="2787" b="1" dirty="0">
                <a:solidFill>
                  <a:srgbClr val="F4F7FB"/>
                </a:solidFill>
                <a:latin typeface="Calibri" pitchFamily="34" charset="0"/>
                <a:ea typeface="Calibri" pitchFamily="34" charset="-122"/>
                <a:cs typeface="Calibri" pitchFamily="34" charset="-120"/>
              </a:rPr>
              <a:t>S0 Custom Pages</a:t>
            </a:r>
            <a:endParaRPr lang="en-US" sz="2787" dirty="0"/>
          </a:p>
        </p:txBody>
      </p:sp>
      <p:sp>
        <p:nvSpPr>
          <p:cNvPr id="17" name="Text 14"/>
          <p:cNvSpPr/>
          <p:nvPr/>
        </p:nvSpPr>
        <p:spPr>
          <a:xfrm>
            <a:off x="8293608" y="3154680"/>
            <a:ext cx="3239719" cy="329184"/>
          </a:xfrm>
          <a:prstGeom prst="rect">
            <a:avLst/>
          </a:prstGeom>
          <a:noFill/>
          <a:ln/>
        </p:spPr>
        <p:txBody>
          <a:bodyPr wrap="square" lIns="0" tIns="0" rIns="0" bIns="0" rtlCol="0" anchor="t"/>
          <a:lstStyle/>
          <a:p>
            <a:pPr marL="0" indent="0">
              <a:lnSpc>
                <a:spcPct val="105000"/>
              </a:lnSpc>
              <a:buNone/>
            </a:pPr>
            <a:r>
              <a:rPr lang="en-US" sz="1200" b="1" dirty="0">
                <a:solidFill>
                  <a:srgbClr val="3DD9EB"/>
                </a:solidFill>
                <a:latin typeface="Calibri" pitchFamily="34" charset="0"/>
                <a:ea typeface="Calibri" pitchFamily="34" charset="-122"/>
                <a:cs typeface="Calibri" pitchFamily="34" charset="-120"/>
              </a:rPr>
              <a:t>22% of the total</a:t>
            </a:r>
            <a:endParaRPr lang="en-US" sz="1200" dirty="0"/>
          </a:p>
        </p:txBody>
      </p:sp>
    </p:spTree>
    <p:extLst>
      <p:ext uri="{BB962C8B-B14F-4D97-AF65-F5344CB8AC3E}">
        <p14:creationId xmlns:p14="http://schemas.microsoft.com/office/powerpoint/2010/main" val="22779201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txBody>
          <a:bodyPr/>
          <a:lstStyle/>
          <a:p>
            <a:endParaRPr lang="he-IL"/>
          </a:p>
        </p:txBody>
      </p:sp>
      <p:sp>
        <p:nvSpPr>
          <p:cNvPr id="3" name="Shape 1"/>
          <p:cNvSpPr/>
          <p:nvPr/>
        </p:nvSpPr>
        <p:spPr>
          <a:xfrm>
            <a:off x="457200" y="306324"/>
            <a:ext cx="109728" cy="109728"/>
          </a:xfrm>
          <a:prstGeom prst="ellipse">
            <a:avLst/>
          </a:prstGeom>
          <a:solidFill>
            <a:srgbClr val="FF9F43"/>
          </a:solidFill>
          <a:ln w="12700">
            <a:solidFill>
              <a:srgbClr val="FF9F43"/>
            </a:solidFill>
            <a:prstDash val="solid"/>
          </a:ln>
        </p:spPr>
        <p:txBody>
          <a:bodyPr/>
          <a:lstStyle/>
          <a:p>
            <a:endParaRPr lang="he-IL"/>
          </a:p>
        </p:txBody>
      </p:sp>
      <p:sp>
        <p:nvSpPr>
          <p:cNvPr id="4" name="Text 2"/>
          <p:cNvSpPr/>
          <p:nvPr/>
        </p:nvSpPr>
        <p:spPr>
          <a:xfrm>
            <a:off x="640080" y="274320"/>
            <a:ext cx="7315200" cy="237744"/>
          </a:xfrm>
          <a:prstGeom prst="rect">
            <a:avLst/>
          </a:prstGeom>
          <a:noFill/>
          <a:ln/>
        </p:spPr>
        <p:txBody>
          <a:bodyPr wrap="square" lIns="0" tIns="0" rIns="0" bIns="0" rtlCol="0" anchor="ctr"/>
          <a:lstStyle/>
          <a:p>
            <a:pPr marL="0" indent="0">
              <a:buNone/>
            </a:pPr>
            <a:r>
              <a:rPr lang="en-US" sz="1300" b="1" kern="0" spc="200" dirty="0">
                <a:solidFill>
                  <a:srgbClr val="FF9F43"/>
                </a:solidFill>
                <a:latin typeface="Calibri" pitchFamily="34" charset="0"/>
                <a:ea typeface="Calibri" pitchFamily="34" charset="-122"/>
                <a:cs typeface="Calibri" pitchFamily="34" charset="-120"/>
              </a:rPr>
              <a:t>AWS / BEDROCK</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Consumption by Bedrock service</a:t>
            </a:r>
            <a:endParaRPr lang="en-US" sz="2800" dirty="0"/>
          </a:p>
        </p:txBody>
      </p:sp>
      <p:sp>
        <p:nvSpPr>
          <p:cNvPr id="6" name="Text 4"/>
          <p:cNvSpPr/>
          <p:nvPr/>
        </p:nvSpPr>
        <p:spPr>
          <a:xfrm>
            <a:off x="8321040" y="493776"/>
            <a:ext cx="3413455" cy="658368"/>
          </a:xfrm>
          <a:prstGeom prst="rect">
            <a:avLst/>
          </a:prstGeom>
          <a:noFill/>
          <a:ln/>
        </p:spPr>
        <p:txBody>
          <a:bodyPr wrap="square" lIns="0" tIns="0" rIns="0" bIns="0" rtlCol="0" anchor="t"/>
          <a:lstStyle/>
          <a:p>
            <a:pPr marL="0" indent="0" algn="r">
              <a:lnSpc>
                <a:spcPct val="115000"/>
              </a:lnSpc>
              <a:buNone/>
            </a:pPr>
            <a:r>
              <a:rPr lang="en-US" sz="1200" dirty="0">
                <a:solidFill>
                  <a:srgbClr val="91A0B7"/>
                </a:solidFill>
                <a:latin typeface="Calibri" pitchFamily="34" charset="0"/>
                <a:ea typeface="Calibri" pitchFamily="34" charset="-122"/>
                <a:cs typeface="Calibri" pitchFamily="34" charset="-120"/>
              </a:rPr>
              <a:t>Claude models consumed through Bedrock by the engineering teams, billed as Marketplace lines.</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marL="0" indent="0">
              <a:lnSpc>
                <a:spcPct val="115000"/>
              </a:lnSpc>
              <a:buNone/>
            </a:pPr>
            <a:r>
              <a:rPr lang="en-US" sz="1200" dirty="0">
                <a:solidFill>
                  <a:srgbClr val="536078"/>
                </a:solidFill>
                <a:latin typeface="Calibri" pitchFamily="34" charset="0"/>
                <a:ea typeface="Calibri" pitchFamily="34" charset="-122"/>
                <a:cs typeface="Calibri" pitchFamily="34" charset="-120"/>
              </a:rPr>
              <a:t>Opus-class models are the overwhelming majority of Bedrock spend. Model mix changes month to month, with Opus 5 appearing in July, which is exactly what a model policy is for.</a:t>
            </a:r>
            <a:endParaRPr lang="en-US" sz="1200" dirty="0"/>
          </a:p>
        </p:txBody>
      </p:sp>
      <p:sp>
        <p:nvSpPr>
          <p:cNvPr id="8" name="Text 6"/>
          <p:cNvSpPr/>
          <p:nvPr/>
        </p:nvSpPr>
        <p:spPr>
          <a:xfrm>
            <a:off x="457200" y="1234440"/>
            <a:ext cx="7360920" cy="237744"/>
          </a:xfrm>
          <a:prstGeom prst="rect">
            <a:avLst/>
          </a:prstGeom>
          <a:noFill/>
          <a:ln/>
        </p:spPr>
        <p:txBody>
          <a:bodyPr wrap="square" lIns="0" tIns="0" rIns="0" bIns="0" rtlCol="0" anchor="ctr"/>
          <a:lstStyle/>
          <a:p>
            <a:pPr marL="0" indent="0">
              <a:buNone/>
            </a:pPr>
            <a:r>
              <a:rPr lang="en-US" sz="1500" b="1" dirty="0">
                <a:solidFill>
                  <a:srgbClr val="F4F7FB"/>
                </a:solidFill>
                <a:latin typeface="Calibri" pitchFamily="34" charset="0"/>
                <a:ea typeface="Calibri" pitchFamily="34" charset="-122"/>
                <a:cs typeface="Calibri" pitchFamily="34" charset="-120"/>
              </a:rPr>
              <a:t>Monthly spend by model</a:t>
            </a:r>
            <a:endParaRPr lang="en-US" sz="1500" dirty="0"/>
          </a:p>
        </p:txBody>
      </p:sp>
      <p:graphicFrame>
        <p:nvGraphicFramePr>
          <p:cNvPr id="9" name="Chart 0"/>
          <p:cNvGraphicFramePr/>
          <p:nvPr/>
        </p:nvGraphicFramePr>
        <p:xfrm>
          <a:off x="411480" y="1508760"/>
          <a:ext cx="736092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10" name="Shape 7"/>
          <p:cNvSpPr/>
          <p:nvPr/>
        </p:nvSpPr>
        <p:spPr>
          <a:xfrm>
            <a:off x="8092440" y="1234440"/>
            <a:ext cx="3642055" cy="1097280"/>
          </a:xfrm>
          <a:prstGeom prst="roundRect">
            <a:avLst>
              <a:gd name="adj" fmla="val 5000"/>
            </a:avLst>
          </a:prstGeom>
          <a:solidFill>
            <a:srgbClr val="121B2D"/>
          </a:solidFill>
          <a:ln w="12700">
            <a:solidFill>
              <a:srgbClr val="23304A"/>
            </a:solidFill>
            <a:prstDash val="solid"/>
          </a:ln>
        </p:spPr>
        <p:txBody>
          <a:bodyPr/>
          <a:lstStyle/>
          <a:p>
            <a:endParaRPr lang="he-IL"/>
          </a:p>
        </p:txBody>
      </p:sp>
      <p:sp>
        <p:nvSpPr>
          <p:cNvPr id="11" name="Text 8"/>
          <p:cNvSpPr/>
          <p:nvPr/>
        </p:nvSpPr>
        <p:spPr>
          <a:xfrm>
            <a:off x="8293608" y="1325880"/>
            <a:ext cx="3239719"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TOTAL, MAR-JUL</a:t>
            </a:r>
            <a:endParaRPr lang="en-US" sz="1200" dirty="0"/>
          </a:p>
        </p:txBody>
      </p:sp>
      <p:sp>
        <p:nvSpPr>
          <p:cNvPr id="12" name="Text 9"/>
          <p:cNvSpPr/>
          <p:nvPr/>
        </p:nvSpPr>
        <p:spPr>
          <a:xfrm>
            <a:off x="8293608" y="1527048"/>
            <a:ext cx="3239719"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$42K</a:t>
            </a:r>
            <a:endParaRPr lang="en-US" sz="2800" dirty="0"/>
          </a:p>
        </p:txBody>
      </p:sp>
      <p:sp>
        <p:nvSpPr>
          <p:cNvPr id="13" name="Text 10"/>
          <p:cNvSpPr/>
          <p:nvPr/>
        </p:nvSpPr>
        <p:spPr>
          <a:xfrm>
            <a:off x="8293608" y="1929384"/>
            <a:ext cx="3239719" cy="329184"/>
          </a:xfrm>
          <a:prstGeom prst="rect">
            <a:avLst/>
          </a:prstGeom>
          <a:noFill/>
          <a:ln/>
        </p:spPr>
        <p:txBody>
          <a:bodyPr wrap="square" lIns="0" tIns="0" rIns="0" bIns="0" rtlCol="0" anchor="t"/>
          <a:lstStyle/>
          <a:p>
            <a:pPr marL="0" indent="0">
              <a:lnSpc>
                <a:spcPct val="105000"/>
              </a:lnSpc>
              <a:buNone/>
            </a:pPr>
            <a:r>
              <a:rPr lang="en-US" sz="1200" b="1" dirty="0">
                <a:solidFill>
                  <a:srgbClr val="FF9F43"/>
                </a:solidFill>
                <a:latin typeface="Calibri" pitchFamily="34" charset="0"/>
                <a:ea typeface="Calibri" pitchFamily="34" charset="-122"/>
                <a:cs typeface="Calibri" pitchFamily="34" charset="-120"/>
              </a:rPr>
              <a:t>+2907% Mar to Jul</a:t>
            </a:r>
            <a:endParaRPr lang="en-US" sz="1200" dirty="0"/>
          </a:p>
        </p:txBody>
      </p:sp>
      <p:sp>
        <p:nvSpPr>
          <p:cNvPr id="14" name="Shape 11"/>
          <p:cNvSpPr/>
          <p:nvPr/>
        </p:nvSpPr>
        <p:spPr>
          <a:xfrm>
            <a:off x="8092440" y="2459736"/>
            <a:ext cx="3642055" cy="1097280"/>
          </a:xfrm>
          <a:prstGeom prst="roundRect">
            <a:avLst>
              <a:gd name="adj" fmla="val 5000"/>
            </a:avLst>
          </a:prstGeom>
          <a:solidFill>
            <a:srgbClr val="121B2D"/>
          </a:solidFill>
          <a:ln w="12700">
            <a:solidFill>
              <a:srgbClr val="23304A"/>
            </a:solidFill>
            <a:prstDash val="solid"/>
          </a:ln>
        </p:spPr>
        <p:txBody>
          <a:bodyPr/>
          <a:lstStyle/>
          <a:p>
            <a:endParaRPr lang="he-IL"/>
          </a:p>
        </p:txBody>
      </p:sp>
      <p:sp>
        <p:nvSpPr>
          <p:cNvPr id="15" name="Text 12"/>
          <p:cNvSpPr/>
          <p:nvPr/>
        </p:nvSpPr>
        <p:spPr>
          <a:xfrm>
            <a:off x="8293608" y="2551176"/>
            <a:ext cx="3239719"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LARGEST MODEL</a:t>
            </a:r>
            <a:endParaRPr lang="en-US" sz="1200" dirty="0"/>
          </a:p>
        </p:txBody>
      </p:sp>
      <p:sp>
        <p:nvSpPr>
          <p:cNvPr id="16" name="Text 13"/>
          <p:cNvSpPr/>
          <p:nvPr/>
        </p:nvSpPr>
        <p:spPr>
          <a:xfrm>
            <a:off x="8293608" y="2752344"/>
            <a:ext cx="3239719" cy="438912"/>
          </a:xfrm>
          <a:prstGeom prst="rect">
            <a:avLst/>
          </a:prstGeom>
          <a:noFill/>
          <a:ln/>
        </p:spPr>
        <p:txBody>
          <a:bodyPr wrap="square" lIns="0" tIns="0" rIns="0" bIns="0" rtlCol="0" anchor="ctr"/>
          <a:lstStyle/>
          <a:p>
            <a:pPr marL="0" indent="0">
              <a:buNone/>
            </a:pPr>
            <a:r>
              <a:rPr lang="en-US" sz="2787" b="1" dirty="0">
                <a:solidFill>
                  <a:srgbClr val="F4F7FB"/>
                </a:solidFill>
                <a:latin typeface="Calibri" pitchFamily="34" charset="0"/>
                <a:ea typeface="Calibri" pitchFamily="34" charset="-122"/>
                <a:cs typeface="Calibri" pitchFamily="34" charset="-120"/>
              </a:rPr>
              <a:t>Claude Opus 4.6</a:t>
            </a:r>
            <a:endParaRPr lang="en-US" sz="2787" dirty="0"/>
          </a:p>
        </p:txBody>
      </p:sp>
      <p:sp>
        <p:nvSpPr>
          <p:cNvPr id="17" name="Text 14"/>
          <p:cNvSpPr/>
          <p:nvPr/>
        </p:nvSpPr>
        <p:spPr>
          <a:xfrm>
            <a:off x="8293608" y="3154680"/>
            <a:ext cx="3239719" cy="329184"/>
          </a:xfrm>
          <a:prstGeom prst="rect">
            <a:avLst/>
          </a:prstGeom>
          <a:noFill/>
          <a:ln/>
        </p:spPr>
        <p:txBody>
          <a:bodyPr wrap="square" lIns="0" tIns="0" rIns="0" bIns="0" rtlCol="0" anchor="t"/>
          <a:lstStyle/>
          <a:p>
            <a:pPr marL="0" indent="0">
              <a:lnSpc>
                <a:spcPct val="105000"/>
              </a:lnSpc>
              <a:buNone/>
            </a:pPr>
            <a:r>
              <a:rPr lang="en-US" sz="1200" b="1" dirty="0">
                <a:solidFill>
                  <a:srgbClr val="3DD9EB"/>
                </a:solidFill>
                <a:latin typeface="Calibri" pitchFamily="34" charset="0"/>
                <a:ea typeface="Calibri" pitchFamily="34" charset="-122"/>
                <a:cs typeface="Calibri" pitchFamily="34" charset="-120"/>
              </a:rPr>
              <a:t>42% of the total</a:t>
            </a:r>
            <a:endParaRPr lang="en-US" sz="1200" dirty="0"/>
          </a:p>
        </p:txBody>
      </p:sp>
    </p:spTree>
    <p:extLst>
      <p:ext uri="{BB962C8B-B14F-4D97-AF65-F5344CB8AC3E}">
        <p14:creationId xmlns:p14="http://schemas.microsoft.com/office/powerpoint/2010/main" val="28607929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txBody>
          <a:bodyPr/>
          <a:lstStyle/>
          <a:p>
            <a:endParaRPr lang="he-IL" dirty="0"/>
          </a:p>
        </p:txBody>
      </p:sp>
      <p:sp>
        <p:nvSpPr>
          <p:cNvPr id="3" name="Shape 1"/>
          <p:cNvSpPr/>
          <p:nvPr/>
        </p:nvSpPr>
        <p:spPr>
          <a:xfrm>
            <a:off x="457200" y="306324"/>
            <a:ext cx="109728" cy="109728"/>
          </a:xfrm>
          <a:prstGeom prst="ellipse">
            <a:avLst/>
          </a:prstGeom>
          <a:solidFill>
            <a:srgbClr val="FF9F43"/>
          </a:solidFill>
          <a:ln w="12700">
            <a:solidFill>
              <a:srgbClr val="FF9F43"/>
            </a:solidFill>
            <a:prstDash val="solid"/>
          </a:ln>
        </p:spPr>
        <p:txBody>
          <a:bodyPr/>
          <a:lstStyle/>
          <a:p>
            <a:endParaRPr lang="he-IL" dirty="0"/>
          </a:p>
        </p:txBody>
      </p:sp>
      <p:sp>
        <p:nvSpPr>
          <p:cNvPr id="4" name="Text 2"/>
          <p:cNvSpPr/>
          <p:nvPr/>
        </p:nvSpPr>
        <p:spPr>
          <a:xfrm>
            <a:off x="640080" y="274320"/>
            <a:ext cx="7315200" cy="237744"/>
          </a:xfrm>
          <a:prstGeom prst="rect">
            <a:avLst/>
          </a:prstGeom>
          <a:noFill/>
          <a:ln/>
        </p:spPr>
        <p:txBody>
          <a:bodyPr wrap="square" lIns="0" tIns="0" rIns="0" bIns="0" rtlCol="0" anchor="ctr"/>
          <a:lstStyle/>
          <a:p>
            <a:pPr marL="0" indent="0">
              <a:buNone/>
            </a:pPr>
            <a:r>
              <a:rPr lang="en-US" sz="1300" b="1" kern="0" spc="200" dirty="0">
                <a:solidFill>
                  <a:srgbClr val="FF9F43"/>
                </a:solidFill>
                <a:latin typeface="Calibri" pitchFamily="34" charset="0"/>
                <a:ea typeface="Calibri" pitchFamily="34" charset="-122"/>
                <a:cs typeface="Calibri" pitchFamily="34" charset="-120"/>
              </a:rPr>
              <a:t>AWS</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marL="0" indent="0">
              <a:buNone/>
            </a:pPr>
            <a:endParaRPr lang="en-US" sz="2400" dirty="0"/>
          </a:p>
        </p:txBody>
      </p:sp>
      <p:sp>
        <p:nvSpPr>
          <p:cNvPr id="6" name="Text 4"/>
          <p:cNvSpPr/>
          <p:nvPr/>
        </p:nvSpPr>
        <p:spPr>
          <a:xfrm>
            <a:off x="8321040" y="493776"/>
            <a:ext cx="3413455" cy="658368"/>
          </a:xfrm>
          <a:prstGeom prst="rect">
            <a:avLst/>
          </a:prstGeom>
          <a:noFill/>
          <a:ln/>
        </p:spPr>
        <p:txBody>
          <a:bodyPr wrap="square" lIns="0" tIns="0" rIns="0" bIns="0" rtlCol="0" anchor="t"/>
          <a:lstStyle/>
          <a:p>
            <a:pPr marL="0" indent="0" algn="r">
              <a:lnSpc>
                <a:spcPct val="115000"/>
              </a:lnSpc>
              <a:buNone/>
            </a:pPr>
            <a:endParaRPr lang="en-US" sz="1200" dirty="0"/>
          </a:p>
        </p:txBody>
      </p:sp>
      <p:sp>
        <p:nvSpPr>
          <p:cNvPr id="7" name="Text 5"/>
          <p:cNvSpPr/>
          <p:nvPr/>
        </p:nvSpPr>
        <p:spPr>
          <a:xfrm>
            <a:off x="457200" y="6172200"/>
            <a:ext cx="11277295" cy="576072"/>
          </a:xfrm>
          <a:prstGeom prst="rect">
            <a:avLst/>
          </a:prstGeom>
          <a:noFill/>
          <a:ln/>
        </p:spPr>
        <p:txBody>
          <a:bodyPr wrap="square" lIns="0" tIns="0" rIns="0" bIns="0" rtlCol="0" anchor="t"/>
          <a:lstStyle/>
          <a:p>
            <a:pPr marL="0" indent="0">
              <a:lnSpc>
                <a:spcPct val="115000"/>
              </a:lnSpc>
              <a:buNone/>
            </a:pPr>
            <a:endParaRPr lang="en-US" sz="1200" dirty="0"/>
          </a:p>
        </p:txBody>
      </p:sp>
      <p:sp>
        <p:nvSpPr>
          <p:cNvPr id="8" name="Shape 6"/>
          <p:cNvSpPr/>
          <p:nvPr/>
        </p:nvSpPr>
        <p:spPr>
          <a:xfrm>
            <a:off x="457200" y="1234440"/>
            <a:ext cx="3423818" cy="1188720"/>
          </a:xfrm>
          <a:prstGeom prst="roundRect">
            <a:avLst>
              <a:gd name="adj" fmla="val 4615"/>
            </a:avLst>
          </a:prstGeom>
          <a:solidFill>
            <a:srgbClr val="121B2D"/>
          </a:solidFill>
          <a:ln w="12700">
            <a:solidFill>
              <a:srgbClr val="F4F7FB"/>
            </a:solidFill>
            <a:prstDash val="solid"/>
          </a:ln>
        </p:spPr>
        <p:txBody>
          <a:bodyPr/>
          <a:lstStyle/>
          <a:p>
            <a:endParaRPr lang="he-IL" dirty="0"/>
          </a:p>
        </p:txBody>
      </p:sp>
      <p:sp>
        <p:nvSpPr>
          <p:cNvPr id="9" name="Text 7"/>
          <p:cNvSpPr/>
          <p:nvPr/>
        </p:nvSpPr>
        <p:spPr>
          <a:xfrm>
            <a:off x="658368" y="1380744"/>
            <a:ext cx="3021482"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REGULAR AWS USAGE, JULY</a:t>
            </a:r>
            <a:endParaRPr lang="en-US" sz="1200" dirty="0"/>
          </a:p>
        </p:txBody>
      </p:sp>
      <p:sp>
        <p:nvSpPr>
          <p:cNvPr id="10" name="Text 8"/>
          <p:cNvSpPr/>
          <p:nvPr/>
        </p:nvSpPr>
        <p:spPr>
          <a:xfrm>
            <a:off x="658368" y="1655064"/>
            <a:ext cx="3021482" cy="457200"/>
          </a:xfrm>
          <a:prstGeom prst="rect">
            <a:avLst/>
          </a:prstGeom>
          <a:noFill/>
          <a:ln/>
        </p:spPr>
        <p:txBody>
          <a:bodyPr wrap="square" lIns="0" tIns="0" rIns="0" bIns="0" rtlCol="0" anchor="ctr"/>
          <a:lstStyle/>
          <a:p>
            <a:pPr marL="0" indent="0">
              <a:buNone/>
            </a:pPr>
            <a:r>
              <a:rPr lang="en-US" sz="3000" b="1" dirty="0">
                <a:solidFill>
                  <a:srgbClr val="F4F7FB"/>
                </a:solidFill>
                <a:latin typeface="Calibri" pitchFamily="34" charset="0"/>
                <a:ea typeface="Calibri" pitchFamily="34" charset="-122"/>
                <a:cs typeface="Calibri" pitchFamily="34" charset="-120"/>
              </a:rPr>
              <a:t>$92,930</a:t>
            </a:r>
            <a:endParaRPr lang="en-US" sz="3000" dirty="0"/>
          </a:p>
        </p:txBody>
      </p:sp>
      <p:sp>
        <p:nvSpPr>
          <p:cNvPr id="11" name="Text 9"/>
          <p:cNvSpPr/>
          <p:nvPr/>
        </p:nvSpPr>
        <p:spPr>
          <a:xfrm>
            <a:off x="658368" y="2093976"/>
            <a:ext cx="3021482" cy="237744"/>
          </a:xfrm>
          <a:prstGeom prst="rect">
            <a:avLst/>
          </a:prstGeom>
          <a:noFill/>
          <a:ln/>
        </p:spPr>
        <p:txBody>
          <a:bodyPr wrap="square" lIns="0" tIns="0" rIns="0" bIns="0" rtlCol="0" anchor="ctr"/>
          <a:lstStyle/>
          <a:p>
            <a:pPr marL="0" indent="0">
              <a:buNone/>
            </a:pPr>
            <a:r>
              <a:rPr lang="en-US" sz="1200" dirty="0">
                <a:solidFill>
                  <a:srgbClr val="91A0B7"/>
                </a:solidFill>
                <a:latin typeface="Calibri" pitchFamily="34" charset="0"/>
                <a:ea typeface="Calibri" pitchFamily="34" charset="-122"/>
                <a:cs typeface="Calibri" pitchFamily="34" charset="-120"/>
              </a:rPr>
              <a:t>service usage as metered</a:t>
            </a:r>
            <a:endParaRPr lang="en-US" sz="1200" dirty="0"/>
          </a:p>
        </p:txBody>
      </p:sp>
      <p:sp>
        <p:nvSpPr>
          <p:cNvPr id="12" name="Shape 10"/>
          <p:cNvSpPr/>
          <p:nvPr/>
        </p:nvSpPr>
        <p:spPr>
          <a:xfrm>
            <a:off x="4383938" y="1234440"/>
            <a:ext cx="3423818" cy="1188720"/>
          </a:xfrm>
          <a:prstGeom prst="roundRect">
            <a:avLst>
              <a:gd name="adj" fmla="val 4615"/>
            </a:avLst>
          </a:prstGeom>
          <a:solidFill>
            <a:srgbClr val="121B2D"/>
          </a:solidFill>
          <a:ln w="12700">
            <a:solidFill>
              <a:srgbClr val="FF9F43"/>
            </a:solidFill>
            <a:prstDash val="solid"/>
          </a:ln>
        </p:spPr>
        <p:txBody>
          <a:bodyPr/>
          <a:lstStyle/>
          <a:p>
            <a:endParaRPr lang="he-IL" dirty="0"/>
          </a:p>
        </p:txBody>
      </p:sp>
      <p:sp>
        <p:nvSpPr>
          <p:cNvPr id="13" name="Text 11"/>
          <p:cNvSpPr/>
          <p:nvPr/>
        </p:nvSpPr>
        <p:spPr>
          <a:xfrm>
            <a:off x="4585106" y="1380744"/>
            <a:ext cx="3021482"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CREDIT APPLIED</a:t>
            </a:r>
            <a:endParaRPr lang="en-US" sz="1200" dirty="0"/>
          </a:p>
        </p:txBody>
      </p:sp>
      <p:sp>
        <p:nvSpPr>
          <p:cNvPr id="14" name="Text 12"/>
          <p:cNvSpPr/>
          <p:nvPr/>
        </p:nvSpPr>
        <p:spPr>
          <a:xfrm>
            <a:off x="4585106" y="1655064"/>
            <a:ext cx="3021482" cy="457200"/>
          </a:xfrm>
          <a:prstGeom prst="rect">
            <a:avLst/>
          </a:prstGeom>
          <a:noFill/>
          <a:ln/>
        </p:spPr>
        <p:txBody>
          <a:bodyPr wrap="square" lIns="0" tIns="0" rIns="0" bIns="0" rtlCol="0" anchor="ctr"/>
          <a:lstStyle/>
          <a:p>
            <a:pPr marL="0" indent="0">
              <a:buNone/>
            </a:pPr>
            <a:r>
              <a:rPr lang="en-US" sz="3000" b="1" dirty="0">
                <a:solidFill>
                  <a:srgbClr val="FF9F43"/>
                </a:solidFill>
                <a:latin typeface="Calibri" pitchFamily="34" charset="0"/>
                <a:ea typeface="Calibri" pitchFamily="34" charset="-122"/>
                <a:cs typeface="Calibri" pitchFamily="34" charset="-120"/>
              </a:rPr>
              <a:t>$16,100</a:t>
            </a:r>
            <a:endParaRPr lang="en-US" sz="3000" dirty="0"/>
          </a:p>
        </p:txBody>
      </p:sp>
      <p:sp>
        <p:nvSpPr>
          <p:cNvPr id="15" name="Text 13"/>
          <p:cNvSpPr/>
          <p:nvPr/>
        </p:nvSpPr>
        <p:spPr>
          <a:xfrm>
            <a:off x="4585106" y="2093976"/>
            <a:ext cx="3021482" cy="237744"/>
          </a:xfrm>
          <a:prstGeom prst="rect">
            <a:avLst/>
          </a:prstGeom>
          <a:noFill/>
          <a:ln/>
        </p:spPr>
        <p:txBody>
          <a:bodyPr wrap="square" lIns="0" tIns="0" rIns="0" bIns="0" rtlCol="0" anchor="ctr"/>
          <a:lstStyle/>
          <a:p>
            <a:pPr marL="0" indent="0">
              <a:buNone/>
            </a:pPr>
            <a:r>
              <a:rPr lang="en-US" sz="1200" dirty="0">
                <a:solidFill>
                  <a:srgbClr val="91A0B7"/>
                </a:solidFill>
                <a:latin typeface="Calibri" pitchFamily="34" charset="0"/>
                <a:ea typeface="Calibri" pitchFamily="34" charset="-122"/>
                <a:cs typeface="Calibri" pitchFamily="34" charset="-120"/>
              </a:rPr>
              <a:t>MAP contract credit, ai-factory-dev</a:t>
            </a:r>
            <a:endParaRPr lang="en-US" sz="1200" dirty="0"/>
          </a:p>
        </p:txBody>
      </p:sp>
      <p:sp>
        <p:nvSpPr>
          <p:cNvPr id="16" name="Text 14"/>
          <p:cNvSpPr/>
          <p:nvPr/>
        </p:nvSpPr>
        <p:spPr>
          <a:xfrm>
            <a:off x="3881018" y="1600200"/>
            <a:ext cx="502920" cy="457200"/>
          </a:xfrm>
          <a:prstGeom prst="rect">
            <a:avLst/>
          </a:prstGeom>
          <a:noFill/>
          <a:ln/>
        </p:spPr>
        <p:txBody>
          <a:bodyPr wrap="square" lIns="0" tIns="0" rIns="0" bIns="0" rtlCol="0" anchor="ctr"/>
          <a:lstStyle/>
          <a:p>
            <a:pPr marL="0" indent="0" algn="ctr">
              <a:buNone/>
            </a:pPr>
            <a:r>
              <a:rPr lang="en-US" sz="2400" b="1" dirty="0">
                <a:solidFill>
                  <a:srgbClr val="91A0B7"/>
                </a:solidFill>
                <a:latin typeface="Calibri" pitchFamily="34" charset="0"/>
                <a:ea typeface="Calibri" pitchFamily="34" charset="-122"/>
                <a:cs typeface="Calibri" pitchFamily="34" charset="-120"/>
              </a:rPr>
              <a:t>-</a:t>
            </a:r>
            <a:endParaRPr lang="en-US" sz="2400" dirty="0"/>
          </a:p>
        </p:txBody>
      </p:sp>
      <p:sp>
        <p:nvSpPr>
          <p:cNvPr id="17" name="Shape 15"/>
          <p:cNvSpPr/>
          <p:nvPr/>
        </p:nvSpPr>
        <p:spPr>
          <a:xfrm>
            <a:off x="8310677" y="1234440"/>
            <a:ext cx="3423818" cy="1188720"/>
          </a:xfrm>
          <a:prstGeom prst="roundRect">
            <a:avLst>
              <a:gd name="adj" fmla="val 4615"/>
            </a:avLst>
          </a:prstGeom>
          <a:solidFill>
            <a:srgbClr val="121B2D"/>
          </a:solidFill>
          <a:ln w="12700">
            <a:solidFill>
              <a:srgbClr val="3DDC97"/>
            </a:solidFill>
            <a:prstDash val="solid"/>
          </a:ln>
        </p:spPr>
        <p:txBody>
          <a:bodyPr/>
          <a:lstStyle/>
          <a:p>
            <a:endParaRPr lang="he-IL" dirty="0"/>
          </a:p>
        </p:txBody>
      </p:sp>
      <p:sp>
        <p:nvSpPr>
          <p:cNvPr id="18" name="Text 16"/>
          <p:cNvSpPr/>
          <p:nvPr/>
        </p:nvSpPr>
        <p:spPr>
          <a:xfrm>
            <a:off x="8511845" y="1380744"/>
            <a:ext cx="3021482"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INVOICED BY COMM-IT</a:t>
            </a:r>
            <a:endParaRPr lang="en-US" sz="1200" dirty="0"/>
          </a:p>
        </p:txBody>
      </p:sp>
      <p:sp>
        <p:nvSpPr>
          <p:cNvPr id="19" name="Text 17"/>
          <p:cNvSpPr/>
          <p:nvPr/>
        </p:nvSpPr>
        <p:spPr>
          <a:xfrm>
            <a:off x="8511845" y="1655064"/>
            <a:ext cx="3021482" cy="457200"/>
          </a:xfrm>
          <a:prstGeom prst="rect">
            <a:avLst/>
          </a:prstGeom>
          <a:noFill/>
          <a:ln/>
        </p:spPr>
        <p:txBody>
          <a:bodyPr wrap="square" lIns="0" tIns="0" rIns="0" bIns="0" rtlCol="0" anchor="ctr"/>
          <a:lstStyle/>
          <a:p>
            <a:pPr marL="0" indent="0">
              <a:buNone/>
            </a:pPr>
            <a:r>
              <a:rPr lang="en-US" sz="3000" b="1" dirty="0">
                <a:solidFill>
                  <a:srgbClr val="3DDC97"/>
                </a:solidFill>
                <a:latin typeface="Calibri" pitchFamily="34" charset="0"/>
                <a:ea typeface="Calibri" pitchFamily="34" charset="-122"/>
                <a:cs typeface="Calibri" pitchFamily="34" charset="-120"/>
              </a:rPr>
              <a:t>$76,830</a:t>
            </a:r>
            <a:endParaRPr lang="en-US" sz="3000" dirty="0"/>
          </a:p>
        </p:txBody>
      </p:sp>
      <p:sp>
        <p:nvSpPr>
          <p:cNvPr id="20" name="Text 18"/>
          <p:cNvSpPr/>
          <p:nvPr/>
        </p:nvSpPr>
        <p:spPr>
          <a:xfrm>
            <a:off x="8511845" y="2093976"/>
            <a:ext cx="3021482" cy="237744"/>
          </a:xfrm>
          <a:prstGeom prst="rect">
            <a:avLst/>
          </a:prstGeom>
          <a:noFill/>
          <a:ln/>
        </p:spPr>
        <p:txBody>
          <a:bodyPr wrap="square" lIns="0" tIns="0" rIns="0" bIns="0" rtlCol="0" anchor="ctr"/>
          <a:lstStyle/>
          <a:p>
            <a:pPr marL="0" indent="0">
              <a:buNone/>
            </a:pPr>
            <a:r>
              <a:rPr lang="en-US" sz="1200" dirty="0">
                <a:solidFill>
                  <a:srgbClr val="91A0B7"/>
                </a:solidFill>
                <a:latin typeface="Calibri" pitchFamily="34" charset="0"/>
                <a:ea typeface="Calibri" pitchFamily="34" charset="-122"/>
                <a:cs typeface="Calibri" pitchFamily="34" charset="-120"/>
              </a:rPr>
              <a:t>what we actually paid</a:t>
            </a:r>
            <a:endParaRPr lang="en-US" sz="1200" dirty="0"/>
          </a:p>
        </p:txBody>
      </p:sp>
      <p:sp>
        <p:nvSpPr>
          <p:cNvPr id="21" name="Text 19"/>
          <p:cNvSpPr/>
          <p:nvPr/>
        </p:nvSpPr>
        <p:spPr>
          <a:xfrm>
            <a:off x="7807757" y="1600200"/>
            <a:ext cx="502920" cy="457200"/>
          </a:xfrm>
          <a:prstGeom prst="rect">
            <a:avLst/>
          </a:prstGeom>
          <a:noFill/>
          <a:ln/>
        </p:spPr>
        <p:txBody>
          <a:bodyPr wrap="square" lIns="0" tIns="0" rIns="0" bIns="0" rtlCol="0" anchor="ctr"/>
          <a:lstStyle/>
          <a:p>
            <a:pPr marL="0" indent="0" algn="ctr">
              <a:buNone/>
            </a:pPr>
            <a:r>
              <a:rPr lang="en-US" sz="2400" b="1" dirty="0">
                <a:solidFill>
                  <a:srgbClr val="91A0B7"/>
                </a:solidFill>
                <a:latin typeface="Calibri" pitchFamily="34" charset="0"/>
                <a:ea typeface="Calibri" pitchFamily="34" charset="-122"/>
                <a:cs typeface="Calibri" pitchFamily="34" charset="-120"/>
              </a:rPr>
              <a:t>=</a:t>
            </a:r>
            <a:endParaRPr lang="en-US" sz="2400" dirty="0"/>
          </a:p>
        </p:txBody>
      </p:sp>
      <p:sp>
        <p:nvSpPr>
          <p:cNvPr id="22" name="Text 20"/>
          <p:cNvSpPr/>
          <p:nvPr/>
        </p:nvSpPr>
        <p:spPr>
          <a:xfrm>
            <a:off x="457200" y="2834640"/>
            <a:ext cx="11277295" cy="237744"/>
          </a:xfrm>
          <a:prstGeom prst="rect">
            <a:avLst/>
          </a:prstGeom>
          <a:noFill/>
          <a:ln/>
        </p:spPr>
        <p:txBody>
          <a:bodyPr wrap="square" lIns="0" tIns="0" rIns="0" bIns="0" rtlCol="0" anchor="ctr"/>
          <a:lstStyle/>
          <a:p>
            <a:pPr marL="0" indent="0">
              <a:buNone/>
            </a:pPr>
            <a:r>
              <a:rPr lang="en-US" sz="1500" b="1" dirty="0">
                <a:solidFill>
                  <a:srgbClr val="F4F7FB"/>
                </a:solidFill>
                <a:latin typeface="Calibri" pitchFamily="34" charset="0"/>
                <a:ea typeface="Calibri" pitchFamily="34" charset="-122"/>
                <a:cs typeface="Calibri" pitchFamily="34" charset="-120"/>
              </a:rPr>
              <a:t>Where the $16,100.27 sits: July Bedrock consumption, two sources</a:t>
            </a:r>
            <a:endParaRPr lang="en-US" sz="15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3145536"/>
          <a:ext cx="11274552" cy="1586992"/>
        </p:xfrm>
        <a:graphic>
          <a:graphicData uri="http://schemas.openxmlformats.org/drawingml/2006/table">
            <a:tbl>
              <a:tblPr/>
              <a:tblGrid>
                <a:gridCol w="292608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2770632">
                  <a:extLst>
                    <a:ext uri="{9D8B030D-6E8A-4147-A177-3AD203B41FA5}">
                      <a16:colId xmlns:a16="http://schemas.microsoft.com/office/drawing/2014/main" val="20004"/>
                    </a:ext>
                  </a:extLst>
                </a:gridCol>
              </a:tblGrid>
              <a:tr h="292608">
                <a:tc>
                  <a:txBody>
                    <a:bodyPr/>
                    <a:lstStyle/>
                    <a:p>
                      <a:pPr marL="0" indent="0" algn="l">
                        <a:buNone/>
                      </a:pPr>
                      <a:r>
                        <a:rPr lang="en-US" sz="1200" b="1" kern="0" spc="80" dirty="0">
                          <a:solidFill>
                            <a:srgbClr val="91A0B7"/>
                          </a:solidFill>
                          <a:latin typeface="Calibri" pitchFamily="34" charset="0"/>
                          <a:ea typeface="Calibri" pitchFamily="34" charset="-122"/>
                          <a:cs typeface="Calibri" pitchFamily="34" charset="-120"/>
                        </a:rPr>
                        <a:t>Claude model, July 2026</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b="1" kern="0" spc="80" dirty="0">
                          <a:solidFill>
                            <a:srgbClr val="91A0B7"/>
                          </a:solidFill>
                          <a:latin typeface="Calibri" pitchFamily="34" charset="0"/>
                          <a:ea typeface="Calibri" pitchFamily="34" charset="-122"/>
                          <a:cs typeface="Calibri" pitchFamily="34" charset="-120"/>
                        </a:rPr>
                        <a:t>Operational data (gross)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b="1" kern="0" spc="80" dirty="0">
                          <a:solidFill>
                            <a:srgbClr val="91A0B7"/>
                          </a:solidFill>
                          <a:latin typeface="Calibri" pitchFamily="34" charset="0"/>
                          <a:ea typeface="Calibri" pitchFamily="34" charset="-122"/>
                          <a:cs typeface="Calibri" pitchFamily="34" charset="-120"/>
                        </a:rPr>
                        <a:t>v33 CIO deck (net)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b="1" kern="0" spc="80" dirty="0">
                          <a:solidFill>
                            <a:srgbClr val="91A0B7"/>
                          </a:solidFill>
                          <a:latin typeface="Calibri" pitchFamily="34" charset="0"/>
                          <a:ea typeface="Calibri" pitchFamily="34" charset="-122"/>
                          <a:cs typeface="Calibri" pitchFamily="34" charset="-120"/>
                        </a:rPr>
                        <a:t>Difference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l">
                        <a:buNone/>
                      </a:pP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extLst>
                  <a:ext uri="{0D108BD9-81ED-4DB2-BD59-A6C34878D82A}">
                    <a16:rowId xmlns:a16="http://schemas.microsoft.com/office/drawing/2014/main" val="10000"/>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Claude Opus 4.8</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$11,361.86</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FF9F43"/>
                          </a:solidFill>
                          <a:latin typeface="Calibri" pitchFamily="34" charset="0"/>
                          <a:ea typeface="Calibri" pitchFamily="34" charset="-122"/>
                          <a:cs typeface="Calibri" pitchFamily="34" charset="-120"/>
                        </a:rPr>
                        <a:t>$11,361.86</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l">
                        <a:buNone/>
                      </a:pPr>
                      <a:r>
                        <a:rPr lang="en-US" sz="1200" dirty="0">
                          <a:solidFill>
                            <a:srgbClr val="F4F7FB"/>
                          </a:solidFill>
                          <a:latin typeface="Calibri" pitchFamily="34" charset="0"/>
                          <a:ea typeface="Calibri" pitchFamily="34" charset="-122"/>
                          <a:cs typeface="Calibri" pitchFamily="34" charset="-120"/>
                        </a:rPr>
                        <a:t>entire line reversed</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extLst>
                  <a:ext uri="{0D108BD9-81ED-4DB2-BD59-A6C34878D82A}">
                    <a16:rowId xmlns:a16="http://schemas.microsoft.com/office/drawing/2014/main" val="10001"/>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Claude Opus 4.6</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$9,873.22</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$5,134.81</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FF9F43"/>
                          </a:solidFill>
                          <a:latin typeface="Calibri" pitchFamily="34" charset="0"/>
                          <a:ea typeface="Calibri" pitchFamily="34" charset="-122"/>
                          <a:cs typeface="Calibri" pitchFamily="34" charset="-120"/>
                        </a:rPr>
                        <a:t>$4,738.41</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l">
                        <a:buNone/>
                      </a:pPr>
                      <a:r>
                        <a:rPr lang="en-US" sz="1200" dirty="0">
                          <a:solidFill>
                            <a:srgbClr val="F4F7FB"/>
                          </a:solidFill>
                          <a:latin typeface="Calibri" pitchFamily="34" charset="0"/>
                          <a:ea typeface="Calibri" pitchFamily="34" charset="-122"/>
                          <a:cs typeface="Calibri" pitchFamily="34" charset="-120"/>
                        </a:rPr>
                        <a:t>part of the line reversed</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extLst>
                  <a:ext uri="{0D108BD9-81ED-4DB2-BD59-A6C34878D82A}">
                    <a16:rowId xmlns:a16="http://schemas.microsoft.com/office/drawing/2014/main" val="10002"/>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Opus 4.7, Opus 5, Sonnet 4.6, Haiku 4.5, Sonnet 4.5</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$3,362.97</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$3,362.97</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91A0B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l">
                        <a:buNone/>
                      </a:pPr>
                      <a:r>
                        <a:rPr lang="en-US" sz="1200" dirty="0">
                          <a:solidFill>
                            <a:srgbClr val="F4F7FB"/>
                          </a:solidFill>
                          <a:latin typeface="Calibri" pitchFamily="34" charset="0"/>
                          <a:ea typeface="Calibri" pitchFamily="34" charset="-122"/>
                          <a:cs typeface="Calibri" pitchFamily="34" charset="-120"/>
                        </a:rPr>
                        <a:t>identical in both</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extLst>
                  <a:ext uri="{0D108BD9-81ED-4DB2-BD59-A6C34878D82A}">
                    <a16:rowId xmlns:a16="http://schemas.microsoft.com/office/drawing/2014/main" val="10003"/>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Total</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b="1" dirty="0">
                          <a:solidFill>
                            <a:srgbClr val="F4F7FB"/>
                          </a:solidFill>
                          <a:latin typeface="Calibri" pitchFamily="34" charset="0"/>
                          <a:ea typeface="Calibri" pitchFamily="34" charset="-122"/>
                          <a:cs typeface="Calibri" pitchFamily="34" charset="-120"/>
                        </a:rPr>
                        <a:t>$25,288.33</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b="1" dirty="0">
                          <a:solidFill>
                            <a:srgbClr val="F4F7FB"/>
                          </a:solidFill>
                          <a:latin typeface="Calibri" pitchFamily="34" charset="0"/>
                          <a:ea typeface="Calibri" pitchFamily="34" charset="-122"/>
                          <a:cs typeface="Calibri" pitchFamily="34" charset="-120"/>
                        </a:rPr>
                        <a:t>$9,188.06</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b="1" dirty="0">
                          <a:solidFill>
                            <a:srgbClr val="3DDC97"/>
                          </a:solidFill>
                          <a:latin typeface="Calibri" pitchFamily="34" charset="0"/>
                          <a:ea typeface="Calibri" pitchFamily="34" charset="-122"/>
                          <a:cs typeface="Calibri" pitchFamily="34" charset="-120"/>
                        </a:rPr>
                        <a:t>$16,100.27</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l">
                        <a:buNone/>
                      </a:pPr>
                      <a:r>
                        <a:rPr lang="en-US" sz="1200" dirty="0">
                          <a:solidFill>
                            <a:srgbClr val="3DDC97"/>
                          </a:solidFill>
                          <a:latin typeface="Calibri" pitchFamily="34" charset="0"/>
                          <a:ea typeface="Calibri" pitchFamily="34" charset="-122"/>
                          <a:cs typeface="Calibri" pitchFamily="34" charset="-120"/>
                        </a:rPr>
                        <a:t>matches the credit to the cent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extLst>
                  <a:ext uri="{0D108BD9-81ED-4DB2-BD59-A6C34878D82A}">
                    <a16:rowId xmlns:a16="http://schemas.microsoft.com/office/drawing/2014/main" val="10004"/>
                  </a:ext>
                </a:extLst>
              </a:tr>
            </a:tbl>
          </a:graphicData>
        </a:graphic>
      </p:graphicFrame>
      <p:sp>
        <p:nvSpPr>
          <p:cNvPr id="24" name="Shape 21"/>
          <p:cNvSpPr/>
          <p:nvPr/>
        </p:nvSpPr>
        <p:spPr>
          <a:xfrm>
            <a:off x="457200" y="5074920"/>
            <a:ext cx="3606698" cy="1078992"/>
          </a:xfrm>
          <a:prstGeom prst="roundRect">
            <a:avLst>
              <a:gd name="adj" fmla="val 5085"/>
            </a:avLst>
          </a:prstGeom>
          <a:solidFill>
            <a:srgbClr val="121B2D"/>
          </a:solidFill>
          <a:ln w="12700">
            <a:solidFill>
              <a:srgbClr val="23304A"/>
            </a:solidFill>
            <a:prstDash val="solid"/>
          </a:ln>
        </p:spPr>
        <p:txBody>
          <a:bodyPr/>
          <a:lstStyle/>
          <a:p>
            <a:endParaRPr lang="he-IL" dirty="0"/>
          </a:p>
        </p:txBody>
      </p:sp>
      <p:sp>
        <p:nvSpPr>
          <p:cNvPr id="25" name="Text 22"/>
          <p:cNvSpPr/>
          <p:nvPr/>
        </p:nvSpPr>
        <p:spPr>
          <a:xfrm>
            <a:off x="658368" y="5166360"/>
            <a:ext cx="3204362"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IDENTIFIED</a:t>
            </a:r>
            <a:endParaRPr lang="en-US" sz="1200" dirty="0"/>
          </a:p>
        </p:txBody>
      </p:sp>
      <p:sp>
        <p:nvSpPr>
          <p:cNvPr id="26" name="Text 23"/>
          <p:cNvSpPr/>
          <p:nvPr/>
        </p:nvSpPr>
        <p:spPr>
          <a:xfrm>
            <a:off x="658368" y="5367528"/>
            <a:ext cx="3204362"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$16,100.27</a:t>
            </a:r>
            <a:endParaRPr lang="en-US" sz="2800" dirty="0"/>
          </a:p>
        </p:txBody>
      </p:sp>
      <p:sp>
        <p:nvSpPr>
          <p:cNvPr id="27" name="Text 24"/>
          <p:cNvSpPr/>
          <p:nvPr/>
        </p:nvSpPr>
        <p:spPr>
          <a:xfrm>
            <a:off x="658368" y="5769864"/>
            <a:ext cx="3204362" cy="329184"/>
          </a:xfrm>
          <a:prstGeom prst="rect">
            <a:avLst/>
          </a:prstGeom>
          <a:noFill/>
          <a:ln/>
        </p:spPr>
        <p:txBody>
          <a:bodyPr wrap="square" lIns="0" tIns="0" rIns="0" bIns="0" rtlCol="0" anchor="t"/>
          <a:lstStyle/>
          <a:p>
            <a:pPr marL="0" indent="0">
              <a:lnSpc>
                <a:spcPct val="105000"/>
              </a:lnSpc>
              <a:buNone/>
            </a:pPr>
            <a:r>
              <a:rPr lang="en-US" sz="1200" b="1" dirty="0">
                <a:solidFill>
                  <a:srgbClr val="3DDC97"/>
                </a:solidFill>
                <a:latin typeface="Calibri" pitchFamily="34" charset="0"/>
                <a:ea typeface="Calibri" pitchFamily="34" charset="-122"/>
                <a:cs typeface="Calibri" pitchFamily="34" charset="-120"/>
              </a:rPr>
              <a:t>Opus 4.8 in full, plus part of Opus 4.6</a:t>
            </a:r>
            <a:endParaRPr lang="en-US" sz="1200" dirty="0"/>
          </a:p>
        </p:txBody>
      </p:sp>
      <p:sp>
        <p:nvSpPr>
          <p:cNvPr id="28" name="Shape 25"/>
          <p:cNvSpPr/>
          <p:nvPr/>
        </p:nvSpPr>
        <p:spPr>
          <a:xfrm>
            <a:off x="4292498" y="5074920"/>
            <a:ext cx="3606698" cy="1078992"/>
          </a:xfrm>
          <a:prstGeom prst="roundRect">
            <a:avLst>
              <a:gd name="adj" fmla="val 5085"/>
            </a:avLst>
          </a:prstGeom>
          <a:solidFill>
            <a:srgbClr val="121B2D"/>
          </a:solidFill>
          <a:ln w="12700">
            <a:solidFill>
              <a:srgbClr val="23304A"/>
            </a:solidFill>
            <a:prstDash val="solid"/>
          </a:ln>
        </p:spPr>
        <p:txBody>
          <a:bodyPr/>
          <a:lstStyle/>
          <a:p>
            <a:endParaRPr lang="he-IL" dirty="0"/>
          </a:p>
        </p:txBody>
      </p:sp>
      <p:sp>
        <p:nvSpPr>
          <p:cNvPr id="29" name="Text 26"/>
          <p:cNvSpPr/>
          <p:nvPr/>
        </p:nvSpPr>
        <p:spPr>
          <a:xfrm>
            <a:off x="4493666" y="5166360"/>
            <a:ext cx="3204362"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ATTRIBUTED TO</a:t>
            </a:r>
            <a:endParaRPr lang="en-US" sz="1200" dirty="0"/>
          </a:p>
        </p:txBody>
      </p:sp>
      <p:sp>
        <p:nvSpPr>
          <p:cNvPr id="30" name="Text 27"/>
          <p:cNvSpPr/>
          <p:nvPr/>
        </p:nvSpPr>
        <p:spPr>
          <a:xfrm>
            <a:off x="4493666" y="5367528"/>
            <a:ext cx="3204362"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ai-factory-dev</a:t>
            </a:r>
            <a:endParaRPr lang="en-US" sz="2800" dirty="0"/>
          </a:p>
        </p:txBody>
      </p:sp>
      <p:sp>
        <p:nvSpPr>
          <p:cNvPr id="31" name="Text 28"/>
          <p:cNvSpPr/>
          <p:nvPr/>
        </p:nvSpPr>
        <p:spPr>
          <a:xfrm>
            <a:off x="4493666" y="5769864"/>
            <a:ext cx="3204362" cy="329184"/>
          </a:xfrm>
          <a:prstGeom prst="rect">
            <a:avLst/>
          </a:prstGeom>
          <a:noFill/>
          <a:ln/>
        </p:spPr>
        <p:txBody>
          <a:bodyPr wrap="square" lIns="0" tIns="0" rIns="0" bIns="0" rtlCol="0" anchor="t"/>
          <a:lstStyle/>
          <a:p>
            <a:pPr marL="0" indent="0">
              <a:lnSpc>
                <a:spcPct val="105000"/>
              </a:lnSpc>
              <a:buNone/>
            </a:pPr>
            <a:r>
              <a:rPr lang="en-US" sz="1200" b="1" dirty="0">
                <a:solidFill>
                  <a:srgbClr val="FF9F43"/>
                </a:solidFill>
                <a:latin typeface="Calibri" pitchFamily="34" charset="0"/>
                <a:ea typeface="Calibri" pitchFamily="34" charset="-122"/>
                <a:cs typeface="Calibri" pitchFamily="34" charset="-120"/>
              </a:rPr>
              <a:t>88.6% of all July AWS credits</a:t>
            </a:r>
            <a:endParaRPr lang="en-US" sz="1200" dirty="0"/>
          </a:p>
        </p:txBody>
      </p:sp>
      <p:sp>
        <p:nvSpPr>
          <p:cNvPr id="32" name="Shape 29"/>
          <p:cNvSpPr/>
          <p:nvPr/>
        </p:nvSpPr>
        <p:spPr>
          <a:xfrm>
            <a:off x="8127797" y="5074920"/>
            <a:ext cx="3606698" cy="1078992"/>
          </a:xfrm>
          <a:prstGeom prst="roundRect">
            <a:avLst>
              <a:gd name="adj" fmla="val 5085"/>
            </a:avLst>
          </a:prstGeom>
          <a:solidFill>
            <a:srgbClr val="121B2D"/>
          </a:solidFill>
          <a:ln w="12700">
            <a:solidFill>
              <a:srgbClr val="23304A"/>
            </a:solidFill>
            <a:prstDash val="solid"/>
          </a:ln>
        </p:spPr>
        <p:txBody>
          <a:bodyPr/>
          <a:lstStyle/>
          <a:p>
            <a:endParaRPr lang="he-IL" dirty="0"/>
          </a:p>
        </p:txBody>
      </p:sp>
      <p:sp>
        <p:nvSpPr>
          <p:cNvPr id="33" name="Text 30"/>
          <p:cNvSpPr/>
          <p:nvPr/>
        </p:nvSpPr>
        <p:spPr>
          <a:xfrm>
            <a:off x="8328965" y="5166360"/>
            <a:ext cx="3204362"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ACTION</a:t>
            </a:r>
            <a:endParaRPr lang="en-US" sz="1200" dirty="0"/>
          </a:p>
        </p:txBody>
      </p:sp>
      <p:sp>
        <p:nvSpPr>
          <p:cNvPr id="34" name="Text 31"/>
          <p:cNvSpPr/>
          <p:nvPr/>
        </p:nvSpPr>
        <p:spPr>
          <a:xfrm>
            <a:off x="8328965" y="5367528"/>
            <a:ext cx="3204362"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Confirm</a:t>
            </a:r>
            <a:endParaRPr lang="en-US" sz="2800" dirty="0"/>
          </a:p>
        </p:txBody>
      </p:sp>
      <p:sp>
        <p:nvSpPr>
          <p:cNvPr id="35" name="Text 32"/>
          <p:cNvSpPr/>
          <p:nvPr/>
        </p:nvSpPr>
        <p:spPr>
          <a:xfrm>
            <a:off x="8328965" y="5769864"/>
            <a:ext cx="3204362" cy="329184"/>
          </a:xfrm>
          <a:prstGeom prst="rect">
            <a:avLst/>
          </a:prstGeom>
          <a:noFill/>
          <a:ln/>
        </p:spPr>
        <p:txBody>
          <a:bodyPr wrap="square" lIns="0" tIns="0" rIns="0" bIns="0" rtlCol="0" anchor="t"/>
          <a:lstStyle/>
          <a:p>
            <a:pPr marL="0" indent="0">
              <a:lnSpc>
                <a:spcPct val="105000"/>
              </a:lnSpc>
              <a:buNone/>
            </a:pP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txBody>
          <a:bodyPr/>
          <a:lstStyle/>
          <a:p>
            <a:endParaRPr lang="he-IL" dirty="0"/>
          </a:p>
        </p:txBody>
      </p:sp>
      <p:sp>
        <p:nvSpPr>
          <p:cNvPr id="3" name="Shape 1"/>
          <p:cNvSpPr/>
          <p:nvPr/>
        </p:nvSpPr>
        <p:spPr>
          <a:xfrm>
            <a:off x="457200" y="306324"/>
            <a:ext cx="109728" cy="109728"/>
          </a:xfrm>
          <a:prstGeom prst="ellipse">
            <a:avLst/>
          </a:prstGeom>
          <a:solidFill>
            <a:srgbClr val="3DDC97"/>
          </a:solidFill>
          <a:ln w="12700">
            <a:solidFill>
              <a:srgbClr val="3DDC97"/>
            </a:solidFill>
            <a:prstDash val="solid"/>
          </a:ln>
        </p:spPr>
        <p:txBody>
          <a:bodyPr/>
          <a:lstStyle/>
          <a:p>
            <a:endParaRPr lang="he-IL" dirty="0"/>
          </a:p>
        </p:txBody>
      </p:sp>
      <p:sp>
        <p:nvSpPr>
          <p:cNvPr id="4" name="Text 2"/>
          <p:cNvSpPr/>
          <p:nvPr/>
        </p:nvSpPr>
        <p:spPr>
          <a:xfrm>
            <a:off x="640080" y="274320"/>
            <a:ext cx="7315200" cy="237744"/>
          </a:xfrm>
          <a:prstGeom prst="rect">
            <a:avLst/>
          </a:prstGeom>
          <a:noFill/>
          <a:ln/>
        </p:spPr>
        <p:txBody>
          <a:bodyPr wrap="square" lIns="0" tIns="0" rIns="0" bIns="0" rtlCol="0" anchor="ctr"/>
          <a:lstStyle/>
          <a:p>
            <a:pPr marL="0" indent="0">
              <a:buNone/>
            </a:pPr>
            <a:r>
              <a:rPr lang="en-US" sz="1300" b="1" kern="0" spc="200" dirty="0">
                <a:solidFill>
                  <a:srgbClr val="3DDC97"/>
                </a:solidFill>
                <a:latin typeface="Calibri" pitchFamily="34" charset="0"/>
                <a:ea typeface="Calibri" pitchFamily="34" charset="-122"/>
                <a:cs typeface="Calibri" pitchFamily="34" charset="-120"/>
              </a:rPr>
              <a:t>GCP</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Small, and entirely AI</a:t>
            </a:r>
            <a:endParaRPr lang="en-US" sz="2800" dirty="0"/>
          </a:p>
        </p:txBody>
      </p:sp>
      <p:sp>
        <p:nvSpPr>
          <p:cNvPr id="6" name="Text 4"/>
          <p:cNvSpPr/>
          <p:nvPr/>
        </p:nvSpPr>
        <p:spPr>
          <a:xfrm>
            <a:off x="8321040" y="493776"/>
            <a:ext cx="3413455" cy="658368"/>
          </a:xfrm>
          <a:prstGeom prst="rect">
            <a:avLst/>
          </a:prstGeom>
          <a:noFill/>
          <a:ln/>
        </p:spPr>
        <p:txBody>
          <a:bodyPr wrap="square" lIns="0" tIns="0" rIns="0" bIns="0" rtlCol="0" anchor="t"/>
          <a:lstStyle/>
          <a:p>
            <a:pPr marL="0" indent="0" algn="r">
              <a:lnSpc>
                <a:spcPct val="115000"/>
              </a:lnSpc>
              <a:buNone/>
            </a:pPr>
            <a:r>
              <a:rPr lang="en-US" sz="1200" dirty="0">
                <a:solidFill>
                  <a:srgbClr val="91A0B7"/>
                </a:solidFill>
                <a:latin typeface="Calibri" pitchFamily="34" charset="0"/>
                <a:ea typeface="Calibri" pitchFamily="34" charset="-122"/>
                <a:cs typeface="Calibri" pitchFamily="34" charset="-120"/>
              </a:rPr>
              <a:t>The smallest provider by a wide margin, and the fastest growing. All three statements reconcile to their invoices exactly.</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marL="0" indent="0">
              <a:lnSpc>
                <a:spcPct val="115000"/>
              </a:lnSpc>
              <a:buNone/>
            </a:pPr>
            <a:r>
              <a:rPr lang="en-US" sz="1200" dirty="0">
                <a:solidFill>
                  <a:srgbClr val="536078"/>
                </a:solidFill>
                <a:latin typeface="Calibri" pitchFamily="34" charset="0"/>
                <a:ea typeface="Calibri" pitchFamily="34" charset="-122"/>
                <a:cs typeface="Calibri" pitchFamily="34" charset="-120"/>
              </a:rPr>
              <a:t>Vertex AI passed Compute Engine in July. Every dollar of GCP growth this year is AI, which makes it the cleanest illustration of the shift happening more expensively elsewhere.</a:t>
            </a:r>
            <a:endParaRPr lang="en-US" sz="1200" dirty="0"/>
          </a:p>
        </p:txBody>
      </p:sp>
      <p:sp>
        <p:nvSpPr>
          <p:cNvPr id="8" name="Text 6"/>
          <p:cNvSpPr/>
          <p:nvPr/>
        </p:nvSpPr>
        <p:spPr>
          <a:xfrm>
            <a:off x="457200" y="1234440"/>
            <a:ext cx="7360920" cy="237744"/>
          </a:xfrm>
          <a:prstGeom prst="rect">
            <a:avLst/>
          </a:prstGeom>
          <a:noFill/>
          <a:ln/>
        </p:spPr>
        <p:txBody>
          <a:bodyPr wrap="square" lIns="0" tIns="0" rIns="0" bIns="0" rtlCol="0" anchor="ctr"/>
          <a:lstStyle/>
          <a:p>
            <a:pPr marL="0" indent="0">
              <a:buNone/>
            </a:pPr>
            <a:r>
              <a:rPr lang="en-US" sz="1500" b="1" dirty="0">
                <a:solidFill>
                  <a:srgbClr val="F4F7FB"/>
                </a:solidFill>
                <a:latin typeface="Calibri" pitchFamily="34" charset="0"/>
                <a:ea typeface="Calibri" pitchFamily="34" charset="-122"/>
                <a:cs typeface="Calibri" pitchFamily="34" charset="-120"/>
              </a:rPr>
              <a:t>Monthly spend by service</a:t>
            </a:r>
            <a:endParaRPr lang="en-US" sz="1500" dirty="0"/>
          </a:p>
        </p:txBody>
      </p:sp>
      <p:graphicFrame>
        <p:nvGraphicFramePr>
          <p:cNvPr id="9" name="Chart 0"/>
          <p:cNvGraphicFramePr/>
          <p:nvPr/>
        </p:nvGraphicFramePr>
        <p:xfrm>
          <a:off x="411480" y="1508760"/>
          <a:ext cx="736092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10" name="Shape 7"/>
          <p:cNvSpPr/>
          <p:nvPr/>
        </p:nvSpPr>
        <p:spPr>
          <a:xfrm>
            <a:off x="8092440" y="1234440"/>
            <a:ext cx="3642055" cy="1097280"/>
          </a:xfrm>
          <a:prstGeom prst="roundRect">
            <a:avLst>
              <a:gd name="adj" fmla="val 5000"/>
            </a:avLst>
          </a:prstGeom>
          <a:solidFill>
            <a:srgbClr val="121B2D"/>
          </a:solidFill>
          <a:ln w="12700">
            <a:solidFill>
              <a:srgbClr val="23304A"/>
            </a:solidFill>
            <a:prstDash val="solid"/>
          </a:ln>
        </p:spPr>
        <p:txBody>
          <a:bodyPr/>
          <a:lstStyle/>
          <a:p>
            <a:endParaRPr lang="he-IL" dirty="0"/>
          </a:p>
        </p:txBody>
      </p:sp>
      <p:sp>
        <p:nvSpPr>
          <p:cNvPr id="11" name="Text 8"/>
          <p:cNvSpPr/>
          <p:nvPr/>
        </p:nvSpPr>
        <p:spPr>
          <a:xfrm>
            <a:off x="8293608" y="1325880"/>
            <a:ext cx="3239719"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GCP, JULY</a:t>
            </a:r>
            <a:endParaRPr lang="en-US" sz="1200" dirty="0"/>
          </a:p>
        </p:txBody>
      </p:sp>
      <p:sp>
        <p:nvSpPr>
          <p:cNvPr id="12" name="Text 9"/>
          <p:cNvSpPr/>
          <p:nvPr/>
        </p:nvSpPr>
        <p:spPr>
          <a:xfrm>
            <a:off x="8293608" y="1527048"/>
            <a:ext cx="3239719"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$3,707</a:t>
            </a:r>
            <a:endParaRPr lang="en-US" sz="2800" dirty="0"/>
          </a:p>
        </p:txBody>
      </p:sp>
      <p:sp>
        <p:nvSpPr>
          <p:cNvPr id="13" name="Text 10"/>
          <p:cNvSpPr/>
          <p:nvPr/>
        </p:nvSpPr>
        <p:spPr>
          <a:xfrm>
            <a:off x="8293608" y="1929384"/>
            <a:ext cx="3239719" cy="329184"/>
          </a:xfrm>
          <a:prstGeom prst="rect">
            <a:avLst/>
          </a:prstGeom>
          <a:noFill/>
          <a:ln/>
        </p:spPr>
        <p:txBody>
          <a:bodyPr wrap="square" lIns="0" tIns="0" rIns="0" bIns="0" rtlCol="0" anchor="t"/>
          <a:lstStyle/>
          <a:p>
            <a:pPr marL="0" indent="0">
              <a:lnSpc>
                <a:spcPct val="105000"/>
              </a:lnSpc>
              <a:buNone/>
            </a:pPr>
            <a:r>
              <a:rPr lang="en-US" sz="1200" b="1" dirty="0">
                <a:solidFill>
                  <a:srgbClr val="3DDC97"/>
                </a:solidFill>
                <a:latin typeface="Calibri" pitchFamily="34" charset="0"/>
                <a:ea typeface="Calibri" pitchFamily="34" charset="-122"/>
                <a:cs typeface="Calibri" pitchFamily="34" charset="-120"/>
              </a:rPr>
              <a:t>1.4% of the total cloud bill</a:t>
            </a:r>
            <a:endParaRPr lang="en-US" sz="1200" dirty="0"/>
          </a:p>
        </p:txBody>
      </p:sp>
      <p:sp>
        <p:nvSpPr>
          <p:cNvPr id="14" name="Shape 11"/>
          <p:cNvSpPr/>
          <p:nvPr/>
        </p:nvSpPr>
        <p:spPr>
          <a:xfrm>
            <a:off x="8092440" y="2459736"/>
            <a:ext cx="3642055" cy="1097280"/>
          </a:xfrm>
          <a:prstGeom prst="roundRect">
            <a:avLst>
              <a:gd name="adj" fmla="val 5000"/>
            </a:avLst>
          </a:prstGeom>
          <a:solidFill>
            <a:srgbClr val="121B2D"/>
          </a:solidFill>
          <a:ln w="12700">
            <a:solidFill>
              <a:srgbClr val="23304A"/>
            </a:solidFill>
            <a:prstDash val="solid"/>
          </a:ln>
        </p:spPr>
        <p:txBody>
          <a:bodyPr/>
          <a:lstStyle/>
          <a:p>
            <a:endParaRPr lang="he-IL" dirty="0"/>
          </a:p>
        </p:txBody>
      </p:sp>
      <p:sp>
        <p:nvSpPr>
          <p:cNvPr id="15" name="Text 12"/>
          <p:cNvSpPr/>
          <p:nvPr/>
        </p:nvSpPr>
        <p:spPr>
          <a:xfrm>
            <a:off x="8293608" y="2551176"/>
            <a:ext cx="3239719"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VERTEX AI, JULY</a:t>
            </a:r>
            <a:endParaRPr lang="en-US" sz="1200" dirty="0"/>
          </a:p>
        </p:txBody>
      </p:sp>
      <p:sp>
        <p:nvSpPr>
          <p:cNvPr id="16" name="Text 13"/>
          <p:cNvSpPr/>
          <p:nvPr/>
        </p:nvSpPr>
        <p:spPr>
          <a:xfrm>
            <a:off x="8293608" y="2752344"/>
            <a:ext cx="3239719"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$2,359</a:t>
            </a:r>
            <a:endParaRPr lang="en-US" sz="2800" dirty="0"/>
          </a:p>
        </p:txBody>
      </p:sp>
      <p:sp>
        <p:nvSpPr>
          <p:cNvPr id="17" name="Text 14"/>
          <p:cNvSpPr/>
          <p:nvPr/>
        </p:nvSpPr>
        <p:spPr>
          <a:xfrm>
            <a:off x="8293608" y="3154680"/>
            <a:ext cx="3239719" cy="329184"/>
          </a:xfrm>
          <a:prstGeom prst="rect">
            <a:avLst/>
          </a:prstGeom>
          <a:noFill/>
          <a:ln/>
        </p:spPr>
        <p:txBody>
          <a:bodyPr wrap="square" lIns="0" tIns="0" rIns="0" bIns="0" rtlCol="0" anchor="t"/>
          <a:lstStyle/>
          <a:p>
            <a:pPr marL="0" indent="0">
              <a:lnSpc>
                <a:spcPct val="105000"/>
              </a:lnSpc>
              <a:buNone/>
            </a:pPr>
            <a:r>
              <a:rPr lang="en-US" sz="1200" b="1" dirty="0">
                <a:solidFill>
                  <a:srgbClr val="B07CFF"/>
                </a:solidFill>
                <a:latin typeface="Calibri" pitchFamily="34" charset="0"/>
                <a:ea typeface="Calibri" pitchFamily="34" charset="-122"/>
                <a:cs typeface="Calibri" pitchFamily="34" charset="-120"/>
              </a:rPr>
              <a:t>now the largest GCP service</a:t>
            </a:r>
            <a:endParaRPr lang="en-US" sz="1200" dirty="0"/>
          </a:p>
        </p:txBody>
      </p:sp>
      <p:sp>
        <p:nvSpPr>
          <p:cNvPr id="18" name="Shape 15"/>
          <p:cNvSpPr/>
          <p:nvPr/>
        </p:nvSpPr>
        <p:spPr>
          <a:xfrm>
            <a:off x="8092440" y="3685032"/>
            <a:ext cx="3642055" cy="1097280"/>
          </a:xfrm>
          <a:prstGeom prst="roundRect">
            <a:avLst>
              <a:gd name="adj" fmla="val 5000"/>
            </a:avLst>
          </a:prstGeom>
          <a:solidFill>
            <a:srgbClr val="121B2D"/>
          </a:solidFill>
          <a:ln w="12700">
            <a:solidFill>
              <a:srgbClr val="23304A"/>
            </a:solidFill>
            <a:prstDash val="solid"/>
          </a:ln>
        </p:spPr>
        <p:txBody>
          <a:bodyPr/>
          <a:lstStyle/>
          <a:p>
            <a:endParaRPr lang="he-IL" dirty="0"/>
          </a:p>
        </p:txBody>
      </p:sp>
      <p:sp>
        <p:nvSpPr>
          <p:cNvPr id="19" name="Text 16"/>
          <p:cNvSpPr/>
          <p:nvPr/>
        </p:nvSpPr>
        <p:spPr>
          <a:xfrm>
            <a:off x="8293608" y="3776472"/>
            <a:ext cx="3239719"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EVERYTHING ELSE</a:t>
            </a:r>
            <a:endParaRPr lang="en-US" sz="1200" dirty="0"/>
          </a:p>
        </p:txBody>
      </p:sp>
      <p:sp>
        <p:nvSpPr>
          <p:cNvPr id="20" name="Text 17"/>
          <p:cNvSpPr/>
          <p:nvPr/>
        </p:nvSpPr>
        <p:spPr>
          <a:xfrm>
            <a:off x="8293608" y="3977640"/>
            <a:ext cx="3239719"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flat</a:t>
            </a:r>
            <a:endParaRPr lang="en-US" sz="2800" dirty="0"/>
          </a:p>
        </p:txBody>
      </p:sp>
      <p:sp>
        <p:nvSpPr>
          <p:cNvPr id="21" name="Text 18"/>
          <p:cNvSpPr/>
          <p:nvPr/>
        </p:nvSpPr>
        <p:spPr>
          <a:xfrm>
            <a:off x="8293608" y="4379976"/>
            <a:ext cx="3239719" cy="329184"/>
          </a:xfrm>
          <a:prstGeom prst="rect">
            <a:avLst/>
          </a:prstGeom>
          <a:noFill/>
          <a:ln/>
        </p:spPr>
        <p:txBody>
          <a:bodyPr wrap="square" lIns="0" tIns="0" rIns="0" bIns="0" rtlCol="0" anchor="t"/>
          <a:lstStyle/>
          <a:p>
            <a:pPr marL="0" indent="0">
              <a:lnSpc>
                <a:spcPct val="105000"/>
              </a:lnSpc>
              <a:buNone/>
            </a:pPr>
            <a:r>
              <a:rPr lang="en-US" sz="1200" b="1" dirty="0">
                <a:solidFill>
                  <a:srgbClr val="91A0B7"/>
                </a:solidFill>
                <a:latin typeface="Calibri" pitchFamily="34" charset="0"/>
                <a:ea typeface="Calibri" pitchFamily="34" charset="-122"/>
                <a:cs typeface="Calibri" pitchFamily="34" charset="-120"/>
              </a:rPr>
              <a:t>Compute, networking and DNS unchanged</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txBody>
          <a:bodyPr/>
          <a:lstStyle/>
          <a:p>
            <a:endParaRPr lang="he-IL" dirty="0"/>
          </a:p>
        </p:txBody>
      </p:sp>
      <p:sp>
        <p:nvSpPr>
          <p:cNvPr id="3" name="Shape 1"/>
          <p:cNvSpPr/>
          <p:nvPr/>
        </p:nvSpPr>
        <p:spPr>
          <a:xfrm>
            <a:off x="457200" y="306324"/>
            <a:ext cx="109728" cy="109728"/>
          </a:xfrm>
          <a:prstGeom prst="ellipse">
            <a:avLst/>
          </a:prstGeom>
          <a:solidFill>
            <a:srgbClr val="FF9F43"/>
          </a:solidFill>
          <a:ln w="12700">
            <a:solidFill>
              <a:srgbClr val="FF9F43"/>
            </a:solidFill>
            <a:prstDash val="solid"/>
          </a:ln>
        </p:spPr>
        <p:txBody>
          <a:bodyPr/>
          <a:lstStyle/>
          <a:p>
            <a:endParaRPr lang="he-IL" dirty="0"/>
          </a:p>
        </p:txBody>
      </p:sp>
      <p:sp>
        <p:nvSpPr>
          <p:cNvPr id="4" name="Text 2"/>
          <p:cNvSpPr/>
          <p:nvPr/>
        </p:nvSpPr>
        <p:spPr>
          <a:xfrm>
            <a:off x="640080" y="274320"/>
            <a:ext cx="7315200" cy="237744"/>
          </a:xfrm>
          <a:prstGeom prst="rect">
            <a:avLst/>
          </a:prstGeom>
          <a:noFill/>
          <a:ln/>
        </p:spPr>
        <p:txBody>
          <a:bodyPr wrap="square" lIns="0" tIns="0" rIns="0" bIns="0" rtlCol="0" anchor="ctr"/>
          <a:lstStyle/>
          <a:p>
            <a:pPr marL="0" indent="0">
              <a:buNone/>
            </a:pPr>
            <a:r>
              <a:rPr lang="en-US" sz="1300" b="1" kern="0" spc="200" dirty="0">
                <a:solidFill>
                  <a:srgbClr val="FF9F43"/>
                </a:solidFill>
                <a:latin typeface="Calibri" pitchFamily="34" charset="0"/>
                <a:ea typeface="Calibri" pitchFamily="34" charset="-122"/>
                <a:cs typeface="Calibri" pitchFamily="34" charset="-120"/>
              </a:rPr>
              <a:t>MARKETPLACE</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marL="0" indent="0">
              <a:buNone/>
            </a:pPr>
            <a:r>
              <a:rPr lang="en-US" sz="2000" b="1" dirty="0">
                <a:solidFill>
                  <a:srgbClr val="F4F7FB"/>
                </a:solidFill>
                <a:latin typeface="Calibri" pitchFamily="34" charset="0"/>
                <a:ea typeface="Calibri" pitchFamily="34" charset="-122"/>
                <a:cs typeface="Calibri" pitchFamily="34" charset="-120"/>
              </a:rPr>
              <a:t>Marketplace dwarfs the usage underneath it</a:t>
            </a:r>
            <a:endParaRPr lang="en-US" sz="2000" dirty="0"/>
          </a:p>
        </p:txBody>
      </p:sp>
      <p:sp>
        <p:nvSpPr>
          <p:cNvPr id="6" name="Text 4"/>
          <p:cNvSpPr/>
          <p:nvPr/>
        </p:nvSpPr>
        <p:spPr>
          <a:xfrm>
            <a:off x="8321040" y="493776"/>
            <a:ext cx="3413455" cy="658368"/>
          </a:xfrm>
          <a:prstGeom prst="rect">
            <a:avLst/>
          </a:prstGeom>
          <a:noFill/>
          <a:ln/>
        </p:spPr>
        <p:txBody>
          <a:bodyPr wrap="square" lIns="0" tIns="0" rIns="0" bIns="0" rtlCol="0" anchor="t"/>
          <a:lstStyle/>
          <a:p>
            <a:pPr marL="0" indent="0" algn="r">
              <a:lnSpc>
                <a:spcPct val="115000"/>
              </a:lnSpc>
              <a:buNone/>
            </a:pPr>
            <a:r>
              <a:rPr lang="en-US" sz="1200" dirty="0">
                <a:solidFill>
                  <a:srgbClr val="91A0B7"/>
                </a:solidFill>
                <a:latin typeface="Calibri" pitchFamily="34" charset="0"/>
                <a:ea typeface="Calibri" pitchFamily="34" charset="-122"/>
                <a:cs typeface="Calibri" pitchFamily="34" charset="-120"/>
              </a:rPr>
              <a:t>None of this is consumption. Security vendors bought, replaced and retired inside the year.</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marL="0" indent="0">
              <a:lnSpc>
                <a:spcPct val="115000"/>
              </a:lnSpc>
              <a:buNone/>
            </a:pPr>
            <a:r>
              <a:rPr lang="en-US" sz="1200" dirty="0">
                <a:solidFill>
                  <a:srgbClr val="536078"/>
                </a:solidFill>
                <a:latin typeface="Calibri" pitchFamily="34" charset="0"/>
                <a:ea typeface="Calibri" pitchFamily="34" charset="-122"/>
                <a:cs typeface="Calibri" pitchFamily="34" charset="-120"/>
              </a:rPr>
              <a:t>Splunk, CrowdStrike and Trellix land in Q1; TrendAI and Fortinet in June and gone by July; Cortex replaces them. Treating Marketplace as part of the cloud bill makes the trend unreadable. It belongs on its own line in the budget.</a:t>
            </a:r>
            <a:endParaRPr lang="en-US" sz="1200" dirty="0"/>
          </a:p>
        </p:txBody>
      </p:sp>
      <p:sp>
        <p:nvSpPr>
          <p:cNvPr id="8" name="Text 6"/>
          <p:cNvSpPr/>
          <p:nvPr/>
        </p:nvSpPr>
        <p:spPr>
          <a:xfrm>
            <a:off x="457200" y="1234440"/>
            <a:ext cx="7360920" cy="237744"/>
          </a:xfrm>
          <a:prstGeom prst="rect">
            <a:avLst/>
          </a:prstGeom>
          <a:noFill/>
          <a:ln/>
        </p:spPr>
        <p:txBody>
          <a:bodyPr wrap="square" lIns="0" tIns="0" rIns="0" bIns="0" rtlCol="0" anchor="ctr"/>
          <a:lstStyle/>
          <a:p>
            <a:pPr marL="0" indent="0">
              <a:buNone/>
            </a:pPr>
            <a:r>
              <a:rPr lang="en-US" sz="1500" b="1" dirty="0">
                <a:solidFill>
                  <a:srgbClr val="F4F7FB"/>
                </a:solidFill>
                <a:latin typeface="Calibri" pitchFamily="34" charset="0"/>
                <a:ea typeface="Calibri" pitchFamily="34" charset="-122"/>
                <a:cs typeface="Calibri" pitchFamily="34" charset="-120"/>
              </a:rPr>
              <a:t>AWS Marketplace purchases by product, Jan-Jul total</a:t>
            </a:r>
            <a:endParaRPr lang="en-US" sz="1500" dirty="0"/>
          </a:p>
        </p:txBody>
      </p:sp>
      <p:graphicFrame>
        <p:nvGraphicFramePr>
          <p:cNvPr id="9" name="Chart 0"/>
          <p:cNvGraphicFramePr/>
          <p:nvPr/>
        </p:nvGraphicFramePr>
        <p:xfrm>
          <a:off x="411480" y="1508760"/>
          <a:ext cx="736092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10" name="Shape 7"/>
          <p:cNvSpPr/>
          <p:nvPr/>
        </p:nvSpPr>
        <p:spPr>
          <a:xfrm>
            <a:off x="8092440" y="1234440"/>
            <a:ext cx="3642055" cy="1097280"/>
          </a:xfrm>
          <a:prstGeom prst="roundRect">
            <a:avLst>
              <a:gd name="adj" fmla="val 5000"/>
            </a:avLst>
          </a:prstGeom>
          <a:solidFill>
            <a:srgbClr val="121B2D"/>
          </a:solidFill>
          <a:ln w="12700">
            <a:solidFill>
              <a:srgbClr val="23304A"/>
            </a:solidFill>
            <a:prstDash val="solid"/>
          </a:ln>
        </p:spPr>
        <p:txBody>
          <a:bodyPr/>
          <a:lstStyle/>
          <a:p>
            <a:endParaRPr lang="he-IL" dirty="0"/>
          </a:p>
        </p:txBody>
      </p:sp>
      <p:sp>
        <p:nvSpPr>
          <p:cNvPr id="11" name="Text 8"/>
          <p:cNvSpPr/>
          <p:nvPr/>
        </p:nvSpPr>
        <p:spPr>
          <a:xfrm>
            <a:off x="8293608" y="1325880"/>
            <a:ext cx="3239719"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AWS MARKETPLACE, JAN-JUL</a:t>
            </a:r>
            <a:endParaRPr lang="en-US" sz="1200" dirty="0"/>
          </a:p>
        </p:txBody>
      </p:sp>
      <p:sp>
        <p:nvSpPr>
          <p:cNvPr id="12" name="Text 9"/>
          <p:cNvSpPr/>
          <p:nvPr/>
        </p:nvSpPr>
        <p:spPr>
          <a:xfrm>
            <a:off x="8293608" y="1527048"/>
            <a:ext cx="3239719"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$1.54M</a:t>
            </a:r>
            <a:endParaRPr lang="en-US" sz="2800" dirty="0"/>
          </a:p>
        </p:txBody>
      </p:sp>
      <p:sp>
        <p:nvSpPr>
          <p:cNvPr id="13" name="Text 10"/>
          <p:cNvSpPr/>
          <p:nvPr/>
        </p:nvSpPr>
        <p:spPr>
          <a:xfrm>
            <a:off x="8293608" y="1929384"/>
            <a:ext cx="3239719" cy="329184"/>
          </a:xfrm>
          <a:prstGeom prst="rect">
            <a:avLst/>
          </a:prstGeom>
          <a:noFill/>
          <a:ln/>
        </p:spPr>
        <p:txBody>
          <a:bodyPr wrap="square" lIns="0" tIns="0" rIns="0" bIns="0" rtlCol="0" anchor="t"/>
          <a:lstStyle/>
          <a:p>
            <a:pPr marL="0" indent="0">
              <a:lnSpc>
                <a:spcPct val="105000"/>
              </a:lnSpc>
              <a:buNone/>
            </a:pPr>
            <a:r>
              <a:rPr lang="en-US" sz="1200" b="1" dirty="0">
                <a:solidFill>
                  <a:srgbClr val="FF9F43"/>
                </a:solidFill>
                <a:latin typeface="Calibri" pitchFamily="34" charset="0"/>
                <a:ea typeface="Calibri" pitchFamily="34" charset="-122"/>
                <a:cs typeface="Calibri" pitchFamily="34" charset="-120"/>
              </a:rPr>
              <a:t>2.6x regular AWS usage</a:t>
            </a:r>
            <a:endParaRPr lang="en-US" sz="1200" dirty="0"/>
          </a:p>
        </p:txBody>
      </p:sp>
      <p:sp>
        <p:nvSpPr>
          <p:cNvPr id="14" name="Shape 11"/>
          <p:cNvSpPr/>
          <p:nvPr/>
        </p:nvSpPr>
        <p:spPr>
          <a:xfrm>
            <a:off x="8092440" y="2459736"/>
            <a:ext cx="3642055" cy="1097280"/>
          </a:xfrm>
          <a:prstGeom prst="roundRect">
            <a:avLst>
              <a:gd name="adj" fmla="val 5000"/>
            </a:avLst>
          </a:prstGeom>
          <a:solidFill>
            <a:srgbClr val="121B2D"/>
          </a:solidFill>
          <a:ln w="12700">
            <a:solidFill>
              <a:srgbClr val="23304A"/>
            </a:solidFill>
            <a:prstDash val="solid"/>
          </a:ln>
        </p:spPr>
        <p:txBody>
          <a:bodyPr/>
          <a:lstStyle/>
          <a:p>
            <a:endParaRPr lang="he-IL" dirty="0"/>
          </a:p>
        </p:txBody>
      </p:sp>
      <p:sp>
        <p:nvSpPr>
          <p:cNvPr id="15" name="Text 12"/>
          <p:cNvSpPr/>
          <p:nvPr/>
        </p:nvSpPr>
        <p:spPr>
          <a:xfrm>
            <a:off x="8293608" y="2551176"/>
            <a:ext cx="3239719"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AZURE MARKETPLACE, JAN-JUL</a:t>
            </a:r>
            <a:endParaRPr lang="en-US" sz="1200" dirty="0"/>
          </a:p>
        </p:txBody>
      </p:sp>
      <p:sp>
        <p:nvSpPr>
          <p:cNvPr id="16" name="Text 13"/>
          <p:cNvSpPr/>
          <p:nvPr/>
        </p:nvSpPr>
        <p:spPr>
          <a:xfrm>
            <a:off x="8293608" y="2752344"/>
            <a:ext cx="3239719"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$551K</a:t>
            </a:r>
            <a:endParaRPr lang="en-US" sz="2800" dirty="0"/>
          </a:p>
        </p:txBody>
      </p:sp>
      <p:sp>
        <p:nvSpPr>
          <p:cNvPr id="17" name="Text 14"/>
          <p:cNvSpPr/>
          <p:nvPr/>
        </p:nvSpPr>
        <p:spPr>
          <a:xfrm>
            <a:off x="8293608" y="3154680"/>
            <a:ext cx="3239719" cy="329184"/>
          </a:xfrm>
          <a:prstGeom prst="rect">
            <a:avLst/>
          </a:prstGeom>
          <a:noFill/>
          <a:ln/>
        </p:spPr>
        <p:txBody>
          <a:bodyPr wrap="square" lIns="0" tIns="0" rIns="0" bIns="0" rtlCol="0" anchor="t"/>
          <a:lstStyle/>
          <a:p>
            <a:pPr marL="0" indent="0">
              <a:lnSpc>
                <a:spcPct val="105000"/>
              </a:lnSpc>
              <a:buNone/>
            </a:pPr>
            <a:r>
              <a:rPr lang="en-US" sz="1200" b="1" dirty="0">
                <a:solidFill>
                  <a:srgbClr val="2F8CFF"/>
                </a:solidFill>
                <a:latin typeface="Calibri" pitchFamily="34" charset="0"/>
                <a:ea typeface="Calibri" pitchFamily="34" charset="-122"/>
                <a:cs typeface="Calibri" pitchFamily="34" charset="-120"/>
              </a:rPr>
              <a:t>mostly the Databricks prepayment</a:t>
            </a:r>
            <a:endParaRPr lang="en-US" sz="1200" dirty="0"/>
          </a:p>
        </p:txBody>
      </p:sp>
      <p:sp>
        <p:nvSpPr>
          <p:cNvPr id="18" name="Shape 15"/>
          <p:cNvSpPr/>
          <p:nvPr/>
        </p:nvSpPr>
        <p:spPr>
          <a:xfrm>
            <a:off x="8092440" y="3685032"/>
            <a:ext cx="3642055" cy="1097280"/>
          </a:xfrm>
          <a:prstGeom prst="roundRect">
            <a:avLst>
              <a:gd name="adj" fmla="val 5000"/>
            </a:avLst>
          </a:prstGeom>
          <a:solidFill>
            <a:srgbClr val="121B2D"/>
          </a:solidFill>
          <a:ln w="12700">
            <a:solidFill>
              <a:srgbClr val="23304A"/>
            </a:solidFill>
            <a:prstDash val="solid"/>
          </a:ln>
        </p:spPr>
        <p:txBody>
          <a:bodyPr/>
          <a:lstStyle/>
          <a:p>
            <a:endParaRPr lang="he-IL" dirty="0"/>
          </a:p>
        </p:txBody>
      </p:sp>
      <p:sp>
        <p:nvSpPr>
          <p:cNvPr id="19" name="Text 16"/>
          <p:cNvSpPr/>
          <p:nvPr/>
        </p:nvSpPr>
        <p:spPr>
          <a:xfrm>
            <a:off x="8293608" y="3776472"/>
            <a:ext cx="3239719"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RECURRING, OF ALL OF IT</a:t>
            </a:r>
            <a:endParaRPr lang="en-US" sz="1200" dirty="0"/>
          </a:p>
        </p:txBody>
      </p:sp>
      <p:sp>
        <p:nvSpPr>
          <p:cNvPr id="20" name="Text 17"/>
          <p:cNvSpPr/>
          <p:nvPr/>
        </p:nvSpPr>
        <p:spPr>
          <a:xfrm>
            <a:off x="8293608" y="3977640"/>
            <a:ext cx="3239719"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~$14K/mo</a:t>
            </a:r>
            <a:endParaRPr lang="en-US" sz="2800" dirty="0"/>
          </a:p>
        </p:txBody>
      </p:sp>
      <p:sp>
        <p:nvSpPr>
          <p:cNvPr id="21" name="Text 18"/>
          <p:cNvSpPr/>
          <p:nvPr/>
        </p:nvSpPr>
        <p:spPr>
          <a:xfrm>
            <a:off x="8293608" y="4379976"/>
            <a:ext cx="3239719" cy="329184"/>
          </a:xfrm>
          <a:prstGeom prst="rect">
            <a:avLst/>
          </a:prstGeom>
          <a:noFill/>
          <a:ln/>
        </p:spPr>
        <p:txBody>
          <a:bodyPr wrap="square" lIns="0" tIns="0" rIns="0" bIns="0" rtlCol="0" anchor="t"/>
          <a:lstStyle/>
          <a:p>
            <a:pPr marL="0" indent="0">
              <a:lnSpc>
                <a:spcPct val="105000"/>
              </a:lnSpc>
              <a:buNone/>
            </a:pPr>
            <a:r>
              <a:rPr lang="en-US" sz="1200" b="1" dirty="0">
                <a:solidFill>
                  <a:srgbClr val="3DDC97"/>
                </a:solidFill>
                <a:latin typeface="Calibri" pitchFamily="34" charset="0"/>
                <a:ea typeface="Calibri" pitchFamily="34" charset="-122"/>
                <a:cs typeface="Calibri" pitchFamily="34" charset="-120"/>
              </a:rPr>
              <a:t>MongoDB Atlas and the small tools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txBody>
          <a:bodyPr/>
          <a:lstStyle/>
          <a:p>
            <a:endParaRPr lang="he-IL" dirty="0"/>
          </a:p>
        </p:txBody>
      </p:sp>
      <p:sp>
        <p:nvSpPr>
          <p:cNvPr id="3" name="Shape 1"/>
          <p:cNvSpPr/>
          <p:nvPr/>
        </p:nvSpPr>
        <p:spPr>
          <a:xfrm>
            <a:off x="7863840" y="-1280160"/>
            <a:ext cx="5852160" cy="5852160"/>
          </a:xfrm>
          <a:prstGeom prst="ellipse">
            <a:avLst/>
          </a:prstGeom>
          <a:solidFill>
            <a:srgbClr val="B07CFF">
              <a:alpha val="8000"/>
            </a:srgbClr>
          </a:solidFill>
          <a:ln w="12700">
            <a:solidFill>
              <a:srgbClr val="B07CFF">
                <a:alpha val="0"/>
              </a:srgbClr>
            </a:solidFill>
            <a:prstDash val="solid"/>
          </a:ln>
        </p:spPr>
        <p:txBody>
          <a:bodyPr/>
          <a:lstStyle/>
          <a:p>
            <a:endParaRPr lang="he-IL" dirty="0"/>
          </a:p>
        </p:txBody>
      </p:sp>
      <p:sp>
        <p:nvSpPr>
          <p:cNvPr id="4" name="Shape 2"/>
          <p:cNvSpPr/>
          <p:nvPr/>
        </p:nvSpPr>
        <p:spPr>
          <a:xfrm>
            <a:off x="9144000" y="2377440"/>
            <a:ext cx="4754880" cy="4754880"/>
          </a:xfrm>
          <a:prstGeom prst="ellipse">
            <a:avLst/>
          </a:prstGeom>
          <a:solidFill>
            <a:srgbClr val="3DD9EB">
              <a:alpha val="7000"/>
            </a:srgbClr>
          </a:solidFill>
          <a:ln w="12700">
            <a:solidFill>
              <a:srgbClr val="3DD9EB">
                <a:alpha val="0"/>
              </a:srgbClr>
            </a:solidFill>
            <a:prstDash val="solid"/>
          </a:ln>
        </p:spPr>
        <p:txBody>
          <a:bodyPr/>
          <a:lstStyle/>
          <a:p>
            <a:endParaRPr lang="he-IL" dirty="0"/>
          </a:p>
        </p:txBody>
      </p:sp>
      <p:sp>
        <p:nvSpPr>
          <p:cNvPr id="5" name="Text 3"/>
          <p:cNvSpPr/>
          <p:nvPr/>
        </p:nvSpPr>
        <p:spPr>
          <a:xfrm>
            <a:off x="457200" y="2331720"/>
            <a:ext cx="8229600" cy="274320"/>
          </a:xfrm>
          <a:prstGeom prst="rect">
            <a:avLst/>
          </a:prstGeom>
          <a:noFill/>
          <a:ln/>
        </p:spPr>
        <p:txBody>
          <a:bodyPr wrap="square" lIns="0" tIns="0" rIns="0" bIns="0" rtlCol="0" anchor="ctr"/>
          <a:lstStyle/>
          <a:p>
            <a:pPr marL="0" indent="0">
              <a:buNone/>
            </a:pPr>
            <a:r>
              <a:rPr lang="en-US" sz="1300" b="1" kern="0" spc="300" dirty="0">
                <a:solidFill>
                  <a:srgbClr val="B07CFF"/>
                </a:solidFill>
                <a:latin typeface="Calibri" pitchFamily="34" charset="0"/>
                <a:ea typeface="Calibri" pitchFamily="34" charset="-122"/>
                <a:cs typeface="Calibri" pitchFamily="34" charset="-120"/>
              </a:rPr>
              <a:t>PART FOUR</a:t>
            </a:r>
            <a:endParaRPr lang="en-US" sz="1300" dirty="0"/>
          </a:p>
        </p:txBody>
      </p:sp>
      <p:sp>
        <p:nvSpPr>
          <p:cNvPr id="6" name="Text 4"/>
          <p:cNvSpPr/>
          <p:nvPr/>
        </p:nvSpPr>
        <p:spPr>
          <a:xfrm>
            <a:off x="457200" y="2651760"/>
            <a:ext cx="8412480" cy="1360402"/>
          </a:xfrm>
          <a:prstGeom prst="rect">
            <a:avLst/>
          </a:prstGeom>
          <a:noFill/>
          <a:ln/>
        </p:spPr>
        <p:txBody>
          <a:bodyPr wrap="square" lIns="0" tIns="0" rIns="0" bIns="0" rtlCol="0" anchor="ctr"/>
          <a:lstStyle/>
          <a:p>
            <a:pPr>
              <a:lnSpc>
                <a:spcPct val="108000"/>
              </a:lnSpc>
            </a:pPr>
            <a:r>
              <a:rPr lang="en-US" sz="4000" b="1" dirty="0">
                <a:solidFill>
                  <a:srgbClr val="F4F7FB"/>
                </a:solidFill>
                <a:latin typeface="Cambria" pitchFamily="34" charset="0"/>
                <a:ea typeface="Cambria" pitchFamily="34" charset="-122"/>
                <a:cs typeface="Cambria" pitchFamily="34" charset="-120"/>
              </a:rPr>
              <a:t>FinOps</a:t>
            </a:r>
            <a:endParaRPr lang="en-US" sz="4000" dirty="0"/>
          </a:p>
          <a:p>
            <a:pPr>
              <a:lnSpc>
                <a:spcPct val="108000"/>
              </a:lnSpc>
            </a:pPr>
            <a:r>
              <a:rPr lang="en-US" sz="4000" b="1" dirty="0">
                <a:solidFill>
                  <a:srgbClr val="F4F7FB"/>
                </a:solidFill>
                <a:latin typeface="Cambria" pitchFamily="34" charset="0"/>
                <a:ea typeface="Cambria" pitchFamily="34" charset="-122"/>
                <a:cs typeface="Cambria" pitchFamily="34" charset="-120"/>
              </a:rPr>
              <a:t>Visibility &amp; Governance</a:t>
            </a:r>
            <a:endParaRPr lang="en-US" sz="4000" dirty="0"/>
          </a:p>
        </p:txBody>
      </p:sp>
      <p:sp>
        <p:nvSpPr>
          <p:cNvPr id="7" name="Text 5"/>
          <p:cNvSpPr/>
          <p:nvPr/>
        </p:nvSpPr>
        <p:spPr>
          <a:xfrm>
            <a:off x="457200" y="4012162"/>
            <a:ext cx="7863840" cy="696997"/>
          </a:xfrm>
          <a:prstGeom prst="rect">
            <a:avLst/>
          </a:prstGeom>
          <a:noFill/>
          <a:ln/>
        </p:spPr>
        <p:txBody>
          <a:bodyPr wrap="square" lIns="0" tIns="0" rIns="0" bIns="0" rtlCol="0" anchor="ctr"/>
          <a:lstStyle/>
          <a:p>
            <a:pPr marL="0" indent="0">
              <a:buNone/>
            </a:pPr>
            <a:endParaRPr lang="en-US" sz="1500" dirty="0"/>
          </a:p>
        </p:txBody>
      </p:sp>
    </p:spTree>
    <p:extLst>
      <p:ext uri="{BB962C8B-B14F-4D97-AF65-F5344CB8AC3E}">
        <p14:creationId xmlns:p14="http://schemas.microsoft.com/office/powerpoint/2010/main" val="41647489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3">
    <p:bg>
      <p:bgPr>
        <a:solidFill>
          <a:srgbClr val="070A12"/>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sp>
      <p:sp>
        <p:nvSpPr>
          <p:cNvPr id="3" name="Shape 1"/>
          <p:cNvSpPr/>
          <p:nvPr/>
        </p:nvSpPr>
        <p:spPr>
          <a:xfrm>
            <a:off x="457200" y="306324"/>
            <a:ext cx="109728" cy="109728"/>
          </a:xfrm>
          <a:prstGeom prst="ellipse">
            <a:avLst/>
          </a:prstGeom>
          <a:solidFill>
            <a:srgbClr val="FF6B7A"/>
          </a:solidFill>
          <a:ln w="12700">
            <a:solidFill>
              <a:srgbClr val="FF6B7A"/>
            </a:solidFill>
            <a:prstDash val="solid"/>
          </a:ln>
        </p:spPr>
      </p:sp>
      <p:sp>
        <p:nvSpPr>
          <p:cNvPr id="4" name="Text 2"/>
          <p:cNvSpPr/>
          <p:nvPr/>
        </p:nvSpPr>
        <p:spPr>
          <a:xfrm>
            <a:off x="640080" y="274320"/>
            <a:ext cx="7315200" cy="237744"/>
          </a:xfrm>
          <a:prstGeom prst="rect">
            <a:avLst/>
          </a:prstGeom>
          <a:noFill/>
          <a:ln/>
        </p:spPr>
        <p:txBody>
          <a:bodyPr wrap="square" lIns="0" tIns="0" rIns="0" bIns="0" rtlCol="0" anchor="ctr"/>
          <a:lstStyle/>
          <a:p>
            <a:pPr indent="0" marL="0">
              <a:buNone/>
            </a:pPr>
            <a:r>
              <a:rPr lang="en-US" sz="1300" b="1" spc="200" kern="0" dirty="0">
                <a:solidFill>
                  <a:srgbClr val="FF6B7A"/>
                </a:solidFill>
                <a:latin typeface="Calibri" pitchFamily="34" charset="0"/>
                <a:ea typeface="Calibri" pitchFamily="34" charset="-122"/>
                <a:cs typeface="Calibri" pitchFamily="34" charset="-120"/>
              </a:rPr>
              <a:t>THE PROBLEM</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indent="0" marL="0">
              <a:buNone/>
            </a:pPr>
            <a:r>
              <a:rPr lang="en-US" sz="2625" b="1" dirty="0">
                <a:solidFill>
                  <a:srgbClr val="F4F7FB"/>
                </a:solidFill>
                <a:latin typeface="Calibri" pitchFamily="34" charset="0"/>
                <a:ea typeface="Calibri" pitchFamily="34" charset="-122"/>
                <a:cs typeface="Calibri" pitchFamily="34" charset="-120"/>
              </a:rPr>
              <a:t>AI spend is outpacing governance</a:t>
            </a:r>
            <a:endParaRPr lang="en-US" sz="2625" dirty="0"/>
          </a:p>
        </p:txBody>
      </p:sp>
      <p:sp>
        <p:nvSpPr>
          <p:cNvPr id="6" name="Text 4"/>
          <p:cNvSpPr/>
          <p:nvPr/>
        </p:nvSpPr>
        <p:spPr>
          <a:xfrm>
            <a:off x="8321040" y="493776"/>
            <a:ext cx="3413455" cy="658368"/>
          </a:xfrm>
          <a:prstGeom prst="rect">
            <a:avLst/>
          </a:prstGeom>
          <a:noFill/>
          <a:ln/>
        </p:spPr>
        <p:txBody>
          <a:bodyPr wrap="square" lIns="0" tIns="0" rIns="0" bIns="0" rtlCol="0" anchor="t"/>
          <a:lstStyle/>
          <a:p>
            <a:pPr algn="r" indent="0" marL="0">
              <a:lnSpc>
                <a:spcPct val="115000"/>
              </a:lnSpc>
              <a:buNone/>
            </a:pPr>
            <a:r>
              <a:rPr lang="en-US" sz="1200" dirty="0">
                <a:solidFill>
                  <a:srgbClr val="91A0B7"/>
                </a:solidFill>
                <a:latin typeface="Calibri" pitchFamily="34" charset="0"/>
                <a:ea typeface="Calibri" pitchFamily="34" charset="-122"/>
                <a:cs typeface="Calibri" pitchFamily="34" charset="-120"/>
              </a:rPr>
              <a:t>Every business unit buys AI separately, on shared keys, with no owner per consumer.</a:t>
            </a:r>
            <a:endParaRPr lang="en-US" sz="1200" dirty="0"/>
          </a:p>
        </p:txBody>
      </p:sp>
      <p:sp>
        <p:nvSpPr>
          <p:cNvPr id="7" name="Shape 5"/>
          <p:cNvSpPr/>
          <p:nvPr/>
        </p:nvSpPr>
        <p:spPr>
          <a:xfrm>
            <a:off x="3200400" y="2029968"/>
            <a:ext cx="1005840" cy="3658"/>
          </a:xfrm>
          <a:prstGeom prst="line">
            <a:avLst/>
          </a:prstGeom>
          <a:noFill/>
          <a:ln w="9525">
            <a:solidFill>
              <a:srgbClr val="FF6B7A">
                <a:alpha val="42000"/>
              </a:srgbClr>
            </a:solidFill>
            <a:prstDash val="solid"/>
          </a:ln>
        </p:spPr>
      </p:sp>
      <p:sp>
        <p:nvSpPr>
          <p:cNvPr id="8" name="Shape 6"/>
          <p:cNvSpPr/>
          <p:nvPr/>
        </p:nvSpPr>
        <p:spPr>
          <a:xfrm>
            <a:off x="3200400" y="2029968"/>
            <a:ext cx="1005840" cy="779069"/>
          </a:xfrm>
          <a:prstGeom prst="line">
            <a:avLst/>
          </a:prstGeom>
          <a:noFill/>
          <a:ln w="9525">
            <a:solidFill>
              <a:srgbClr val="FF6B7A">
                <a:alpha val="42000"/>
              </a:srgbClr>
            </a:solidFill>
            <a:prstDash val="solid"/>
          </a:ln>
        </p:spPr>
      </p:sp>
      <p:sp>
        <p:nvSpPr>
          <p:cNvPr id="9" name="Shape 7"/>
          <p:cNvSpPr/>
          <p:nvPr/>
        </p:nvSpPr>
        <p:spPr>
          <a:xfrm>
            <a:off x="3200400" y="2029968"/>
            <a:ext cx="1005840" cy="1558138"/>
          </a:xfrm>
          <a:prstGeom prst="line">
            <a:avLst/>
          </a:prstGeom>
          <a:noFill/>
          <a:ln w="9525">
            <a:solidFill>
              <a:srgbClr val="FF6B7A">
                <a:alpha val="42000"/>
              </a:srgbClr>
            </a:solidFill>
            <a:prstDash val="solid"/>
          </a:ln>
        </p:spPr>
      </p:sp>
      <p:sp>
        <p:nvSpPr>
          <p:cNvPr id="10" name="Shape 8"/>
          <p:cNvSpPr/>
          <p:nvPr/>
        </p:nvSpPr>
        <p:spPr>
          <a:xfrm>
            <a:off x="3200400" y="2029968"/>
            <a:ext cx="1005840" cy="2337206"/>
          </a:xfrm>
          <a:prstGeom prst="line">
            <a:avLst/>
          </a:prstGeom>
          <a:noFill/>
          <a:ln w="9525">
            <a:solidFill>
              <a:srgbClr val="FF6B7A">
                <a:alpha val="42000"/>
              </a:srgbClr>
            </a:solidFill>
            <a:prstDash val="solid"/>
          </a:ln>
        </p:spPr>
      </p:sp>
      <p:sp>
        <p:nvSpPr>
          <p:cNvPr id="11" name="Shape 9"/>
          <p:cNvSpPr/>
          <p:nvPr/>
        </p:nvSpPr>
        <p:spPr>
          <a:xfrm>
            <a:off x="3200400" y="2029968"/>
            <a:ext cx="1005840" cy="3116275"/>
          </a:xfrm>
          <a:prstGeom prst="line">
            <a:avLst/>
          </a:prstGeom>
          <a:noFill/>
          <a:ln w="9525">
            <a:solidFill>
              <a:srgbClr val="FF6B7A">
                <a:alpha val="42000"/>
              </a:srgbClr>
            </a:solidFill>
            <a:prstDash val="solid"/>
          </a:ln>
        </p:spPr>
      </p:sp>
      <p:sp>
        <p:nvSpPr>
          <p:cNvPr id="12" name="Shape 10"/>
          <p:cNvSpPr/>
          <p:nvPr/>
        </p:nvSpPr>
        <p:spPr>
          <a:xfrm>
            <a:off x="3200400" y="2029968"/>
            <a:ext cx="1005840" cy="3895344"/>
          </a:xfrm>
          <a:prstGeom prst="line">
            <a:avLst/>
          </a:prstGeom>
          <a:noFill/>
          <a:ln w="9525">
            <a:solidFill>
              <a:srgbClr val="FF6B7A">
                <a:alpha val="42000"/>
              </a:srgbClr>
            </a:solidFill>
            <a:prstDash val="solid"/>
          </a:ln>
        </p:spPr>
      </p:sp>
      <p:sp>
        <p:nvSpPr>
          <p:cNvPr id="13" name="Shape 11"/>
          <p:cNvSpPr/>
          <p:nvPr/>
        </p:nvSpPr>
        <p:spPr>
          <a:xfrm flipV="1">
            <a:off x="3200400" y="2029968"/>
            <a:ext cx="1005840" cy="779069"/>
          </a:xfrm>
          <a:prstGeom prst="line">
            <a:avLst/>
          </a:prstGeom>
          <a:noFill/>
          <a:ln w="9525">
            <a:solidFill>
              <a:srgbClr val="FF6B7A">
                <a:alpha val="42000"/>
              </a:srgbClr>
            </a:solidFill>
            <a:prstDash val="solid"/>
          </a:ln>
        </p:spPr>
      </p:sp>
      <p:sp>
        <p:nvSpPr>
          <p:cNvPr id="14" name="Shape 12"/>
          <p:cNvSpPr/>
          <p:nvPr/>
        </p:nvSpPr>
        <p:spPr>
          <a:xfrm>
            <a:off x="3200400" y="2809037"/>
            <a:ext cx="1005840" cy="3658"/>
          </a:xfrm>
          <a:prstGeom prst="line">
            <a:avLst/>
          </a:prstGeom>
          <a:noFill/>
          <a:ln w="9525">
            <a:solidFill>
              <a:srgbClr val="FF6B7A">
                <a:alpha val="42000"/>
              </a:srgbClr>
            </a:solidFill>
            <a:prstDash val="solid"/>
          </a:ln>
        </p:spPr>
      </p:sp>
      <p:sp>
        <p:nvSpPr>
          <p:cNvPr id="15" name="Shape 13"/>
          <p:cNvSpPr/>
          <p:nvPr/>
        </p:nvSpPr>
        <p:spPr>
          <a:xfrm>
            <a:off x="3200400" y="2809037"/>
            <a:ext cx="1005840" cy="779069"/>
          </a:xfrm>
          <a:prstGeom prst="line">
            <a:avLst/>
          </a:prstGeom>
          <a:noFill/>
          <a:ln w="9525">
            <a:solidFill>
              <a:srgbClr val="FF6B7A">
                <a:alpha val="42000"/>
              </a:srgbClr>
            </a:solidFill>
            <a:prstDash val="solid"/>
          </a:ln>
        </p:spPr>
      </p:sp>
      <p:sp>
        <p:nvSpPr>
          <p:cNvPr id="16" name="Shape 14"/>
          <p:cNvSpPr/>
          <p:nvPr/>
        </p:nvSpPr>
        <p:spPr>
          <a:xfrm>
            <a:off x="3200400" y="2809037"/>
            <a:ext cx="1005840" cy="1558138"/>
          </a:xfrm>
          <a:prstGeom prst="line">
            <a:avLst/>
          </a:prstGeom>
          <a:noFill/>
          <a:ln w="9525">
            <a:solidFill>
              <a:srgbClr val="FF6B7A">
                <a:alpha val="42000"/>
              </a:srgbClr>
            </a:solidFill>
            <a:prstDash val="solid"/>
          </a:ln>
        </p:spPr>
      </p:sp>
      <p:sp>
        <p:nvSpPr>
          <p:cNvPr id="17" name="Shape 15"/>
          <p:cNvSpPr/>
          <p:nvPr/>
        </p:nvSpPr>
        <p:spPr>
          <a:xfrm>
            <a:off x="3200400" y="2809037"/>
            <a:ext cx="1005840" cy="2337206"/>
          </a:xfrm>
          <a:prstGeom prst="line">
            <a:avLst/>
          </a:prstGeom>
          <a:noFill/>
          <a:ln w="9525">
            <a:solidFill>
              <a:srgbClr val="FF6B7A">
                <a:alpha val="42000"/>
              </a:srgbClr>
            </a:solidFill>
            <a:prstDash val="solid"/>
          </a:ln>
        </p:spPr>
      </p:sp>
      <p:sp>
        <p:nvSpPr>
          <p:cNvPr id="18" name="Shape 16"/>
          <p:cNvSpPr/>
          <p:nvPr/>
        </p:nvSpPr>
        <p:spPr>
          <a:xfrm>
            <a:off x="3200400" y="2809037"/>
            <a:ext cx="1005840" cy="3116275"/>
          </a:xfrm>
          <a:prstGeom prst="line">
            <a:avLst/>
          </a:prstGeom>
          <a:noFill/>
          <a:ln w="9525">
            <a:solidFill>
              <a:srgbClr val="FF6B7A">
                <a:alpha val="42000"/>
              </a:srgbClr>
            </a:solidFill>
            <a:prstDash val="solid"/>
          </a:ln>
        </p:spPr>
      </p:sp>
      <p:sp>
        <p:nvSpPr>
          <p:cNvPr id="19" name="Shape 17"/>
          <p:cNvSpPr/>
          <p:nvPr/>
        </p:nvSpPr>
        <p:spPr>
          <a:xfrm flipV="1">
            <a:off x="3200400" y="2029968"/>
            <a:ext cx="1005840" cy="1558138"/>
          </a:xfrm>
          <a:prstGeom prst="line">
            <a:avLst/>
          </a:prstGeom>
          <a:noFill/>
          <a:ln w="9525">
            <a:solidFill>
              <a:srgbClr val="FF6B7A">
                <a:alpha val="42000"/>
              </a:srgbClr>
            </a:solidFill>
            <a:prstDash val="solid"/>
          </a:ln>
        </p:spPr>
      </p:sp>
      <p:sp>
        <p:nvSpPr>
          <p:cNvPr id="20" name="Shape 18"/>
          <p:cNvSpPr/>
          <p:nvPr/>
        </p:nvSpPr>
        <p:spPr>
          <a:xfrm flipV="1">
            <a:off x="3200400" y="2809037"/>
            <a:ext cx="1005840" cy="779069"/>
          </a:xfrm>
          <a:prstGeom prst="line">
            <a:avLst/>
          </a:prstGeom>
          <a:noFill/>
          <a:ln w="9525">
            <a:solidFill>
              <a:srgbClr val="FF6B7A">
                <a:alpha val="42000"/>
              </a:srgbClr>
            </a:solidFill>
            <a:prstDash val="solid"/>
          </a:ln>
        </p:spPr>
      </p:sp>
      <p:sp>
        <p:nvSpPr>
          <p:cNvPr id="21" name="Shape 19"/>
          <p:cNvSpPr/>
          <p:nvPr/>
        </p:nvSpPr>
        <p:spPr>
          <a:xfrm>
            <a:off x="3200400" y="3588106"/>
            <a:ext cx="1005840" cy="3658"/>
          </a:xfrm>
          <a:prstGeom prst="line">
            <a:avLst/>
          </a:prstGeom>
          <a:noFill/>
          <a:ln w="9525">
            <a:solidFill>
              <a:srgbClr val="FF6B7A">
                <a:alpha val="42000"/>
              </a:srgbClr>
            </a:solidFill>
            <a:prstDash val="solid"/>
          </a:ln>
        </p:spPr>
      </p:sp>
      <p:sp>
        <p:nvSpPr>
          <p:cNvPr id="22" name="Shape 20"/>
          <p:cNvSpPr/>
          <p:nvPr/>
        </p:nvSpPr>
        <p:spPr>
          <a:xfrm>
            <a:off x="3200400" y="3588106"/>
            <a:ext cx="1005840" cy="779069"/>
          </a:xfrm>
          <a:prstGeom prst="line">
            <a:avLst/>
          </a:prstGeom>
          <a:noFill/>
          <a:ln w="9525">
            <a:solidFill>
              <a:srgbClr val="FF6B7A">
                <a:alpha val="42000"/>
              </a:srgbClr>
            </a:solidFill>
            <a:prstDash val="solid"/>
          </a:ln>
        </p:spPr>
      </p:sp>
      <p:sp>
        <p:nvSpPr>
          <p:cNvPr id="23" name="Shape 21"/>
          <p:cNvSpPr/>
          <p:nvPr/>
        </p:nvSpPr>
        <p:spPr>
          <a:xfrm>
            <a:off x="3200400" y="3588106"/>
            <a:ext cx="1005840" cy="1558138"/>
          </a:xfrm>
          <a:prstGeom prst="line">
            <a:avLst/>
          </a:prstGeom>
          <a:noFill/>
          <a:ln w="9525">
            <a:solidFill>
              <a:srgbClr val="FF6B7A">
                <a:alpha val="42000"/>
              </a:srgbClr>
            </a:solidFill>
            <a:prstDash val="solid"/>
          </a:ln>
        </p:spPr>
      </p:sp>
      <p:sp>
        <p:nvSpPr>
          <p:cNvPr id="24" name="Shape 22"/>
          <p:cNvSpPr/>
          <p:nvPr/>
        </p:nvSpPr>
        <p:spPr>
          <a:xfrm>
            <a:off x="3200400" y="3588106"/>
            <a:ext cx="1005840" cy="2337206"/>
          </a:xfrm>
          <a:prstGeom prst="line">
            <a:avLst/>
          </a:prstGeom>
          <a:noFill/>
          <a:ln w="9525">
            <a:solidFill>
              <a:srgbClr val="FF6B7A">
                <a:alpha val="42000"/>
              </a:srgbClr>
            </a:solidFill>
            <a:prstDash val="solid"/>
          </a:ln>
        </p:spPr>
      </p:sp>
      <p:sp>
        <p:nvSpPr>
          <p:cNvPr id="25" name="Shape 23"/>
          <p:cNvSpPr/>
          <p:nvPr/>
        </p:nvSpPr>
        <p:spPr>
          <a:xfrm flipV="1">
            <a:off x="3200400" y="2029968"/>
            <a:ext cx="1005840" cy="2337206"/>
          </a:xfrm>
          <a:prstGeom prst="line">
            <a:avLst/>
          </a:prstGeom>
          <a:noFill/>
          <a:ln w="9525">
            <a:solidFill>
              <a:srgbClr val="FF6B7A">
                <a:alpha val="42000"/>
              </a:srgbClr>
            </a:solidFill>
            <a:prstDash val="solid"/>
          </a:ln>
        </p:spPr>
      </p:sp>
      <p:sp>
        <p:nvSpPr>
          <p:cNvPr id="26" name="Shape 24"/>
          <p:cNvSpPr/>
          <p:nvPr/>
        </p:nvSpPr>
        <p:spPr>
          <a:xfrm flipV="1">
            <a:off x="3200400" y="2809037"/>
            <a:ext cx="1005840" cy="1558138"/>
          </a:xfrm>
          <a:prstGeom prst="line">
            <a:avLst/>
          </a:prstGeom>
          <a:noFill/>
          <a:ln w="9525">
            <a:solidFill>
              <a:srgbClr val="FF6B7A">
                <a:alpha val="42000"/>
              </a:srgbClr>
            </a:solidFill>
            <a:prstDash val="solid"/>
          </a:ln>
        </p:spPr>
      </p:sp>
      <p:sp>
        <p:nvSpPr>
          <p:cNvPr id="27" name="Shape 25"/>
          <p:cNvSpPr/>
          <p:nvPr/>
        </p:nvSpPr>
        <p:spPr>
          <a:xfrm flipV="1">
            <a:off x="3200400" y="3588106"/>
            <a:ext cx="1005840" cy="779069"/>
          </a:xfrm>
          <a:prstGeom prst="line">
            <a:avLst/>
          </a:prstGeom>
          <a:noFill/>
          <a:ln w="9525">
            <a:solidFill>
              <a:srgbClr val="FF6B7A">
                <a:alpha val="42000"/>
              </a:srgbClr>
            </a:solidFill>
            <a:prstDash val="solid"/>
          </a:ln>
        </p:spPr>
      </p:sp>
      <p:sp>
        <p:nvSpPr>
          <p:cNvPr id="28" name="Shape 26"/>
          <p:cNvSpPr/>
          <p:nvPr/>
        </p:nvSpPr>
        <p:spPr>
          <a:xfrm>
            <a:off x="3200400" y="4367174"/>
            <a:ext cx="1005840" cy="3658"/>
          </a:xfrm>
          <a:prstGeom prst="line">
            <a:avLst/>
          </a:prstGeom>
          <a:noFill/>
          <a:ln w="9525">
            <a:solidFill>
              <a:srgbClr val="FF6B7A">
                <a:alpha val="42000"/>
              </a:srgbClr>
            </a:solidFill>
            <a:prstDash val="solid"/>
          </a:ln>
        </p:spPr>
      </p:sp>
      <p:sp>
        <p:nvSpPr>
          <p:cNvPr id="29" name="Shape 27"/>
          <p:cNvSpPr/>
          <p:nvPr/>
        </p:nvSpPr>
        <p:spPr>
          <a:xfrm>
            <a:off x="3200400" y="4367174"/>
            <a:ext cx="1005840" cy="779069"/>
          </a:xfrm>
          <a:prstGeom prst="line">
            <a:avLst/>
          </a:prstGeom>
          <a:noFill/>
          <a:ln w="9525">
            <a:solidFill>
              <a:srgbClr val="FF6B7A">
                <a:alpha val="42000"/>
              </a:srgbClr>
            </a:solidFill>
            <a:prstDash val="solid"/>
          </a:ln>
        </p:spPr>
      </p:sp>
      <p:sp>
        <p:nvSpPr>
          <p:cNvPr id="30" name="Shape 28"/>
          <p:cNvSpPr/>
          <p:nvPr/>
        </p:nvSpPr>
        <p:spPr>
          <a:xfrm>
            <a:off x="3200400" y="4367174"/>
            <a:ext cx="1005840" cy="1558138"/>
          </a:xfrm>
          <a:prstGeom prst="line">
            <a:avLst/>
          </a:prstGeom>
          <a:noFill/>
          <a:ln w="9525">
            <a:solidFill>
              <a:srgbClr val="FF6B7A">
                <a:alpha val="42000"/>
              </a:srgbClr>
            </a:solidFill>
            <a:prstDash val="solid"/>
          </a:ln>
        </p:spPr>
      </p:sp>
      <p:sp>
        <p:nvSpPr>
          <p:cNvPr id="31" name="Shape 29"/>
          <p:cNvSpPr/>
          <p:nvPr/>
        </p:nvSpPr>
        <p:spPr>
          <a:xfrm flipV="1">
            <a:off x="3200400" y="2029968"/>
            <a:ext cx="1005840" cy="3116275"/>
          </a:xfrm>
          <a:prstGeom prst="line">
            <a:avLst/>
          </a:prstGeom>
          <a:noFill/>
          <a:ln w="9525">
            <a:solidFill>
              <a:srgbClr val="FF6B7A">
                <a:alpha val="42000"/>
              </a:srgbClr>
            </a:solidFill>
            <a:prstDash val="solid"/>
          </a:ln>
        </p:spPr>
      </p:sp>
      <p:sp>
        <p:nvSpPr>
          <p:cNvPr id="32" name="Shape 30"/>
          <p:cNvSpPr/>
          <p:nvPr/>
        </p:nvSpPr>
        <p:spPr>
          <a:xfrm flipV="1">
            <a:off x="3200400" y="2809037"/>
            <a:ext cx="1005840" cy="2337206"/>
          </a:xfrm>
          <a:prstGeom prst="line">
            <a:avLst/>
          </a:prstGeom>
          <a:noFill/>
          <a:ln w="9525">
            <a:solidFill>
              <a:srgbClr val="FF6B7A">
                <a:alpha val="42000"/>
              </a:srgbClr>
            </a:solidFill>
            <a:prstDash val="solid"/>
          </a:ln>
        </p:spPr>
      </p:sp>
      <p:sp>
        <p:nvSpPr>
          <p:cNvPr id="33" name="Shape 31"/>
          <p:cNvSpPr/>
          <p:nvPr/>
        </p:nvSpPr>
        <p:spPr>
          <a:xfrm flipV="1">
            <a:off x="3200400" y="3588106"/>
            <a:ext cx="1005840" cy="1558138"/>
          </a:xfrm>
          <a:prstGeom prst="line">
            <a:avLst/>
          </a:prstGeom>
          <a:noFill/>
          <a:ln w="9525">
            <a:solidFill>
              <a:srgbClr val="FF6B7A">
                <a:alpha val="42000"/>
              </a:srgbClr>
            </a:solidFill>
            <a:prstDash val="solid"/>
          </a:ln>
        </p:spPr>
      </p:sp>
      <p:sp>
        <p:nvSpPr>
          <p:cNvPr id="34" name="Shape 32"/>
          <p:cNvSpPr/>
          <p:nvPr/>
        </p:nvSpPr>
        <p:spPr>
          <a:xfrm flipV="1">
            <a:off x="3200400" y="4367174"/>
            <a:ext cx="1005840" cy="779069"/>
          </a:xfrm>
          <a:prstGeom prst="line">
            <a:avLst/>
          </a:prstGeom>
          <a:noFill/>
          <a:ln w="9525">
            <a:solidFill>
              <a:srgbClr val="FF6B7A">
                <a:alpha val="42000"/>
              </a:srgbClr>
            </a:solidFill>
            <a:prstDash val="solid"/>
          </a:ln>
        </p:spPr>
      </p:sp>
      <p:sp>
        <p:nvSpPr>
          <p:cNvPr id="35" name="Shape 33"/>
          <p:cNvSpPr/>
          <p:nvPr/>
        </p:nvSpPr>
        <p:spPr>
          <a:xfrm>
            <a:off x="3200400" y="5146243"/>
            <a:ext cx="1005840" cy="3658"/>
          </a:xfrm>
          <a:prstGeom prst="line">
            <a:avLst/>
          </a:prstGeom>
          <a:noFill/>
          <a:ln w="9525">
            <a:solidFill>
              <a:srgbClr val="FF6B7A">
                <a:alpha val="42000"/>
              </a:srgbClr>
            </a:solidFill>
            <a:prstDash val="solid"/>
          </a:ln>
        </p:spPr>
      </p:sp>
      <p:sp>
        <p:nvSpPr>
          <p:cNvPr id="36" name="Shape 34"/>
          <p:cNvSpPr/>
          <p:nvPr/>
        </p:nvSpPr>
        <p:spPr>
          <a:xfrm>
            <a:off x="3200400" y="5146243"/>
            <a:ext cx="1005840" cy="779069"/>
          </a:xfrm>
          <a:prstGeom prst="line">
            <a:avLst/>
          </a:prstGeom>
          <a:noFill/>
          <a:ln w="9525">
            <a:solidFill>
              <a:srgbClr val="FF6B7A">
                <a:alpha val="42000"/>
              </a:srgbClr>
            </a:solidFill>
            <a:prstDash val="solid"/>
          </a:ln>
        </p:spPr>
      </p:sp>
      <p:sp>
        <p:nvSpPr>
          <p:cNvPr id="37" name="Text 35"/>
          <p:cNvSpPr/>
          <p:nvPr/>
        </p:nvSpPr>
        <p:spPr>
          <a:xfrm>
            <a:off x="457200" y="1325880"/>
            <a:ext cx="2743200" cy="256032"/>
          </a:xfrm>
          <a:prstGeom prst="rect">
            <a:avLst/>
          </a:prstGeom>
          <a:noFill/>
          <a:ln/>
        </p:spPr>
        <p:txBody>
          <a:bodyPr wrap="square" lIns="0" tIns="0" rIns="0" bIns="0" rtlCol="0" anchor="ctr"/>
          <a:lstStyle/>
          <a:p>
            <a:pPr indent="0" marL="0">
              <a:buNone/>
            </a:pPr>
            <a:r>
              <a:rPr lang="en-US" sz="1200" b="1" spc="140" kern="0" dirty="0">
                <a:solidFill>
                  <a:srgbClr val="91A0B7"/>
                </a:solidFill>
                <a:latin typeface="Calibri" pitchFamily="34" charset="0"/>
                <a:ea typeface="Calibri" pitchFamily="34" charset="-122"/>
                <a:cs typeface="Calibri" pitchFamily="34" charset="-120"/>
              </a:rPr>
              <a:t>WHO CONSUMES AI</a:t>
            </a:r>
            <a:endParaRPr lang="en-US" sz="1200" dirty="0"/>
          </a:p>
        </p:txBody>
      </p:sp>
      <p:sp>
        <p:nvSpPr>
          <p:cNvPr id="38" name="Shape 36"/>
          <p:cNvSpPr/>
          <p:nvPr/>
        </p:nvSpPr>
        <p:spPr>
          <a:xfrm>
            <a:off x="457200" y="1691640"/>
            <a:ext cx="2743200" cy="676656"/>
          </a:xfrm>
          <a:prstGeom prst="roundRect">
            <a:avLst>
              <a:gd name="adj" fmla="val 8108"/>
            </a:avLst>
          </a:prstGeom>
          <a:solidFill>
            <a:srgbClr val="121B2D"/>
          </a:solidFill>
          <a:ln w="12700">
            <a:solidFill>
              <a:srgbClr val="23304A"/>
            </a:solidFill>
            <a:prstDash val="solid"/>
          </a:ln>
        </p:spPr>
      </p:sp>
      <p:sp>
        <p:nvSpPr>
          <p:cNvPr id="39" name="Text 37"/>
          <p:cNvSpPr/>
          <p:nvPr/>
        </p:nvSpPr>
        <p:spPr>
          <a:xfrm>
            <a:off x="640080" y="1691640"/>
            <a:ext cx="2377440" cy="676656"/>
          </a:xfrm>
          <a:prstGeom prst="rect">
            <a:avLst/>
          </a:prstGeom>
          <a:noFill/>
          <a:ln/>
        </p:spPr>
        <p:txBody>
          <a:bodyPr wrap="square" lIns="0" tIns="0" rIns="0" bIns="0" rtlCol="0" anchor="ctr"/>
          <a:lstStyle/>
          <a:p>
            <a:pPr indent="0" marL="0">
              <a:buNone/>
            </a:pPr>
            <a:r>
              <a:rPr lang="en-US" sz="1300" dirty="0">
                <a:solidFill>
                  <a:srgbClr val="F4F7FB"/>
                </a:solidFill>
                <a:latin typeface="Calibri" pitchFamily="34" charset="0"/>
                <a:ea typeface="Calibri" pitchFamily="34" charset="-122"/>
                <a:cs typeface="Calibri" pitchFamily="34" charset="-120"/>
              </a:rPr>
              <a:t>Business applications</a:t>
            </a:r>
            <a:endParaRPr lang="en-US" sz="1300" dirty="0"/>
          </a:p>
        </p:txBody>
      </p:sp>
      <p:sp>
        <p:nvSpPr>
          <p:cNvPr id="40" name="Shape 38"/>
          <p:cNvSpPr/>
          <p:nvPr/>
        </p:nvSpPr>
        <p:spPr>
          <a:xfrm>
            <a:off x="457200" y="2470709"/>
            <a:ext cx="2743200" cy="676656"/>
          </a:xfrm>
          <a:prstGeom prst="roundRect">
            <a:avLst>
              <a:gd name="adj" fmla="val 8108"/>
            </a:avLst>
          </a:prstGeom>
          <a:solidFill>
            <a:srgbClr val="121B2D"/>
          </a:solidFill>
          <a:ln w="12700">
            <a:solidFill>
              <a:srgbClr val="23304A"/>
            </a:solidFill>
            <a:prstDash val="solid"/>
          </a:ln>
        </p:spPr>
      </p:sp>
      <p:sp>
        <p:nvSpPr>
          <p:cNvPr id="41" name="Text 39"/>
          <p:cNvSpPr/>
          <p:nvPr/>
        </p:nvSpPr>
        <p:spPr>
          <a:xfrm>
            <a:off x="640080" y="2470709"/>
            <a:ext cx="2377440" cy="676656"/>
          </a:xfrm>
          <a:prstGeom prst="rect">
            <a:avLst/>
          </a:prstGeom>
          <a:noFill/>
          <a:ln/>
        </p:spPr>
        <p:txBody>
          <a:bodyPr wrap="square" lIns="0" tIns="0" rIns="0" bIns="0" rtlCol="0" anchor="ctr"/>
          <a:lstStyle/>
          <a:p>
            <a:pPr indent="0" marL="0">
              <a:buNone/>
            </a:pPr>
            <a:r>
              <a:rPr lang="en-US" sz="1300" dirty="0">
                <a:solidFill>
                  <a:srgbClr val="F4F7FB"/>
                </a:solidFill>
                <a:latin typeface="Calibri" pitchFamily="34" charset="0"/>
                <a:ea typeface="Calibri" pitchFamily="34" charset="-122"/>
                <a:cs typeface="Calibri" pitchFamily="34" charset="-120"/>
              </a:rPr>
              <a:t>Analytics and BI</a:t>
            </a:r>
            <a:endParaRPr lang="en-US" sz="1300" dirty="0"/>
          </a:p>
        </p:txBody>
      </p:sp>
      <p:sp>
        <p:nvSpPr>
          <p:cNvPr id="42" name="Shape 40"/>
          <p:cNvSpPr/>
          <p:nvPr/>
        </p:nvSpPr>
        <p:spPr>
          <a:xfrm>
            <a:off x="457200" y="3249778"/>
            <a:ext cx="2743200" cy="676656"/>
          </a:xfrm>
          <a:prstGeom prst="roundRect">
            <a:avLst>
              <a:gd name="adj" fmla="val 8108"/>
            </a:avLst>
          </a:prstGeom>
          <a:solidFill>
            <a:srgbClr val="121B2D"/>
          </a:solidFill>
          <a:ln w="12700">
            <a:solidFill>
              <a:srgbClr val="23304A"/>
            </a:solidFill>
            <a:prstDash val="solid"/>
          </a:ln>
        </p:spPr>
      </p:sp>
      <p:sp>
        <p:nvSpPr>
          <p:cNvPr id="43" name="Text 41"/>
          <p:cNvSpPr/>
          <p:nvPr/>
        </p:nvSpPr>
        <p:spPr>
          <a:xfrm>
            <a:off x="640080" y="3249778"/>
            <a:ext cx="2377440" cy="676656"/>
          </a:xfrm>
          <a:prstGeom prst="rect">
            <a:avLst/>
          </a:prstGeom>
          <a:noFill/>
          <a:ln/>
        </p:spPr>
        <p:txBody>
          <a:bodyPr wrap="square" lIns="0" tIns="0" rIns="0" bIns="0" rtlCol="0" anchor="ctr"/>
          <a:lstStyle/>
          <a:p>
            <a:pPr indent="0" marL="0">
              <a:buNone/>
            </a:pPr>
            <a:r>
              <a:rPr lang="en-US" sz="1300" dirty="0">
                <a:solidFill>
                  <a:srgbClr val="F4F7FB"/>
                </a:solidFill>
                <a:latin typeface="Calibri" pitchFamily="34" charset="0"/>
                <a:ea typeface="Calibri" pitchFamily="34" charset="-122"/>
                <a:cs typeface="Calibri" pitchFamily="34" charset="-120"/>
              </a:rPr>
              <a:t>HR and back office</a:t>
            </a:r>
            <a:endParaRPr lang="en-US" sz="1300" dirty="0"/>
          </a:p>
        </p:txBody>
      </p:sp>
      <p:sp>
        <p:nvSpPr>
          <p:cNvPr id="44" name="Shape 42"/>
          <p:cNvSpPr/>
          <p:nvPr/>
        </p:nvSpPr>
        <p:spPr>
          <a:xfrm>
            <a:off x="457200" y="4028846"/>
            <a:ext cx="2743200" cy="676656"/>
          </a:xfrm>
          <a:prstGeom prst="roundRect">
            <a:avLst>
              <a:gd name="adj" fmla="val 8108"/>
            </a:avLst>
          </a:prstGeom>
          <a:solidFill>
            <a:srgbClr val="121B2D"/>
          </a:solidFill>
          <a:ln w="12700">
            <a:solidFill>
              <a:srgbClr val="23304A"/>
            </a:solidFill>
            <a:prstDash val="solid"/>
          </a:ln>
        </p:spPr>
      </p:sp>
      <p:sp>
        <p:nvSpPr>
          <p:cNvPr id="45" name="Text 43"/>
          <p:cNvSpPr/>
          <p:nvPr/>
        </p:nvSpPr>
        <p:spPr>
          <a:xfrm>
            <a:off x="640080" y="4028846"/>
            <a:ext cx="2377440" cy="676656"/>
          </a:xfrm>
          <a:prstGeom prst="rect">
            <a:avLst/>
          </a:prstGeom>
          <a:noFill/>
          <a:ln/>
        </p:spPr>
        <p:txBody>
          <a:bodyPr wrap="square" lIns="0" tIns="0" rIns="0" bIns="0" rtlCol="0" anchor="ctr"/>
          <a:lstStyle/>
          <a:p>
            <a:pPr indent="0" marL="0">
              <a:buNone/>
            </a:pPr>
            <a:r>
              <a:rPr lang="en-US" sz="1300" dirty="0">
                <a:solidFill>
                  <a:srgbClr val="F4F7FB"/>
                </a:solidFill>
                <a:latin typeface="Calibri" pitchFamily="34" charset="0"/>
                <a:ea typeface="Calibri" pitchFamily="34" charset="-122"/>
                <a:cs typeface="Calibri" pitchFamily="34" charset="-120"/>
              </a:rPr>
              <a:t>R&amp;D and data science</a:t>
            </a:r>
            <a:endParaRPr lang="en-US" sz="1300" dirty="0"/>
          </a:p>
        </p:txBody>
      </p:sp>
      <p:sp>
        <p:nvSpPr>
          <p:cNvPr id="46" name="Shape 44"/>
          <p:cNvSpPr/>
          <p:nvPr/>
        </p:nvSpPr>
        <p:spPr>
          <a:xfrm>
            <a:off x="457200" y="4807915"/>
            <a:ext cx="2743200" cy="676656"/>
          </a:xfrm>
          <a:prstGeom prst="roundRect">
            <a:avLst>
              <a:gd name="adj" fmla="val 8108"/>
            </a:avLst>
          </a:prstGeom>
          <a:solidFill>
            <a:srgbClr val="121B2D"/>
          </a:solidFill>
          <a:ln w="12700">
            <a:solidFill>
              <a:srgbClr val="23304A"/>
            </a:solidFill>
            <a:prstDash val="solid"/>
          </a:ln>
        </p:spPr>
      </p:sp>
      <p:sp>
        <p:nvSpPr>
          <p:cNvPr id="47" name="Text 45"/>
          <p:cNvSpPr/>
          <p:nvPr/>
        </p:nvSpPr>
        <p:spPr>
          <a:xfrm>
            <a:off x="640080" y="4807915"/>
            <a:ext cx="2377440" cy="676656"/>
          </a:xfrm>
          <a:prstGeom prst="rect">
            <a:avLst/>
          </a:prstGeom>
          <a:noFill/>
          <a:ln/>
        </p:spPr>
        <p:txBody>
          <a:bodyPr wrap="square" lIns="0" tIns="0" rIns="0" bIns="0" rtlCol="0" anchor="ctr"/>
          <a:lstStyle/>
          <a:p>
            <a:pPr indent="0" marL="0">
              <a:buNone/>
            </a:pPr>
            <a:r>
              <a:rPr lang="en-US" sz="1300" dirty="0">
                <a:solidFill>
                  <a:srgbClr val="F4F7FB"/>
                </a:solidFill>
                <a:latin typeface="Calibri" pitchFamily="34" charset="0"/>
                <a:ea typeface="Calibri" pitchFamily="34" charset="-122"/>
                <a:cs typeface="Calibri" pitchFamily="34" charset="-120"/>
              </a:rPr>
              <a:t>Cloud and platform</a:t>
            </a:r>
            <a:endParaRPr lang="en-US" sz="1300" dirty="0"/>
          </a:p>
        </p:txBody>
      </p:sp>
      <p:sp>
        <p:nvSpPr>
          <p:cNvPr id="48" name="Text 46"/>
          <p:cNvSpPr/>
          <p:nvPr/>
        </p:nvSpPr>
        <p:spPr>
          <a:xfrm>
            <a:off x="4206240" y="1325880"/>
            <a:ext cx="2743200" cy="256032"/>
          </a:xfrm>
          <a:prstGeom prst="rect">
            <a:avLst/>
          </a:prstGeom>
          <a:noFill/>
          <a:ln/>
        </p:spPr>
        <p:txBody>
          <a:bodyPr wrap="square" lIns="0" tIns="0" rIns="0" bIns="0" rtlCol="0" anchor="ctr"/>
          <a:lstStyle/>
          <a:p>
            <a:pPr indent="0" marL="0">
              <a:buNone/>
            </a:pPr>
            <a:r>
              <a:rPr lang="en-US" sz="1200" b="1" spc="140" kern="0" dirty="0">
                <a:solidFill>
                  <a:srgbClr val="91A0B7"/>
                </a:solidFill>
                <a:latin typeface="Calibri" pitchFamily="34" charset="0"/>
                <a:ea typeface="Calibri" pitchFamily="34" charset="-122"/>
                <a:cs typeface="Calibri" pitchFamily="34" charset="-120"/>
              </a:rPr>
              <a:t>WHAT THEY BUY</a:t>
            </a:r>
            <a:endParaRPr lang="en-US" sz="1200" dirty="0"/>
          </a:p>
        </p:txBody>
      </p:sp>
      <p:sp>
        <p:nvSpPr>
          <p:cNvPr id="49" name="Shape 47"/>
          <p:cNvSpPr/>
          <p:nvPr/>
        </p:nvSpPr>
        <p:spPr>
          <a:xfrm>
            <a:off x="4206240" y="1691640"/>
            <a:ext cx="2743200" cy="676656"/>
          </a:xfrm>
          <a:prstGeom prst="roundRect">
            <a:avLst>
              <a:gd name="adj" fmla="val 8108"/>
            </a:avLst>
          </a:prstGeom>
          <a:solidFill>
            <a:srgbClr val="121B2D"/>
          </a:solidFill>
          <a:ln w="12700">
            <a:solidFill>
              <a:srgbClr val="23304A"/>
            </a:solidFill>
            <a:prstDash val="solid"/>
          </a:ln>
        </p:spPr>
      </p:sp>
      <p:sp>
        <p:nvSpPr>
          <p:cNvPr id="50" name="Text 48"/>
          <p:cNvSpPr/>
          <p:nvPr/>
        </p:nvSpPr>
        <p:spPr>
          <a:xfrm>
            <a:off x="4389120" y="1691640"/>
            <a:ext cx="2377440" cy="676656"/>
          </a:xfrm>
          <a:prstGeom prst="rect">
            <a:avLst/>
          </a:prstGeom>
          <a:noFill/>
          <a:ln/>
        </p:spPr>
        <p:txBody>
          <a:bodyPr wrap="square" lIns="0" tIns="0" rIns="0" bIns="0" rtlCol="0" anchor="ctr"/>
          <a:lstStyle/>
          <a:p>
            <a:pPr indent="0" marL="0">
              <a:buNone/>
            </a:pPr>
            <a:r>
              <a:rPr lang="en-US" sz="1300" dirty="0">
                <a:solidFill>
                  <a:srgbClr val="3DD9EB"/>
                </a:solidFill>
                <a:latin typeface="Calibri" pitchFamily="34" charset="0"/>
                <a:ea typeface="Calibri" pitchFamily="34" charset="-122"/>
                <a:cs typeface="Calibri" pitchFamily="34" charset="-120"/>
              </a:rPr>
              <a:t>Microsoft Copilot</a:t>
            </a:r>
            <a:endParaRPr lang="en-US" sz="1300" dirty="0"/>
          </a:p>
        </p:txBody>
      </p:sp>
      <p:sp>
        <p:nvSpPr>
          <p:cNvPr id="51" name="Shape 49"/>
          <p:cNvSpPr/>
          <p:nvPr/>
        </p:nvSpPr>
        <p:spPr>
          <a:xfrm>
            <a:off x="4206240" y="2470709"/>
            <a:ext cx="2743200" cy="676656"/>
          </a:xfrm>
          <a:prstGeom prst="roundRect">
            <a:avLst>
              <a:gd name="adj" fmla="val 8108"/>
            </a:avLst>
          </a:prstGeom>
          <a:solidFill>
            <a:srgbClr val="121B2D"/>
          </a:solidFill>
          <a:ln w="12700">
            <a:solidFill>
              <a:srgbClr val="23304A"/>
            </a:solidFill>
            <a:prstDash val="solid"/>
          </a:ln>
        </p:spPr>
      </p:sp>
      <p:sp>
        <p:nvSpPr>
          <p:cNvPr id="52" name="Text 50"/>
          <p:cNvSpPr/>
          <p:nvPr/>
        </p:nvSpPr>
        <p:spPr>
          <a:xfrm>
            <a:off x="4389120" y="2470709"/>
            <a:ext cx="2377440" cy="676656"/>
          </a:xfrm>
          <a:prstGeom prst="rect">
            <a:avLst/>
          </a:prstGeom>
          <a:noFill/>
          <a:ln/>
        </p:spPr>
        <p:txBody>
          <a:bodyPr wrap="square" lIns="0" tIns="0" rIns="0" bIns="0" rtlCol="0" anchor="ctr"/>
          <a:lstStyle/>
          <a:p>
            <a:pPr indent="0" marL="0">
              <a:buNone/>
            </a:pPr>
            <a:r>
              <a:rPr lang="en-US" sz="1300" dirty="0">
                <a:solidFill>
                  <a:srgbClr val="3DD9EB"/>
                </a:solidFill>
                <a:latin typeface="Calibri" pitchFamily="34" charset="0"/>
                <a:ea typeface="Calibri" pitchFamily="34" charset="-122"/>
                <a:cs typeface="Calibri" pitchFamily="34" charset="-120"/>
              </a:rPr>
              <a:t>Azure AI Foundry</a:t>
            </a:r>
            <a:endParaRPr lang="en-US" sz="1300" dirty="0"/>
          </a:p>
        </p:txBody>
      </p:sp>
      <p:sp>
        <p:nvSpPr>
          <p:cNvPr id="53" name="Shape 51"/>
          <p:cNvSpPr/>
          <p:nvPr/>
        </p:nvSpPr>
        <p:spPr>
          <a:xfrm>
            <a:off x="4206240" y="3249778"/>
            <a:ext cx="2743200" cy="676656"/>
          </a:xfrm>
          <a:prstGeom prst="roundRect">
            <a:avLst>
              <a:gd name="adj" fmla="val 8108"/>
            </a:avLst>
          </a:prstGeom>
          <a:solidFill>
            <a:srgbClr val="121B2D"/>
          </a:solidFill>
          <a:ln w="12700">
            <a:solidFill>
              <a:srgbClr val="23304A"/>
            </a:solidFill>
            <a:prstDash val="solid"/>
          </a:ln>
        </p:spPr>
      </p:sp>
      <p:sp>
        <p:nvSpPr>
          <p:cNvPr id="54" name="Text 52"/>
          <p:cNvSpPr/>
          <p:nvPr/>
        </p:nvSpPr>
        <p:spPr>
          <a:xfrm>
            <a:off x="4389120" y="3249778"/>
            <a:ext cx="2377440" cy="676656"/>
          </a:xfrm>
          <a:prstGeom prst="rect">
            <a:avLst/>
          </a:prstGeom>
          <a:noFill/>
          <a:ln/>
        </p:spPr>
        <p:txBody>
          <a:bodyPr wrap="square" lIns="0" tIns="0" rIns="0" bIns="0" rtlCol="0" anchor="ctr"/>
          <a:lstStyle/>
          <a:p>
            <a:pPr indent="0" marL="0">
              <a:buNone/>
            </a:pPr>
            <a:r>
              <a:rPr lang="en-US" sz="1300" dirty="0">
                <a:solidFill>
                  <a:srgbClr val="3DD9EB"/>
                </a:solidFill>
                <a:latin typeface="Calibri" pitchFamily="34" charset="0"/>
                <a:ea typeface="Calibri" pitchFamily="34" charset="-122"/>
                <a:cs typeface="Calibri" pitchFamily="34" charset="-120"/>
              </a:rPr>
              <a:t>AWS Bedrock</a:t>
            </a:r>
            <a:endParaRPr lang="en-US" sz="1300" dirty="0"/>
          </a:p>
        </p:txBody>
      </p:sp>
      <p:sp>
        <p:nvSpPr>
          <p:cNvPr id="55" name="Shape 53"/>
          <p:cNvSpPr/>
          <p:nvPr/>
        </p:nvSpPr>
        <p:spPr>
          <a:xfrm>
            <a:off x="4206240" y="4028846"/>
            <a:ext cx="2743200" cy="676656"/>
          </a:xfrm>
          <a:prstGeom prst="roundRect">
            <a:avLst>
              <a:gd name="adj" fmla="val 8108"/>
            </a:avLst>
          </a:prstGeom>
          <a:solidFill>
            <a:srgbClr val="121B2D"/>
          </a:solidFill>
          <a:ln w="12700">
            <a:solidFill>
              <a:srgbClr val="23304A"/>
            </a:solidFill>
            <a:prstDash val="solid"/>
          </a:ln>
        </p:spPr>
      </p:sp>
      <p:sp>
        <p:nvSpPr>
          <p:cNvPr id="56" name="Text 54"/>
          <p:cNvSpPr/>
          <p:nvPr/>
        </p:nvSpPr>
        <p:spPr>
          <a:xfrm>
            <a:off x="4389120" y="4028846"/>
            <a:ext cx="2377440" cy="676656"/>
          </a:xfrm>
          <a:prstGeom prst="rect">
            <a:avLst/>
          </a:prstGeom>
          <a:noFill/>
          <a:ln/>
        </p:spPr>
        <p:txBody>
          <a:bodyPr wrap="square" lIns="0" tIns="0" rIns="0" bIns="0" rtlCol="0" anchor="ctr"/>
          <a:lstStyle/>
          <a:p>
            <a:pPr indent="0" marL="0">
              <a:buNone/>
            </a:pPr>
            <a:r>
              <a:rPr lang="en-US" sz="1300" dirty="0">
                <a:solidFill>
                  <a:srgbClr val="3DD9EB"/>
                </a:solidFill>
                <a:latin typeface="Calibri" pitchFamily="34" charset="0"/>
                <a:ea typeface="Calibri" pitchFamily="34" charset="-122"/>
                <a:cs typeface="Calibri" pitchFamily="34" charset="-120"/>
              </a:rPr>
              <a:t>Google Vertex AI</a:t>
            </a:r>
            <a:endParaRPr lang="en-US" sz="1300" dirty="0"/>
          </a:p>
        </p:txBody>
      </p:sp>
      <p:sp>
        <p:nvSpPr>
          <p:cNvPr id="57" name="Shape 55"/>
          <p:cNvSpPr/>
          <p:nvPr/>
        </p:nvSpPr>
        <p:spPr>
          <a:xfrm>
            <a:off x="4206240" y="4807915"/>
            <a:ext cx="2743200" cy="676656"/>
          </a:xfrm>
          <a:prstGeom prst="roundRect">
            <a:avLst>
              <a:gd name="adj" fmla="val 8108"/>
            </a:avLst>
          </a:prstGeom>
          <a:solidFill>
            <a:srgbClr val="121B2D"/>
          </a:solidFill>
          <a:ln w="12700">
            <a:solidFill>
              <a:srgbClr val="23304A"/>
            </a:solidFill>
            <a:prstDash val="solid"/>
          </a:ln>
        </p:spPr>
      </p:sp>
      <p:sp>
        <p:nvSpPr>
          <p:cNvPr id="58" name="Text 56"/>
          <p:cNvSpPr/>
          <p:nvPr/>
        </p:nvSpPr>
        <p:spPr>
          <a:xfrm>
            <a:off x="4389120" y="4807915"/>
            <a:ext cx="2377440" cy="676656"/>
          </a:xfrm>
          <a:prstGeom prst="rect">
            <a:avLst/>
          </a:prstGeom>
          <a:noFill/>
          <a:ln/>
        </p:spPr>
        <p:txBody>
          <a:bodyPr wrap="square" lIns="0" tIns="0" rIns="0" bIns="0" rtlCol="0" anchor="ctr"/>
          <a:lstStyle/>
          <a:p>
            <a:pPr indent="0" marL="0">
              <a:buNone/>
            </a:pPr>
            <a:r>
              <a:rPr lang="en-US" sz="1300" dirty="0">
                <a:solidFill>
                  <a:srgbClr val="3DD9EB"/>
                </a:solidFill>
                <a:latin typeface="Calibri" pitchFamily="34" charset="0"/>
                <a:ea typeface="Calibri" pitchFamily="34" charset="-122"/>
                <a:cs typeface="Calibri" pitchFamily="34" charset="-120"/>
              </a:rPr>
              <a:t>Claude / OpenAI</a:t>
            </a:r>
            <a:endParaRPr lang="en-US" sz="1300" dirty="0"/>
          </a:p>
        </p:txBody>
      </p:sp>
      <p:sp>
        <p:nvSpPr>
          <p:cNvPr id="59" name="Shape 57"/>
          <p:cNvSpPr/>
          <p:nvPr/>
        </p:nvSpPr>
        <p:spPr>
          <a:xfrm>
            <a:off x="4206240" y="5586984"/>
            <a:ext cx="2743200" cy="676656"/>
          </a:xfrm>
          <a:prstGeom prst="roundRect">
            <a:avLst>
              <a:gd name="adj" fmla="val 8108"/>
            </a:avLst>
          </a:prstGeom>
          <a:solidFill>
            <a:srgbClr val="121B2D"/>
          </a:solidFill>
          <a:ln w="12700">
            <a:solidFill>
              <a:srgbClr val="23304A"/>
            </a:solidFill>
            <a:prstDash val="solid"/>
          </a:ln>
        </p:spPr>
      </p:sp>
      <p:sp>
        <p:nvSpPr>
          <p:cNvPr id="60" name="Text 58"/>
          <p:cNvSpPr/>
          <p:nvPr/>
        </p:nvSpPr>
        <p:spPr>
          <a:xfrm>
            <a:off x="4389120" y="5586984"/>
            <a:ext cx="2377440" cy="676656"/>
          </a:xfrm>
          <a:prstGeom prst="rect">
            <a:avLst/>
          </a:prstGeom>
          <a:noFill/>
          <a:ln/>
        </p:spPr>
        <p:txBody>
          <a:bodyPr wrap="square" lIns="0" tIns="0" rIns="0" bIns="0" rtlCol="0" anchor="ctr"/>
          <a:lstStyle/>
          <a:p>
            <a:pPr indent="0" marL="0">
              <a:buNone/>
            </a:pPr>
            <a:r>
              <a:rPr lang="en-US" sz="1300" dirty="0">
                <a:solidFill>
                  <a:srgbClr val="3DD9EB"/>
                </a:solidFill>
                <a:latin typeface="Calibri" pitchFamily="34" charset="0"/>
                <a:ea typeface="Calibri" pitchFamily="34" charset="-122"/>
                <a:cs typeface="Calibri" pitchFamily="34" charset="-120"/>
              </a:rPr>
              <a:t>Databricks</a:t>
            </a:r>
            <a:endParaRPr lang="en-US" sz="1300" dirty="0"/>
          </a:p>
        </p:txBody>
      </p:sp>
      <p:sp>
        <p:nvSpPr>
          <p:cNvPr id="61" name="Shape 59"/>
          <p:cNvSpPr/>
          <p:nvPr/>
        </p:nvSpPr>
        <p:spPr>
          <a:xfrm>
            <a:off x="7315200" y="1234440"/>
            <a:ext cx="4419295" cy="5029200"/>
          </a:xfrm>
          <a:prstGeom prst="roundRect">
            <a:avLst>
              <a:gd name="adj" fmla="val 1241"/>
            </a:avLst>
          </a:prstGeom>
          <a:solidFill>
            <a:srgbClr val="121B2D"/>
          </a:solidFill>
          <a:ln w="12700">
            <a:solidFill>
              <a:srgbClr val="23304A"/>
            </a:solidFill>
            <a:prstDash val="solid"/>
          </a:ln>
        </p:spPr>
      </p:sp>
      <p:sp>
        <p:nvSpPr>
          <p:cNvPr id="62" name="Shape 60"/>
          <p:cNvSpPr/>
          <p:nvPr/>
        </p:nvSpPr>
        <p:spPr>
          <a:xfrm>
            <a:off x="7315200" y="1234440"/>
            <a:ext cx="4419295" cy="45720"/>
          </a:xfrm>
          <a:prstGeom prst="rect">
            <a:avLst/>
          </a:prstGeom>
          <a:solidFill>
            <a:srgbClr val="FF6B7A"/>
          </a:solidFill>
          <a:ln w="12700">
            <a:solidFill>
              <a:srgbClr val="FF6B7A"/>
            </a:solidFill>
            <a:prstDash val="solid"/>
          </a:ln>
        </p:spPr>
      </p:sp>
      <p:sp>
        <p:nvSpPr>
          <p:cNvPr id="63" name="Text 61"/>
          <p:cNvSpPr/>
          <p:nvPr/>
        </p:nvSpPr>
        <p:spPr>
          <a:xfrm>
            <a:off x="7534656" y="1399032"/>
            <a:ext cx="3980383" cy="274320"/>
          </a:xfrm>
          <a:prstGeom prst="rect">
            <a:avLst/>
          </a:prstGeom>
          <a:noFill/>
          <a:ln/>
        </p:spPr>
        <p:txBody>
          <a:bodyPr wrap="square" lIns="0" tIns="0" rIns="0" bIns="0" rtlCol="0" anchor="ctr"/>
          <a:lstStyle/>
          <a:p>
            <a:pPr indent="0" marL="0">
              <a:buNone/>
            </a:pPr>
            <a:r>
              <a:rPr lang="en-US" sz="1200" b="1" spc="140" kern="0" dirty="0">
                <a:solidFill>
                  <a:srgbClr val="FF6B7A"/>
                </a:solidFill>
                <a:latin typeface="Calibri" pitchFamily="34" charset="0"/>
                <a:ea typeface="Calibri" pitchFamily="34" charset="-122"/>
                <a:cs typeface="Calibri" pitchFamily="34" charset="-120"/>
              </a:rPr>
              <a:t>TODAY'S REALITY</a:t>
            </a:r>
            <a:endParaRPr lang="en-US" sz="1200" dirty="0"/>
          </a:p>
        </p:txBody>
      </p:sp>
      <p:sp>
        <p:nvSpPr>
          <p:cNvPr id="64" name="Text 62"/>
          <p:cNvSpPr/>
          <p:nvPr/>
        </p:nvSpPr>
        <p:spPr>
          <a:xfrm>
            <a:off x="7534656" y="1783080"/>
            <a:ext cx="3980383" cy="837590"/>
          </a:xfrm>
          <a:prstGeom prst="rect">
            <a:avLst/>
          </a:prstGeom>
          <a:noFill/>
          <a:ln/>
        </p:spPr>
        <p:txBody>
          <a:bodyPr wrap="square" lIns="0" tIns="0" rIns="0" bIns="0" rtlCol="0" anchor="ctr"/>
          <a:lstStyle/>
          <a:p>
            <a:pPr indent="0" marL="0">
              <a:buNone/>
            </a:pPr>
            <a:r>
              <a:rPr lang="en-US" sz="1300" dirty="0">
                <a:solidFill>
                  <a:srgbClr val="F4F7FB"/>
                </a:solidFill>
                <a:latin typeface="Calibri" pitchFamily="34" charset="0"/>
                <a:ea typeface="Calibri" pitchFamily="34" charset="-122"/>
                <a:cs typeface="Calibri" pitchFamily="34" charset="-120"/>
              </a:rPr>
              <a:t>Multiple AI providers, bought separately</a:t>
            </a:r>
            <a:endParaRPr lang="en-US" sz="1300" dirty="0"/>
          </a:p>
        </p:txBody>
      </p:sp>
      <p:sp>
        <p:nvSpPr>
          <p:cNvPr id="65" name="Shape 63"/>
          <p:cNvSpPr/>
          <p:nvPr/>
        </p:nvSpPr>
        <p:spPr>
          <a:xfrm>
            <a:off x="7534656" y="2638958"/>
            <a:ext cx="3980383" cy="9144"/>
          </a:xfrm>
          <a:prstGeom prst="rect">
            <a:avLst/>
          </a:prstGeom>
          <a:solidFill>
            <a:srgbClr val="23304A"/>
          </a:solidFill>
          <a:ln w="12700">
            <a:solidFill>
              <a:srgbClr val="23304A"/>
            </a:solidFill>
            <a:prstDash val="solid"/>
          </a:ln>
        </p:spPr>
      </p:sp>
      <p:sp>
        <p:nvSpPr>
          <p:cNvPr id="66" name="Text 64"/>
          <p:cNvSpPr/>
          <p:nvPr/>
        </p:nvSpPr>
        <p:spPr>
          <a:xfrm>
            <a:off x="7534656" y="2675534"/>
            <a:ext cx="3980383" cy="837590"/>
          </a:xfrm>
          <a:prstGeom prst="rect">
            <a:avLst/>
          </a:prstGeom>
          <a:noFill/>
          <a:ln/>
        </p:spPr>
        <p:txBody>
          <a:bodyPr wrap="square" lIns="0" tIns="0" rIns="0" bIns="0" rtlCol="0" anchor="ctr"/>
          <a:lstStyle/>
          <a:p>
            <a:pPr indent="0" marL="0">
              <a:buNone/>
            </a:pPr>
            <a:r>
              <a:rPr lang="en-US" sz="1300" dirty="0">
                <a:solidFill>
                  <a:srgbClr val="F4F7FB"/>
                </a:solidFill>
                <a:latin typeface="Calibri" pitchFamily="34" charset="0"/>
                <a:ea typeface="Calibri" pitchFamily="34" charset="-122"/>
                <a:cs typeface="Calibri" pitchFamily="34" charset="-120"/>
              </a:rPr>
              <a:t>Multiple business units consuming them</a:t>
            </a:r>
            <a:endParaRPr lang="en-US" sz="1300" dirty="0"/>
          </a:p>
        </p:txBody>
      </p:sp>
      <p:sp>
        <p:nvSpPr>
          <p:cNvPr id="67" name="Shape 65"/>
          <p:cNvSpPr/>
          <p:nvPr/>
        </p:nvSpPr>
        <p:spPr>
          <a:xfrm>
            <a:off x="7534656" y="3531413"/>
            <a:ext cx="3980383" cy="9144"/>
          </a:xfrm>
          <a:prstGeom prst="rect">
            <a:avLst/>
          </a:prstGeom>
          <a:solidFill>
            <a:srgbClr val="23304A"/>
          </a:solidFill>
          <a:ln w="12700">
            <a:solidFill>
              <a:srgbClr val="23304A"/>
            </a:solidFill>
            <a:prstDash val="solid"/>
          </a:ln>
        </p:spPr>
      </p:sp>
      <p:sp>
        <p:nvSpPr>
          <p:cNvPr id="68" name="Text 66"/>
          <p:cNvSpPr/>
          <p:nvPr/>
        </p:nvSpPr>
        <p:spPr>
          <a:xfrm>
            <a:off x="7534656" y="3567989"/>
            <a:ext cx="3980383" cy="837590"/>
          </a:xfrm>
          <a:prstGeom prst="rect">
            <a:avLst/>
          </a:prstGeom>
          <a:noFill/>
          <a:ln/>
        </p:spPr>
        <p:txBody>
          <a:bodyPr wrap="square" lIns="0" tIns="0" rIns="0" bIns="0" rtlCol="0" anchor="ctr"/>
          <a:lstStyle/>
          <a:p>
            <a:pPr indent="0" marL="0">
              <a:buNone/>
            </a:pPr>
            <a:r>
              <a:rPr lang="en-US" sz="1300" dirty="0">
                <a:solidFill>
                  <a:srgbClr val="F4F7FB"/>
                </a:solidFill>
                <a:latin typeface="Calibri" pitchFamily="34" charset="0"/>
                <a:ea typeface="Calibri" pitchFamily="34" charset="-122"/>
                <a:cs typeface="Calibri" pitchFamily="34" charset="-120"/>
              </a:rPr>
              <a:t>Multiple applications on shared keys</a:t>
            </a:r>
            <a:endParaRPr lang="en-US" sz="1300" dirty="0"/>
          </a:p>
        </p:txBody>
      </p:sp>
      <p:sp>
        <p:nvSpPr>
          <p:cNvPr id="69" name="Shape 67"/>
          <p:cNvSpPr/>
          <p:nvPr/>
        </p:nvSpPr>
        <p:spPr>
          <a:xfrm>
            <a:off x="7534656" y="4423867"/>
            <a:ext cx="3980383" cy="9144"/>
          </a:xfrm>
          <a:prstGeom prst="rect">
            <a:avLst/>
          </a:prstGeom>
          <a:solidFill>
            <a:srgbClr val="23304A"/>
          </a:solidFill>
          <a:ln w="12700">
            <a:solidFill>
              <a:srgbClr val="23304A"/>
            </a:solidFill>
            <a:prstDash val="solid"/>
          </a:ln>
        </p:spPr>
      </p:sp>
      <p:sp>
        <p:nvSpPr>
          <p:cNvPr id="70" name="Text 68"/>
          <p:cNvSpPr/>
          <p:nvPr/>
        </p:nvSpPr>
        <p:spPr>
          <a:xfrm>
            <a:off x="7534656" y="4460443"/>
            <a:ext cx="3980383" cy="837590"/>
          </a:xfrm>
          <a:prstGeom prst="rect">
            <a:avLst/>
          </a:prstGeom>
          <a:noFill/>
          <a:ln/>
        </p:spPr>
        <p:txBody>
          <a:bodyPr wrap="square" lIns="0" tIns="0" rIns="0" bIns="0" rtlCol="0" anchor="ctr"/>
          <a:lstStyle/>
          <a:p>
            <a:pPr indent="0" marL="0">
              <a:buNone/>
            </a:pPr>
            <a:r>
              <a:rPr lang="en-US" sz="1300" dirty="0">
                <a:solidFill>
                  <a:srgbClr val="F4F7FB"/>
                </a:solidFill>
                <a:latin typeface="Calibri" pitchFamily="34" charset="0"/>
                <a:ea typeface="Calibri" pitchFamily="34" charset="-122"/>
                <a:cs typeface="Calibri" pitchFamily="34" charset="-120"/>
              </a:rPr>
              <a:t>Limited financial visibility per consumer</a:t>
            </a:r>
            <a:endParaRPr lang="en-US" sz="1300" dirty="0"/>
          </a:p>
        </p:txBody>
      </p:sp>
      <p:sp>
        <p:nvSpPr>
          <p:cNvPr id="71" name="Shape 69"/>
          <p:cNvSpPr/>
          <p:nvPr/>
        </p:nvSpPr>
        <p:spPr>
          <a:xfrm>
            <a:off x="7534656" y="5316322"/>
            <a:ext cx="3980383" cy="9144"/>
          </a:xfrm>
          <a:prstGeom prst="rect">
            <a:avLst/>
          </a:prstGeom>
          <a:solidFill>
            <a:srgbClr val="23304A"/>
          </a:solidFill>
          <a:ln w="12700">
            <a:solidFill>
              <a:srgbClr val="23304A"/>
            </a:solidFill>
            <a:prstDash val="solid"/>
          </a:ln>
        </p:spPr>
      </p:sp>
      <p:sp>
        <p:nvSpPr>
          <p:cNvPr id="72" name="Text 70"/>
          <p:cNvSpPr/>
          <p:nvPr/>
        </p:nvSpPr>
        <p:spPr>
          <a:xfrm>
            <a:off x="7534656" y="5352898"/>
            <a:ext cx="3980383" cy="837590"/>
          </a:xfrm>
          <a:prstGeom prst="rect">
            <a:avLst/>
          </a:prstGeom>
          <a:noFill/>
          <a:ln/>
        </p:spPr>
        <p:txBody>
          <a:bodyPr wrap="square" lIns="0" tIns="0" rIns="0" bIns="0" rtlCol="0" anchor="ctr"/>
          <a:lstStyle/>
          <a:p>
            <a:pPr indent="0" marL="0">
              <a:buNone/>
            </a:pPr>
            <a:r>
              <a:rPr lang="en-US" sz="1300" dirty="0">
                <a:solidFill>
                  <a:srgbClr val="F4F7FB"/>
                </a:solidFill>
                <a:latin typeface="Calibri" pitchFamily="34" charset="0"/>
                <a:ea typeface="Calibri" pitchFamily="34" charset="-122"/>
                <a:cs typeface="Calibri" pitchFamily="34" charset="-120"/>
              </a:rPr>
              <a:t>No unified enterprise ownership</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txBody>
          <a:bodyPr/>
          <a:lstStyle/>
          <a:p>
            <a:endParaRPr lang="he-IL"/>
          </a:p>
        </p:txBody>
      </p:sp>
      <p:sp>
        <p:nvSpPr>
          <p:cNvPr id="3" name="Shape 1"/>
          <p:cNvSpPr/>
          <p:nvPr/>
        </p:nvSpPr>
        <p:spPr>
          <a:xfrm>
            <a:off x="457200" y="306324"/>
            <a:ext cx="109728" cy="109728"/>
          </a:xfrm>
          <a:prstGeom prst="ellipse">
            <a:avLst/>
          </a:prstGeom>
          <a:solidFill>
            <a:srgbClr val="3DD9EB"/>
          </a:solidFill>
          <a:ln w="12700">
            <a:solidFill>
              <a:srgbClr val="3DD9EB"/>
            </a:solidFill>
            <a:prstDash val="solid"/>
          </a:ln>
        </p:spPr>
        <p:txBody>
          <a:bodyPr/>
          <a:lstStyle/>
          <a:p>
            <a:endParaRPr lang="he-IL"/>
          </a:p>
        </p:txBody>
      </p:sp>
      <p:sp>
        <p:nvSpPr>
          <p:cNvPr id="4" name="Text 2"/>
          <p:cNvSpPr/>
          <p:nvPr/>
        </p:nvSpPr>
        <p:spPr>
          <a:xfrm>
            <a:off x="640080" y="274320"/>
            <a:ext cx="7315200" cy="237744"/>
          </a:xfrm>
          <a:prstGeom prst="rect">
            <a:avLst/>
          </a:prstGeom>
          <a:noFill/>
          <a:ln/>
        </p:spPr>
        <p:txBody>
          <a:bodyPr wrap="square" lIns="0" tIns="0" rIns="0" bIns="0" rtlCol="0" anchor="ctr"/>
          <a:lstStyle/>
          <a:p>
            <a:pPr marL="0" indent="0">
              <a:buNone/>
            </a:pPr>
            <a:r>
              <a:rPr lang="en-US" sz="1300" b="1" kern="0" spc="200" dirty="0">
                <a:solidFill>
                  <a:srgbClr val="3DD9EB"/>
                </a:solidFill>
                <a:latin typeface="Calibri" pitchFamily="34" charset="0"/>
                <a:ea typeface="Calibri" pitchFamily="34" charset="-122"/>
                <a:cs typeface="Calibri" pitchFamily="34" charset="-120"/>
              </a:rPr>
              <a:t>TAGGING</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marL="0" indent="0">
              <a:buNone/>
            </a:pPr>
            <a:r>
              <a:rPr lang="en-US" sz="2211" b="1" dirty="0">
                <a:solidFill>
                  <a:srgbClr val="F4F7FB"/>
                </a:solidFill>
                <a:latin typeface="Calibri" pitchFamily="34" charset="0"/>
                <a:ea typeface="Calibri" pitchFamily="34" charset="-122"/>
                <a:cs typeface="Calibri" pitchFamily="34" charset="-120"/>
              </a:rPr>
              <a:t>Tag the request, not just the resource</a:t>
            </a:r>
            <a:endParaRPr lang="en-US" sz="2211" dirty="0"/>
          </a:p>
        </p:txBody>
      </p:sp>
      <p:sp>
        <p:nvSpPr>
          <p:cNvPr id="6" name="Text 4"/>
          <p:cNvSpPr/>
          <p:nvPr/>
        </p:nvSpPr>
        <p:spPr>
          <a:xfrm>
            <a:off x="8321040" y="493776"/>
            <a:ext cx="3413455" cy="658368"/>
          </a:xfrm>
          <a:prstGeom prst="rect">
            <a:avLst/>
          </a:prstGeom>
          <a:noFill/>
          <a:ln/>
        </p:spPr>
        <p:txBody>
          <a:bodyPr wrap="square" lIns="0" tIns="0" rIns="0" bIns="0" rtlCol="0" anchor="t"/>
          <a:lstStyle/>
          <a:p>
            <a:pPr marL="0" indent="0" algn="r">
              <a:lnSpc>
                <a:spcPct val="115000"/>
              </a:lnSpc>
              <a:buNone/>
            </a:pPr>
            <a:endParaRPr lang="en-US" sz="1200" dirty="0"/>
          </a:p>
        </p:txBody>
      </p:sp>
      <p:sp>
        <p:nvSpPr>
          <p:cNvPr id="7" name="Text 5"/>
          <p:cNvSpPr/>
          <p:nvPr/>
        </p:nvSpPr>
        <p:spPr>
          <a:xfrm>
            <a:off x="457200" y="5367528"/>
            <a:ext cx="11277295" cy="1380744"/>
          </a:xfrm>
          <a:prstGeom prst="rect">
            <a:avLst/>
          </a:prstGeom>
          <a:noFill/>
          <a:ln/>
        </p:spPr>
        <p:txBody>
          <a:bodyPr wrap="square" lIns="0" tIns="0" rIns="0" bIns="0" rtlCol="0" anchor="t"/>
          <a:lstStyle/>
          <a:p>
            <a:pPr marL="0" indent="0">
              <a:lnSpc>
                <a:spcPct val="115000"/>
              </a:lnSpc>
              <a:buNone/>
            </a:pPr>
            <a:r>
              <a:rPr lang="en-US" sz="1200" dirty="0">
                <a:solidFill>
                  <a:srgbClr val="536078"/>
                </a:solidFill>
                <a:latin typeface="Calibri" pitchFamily="34" charset="0"/>
                <a:ea typeface="Calibri" pitchFamily="34" charset="-122"/>
                <a:cs typeface="Calibri" pitchFamily="34" charset="-120"/>
              </a:rPr>
              <a:t>Today we can say AI cost $75,439 in July and that $25,288 of it was Claude on Bedrock. We cannot say which agent, which use case, or which tool call spent it and no resource tag will ever tell us, because the cost is in the traffic, not the resource.</a:t>
            </a:r>
            <a:endParaRPr lang="en-US" sz="1200" dirty="0"/>
          </a:p>
        </p:txBody>
      </p:sp>
      <p:sp>
        <p:nvSpPr>
          <p:cNvPr id="8" name="Text 6"/>
          <p:cNvSpPr/>
          <p:nvPr/>
        </p:nvSpPr>
        <p:spPr>
          <a:xfrm>
            <a:off x="457200" y="1115568"/>
            <a:ext cx="3063240" cy="237744"/>
          </a:xfrm>
          <a:prstGeom prst="rect">
            <a:avLst/>
          </a:prstGeom>
          <a:noFill/>
          <a:ln/>
        </p:spPr>
        <p:txBody>
          <a:bodyPr wrap="square" lIns="0" tIns="0" rIns="0" bIns="0" rtlCol="0" anchor="ctr"/>
          <a:lstStyle/>
          <a:p>
            <a:pPr marL="0" indent="0">
              <a:buNone/>
            </a:pPr>
            <a:r>
              <a:rPr lang="en-US" sz="1200" b="1" kern="0" spc="140" dirty="0">
                <a:solidFill>
                  <a:srgbClr val="91A0B7"/>
                </a:solidFill>
                <a:latin typeface="Calibri" pitchFamily="34" charset="0"/>
                <a:ea typeface="Calibri" pitchFamily="34" charset="-122"/>
                <a:cs typeface="Calibri" pitchFamily="34" charset="-120"/>
              </a:rPr>
              <a:t>FOUNDATION TAGS</a:t>
            </a:r>
            <a:endParaRPr lang="en-US" sz="1200" dirty="0"/>
          </a:p>
        </p:txBody>
      </p:sp>
      <p:sp>
        <p:nvSpPr>
          <p:cNvPr id="9" name="Shape 7"/>
          <p:cNvSpPr/>
          <p:nvPr/>
        </p:nvSpPr>
        <p:spPr>
          <a:xfrm>
            <a:off x="457200" y="1463040"/>
            <a:ext cx="3063240" cy="548640"/>
          </a:xfrm>
          <a:prstGeom prst="roundRect">
            <a:avLst>
              <a:gd name="adj" fmla="val 10000"/>
            </a:avLst>
          </a:prstGeom>
          <a:solidFill>
            <a:srgbClr val="121B2D"/>
          </a:solidFill>
          <a:ln w="12700">
            <a:solidFill>
              <a:srgbClr val="23304A"/>
            </a:solidFill>
            <a:prstDash val="solid"/>
          </a:ln>
        </p:spPr>
        <p:txBody>
          <a:bodyPr/>
          <a:lstStyle/>
          <a:p>
            <a:endParaRPr lang="he-IL"/>
          </a:p>
        </p:txBody>
      </p:sp>
      <p:sp>
        <p:nvSpPr>
          <p:cNvPr id="10" name="Text 8"/>
          <p:cNvSpPr/>
          <p:nvPr/>
        </p:nvSpPr>
        <p:spPr>
          <a:xfrm>
            <a:off x="640080" y="1463040"/>
            <a:ext cx="2697480" cy="548640"/>
          </a:xfrm>
          <a:prstGeom prst="rect">
            <a:avLst/>
          </a:prstGeom>
          <a:noFill/>
          <a:ln/>
        </p:spPr>
        <p:txBody>
          <a:bodyPr wrap="square" lIns="0" tIns="0" rIns="0" bIns="0" rtlCol="0" anchor="ctr"/>
          <a:lstStyle/>
          <a:p>
            <a:pPr marL="0" indent="0">
              <a:buNone/>
            </a:pPr>
            <a:r>
              <a:rPr lang="en-US" sz="1300" dirty="0">
                <a:solidFill>
                  <a:srgbClr val="F4F7FB"/>
                </a:solidFill>
                <a:latin typeface="Calibri" pitchFamily="34" charset="0"/>
                <a:ea typeface="Calibri" pitchFamily="34" charset="-122"/>
                <a:cs typeface="Calibri" pitchFamily="34" charset="-120"/>
              </a:rPr>
              <a:t>owner</a:t>
            </a:r>
            <a:endParaRPr lang="en-US" sz="1300" dirty="0"/>
          </a:p>
        </p:txBody>
      </p:sp>
      <p:sp>
        <p:nvSpPr>
          <p:cNvPr id="11" name="Shape 9"/>
          <p:cNvSpPr/>
          <p:nvPr/>
        </p:nvSpPr>
        <p:spPr>
          <a:xfrm>
            <a:off x="457200" y="2121408"/>
            <a:ext cx="3063240" cy="548640"/>
          </a:xfrm>
          <a:prstGeom prst="roundRect">
            <a:avLst>
              <a:gd name="adj" fmla="val 10000"/>
            </a:avLst>
          </a:prstGeom>
          <a:solidFill>
            <a:srgbClr val="121B2D"/>
          </a:solidFill>
          <a:ln w="12700">
            <a:solidFill>
              <a:srgbClr val="23304A"/>
            </a:solidFill>
            <a:prstDash val="solid"/>
          </a:ln>
        </p:spPr>
        <p:txBody>
          <a:bodyPr/>
          <a:lstStyle/>
          <a:p>
            <a:endParaRPr lang="he-IL"/>
          </a:p>
        </p:txBody>
      </p:sp>
      <p:sp>
        <p:nvSpPr>
          <p:cNvPr id="12" name="Text 10"/>
          <p:cNvSpPr/>
          <p:nvPr/>
        </p:nvSpPr>
        <p:spPr>
          <a:xfrm>
            <a:off x="640080" y="2121408"/>
            <a:ext cx="2697480" cy="548640"/>
          </a:xfrm>
          <a:prstGeom prst="rect">
            <a:avLst/>
          </a:prstGeom>
          <a:noFill/>
          <a:ln/>
        </p:spPr>
        <p:txBody>
          <a:bodyPr wrap="square" lIns="0" tIns="0" rIns="0" bIns="0" rtlCol="0" anchor="ctr"/>
          <a:lstStyle/>
          <a:p>
            <a:pPr marL="0" indent="0">
              <a:buNone/>
            </a:pPr>
            <a:r>
              <a:rPr lang="en-US" sz="1300" dirty="0">
                <a:solidFill>
                  <a:srgbClr val="F4F7FB"/>
                </a:solidFill>
                <a:latin typeface="Calibri" pitchFamily="34" charset="0"/>
                <a:ea typeface="Calibri" pitchFamily="34" charset="-122"/>
                <a:cs typeface="Calibri" pitchFamily="34" charset="-120"/>
              </a:rPr>
              <a:t>application</a:t>
            </a:r>
            <a:endParaRPr lang="en-US" sz="1300" dirty="0"/>
          </a:p>
        </p:txBody>
      </p:sp>
      <p:sp>
        <p:nvSpPr>
          <p:cNvPr id="13" name="Shape 11"/>
          <p:cNvSpPr/>
          <p:nvPr/>
        </p:nvSpPr>
        <p:spPr>
          <a:xfrm>
            <a:off x="457200" y="2779776"/>
            <a:ext cx="3063240" cy="548640"/>
          </a:xfrm>
          <a:prstGeom prst="roundRect">
            <a:avLst>
              <a:gd name="adj" fmla="val 10000"/>
            </a:avLst>
          </a:prstGeom>
          <a:solidFill>
            <a:srgbClr val="121B2D"/>
          </a:solidFill>
          <a:ln w="12700">
            <a:solidFill>
              <a:srgbClr val="23304A"/>
            </a:solidFill>
            <a:prstDash val="solid"/>
          </a:ln>
        </p:spPr>
        <p:txBody>
          <a:bodyPr/>
          <a:lstStyle/>
          <a:p>
            <a:endParaRPr lang="he-IL"/>
          </a:p>
        </p:txBody>
      </p:sp>
      <p:sp>
        <p:nvSpPr>
          <p:cNvPr id="14" name="Text 12"/>
          <p:cNvSpPr/>
          <p:nvPr/>
        </p:nvSpPr>
        <p:spPr>
          <a:xfrm>
            <a:off x="640080" y="2779776"/>
            <a:ext cx="2697480" cy="548640"/>
          </a:xfrm>
          <a:prstGeom prst="rect">
            <a:avLst/>
          </a:prstGeom>
          <a:noFill/>
          <a:ln/>
        </p:spPr>
        <p:txBody>
          <a:bodyPr wrap="square" lIns="0" tIns="0" rIns="0" bIns="0" rtlCol="0" anchor="ctr"/>
          <a:lstStyle/>
          <a:p>
            <a:pPr marL="0" indent="0">
              <a:buNone/>
            </a:pPr>
            <a:r>
              <a:rPr lang="en-US" sz="1300" dirty="0">
                <a:solidFill>
                  <a:srgbClr val="F4F7FB"/>
                </a:solidFill>
                <a:latin typeface="Calibri" pitchFamily="34" charset="0"/>
                <a:ea typeface="Calibri" pitchFamily="34" charset="-122"/>
                <a:cs typeface="Calibri" pitchFamily="34" charset="-120"/>
              </a:rPr>
              <a:t>environment</a:t>
            </a:r>
            <a:endParaRPr lang="en-US" sz="1300" dirty="0"/>
          </a:p>
        </p:txBody>
      </p:sp>
      <p:sp>
        <p:nvSpPr>
          <p:cNvPr id="15" name="Shape 13"/>
          <p:cNvSpPr/>
          <p:nvPr/>
        </p:nvSpPr>
        <p:spPr>
          <a:xfrm>
            <a:off x="457200" y="3438144"/>
            <a:ext cx="3063240" cy="548640"/>
          </a:xfrm>
          <a:prstGeom prst="roundRect">
            <a:avLst>
              <a:gd name="adj" fmla="val 10000"/>
            </a:avLst>
          </a:prstGeom>
          <a:solidFill>
            <a:srgbClr val="121B2D"/>
          </a:solidFill>
          <a:ln w="12700">
            <a:solidFill>
              <a:srgbClr val="23304A"/>
            </a:solidFill>
            <a:prstDash val="solid"/>
          </a:ln>
        </p:spPr>
        <p:txBody>
          <a:bodyPr/>
          <a:lstStyle/>
          <a:p>
            <a:endParaRPr lang="he-IL"/>
          </a:p>
        </p:txBody>
      </p:sp>
      <p:sp>
        <p:nvSpPr>
          <p:cNvPr id="16" name="Text 14"/>
          <p:cNvSpPr/>
          <p:nvPr/>
        </p:nvSpPr>
        <p:spPr>
          <a:xfrm>
            <a:off x="640080" y="3438144"/>
            <a:ext cx="2697480" cy="548640"/>
          </a:xfrm>
          <a:prstGeom prst="rect">
            <a:avLst/>
          </a:prstGeom>
          <a:noFill/>
          <a:ln/>
        </p:spPr>
        <p:txBody>
          <a:bodyPr wrap="square" lIns="0" tIns="0" rIns="0" bIns="0" rtlCol="0" anchor="ctr"/>
          <a:lstStyle/>
          <a:p>
            <a:pPr marL="0" indent="0">
              <a:buNone/>
            </a:pPr>
            <a:r>
              <a:rPr lang="en-US" sz="1300" dirty="0">
                <a:solidFill>
                  <a:srgbClr val="F4F7FB"/>
                </a:solidFill>
                <a:latin typeface="Calibri" pitchFamily="34" charset="0"/>
                <a:ea typeface="Calibri" pitchFamily="34" charset="-122"/>
                <a:cs typeface="Calibri" pitchFamily="34" charset="-120"/>
              </a:rPr>
              <a:t>cost_center</a:t>
            </a:r>
            <a:endParaRPr lang="en-US" sz="1300" dirty="0"/>
          </a:p>
        </p:txBody>
      </p:sp>
      <p:sp>
        <p:nvSpPr>
          <p:cNvPr id="17" name="Shape 15"/>
          <p:cNvSpPr/>
          <p:nvPr/>
        </p:nvSpPr>
        <p:spPr>
          <a:xfrm>
            <a:off x="457200" y="4096512"/>
            <a:ext cx="3063240" cy="548640"/>
          </a:xfrm>
          <a:prstGeom prst="roundRect">
            <a:avLst>
              <a:gd name="adj" fmla="val 10000"/>
            </a:avLst>
          </a:prstGeom>
          <a:solidFill>
            <a:srgbClr val="121B2D"/>
          </a:solidFill>
          <a:ln w="12700">
            <a:solidFill>
              <a:srgbClr val="23304A"/>
            </a:solidFill>
            <a:prstDash val="solid"/>
          </a:ln>
        </p:spPr>
        <p:txBody>
          <a:bodyPr/>
          <a:lstStyle/>
          <a:p>
            <a:endParaRPr lang="he-IL"/>
          </a:p>
        </p:txBody>
      </p:sp>
      <p:sp>
        <p:nvSpPr>
          <p:cNvPr id="18" name="Text 16"/>
          <p:cNvSpPr/>
          <p:nvPr/>
        </p:nvSpPr>
        <p:spPr>
          <a:xfrm>
            <a:off x="640080" y="4096512"/>
            <a:ext cx="2697480" cy="548640"/>
          </a:xfrm>
          <a:prstGeom prst="rect">
            <a:avLst/>
          </a:prstGeom>
          <a:noFill/>
          <a:ln/>
        </p:spPr>
        <p:txBody>
          <a:bodyPr wrap="square" lIns="0" tIns="0" rIns="0" bIns="0" rtlCol="0" anchor="ctr"/>
          <a:lstStyle/>
          <a:p>
            <a:pPr marL="0" indent="0">
              <a:buNone/>
            </a:pPr>
            <a:r>
              <a:rPr lang="en-US" sz="1300" dirty="0">
                <a:solidFill>
                  <a:srgbClr val="F4F7FB"/>
                </a:solidFill>
                <a:latin typeface="Calibri" pitchFamily="34" charset="0"/>
                <a:ea typeface="Calibri" pitchFamily="34" charset="-122"/>
                <a:cs typeface="Calibri" pitchFamily="34" charset="-120"/>
              </a:rPr>
              <a:t>business_unit</a:t>
            </a:r>
            <a:endParaRPr lang="en-US" sz="1300" dirty="0"/>
          </a:p>
        </p:txBody>
      </p:sp>
      <p:sp>
        <p:nvSpPr>
          <p:cNvPr id="19" name="Text 17"/>
          <p:cNvSpPr/>
          <p:nvPr/>
        </p:nvSpPr>
        <p:spPr>
          <a:xfrm>
            <a:off x="8671255" y="1115568"/>
            <a:ext cx="3063240" cy="237744"/>
          </a:xfrm>
          <a:prstGeom prst="rect">
            <a:avLst/>
          </a:prstGeom>
          <a:noFill/>
          <a:ln/>
        </p:spPr>
        <p:txBody>
          <a:bodyPr wrap="square" lIns="0" tIns="0" rIns="0" bIns="0" rtlCol="0" anchor="ctr"/>
          <a:lstStyle/>
          <a:p>
            <a:pPr marL="0" indent="0">
              <a:buNone/>
            </a:pPr>
            <a:r>
              <a:rPr lang="en-US" sz="1200" b="1" kern="0" spc="140" dirty="0">
                <a:solidFill>
                  <a:srgbClr val="91A0B7"/>
                </a:solidFill>
                <a:latin typeface="Calibri" pitchFamily="34" charset="0"/>
                <a:ea typeface="Calibri" pitchFamily="34" charset="-122"/>
                <a:cs typeface="Calibri" pitchFamily="34" charset="-120"/>
              </a:rPr>
              <a:t>WHAT IT UNLOCKS</a:t>
            </a:r>
            <a:endParaRPr lang="en-US" sz="1200" dirty="0"/>
          </a:p>
        </p:txBody>
      </p:sp>
      <p:sp>
        <p:nvSpPr>
          <p:cNvPr id="20" name="Shape 18"/>
          <p:cNvSpPr/>
          <p:nvPr/>
        </p:nvSpPr>
        <p:spPr>
          <a:xfrm>
            <a:off x="8671255" y="1463040"/>
            <a:ext cx="3063240" cy="548640"/>
          </a:xfrm>
          <a:prstGeom prst="roundRect">
            <a:avLst>
              <a:gd name="adj" fmla="val 10000"/>
            </a:avLst>
          </a:prstGeom>
          <a:solidFill>
            <a:srgbClr val="121B2D"/>
          </a:solidFill>
          <a:ln w="12700">
            <a:solidFill>
              <a:srgbClr val="23304A"/>
            </a:solidFill>
            <a:prstDash val="solid"/>
          </a:ln>
        </p:spPr>
        <p:txBody>
          <a:bodyPr/>
          <a:lstStyle/>
          <a:p>
            <a:endParaRPr lang="he-IL"/>
          </a:p>
        </p:txBody>
      </p:sp>
      <p:sp>
        <p:nvSpPr>
          <p:cNvPr id="21" name="Text 19"/>
          <p:cNvSpPr/>
          <p:nvPr/>
        </p:nvSpPr>
        <p:spPr>
          <a:xfrm>
            <a:off x="8854135" y="1463040"/>
            <a:ext cx="2697480" cy="548640"/>
          </a:xfrm>
          <a:prstGeom prst="rect">
            <a:avLst/>
          </a:prstGeom>
          <a:noFill/>
          <a:ln/>
        </p:spPr>
        <p:txBody>
          <a:bodyPr wrap="square" lIns="0" tIns="0" rIns="0" bIns="0" rtlCol="0" anchor="ctr"/>
          <a:lstStyle/>
          <a:p>
            <a:pPr marL="0" indent="0">
              <a:buNone/>
            </a:pPr>
            <a:r>
              <a:rPr lang="en-US" sz="1300" dirty="0">
                <a:solidFill>
                  <a:srgbClr val="F4F7FB"/>
                </a:solidFill>
                <a:latin typeface="Calibri" pitchFamily="34" charset="0"/>
                <a:ea typeface="Calibri" pitchFamily="34" charset="-122"/>
                <a:cs typeface="Calibri" pitchFamily="34" charset="-120"/>
              </a:rPr>
              <a:t>Cost per use case</a:t>
            </a:r>
            <a:endParaRPr lang="en-US" sz="1300" dirty="0"/>
          </a:p>
        </p:txBody>
      </p:sp>
      <p:sp>
        <p:nvSpPr>
          <p:cNvPr id="22" name="Shape 20"/>
          <p:cNvSpPr/>
          <p:nvPr/>
        </p:nvSpPr>
        <p:spPr>
          <a:xfrm>
            <a:off x="8671255" y="2121408"/>
            <a:ext cx="3063240" cy="548640"/>
          </a:xfrm>
          <a:prstGeom prst="roundRect">
            <a:avLst>
              <a:gd name="adj" fmla="val 10000"/>
            </a:avLst>
          </a:prstGeom>
          <a:solidFill>
            <a:srgbClr val="121B2D"/>
          </a:solidFill>
          <a:ln w="12700">
            <a:solidFill>
              <a:srgbClr val="23304A"/>
            </a:solidFill>
            <a:prstDash val="solid"/>
          </a:ln>
        </p:spPr>
        <p:txBody>
          <a:bodyPr/>
          <a:lstStyle/>
          <a:p>
            <a:endParaRPr lang="he-IL"/>
          </a:p>
        </p:txBody>
      </p:sp>
      <p:sp>
        <p:nvSpPr>
          <p:cNvPr id="23" name="Text 21"/>
          <p:cNvSpPr/>
          <p:nvPr/>
        </p:nvSpPr>
        <p:spPr>
          <a:xfrm>
            <a:off x="8854135" y="2121408"/>
            <a:ext cx="2697480" cy="548640"/>
          </a:xfrm>
          <a:prstGeom prst="rect">
            <a:avLst/>
          </a:prstGeom>
          <a:noFill/>
          <a:ln/>
        </p:spPr>
        <p:txBody>
          <a:bodyPr wrap="square" lIns="0" tIns="0" rIns="0" bIns="0" rtlCol="0" anchor="ctr"/>
          <a:lstStyle/>
          <a:p>
            <a:pPr marL="0" indent="0">
              <a:buNone/>
            </a:pPr>
            <a:r>
              <a:rPr lang="en-US" sz="1300" dirty="0">
                <a:solidFill>
                  <a:srgbClr val="F4F7FB"/>
                </a:solidFill>
                <a:latin typeface="Calibri" pitchFamily="34" charset="0"/>
                <a:ea typeface="Calibri" pitchFamily="34" charset="-122"/>
                <a:cs typeface="Calibri" pitchFamily="34" charset="-120"/>
              </a:rPr>
              <a:t>Cost per agent</a:t>
            </a:r>
            <a:endParaRPr lang="en-US" sz="1300" dirty="0"/>
          </a:p>
        </p:txBody>
      </p:sp>
      <p:sp>
        <p:nvSpPr>
          <p:cNvPr id="24" name="Shape 22"/>
          <p:cNvSpPr/>
          <p:nvPr/>
        </p:nvSpPr>
        <p:spPr>
          <a:xfrm>
            <a:off x="8671255" y="2779776"/>
            <a:ext cx="3063240" cy="548640"/>
          </a:xfrm>
          <a:prstGeom prst="roundRect">
            <a:avLst>
              <a:gd name="adj" fmla="val 10000"/>
            </a:avLst>
          </a:prstGeom>
          <a:solidFill>
            <a:srgbClr val="121B2D"/>
          </a:solidFill>
          <a:ln w="12700">
            <a:solidFill>
              <a:srgbClr val="23304A"/>
            </a:solidFill>
            <a:prstDash val="solid"/>
          </a:ln>
        </p:spPr>
        <p:txBody>
          <a:bodyPr/>
          <a:lstStyle/>
          <a:p>
            <a:endParaRPr lang="he-IL"/>
          </a:p>
        </p:txBody>
      </p:sp>
      <p:sp>
        <p:nvSpPr>
          <p:cNvPr id="25" name="Text 23"/>
          <p:cNvSpPr/>
          <p:nvPr/>
        </p:nvSpPr>
        <p:spPr>
          <a:xfrm>
            <a:off x="8854135" y="2779776"/>
            <a:ext cx="2697480" cy="548640"/>
          </a:xfrm>
          <a:prstGeom prst="rect">
            <a:avLst/>
          </a:prstGeom>
          <a:noFill/>
          <a:ln/>
        </p:spPr>
        <p:txBody>
          <a:bodyPr wrap="square" lIns="0" tIns="0" rIns="0" bIns="0" rtlCol="0" anchor="ctr"/>
          <a:lstStyle/>
          <a:p>
            <a:pPr marL="0" indent="0">
              <a:buNone/>
            </a:pPr>
            <a:r>
              <a:rPr lang="en-US" sz="1300" dirty="0">
                <a:solidFill>
                  <a:srgbClr val="F4F7FB"/>
                </a:solidFill>
                <a:latin typeface="Calibri" pitchFamily="34" charset="0"/>
                <a:ea typeface="Calibri" pitchFamily="34" charset="-122"/>
                <a:cs typeface="Calibri" pitchFamily="34" charset="-120"/>
              </a:rPr>
              <a:t>AI unit economics</a:t>
            </a:r>
            <a:endParaRPr lang="en-US" sz="1300" dirty="0"/>
          </a:p>
        </p:txBody>
      </p:sp>
      <p:sp>
        <p:nvSpPr>
          <p:cNvPr id="26" name="Shape 24"/>
          <p:cNvSpPr/>
          <p:nvPr/>
        </p:nvSpPr>
        <p:spPr>
          <a:xfrm>
            <a:off x="8671255" y="3438144"/>
            <a:ext cx="3063240" cy="548640"/>
          </a:xfrm>
          <a:prstGeom prst="roundRect">
            <a:avLst>
              <a:gd name="adj" fmla="val 10000"/>
            </a:avLst>
          </a:prstGeom>
          <a:solidFill>
            <a:srgbClr val="121B2D"/>
          </a:solidFill>
          <a:ln w="12700">
            <a:solidFill>
              <a:srgbClr val="23304A"/>
            </a:solidFill>
            <a:prstDash val="solid"/>
          </a:ln>
        </p:spPr>
        <p:txBody>
          <a:bodyPr/>
          <a:lstStyle/>
          <a:p>
            <a:endParaRPr lang="he-IL"/>
          </a:p>
        </p:txBody>
      </p:sp>
      <p:sp>
        <p:nvSpPr>
          <p:cNvPr id="27" name="Text 25"/>
          <p:cNvSpPr/>
          <p:nvPr/>
        </p:nvSpPr>
        <p:spPr>
          <a:xfrm>
            <a:off x="8854135" y="3438144"/>
            <a:ext cx="2697480" cy="548640"/>
          </a:xfrm>
          <a:prstGeom prst="rect">
            <a:avLst/>
          </a:prstGeom>
          <a:noFill/>
          <a:ln/>
        </p:spPr>
        <p:txBody>
          <a:bodyPr wrap="square" lIns="0" tIns="0" rIns="0" bIns="0" rtlCol="0" anchor="ctr"/>
          <a:lstStyle/>
          <a:p>
            <a:pPr marL="0" indent="0">
              <a:buNone/>
            </a:pPr>
            <a:r>
              <a:rPr lang="en-US" sz="1300" dirty="0">
                <a:solidFill>
                  <a:srgbClr val="F4F7FB"/>
                </a:solidFill>
                <a:latin typeface="Calibri" pitchFamily="34" charset="0"/>
                <a:ea typeface="Calibri" pitchFamily="34" charset="-122"/>
                <a:cs typeface="Calibri" pitchFamily="34" charset="-120"/>
              </a:rPr>
              <a:t>Anomaly detection</a:t>
            </a:r>
            <a:endParaRPr lang="en-US" sz="1300" dirty="0"/>
          </a:p>
        </p:txBody>
      </p:sp>
      <p:sp>
        <p:nvSpPr>
          <p:cNvPr id="28" name="Shape 26"/>
          <p:cNvSpPr/>
          <p:nvPr/>
        </p:nvSpPr>
        <p:spPr>
          <a:xfrm>
            <a:off x="8671255" y="4096512"/>
            <a:ext cx="3063240" cy="548640"/>
          </a:xfrm>
          <a:prstGeom prst="roundRect">
            <a:avLst>
              <a:gd name="adj" fmla="val 10000"/>
            </a:avLst>
          </a:prstGeom>
          <a:solidFill>
            <a:srgbClr val="121B2D"/>
          </a:solidFill>
          <a:ln w="12700">
            <a:solidFill>
              <a:srgbClr val="23304A"/>
            </a:solidFill>
            <a:prstDash val="solid"/>
          </a:ln>
        </p:spPr>
        <p:txBody>
          <a:bodyPr/>
          <a:lstStyle/>
          <a:p>
            <a:endParaRPr lang="he-IL"/>
          </a:p>
        </p:txBody>
      </p:sp>
      <p:sp>
        <p:nvSpPr>
          <p:cNvPr id="29" name="Text 27"/>
          <p:cNvSpPr/>
          <p:nvPr/>
        </p:nvSpPr>
        <p:spPr>
          <a:xfrm>
            <a:off x="8854135" y="4096512"/>
            <a:ext cx="2697480" cy="548640"/>
          </a:xfrm>
          <a:prstGeom prst="rect">
            <a:avLst/>
          </a:prstGeom>
          <a:noFill/>
          <a:ln/>
        </p:spPr>
        <p:txBody>
          <a:bodyPr wrap="square" lIns="0" tIns="0" rIns="0" bIns="0" rtlCol="0" anchor="ctr"/>
          <a:lstStyle/>
          <a:p>
            <a:pPr marL="0" indent="0">
              <a:buNone/>
            </a:pPr>
            <a:r>
              <a:rPr lang="en-US" sz="1300" dirty="0">
                <a:solidFill>
                  <a:srgbClr val="F4F7FB"/>
                </a:solidFill>
                <a:latin typeface="Calibri" pitchFamily="34" charset="0"/>
                <a:ea typeface="Calibri" pitchFamily="34" charset="-122"/>
                <a:cs typeface="Calibri" pitchFamily="34" charset="-120"/>
              </a:rPr>
              <a:t>Chargeback that holds</a:t>
            </a:r>
            <a:endParaRPr lang="en-US" sz="1300" dirty="0"/>
          </a:p>
        </p:txBody>
      </p:sp>
      <p:sp>
        <p:nvSpPr>
          <p:cNvPr id="30" name="Shape 28"/>
          <p:cNvSpPr/>
          <p:nvPr/>
        </p:nvSpPr>
        <p:spPr>
          <a:xfrm>
            <a:off x="3840480" y="1353312"/>
            <a:ext cx="4510735" cy="3291840"/>
          </a:xfrm>
          <a:prstGeom prst="roundRect">
            <a:avLst>
              <a:gd name="adj" fmla="val 1724"/>
            </a:avLst>
          </a:prstGeom>
          <a:solidFill>
            <a:srgbClr val="1D2D42"/>
          </a:solidFill>
          <a:ln w="15875">
            <a:solidFill>
              <a:srgbClr val="3DD9EB"/>
            </a:solidFill>
            <a:prstDash val="solid"/>
          </a:ln>
        </p:spPr>
        <p:txBody>
          <a:bodyPr/>
          <a:lstStyle/>
          <a:p>
            <a:endParaRPr lang="he-IL"/>
          </a:p>
        </p:txBody>
      </p:sp>
      <p:sp>
        <p:nvSpPr>
          <p:cNvPr id="31" name="Text 29"/>
          <p:cNvSpPr/>
          <p:nvPr/>
        </p:nvSpPr>
        <p:spPr>
          <a:xfrm>
            <a:off x="4023360" y="1627632"/>
            <a:ext cx="4144975" cy="329184"/>
          </a:xfrm>
          <a:prstGeom prst="rect">
            <a:avLst/>
          </a:prstGeom>
          <a:noFill/>
          <a:ln/>
        </p:spPr>
        <p:txBody>
          <a:bodyPr wrap="square" lIns="0" tIns="0" rIns="0" bIns="0" rtlCol="0" anchor="ctr"/>
          <a:lstStyle/>
          <a:p>
            <a:pPr marL="0" indent="0" algn="ctr">
              <a:buNone/>
            </a:pPr>
            <a:r>
              <a:rPr lang="en-US" sz="1700" b="1" dirty="0">
                <a:solidFill>
                  <a:srgbClr val="F4F7FB"/>
                </a:solidFill>
                <a:latin typeface="Calibri" pitchFamily="34" charset="0"/>
                <a:ea typeface="Calibri" pitchFamily="34" charset="-122"/>
                <a:cs typeface="Calibri" pitchFamily="34" charset="-120"/>
              </a:rPr>
              <a:t>The gateway injects them</a:t>
            </a:r>
            <a:endParaRPr lang="en-US" sz="1700" dirty="0"/>
          </a:p>
        </p:txBody>
      </p:sp>
      <p:sp>
        <p:nvSpPr>
          <p:cNvPr id="32" name="Text 30"/>
          <p:cNvSpPr/>
          <p:nvPr/>
        </p:nvSpPr>
        <p:spPr>
          <a:xfrm>
            <a:off x="4023360" y="1956816"/>
            <a:ext cx="4144975" cy="256032"/>
          </a:xfrm>
          <a:prstGeom prst="rect">
            <a:avLst/>
          </a:prstGeom>
          <a:noFill/>
          <a:ln/>
        </p:spPr>
        <p:txBody>
          <a:bodyPr wrap="square" lIns="0" tIns="0" rIns="0" bIns="0" rtlCol="0" anchor="ctr"/>
          <a:lstStyle/>
          <a:p>
            <a:pPr marL="0" indent="0" algn="ctr">
              <a:buNone/>
            </a:pPr>
            <a:r>
              <a:rPr lang="en-US" sz="1200" dirty="0">
                <a:solidFill>
                  <a:srgbClr val="91A0B7"/>
                </a:solidFill>
                <a:latin typeface="Calibri" pitchFamily="34" charset="0"/>
                <a:ea typeface="Calibri" pitchFamily="34" charset="-122"/>
                <a:cs typeface="Calibri" pitchFamily="34" charset="-120"/>
              </a:rPr>
              <a:t>Every AI request carries its own metadata</a:t>
            </a:r>
            <a:endParaRPr lang="en-US" sz="1200" dirty="0"/>
          </a:p>
        </p:txBody>
      </p:sp>
      <p:sp>
        <p:nvSpPr>
          <p:cNvPr id="33" name="Shape 31"/>
          <p:cNvSpPr/>
          <p:nvPr/>
        </p:nvSpPr>
        <p:spPr>
          <a:xfrm>
            <a:off x="4023360" y="2331720"/>
            <a:ext cx="1981048" cy="365760"/>
          </a:xfrm>
          <a:prstGeom prst="roundRect">
            <a:avLst>
              <a:gd name="adj" fmla="val 25000"/>
            </a:avLst>
          </a:prstGeom>
          <a:solidFill>
            <a:srgbClr val="121B2D"/>
          </a:solidFill>
          <a:ln w="9525">
            <a:solidFill>
              <a:srgbClr val="23304A"/>
            </a:solidFill>
            <a:prstDash val="solid"/>
          </a:ln>
        </p:spPr>
        <p:txBody>
          <a:bodyPr/>
          <a:lstStyle/>
          <a:p>
            <a:endParaRPr lang="he-IL"/>
          </a:p>
        </p:txBody>
      </p:sp>
      <p:sp>
        <p:nvSpPr>
          <p:cNvPr id="34" name="Text 32"/>
          <p:cNvSpPr/>
          <p:nvPr/>
        </p:nvSpPr>
        <p:spPr>
          <a:xfrm>
            <a:off x="4023360" y="2331720"/>
            <a:ext cx="1981048" cy="365760"/>
          </a:xfrm>
          <a:prstGeom prst="rect">
            <a:avLst/>
          </a:prstGeom>
          <a:noFill/>
          <a:ln/>
        </p:spPr>
        <p:txBody>
          <a:bodyPr wrap="square" lIns="0" tIns="0" rIns="0" bIns="0" rtlCol="0" anchor="ctr"/>
          <a:lstStyle/>
          <a:p>
            <a:pPr marL="0" indent="0" algn="ctr">
              <a:buNone/>
            </a:pPr>
            <a:r>
              <a:rPr lang="en-US" sz="1200" dirty="0">
                <a:solidFill>
                  <a:srgbClr val="F4F7FB"/>
                </a:solidFill>
                <a:latin typeface="Calibri" pitchFamily="34" charset="0"/>
                <a:ea typeface="Calibri" pitchFamily="34" charset="-122"/>
                <a:cs typeface="Calibri" pitchFamily="34" charset="-120"/>
              </a:rPr>
              <a:t>use_case</a:t>
            </a:r>
            <a:endParaRPr lang="en-US" sz="1200" dirty="0"/>
          </a:p>
        </p:txBody>
      </p:sp>
      <p:sp>
        <p:nvSpPr>
          <p:cNvPr id="35" name="Shape 33"/>
          <p:cNvSpPr/>
          <p:nvPr/>
        </p:nvSpPr>
        <p:spPr>
          <a:xfrm>
            <a:off x="6187288" y="2331720"/>
            <a:ext cx="1981048" cy="365760"/>
          </a:xfrm>
          <a:prstGeom prst="roundRect">
            <a:avLst>
              <a:gd name="adj" fmla="val 25000"/>
            </a:avLst>
          </a:prstGeom>
          <a:solidFill>
            <a:srgbClr val="121B2D"/>
          </a:solidFill>
          <a:ln w="9525">
            <a:solidFill>
              <a:srgbClr val="23304A"/>
            </a:solidFill>
            <a:prstDash val="solid"/>
          </a:ln>
        </p:spPr>
        <p:txBody>
          <a:bodyPr/>
          <a:lstStyle/>
          <a:p>
            <a:endParaRPr lang="he-IL"/>
          </a:p>
        </p:txBody>
      </p:sp>
      <p:sp>
        <p:nvSpPr>
          <p:cNvPr id="36" name="Text 34"/>
          <p:cNvSpPr/>
          <p:nvPr/>
        </p:nvSpPr>
        <p:spPr>
          <a:xfrm>
            <a:off x="6187288" y="2331720"/>
            <a:ext cx="1981048" cy="365760"/>
          </a:xfrm>
          <a:prstGeom prst="rect">
            <a:avLst/>
          </a:prstGeom>
          <a:noFill/>
          <a:ln/>
        </p:spPr>
        <p:txBody>
          <a:bodyPr wrap="square" lIns="0" tIns="0" rIns="0" bIns="0" rtlCol="0" anchor="ctr"/>
          <a:lstStyle/>
          <a:p>
            <a:pPr marL="0" indent="0" algn="ctr">
              <a:buNone/>
            </a:pPr>
            <a:r>
              <a:rPr lang="en-US" sz="1200" dirty="0">
                <a:solidFill>
                  <a:srgbClr val="F4F7FB"/>
                </a:solidFill>
                <a:latin typeface="Calibri" pitchFamily="34" charset="0"/>
                <a:ea typeface="Calibri" pitchFamily="34" charset="-122"/>
                <a:cs typeface="Calibri" pitchFamily="34" charset="-120"/>
              </a:rPr>
              <a:t>agent_id</a:t>
            </a:r>
            <a:endParaRPr lang="en-US" sz="1200" dirty="0"/>
          </a:p>
        </p:txBody>
      </p:sp>
      <p:sp>
        <p:nvSpPr>
          <p:cNvPr id="37" name="Shape 35"/>
          <p:cNvSpPr/>
          <p:nvPr/>
        </p:nvSpPr>
        <p:spPr>
          <a:xfrm>
            <a:off x="4023360" y="2788920"/>
            <a:ext cx="1981048" cy="365760"/>
          </a:xfrm>
          <a:prstGeom prst="roundRect">
            <a:avLst>
              <a:gd name="adj" fmla="val 25000"/>
            </a:avLst>
          </a:prstGeom>
          <a:solidFill>
            <a:srgbClr val="121B2D"/>
          </a:solidFill>
          <a:ln w="9525">
            <a:solidFill>
              <a:srgbClr val="23304A"/>
            </a:solidFill>
            <a:prstDash val="solid"/>
          </a:ln>
        </p:spPr>
        <p:txBody>
          <a:bodyPr/>
          <a:lstStyle/>
          <a:p>
            <a:endParaRPr lang="he-IL"/>
          </a:p>
        </p:txBody>
      </p:sp>
      <p:sp>
        <p:nvSpPr>
          <p:cNvPr id="38" name="Text 36"/>
          <p:cNvSpPr/>
          <p:nvPr/>
        </p:nvSpPr>
        <p:spPr>
          <a:xfrm>
            <a:off x="4023360" y="2788920"/>
            <a:ext cx="1981048" cy="365760"/>
          </a:xfrm>
          <a:prstGeom prst="rect">
            <a:avLst/>
          </a:prstGeom>
          <a:noFill/>
          <a:ln/>
        </p:spPr>
        <p:txBody>
          <a:bodyPr wrap="square" lIns="0" tIns="0" rIns="0" bIns="0" rtlCol="0" anchor="ctr"/>
          <a:lstStyle/>
          <a:p>
            <a:pPr marL="0" indent="0" algn="ctr">
              <a:buNone/>
            </a:pPr>
            <a:r>
              <a:rPr lang="en-US" sz="1200" dirty="0">
                <a:solidFill>
                  <a:srgbClr val="F4F7FB"/>
                </a:solidFill>
                <a:latin typeface="Calibri" pitchFamily="34" charset="0"/>
                <a:ea typeface="Calibri" pitchFamily="34" charset="-122"/>
                <a:cs typeface="Calibri" pitchFamily="34" charset="-120"/>
              </a:rPr>
              <a:t>workflow_id</a:t>
            </a:r>
            <a:endParaRPr lang="en-US" sz="1200" dirty="0"/>
          </a:p>
        </p:txBody>
      </p:sp>
      <p:sp>
        <p:nvSpPr>
          <p:cNvPr id="39" name="Shape 37"/>
          <p:cNvSpPr/>
          <p:nvPr/>
        </p:nvSpPr>
        <p:spPr>
          <a:xfrm>
            <a:off x="6187288" y="2788920"/>
            <a:ext cx="1981048" cy="365760"/>
          </a:xfrm>
          <a:prstGeom prst="roundRect">
            <a:avLst>
              <a:gd name="adj" fmla="val 25000"/>
            </a:avLst>
          </a:prstGeom>
          <a:solidFill>
            <a:srgbClr val="121B2D"/>
          </a:solidFill>
          <a:ln w="9525">
            <a:solidFill>
              <a:srgbClr val="23304A"/>
            </a:solidFill>
            <a:prstDash val="solid"/>
          </a:ln>
        </p:spPr>
        <p:txBody>
          <a:bodyPr/>
          <a:lstStyle/>
          <a:p>
            <a:endParaRPr lang="he-IL"/>
          </a:p>
        </p:txBody>
      </p:sp>
      <p:sp>
        <p:nvSpPr>
          <p:cNvPr id="40" name="Text 38"/>
          <p:cNvSpPr/>
          <p:nvPr/>
        </p:nvSpPr>
        <p:spPr>
          <a:xfrm>
            <a:off x="6187288" y="2788920"/>
            <a:ext cx="1981048" cy="365760"/>
          </a:xfrm>
          <a:prstGeom prst="rect">
            <a:avLst/>
          </a:prstGeom>
          <a:noFill/>
          <a:ln/>
        </p:spPr>
        <p:txBody>
          <a:bodyPr wrap="square" lIns="0" tIns="0" rIns="0" bIns="0" rtlCol="0" anchor="ctr"/>
          <a:lstStyle/>
          <a:p>
            <a:pPr marL="0" indent="0" algn="ctr">
              <a:buNone/>
            </a:pPr>
            <a:r>
              <a:rPr lang="en-US" sz="1200" dirty="0">
                <a:solidFill>
                  <a:srgbClr val="F4F7FB"/>
                </a:solidFill>
                <a:latin typeface="Calibri" pitchFamily="34" charset="0"/>
                <a:ea typeface="Calibri" pitchFamily="34" charset="-122"/>
                <a:cs typeface="Calibri" pitchFamily="34" charset="-120"/>
              </a:rPr>
              <a:t>ai_model</a:t>
            </a:r>
            <a:endParaRPr lang="en-US" sz="1200" dirty="0"/>
          </a:p>
        </p:txBody>
      </p:sp>
      <p:sp>
        <p:nvSpPr>
          <p:cNvPr id="41" name="Shape 39"/>
          <p:cNvSpPr/>
          <p:nvPr/>
        </p:nvSpPr>
        <p:spPr>
          <a:xfrm>
            <a:off x="4023360" y="3246120"/>
            <a:ext cx="1981048" cy="365760"/>
          </a:xfrm>
          <a:prstGeom prst="roundRect">
            <a:avLst>
              <a:gd name="adj" fmla="val 25000"/>
            </a:avLst>
          </a:prstGeom>
          <a:solidFill>
            <a:srgbClr val="121B2D"/>
          </a:solidFill>
          <a:ln w="9525">
            <a:solidFill>
              <a:srgbClr val="23304A"/>
            </a:solidFill>
            <a:prstDash val="solid"/>
          </a:ln>
        </p:spPr>
        <p:txBody>
          <a:bodyPr/>
          <a:lstStyle/>
          <a:p>
            <a:endParaRPr lang="he-IL"/>
          </a:p>
        </p:txBody>
      </p:sp>
      <p:sp>
        <p:nvSpPr>
          <p:cNvPr id="42" name="Text 40"/>
          <p:cNvSpPr/>
          <p:nvPr/>
        </p:nvSpPr>
        <p:spPr>
          <a:xfrm>
            <a:off x="4023360" y="3246120"/>
            <a:ext cx="1981048" cy="365760"/>
          </a:xfrm>
          <a:prstGeom prst="rect">
            <a:avLst/>
          </a:prstGeom>
          <a:noFill/>
          <a:ln/>
        </p:spPr>
        <p:txBody>
          <a:bodyPr wrap="square" lIns="0" tIns="0" rIns="0" bIns="0" rtlCol="0" anchor="ctr"/>
          <a:lstStyle/>
          <a:p>
            <a:pPr marL="0" indent="0" algn="ctr">
              <a:buNone/>
            </a:pPr>
            <a:r>
              <a:rPr lang="en-US" sz="1200" dirty="0">
                <a:solidFill>
                  <a:srgbClr val="F4F7FB"/>
                </a:solidFill>
                <a:latin typeface="Calibri" pitchFamily="34" charset="0"/>
                <a:ea typeface="Calibri" pitchFamily="34" charset="-122"/>
                <a:cs typeface="Calibri" pitchFamily="34" charset="-120"/>
              </a:rPr>
              <a:t>ai_provider</a:t>
            </a:r>
            <a:endParaRPr lang="en-US" sz="1200" dirty="0"/>
          </a:p>
        </p:txBody>
      </p:sp>
      <p:sp>
        <p:nvSpPr>
          <p:cNvPr id="43" name="Shape 41"/>
          <p:cNvSpPr/>
          <p:nvPr/>
        </p:nvSpPr>
        <p:spPr>
          <a:xfrm>
            <a:off x="6187288" y="3246120"/>
            <a:ext cx="1981048" cy="365760"/>
          </a:xfrm>
          <a:prstGeom prst="roundRect">
            <a:avLst>
              <a:gd name="adj" fmla="val 25000"/>
            </a:avLst>
          </a:prstGeom>
          <a:solidFill>
            <a:srgbClr val="121B2D"/>
          </a:solidFill>
          <a:ln w="9525">
            <a:solidFill>
              <a:srgbClr val="23304A"/>
            </a:solidFill>
            <a:prstDash val="solid"/>
          </a:ln>
        </p:spPr>
        <p:txBody>
          <a:bodyPr/>
          <a:lstStyle/>
          <a:p>
            <a:endParaRPr lang="he-IL"/>
          </a:p>
        </p:txBody>
      </p:sp>
      <p:sp>
        <p:nvSpPr>
          <p:cNvPr id="44" name="Text 42"/>
          <p:cNvSpPr/>
          <p:nvPr/>
        </p:nvSpPr>
        <p:spPr>
          <a:xfrm>
            <a:off x="6187288" y="3246120"/>
            <a:ext cx="1981048" cy="365760"/>
          </a:xfrm>
          <a:prstGeom prst="rect">
            <a:avLst/>
          </a:prstGeom>
          <a:noFill/>
          <a:ln/>
        </p:spPr>
        <p:txBody>
          <a:bodyPr wrap="square" lIns="0" tIns="0" rIns="0" bIns="0" rtlCol="0" anchor="ctr"/>
          <a:lstStyle/>
          <a:p>
            <a:pPr marL="0" indent="0" algn="ctr">
              <a:buNone/>
            </a:pPr>
            <a:r>
              <a:rPr lang="en-US" sz="1200" dirty="0">
                <a:solidFill>
                  <a:srgbClr val="F4F7FB"/>
                </a:solidFill>
                <a:latin typeface="Calibri" pitchFamily="34" charset="0"/>
                <a:ea typeface="Calibri" pitchFamily="34" charset="-122"/>
                <a:cs typeface="Calibri" pitchFamily="34" charset="-120"/>
              </a:rPr>
              <a:t>mcp_tool</a:t>
            </a:r>
            <a:endParaRPr lang="en-US" sz="1200" dirty="0"/>
          </a:p>
        </p:txBody>
      </p:sp>
      <p:sp>
        <p:nvSpPr>
          <p:cNvPr id="45" name="Shape 43"/>
          <p:cNvSpPr/>
          <p:nvPr/>
        </p:nvSpPr>
        <p:spPr>
          <a:xfrm>
            <a:off x="4023360" y="3703320"/>
            <a:ext cx="1981048" cy="365760"/>
          </a:xfrm>
          <a:prstGeom prst="roundRect">
            <a:avLst>
              <a:gd name="adj" fmla="val 25000"/>
            </a:avLst>
          </a:prstGeom>
          <a:solidFill>
            <a:srgbClr val="121B2D"/>
          </a:solidFill>
          <a:ln w="9525">
            <a:solidFill>
              <a:srgbClr val="23304A"/>
            </a:solidFill>
            <a:prstDash val="solid"/>
          </a:ln>
        </p:spPr>
        <p:txBody>
          <a:bodyPr/>
          <a:lstStyle/>
          <a:p>
            <a:endParaRPr lang="he-IL"/>
          </a:p>
        </p:txBody>
      </p:sp>
      <p:sp>
        <p:nvSpPr>
          <p:cNvPr id="46" name="Text 44"/>
          <p:cNvSpPr/>
          <p:nvPr/>
        </p:nvSpPr>
        <p:spPr>
          <a:xfrm>
            <a:off x="4023360" y="3703320"/>
            <a:ext cx="1981048" cy="365760"/>
          </a:xfrm>
          <a:prstGeom prst="rect">
            <a:avLst/>
          </a:prstGeom>
          <a:noFill/>
          <a:ln/>
        </p:spPr>
        <p:txBody>
          <a:bodyPr wrap="square" lIns="0" tIns="0" rIns="0" bIns="0" rtlCol="0" anchor="ctr"/>
          <a:lstStyle/>
          <a:p>
            <a:pPr marL="0" indent="0" algn="ctr">
              <a:buNone/>
            </a:pPr>
            <a:r>
              <a:rPr lang="en-US" sz="1200" dirty="0">
                <a:solidFill>
                  <a:srgbClr val="F4F7FB"/>
                </a:solidFill>
                <a:latin typeface="Calibri" pitchFamily="34" charset="0"/>
                <a:ea typeface="Calibri" pitchFamily="34" charset="-122"/>
                <a:cs typeface="Calibri" pitchFamily="34" charset="-120"/>
              </a:rPr>
              <a:t>session_id</a:t>
            </a:r>
            <a:endParaRPr lang="en-US" sz="1200" dirty="0"/>
          </a:p>
        </p:txBody>
      </p:sp>
      <p:sp>
        <p:nvSpPr>
          <p:cNvPr id="47" name="Shape 45"/>
          <p:cNvSpPr/>
          <p:nvPr/>
        </p:nvSpPr>
        <p:spPr>
          <a:xfrm>
            <a:off x="6187288" y="3703320"/>
            <a:ext cx="1981048" cy="365760"/>
          </a:xfrm>
          <a:prstGeom prst="roundRect">
            <a:avLst>
              <a:gd name="adj" fmla="val 25000"/>
            </a:avLst>
          </a:prstGeom>
          <a:solidFill>
            <a:srgbClr val="121B2D"/>
          </a:solidFill>
          <a:ln w="9525">
            <a:solidFill>
              <a:srgbClr val="23304A"/>
            </a:solidFill>
            <a:prstDash val="solid"/>
          </a:ln>
        </p:spPr>
        <p:txBody>
          <a:bodyPr/>
          <a:lstStyle/>
          <a:p>
            <a:endParaRPr lang="he-IL"/>
          </a:p>
        </p:txBody>
      </p:sp>
      <p:sp>
        <p:nvSpPr>
          <p:cNvPr id="48" name="Text 46"/>
          <p:cNvSpPr/>
          <p:nvPr/>
        </p:nvSpPr>
        <p:spPr>
          <a:xfrm>
            <a:off x="6187288" y="3703320"/>
            <a:ext cx="1981048" cy="365760"/>
          </a:xfrm>
          <a:prstGeom prst="rect">
            <a:avLst/>
          </a:prstGeom>
          <a:noFill/>
          <a:ln/>
        </p:spPr>
        <p:txBody>
          <a:bodyPr wrap="square" lIns="0" tIns="0" rIns="0" bIns="0" rtlCol="0" anchor="ctr"/>
          <a:lstStyle/>
          <a:p>
            <a:pPr marL="0" indent="0" algn="ctr">
              <a:buNone/>
            </a:pPr>
            <a:r>
              <a:rPr lang="en-US" sz="1200" dirty="0">
                <a:solidFill>
                  <a:srgbClr val="F4F7FB"/>
                </a:solidFill>
                <a:latin typeface="Calibri" pitchFamily="34" charset="0"/>
                <a:ea typeface="Calibri" pitchFamily="34" charset="-122"/>
                <a:cs typeface="Calibri" pitchFamily="34" charset="-120"/>
              </a:rPr>
              <a:t>request_id</a:t>
            </a:r>
            <a:endParaRPr lang="en-US" sz="1200" dirty="0"/>
          </a:p>
        </p:txBody>
      </p:sp>
      <p:sp>
        <p:nvSpPr>
          <p:cNvPr id="49" name="Text 47"/>
          <p:cNvSpPr/>
          <p:nvPr/>
        </p:nvSpPr>
        <p:spPr>
          <a:xfrm>
            <a:off x="4023360" y="4078224"/>
            <a:ext cx="4144975" cy="457200"/>
          </a:xfrm>
          <a:prstGeom prst="rect">
            <a:avLst/>
          </a:prstGeom>
          <a:noFill/>
          <a:ln/>
        </p:spPr>
        <p:txBody>
          <a:bodyPr wrap="square" lIns="0" tIns="0" rIns="0" bIns="0" rtlCol="0" anchor="ctr"/>
          <a:lstStyle/>
          <a:p>
            <a:pPr marL="0" indent="0" algn="ctr">
              <a:lnSpc>
                <a:spcPct val="110000"/>
              </a:lnSpc>
              <a:buNone/>
            </a:pPr>
            <a:r>
              <a:rPr lang="en-US" sz="1150" dirty="0">
                <a:solidFill>
                  <a:srgbClr val="91A0B7"/>
                </a:solidFill>
                <a:latin typeface="Calibri" pitchFamily="34" charset="0"/>
                <a:ea typeface="Calibri" pitchFamily="34" charset="-122"/>
                <a:cs typeface="Calibri" pitchFamily="34" charset="-120"/>
              </a:rPr>
              <a:t>The gateway is the only place these can be made mandatory.</a:t>
            </a:r>
            <a:endParaRPr lang="en-US" sz="1150" dirty="0"/>
          </a:p>
        </p:txBody>
      </p:sp>
    </p:spTree>
    <p:extLst>
      <p:ext uri="{BB962C8B-B14F-4D97-AF65-F5344CB8AC3E}">
        <p14:creationId xmlns:p14="http://schemas.microsoft.com/office/powerpoint/2010/main" val="37304094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0">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txBody>
          <a:bodyPr/>
          <a:lstStyle/>
          <a:p>
            <a:endParaRPr lang="he-IL" dirty="0"/>
          </a:p>
        </p:txBody>
      </p:sp>
      <p:sp>
        <p:nvSpPr>
          <p:cNvPr id="3" name="Shape 1"/>
          <p:cNvSpPr/>
          <p:nvPr/>
        </p:nvSpPr>
        <p:spPr>
          <a:xfrm>
            <a:off x="457200" y="306324"/>
            <a:ext cx="109728" cy="109728"/>
          </a:xfrm>
          <a:prstGeom prst="ellipse">
            <a:avLst/>
          </a:prstGeom>
          <a:solidFill>
            <a:srgbClr val="B07CFF"/>
          </a:solidFill>
          <a:ln w="12700">
            <a:solidFill>
              <a:srgbClr val="B07CFF"/>
            </a:solidFill>
            <a:prstDash val="solid"/>
          </a:ln>
        </p:spPr>
        <p:txBody>
          <a:bodyPr/>
          <a:lstStyle/>
          <a:p>
            <a:endParaRPr lang="he-IL" dirty="0"/>
          </a:p>
        </p:txBody>
      </p:sp>
      <p:sp>
        <p:nvSpPr>
          <p:cNvPr id="4" name="Text 2"/>
          <p:cNvSpPr/>
          <p:nvPr/>
        </p:nvSpPr>
        <p:spPr>
          <a:xfrm>
            <a:off x="640080" y="274320"/>
            <a:ext cx="7315200" cy="237744"/>
          </a:xfrm>
          <a:prstGeom prst="rect">
            <a:avLst/>
          </a:prstGeom>
          <a:noFill/>
          <a:ln/>
        </p:spPr>
        <p:txBody>
          <a:bodyPr wrap="square" lIns="0" tIns="0" rIns="0" bIns="0" rtlCol="0" anchor="ctr"/>
          <a:lstStyle/>
          <a:p>
            <a:pPr marL="0" indent="0">
              <a:buNone/>
            </a:pPr>
            <a:r>
              <a:rPr lang="en-US" sz="1300" b="1" kern="0" spc="200" dirty="0">
                <a:solidFill>
                  <a:srgbClr val="B07CFF"/>
                </a:solidFill>
                <a:latin typeface="Calibri" pitchFamily="34" charset="0"/>
                <a:ea typeface="Calibri" pitchFamily="34" charset="-122"/>
                <a:cs typeface="Calibri" pitchFamily="34" charset="-120"/>
              </a:rPr>
              <a:t>THE MECHANISM</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marL="0" indent="0">
              <a:buNone/>
            </a:pPr>
            <a:r>
              <a:rPr lang="en-US" sz="2625" b="1" dirty="0">
                <a:solidFill>
                  <a:srgbClr val="F4F7FB"/>
                </a:solidFill>
                <a:latin typeface="Calibri" pitchFamily="34" charset="0"/>
                <a:ea typeface="Calibri" pitchFamily="34" charset="-122"/>
                <a:cs typeface="Calibri" pitchFamily="34" charset="-120"/>
              </a:rPr>
              <a:t>One gateway for every AI request</a:t>
            </a:r>
            <a:endParaRPr lang="en-US" sz="2625" dirty="0"/>
          </a:p>
        </p:txBody>
      </p:sp>
      <p:sp>
        <p:nvSpPr>
          <p:cNvPr id="6" name="Text 4"/>
          <p:cNvSpPr/>
          <p:nvPr/>
        </p:nvSpPr>
        <p:spPr>
          <a:xfrm>
            <a:off x="8321040" y="493776"/>
            <a:ext cx="3413455" cy="658368"/>
          </a:xfrm>
          <a:prstGeom prst="rect">
            <a:avLst/>
          </a:prstGeom>
          <a:noFill/>
          <a:ln/>
        </p:spPr>
        <p:txBody>
          <a:bodyPr wrap="square" lIns="0" tIns="0" rIns="0" bIns="0" rtlCol="0" anchor="t"/>
          <a:lstStyle/>
          <a:p>
            <a:pPr marL="0" indent="0" algn="r">
              <a:lnSpc>
                <a:spcPct val="115000"/>
              </a:lnSpc>
              <a:buNone/>
            </a:pP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marL="0" indent="0">
              <a:lnSpc>
                <a:spcPct val="115000"/>
              </a:lnSpc>
              <a:buNone/>
            </a:pPr>
            <a:r>
              <a:rPr lang="en-US" sz="1200" dirty="0">
                <a:solidFill>
                  <a:srgbClr val="536078"/>
                </a:solidFill>
                <a:latin typeface="Calibri" pitchFamily="34" charset="0"/>
                <a:ea typeface="Calibri" pitchFamily="34" charset="-122"/>
                <a:cs typeface="Calibri" pitchFamily="34" charset="-120"/>
              </a:rPr>
              <a:t>Today every business unit buys AI separately, on shared keys, with no owner per consumer, which is why 23.4% of the bill has no name against it.</a:t>
            </a:r>
            <a:endParaRPr lang="en-US" sz="1200" dirty="0"/>
          </a:p>
        </p:txBody>
      </p:sp>
      <p:sp>
        <p:nvSpPr>
          <p:cNvPr id="8" name="Text 6"/>
          <p:cNvSpPr/>
          <p:nvPr/>
        </p:nvSpPr>
        <p:spPr>
          <a:xfrm>
            <a:off x="457200" y="1115568"/>
            <a:ext cx="3063240" cy="237744"/>
          </a:xfrm>
          <a:prstGeom prst="rect">
            <a:avLst/>
          </a:prstGeom>
          <a:noFill/>
          <a:ln/>
        </p:spPr>
        <p:txBody>
          <a:bodyPr wrap="square" lIns="0" tIns="0" rIns="0" bIns="0" rtlCol="0" anchor="ctr"/>
          <a:lstStyle/>
          <a:p>
            <a:pPr marL="0" indent="0">
              <a:buNone/>
            </a:pPr>
            <a:r>
              <a:rPr lang="en-US" sz="1200" b="1" kern="0" spc="140" dirty="0">
                <a:solidFill>
                  <a:srgbClr val="91A0B7"/>
                </a:solidFill>
                <a:latin typeface="Calibri" pitchFamily="34" charset="0"/>
                <a:ea typeface="Calibri" pitchFamily="34" charset="-122"/>
                <a:cs typeface="Calibri" pitchFamily="34" charset="-120"/>
              </a:rPr>
              <a:t>CONSUMERS</a:t>
            </a:r>
            <a:endParaRPr lang="en-US" sz="1200" dirty="0"/>
          </a:p>
        </p:txBody>
      </p:sp>
      <p:sp>
        <p:nvSpPr>
          <p:cNvPr id="9" name="Shape 7"/>
          <p:cNvSpPr/>
          <p:nvPr/>
        </p:nvSpPr>
        <p:spPr>
          <a:xfrm>
            <a:off x="457200" y="1463040"/>
            <a:ext cx="3063240" cy="548640"/>
          </a:xfrm>
          <a:prstGeom prst="roundRect">
            <a:avLst>
              <a:gd name="adj" fmla="val 10000"/>
            </a:avLst>
          </a:prstGeom>
          <a:solidFill>
            <a:srgbClr val="121B2D"/>
          </a:solidFill>
          <a:ln w="12700">
            <a:solidFill>
              <a:srgbClr val="23304A"/>
            </a:solidFill>
            <a:prstDash val="solid"/>
          </a:ln>
        </p:spPr>
        <p:txBody>
          <a:bodyPr/>
          <a:lstStyle/>
          <a:p>
            <a:endParaRPr lang="he-IL" dirty="0"/>
          </a:p>
        </p:txBody>
      </p:sp>
      <p:sp>
        <p:nvSpPr>
          <p:cNvPr id="10" name="Text 8"/>
          <p:cNvSpPr/>
          <p:nvPr/>
        </p:nvSpPr>
        <p:spPr>
          <a:xfrm>
            <a:off x="640080" y="1463040"/>
            <a:ext cx="2697480" cy="548640"/>
          </a:xfrm>
          <a:prstGeom prst="rect">
            <a:avLst/>
          </a:prstGeom>
          <a:noFill/>
          <a:ln/>
        </p:spPr>
        <p:txBody>
          <a:bodyPr wrap="square" lIns="0" tIns="0" rIns="0" bIns="0" rtlCol="0" anchor="ctr"/>
          <a:lstStyle/>
          <a:p>
            <a:pPr marL="0" indent="0">
              <a:buNone/>
            </a:pPr>
            <a:r>
              <a:rPr lang="en-US" sz="1300" dirty="0">
                <a:solidFill>
                  <a:srgbClr val="F4F7FB"/>
                </a:solidFill>
                <a:latin typeface="Calibri" pitchFamily="34" charset="0"/>
                <a:ea typeface="Calibri" pitchFamily="34" charset="-122"/>
                <a:cs typeface="Calibri" pitchFamily="34" charset="-120"/>
              </a:rPr>
              <a:t>Business applications</a:t>
            </a:r>
            <a:endParaRPr lang="en-US" sz="1300" dirty="0"/>
          </a:p>
        </p:txBody>
      </p:sp>
      <p:sp>
        <p:nvSpPr>
          <p:cNvPr id="11" name="Shape 9"/>
          <p:cNvSpPr/>
          <p:nvPr/>
        </p:nvSpPr>
        <p:spPr>
          <a:xfrm>
            <a:off x="457200" y="2121408"/>
            <a:ext cx="3063240" cy="548640"/>
          </a:xfrm>
          <a:prstGeom prst="roundRect">
            <a:avLst>
              <a:gd name="adj" fmla="val 10000"/>
            </a:avLst>
          </a:prstGeom>
          <a:solidFill>
            <a:srgbClr val="121B2D"/>
          </a:solidFill>
          <a:ln w="12700">
            <a:solidFill>
              <a:srgbClr val="23304A"/>
            </a:solidFill>
            <a:prstDash val="solid"/>
          </a:ln>
        </p:spPr>
        <p:txBody>
          <a:bodyPr/>
          <a:lstStyle/>
          <a:p>
            <a:endParaRPr lang="he-IL" dirty="0"/>
          </a:p>
        </p:txBody>
      </p:sp>
      <p:sp>
        <p:nvSpPr>
          <p:cNvPr id="12" name="Text 10"/>
          <p:cNvSpPr/>
          <p:nvPr/>
        </p:nvSpPr>
        <p:spPr>
          <a:xfrm>
            <a:off x="640080" y="2121408"/>
            <a:ext cx="2697480" cy="548640"/>
          </a:xfrm>
          <a:prstGeom prst="rect">
            <a:avLst/>
          </a:prstGeom>
          <a:noFill/>
          <a:ln/>
        </p:spPr>
        <p:txBody>
          <a:bodyPr wrap="square" lIns="0" tIns="0" rIns="0" bIns="0" rtlCol="0" anchor="ctr"/>
          <a:lstStyle/>
          <a:p>
            <a:pPr marL="0" indent="0">
              <a:buNone/>
            </a:pPr>
            <a:r>
              <a:rPr lang="en-US" sz="1300" dirty="0">
                <a:solidFill>
                  <a:srgbClr val="F4F7FB"/>
                </a:solidFill>
                <a:latin typeface="Calibri" pitchFamily="34" charset="0"/>
                <a:ea typeface="Calibri" pitchFamily="34" charset="-122"/>
                <a:cs typeface="Calibri" pitchFamily="34" charset="-120"/>
              </a:rPr>
              <a:t>Copilots and assistants</a:t>
            </a:r>
            <a:endParaRPr lang="en-US" sz="1300" dirty="0"/>
          </a:p>
        </p:txBody>
      </p:sp>
      <p:sp>
        <p:nvSpPr>
          <p:cNvPr id="13" name="Shape 11"/>
          <p:cNvSpPr/>
          <p:nvPr/>
        </p:nvSpPr>
        <p:spPr>
          <a:xfrm>
            <a:off x="457200" y="2779776"/>
            <a:ext cx="3063240" cy="548640"/>
          </a:xfrm>
          <a:prstGeom prst="roundRect">
            <a:avLst>
              <a:gd name="adj" fmla="val 10000"/>
            </a:avLst>
          </a:prstGeom>
          <a:solidFill>
            <a:srgbClr val="121B2D"/>
          </a:solidFill>
          <a:ln w="12700">
            <a:solidFill>
              <a:srgbClr val="23304A"/>
            </a:solidFill>
            <a:prstDash val="solid"/>
          </a:ln>
        </p:spPr>
        <p:txBody>
          <a:bodyPr/>
          <a:lstStyle/>
          <a:p>
            <a:endParaRPr lang="he-IL" dirty="0"/>
          </a:p>
        </p:txBody>
      </p:sp>
      <p:sp>
        <p:nvSpPr>
          <p:cNvPr id="14" name="Text 12"/>
          <p:cNvSpPr/>
          <p:nvPr/>
        </p:nvSpPr>
        <p:spPr>
          <a:xfrm>
            <a:off x="640080" y="2779776"/>
            <a:ext cx="2697480" cy="548640"/>
          </a:xfrm>
          <a:prstGeom prst="rect">
            <a:avLst/>
          </a:prstGeom>
          <a:noFill/>
          <a:ln/>
        </p:spPr>
        <p:txBody>
          <a:bodyPr wrap="square" lIns="0" tIns="0" rIns="0" bIns="0" rtlCol="0" anchor="ctr"/>
          <a:lstStyle/>
          <a:p>
            <a:pPr marL="0" indent="0">
              <a:buNone/>
            </a:pPr>
            <a:r>
              <a:rPr lang="en-US" sz="1300" dirty="0">
                <a:solidFill>
                  <a:srgbClr val="F4F7FB"/>
                </a:solidFill>
                <a:latin typeface="Calibri" pitchFamily="34" charset="0"/>
                <a:ea typeface="Calibri" pitchFamily="34" charset="-122"/>
                <a:cs typeface="Calibri" pitchFamily="34" charset="-120"/>
              </a:rPr>
              <a:t>Autonomous agents</a:t>
            </a:r>
            <a:endParaRPr lang="en-US" sz="1300" dirty="0"/>
          </a:p>
        </p:txBody>
      </p:sp>
      <p:sp>
        <p:nvSpPr>
          <p:cNvPr id="15" name="Shape 13"/>
          <p:cNvSpPr/>
          <p:nvPr/>
        </p:nvSpPr>
        <p:spPr>
          <a:xfrm>
            <a:off x="457200" y="3438144"/>
            <a:ext cx="3063240" cy="548640"/>
          </a:xfrm>
          <a:prstGeom prst="roundRect">
            <a:avLst>
              <a:gd name="adj" fmla="val 10000"/>
            </a:avLst>
          </a:prstGeom>
          <a:solidFill>
            <a:srgbClr val="121B2D"/>
          </a:solidFill>
          <a:ln w="12700">
            <a:solidFill>
              <a:srgbClr val="23304A"/>
            </a:solidFill>
            <a:prstDash val="solid"/>
          </a:ln>
        </p:spPr>
        <p:txBody>
          <a:bodyPr/>
          <a:lstStyle/>
          <a:p>
            <a:endParaRPr lang="he-IL" dirty="0"/>
          </a:p>
        </p:txBody>
      </p:sp>
      <p:sp>
        <p:nvSpPr>
          <p:cNvPr id="16" name="Text 14"/>
          <p:cNvSpPr/>
          <p:nvPr/>
        </p:nvSpPr>
        <p:spPr>
          <a:xfrm>
            <a:off x="640080" y="3438144"/>
            <a:ext cx="2697480" cy="548640"/>
          </a:xfrm>
          <a:prstGeom prst="rect">
            <a:avLst/>
          </a:prstGeom>
          <a:noFill/>
          <a:ln/>
        </p:spPr>
        <p:txBody>
          <a:bodyPr wrap="square" lIns="0" tIns="0" rIns="0" bIns="0" rtlCol="0" anchor="ctr"/>
          <a:lstStyle/>
          <a:p>
            <a:pPr marL="0" indent="0">
              <a:buNone/>
            </a:pPr>
            <a:r>
              <a:rPr lang="en-US" sz="1300" dirty="0">
                <a:solidFill>
                  <a:srgbClr val="F4F7FB"/>
                </a:solidFill>
                <a:latin typeface="Calibri" pitchFamily="34" charset="0"/>
                <a:ea typeface="Calibri" pitchFamily="34" charset="-122"/>
                <a:cs typeface="Calibri" pitchFamily="34" charset="-120"/>
              </a:rPr>
              <a:t>Data science</a:t>
            </a:r>
            <a:endParaRPr lang="en-US" sz="1300" dirty="0"/>
          </a:p>
        </p:txBody>
      </p:sp>
      <p:sp>
        <p:nvSpPr>
          <p:cNvPr id="17" name="Shape 15"/>
          <p:cNvSpPr/>
          <p:nvPr/>
        </p:nvSpPr>
        <p:spPr>
          <a:xfrm>
            <a:off x="457200" y="4096512"/>
            <a:ext cx="3063240" cy="548640"/>
          </a:xfrm>
          <a:prstGeom prst="roundRect">
            <a:avLst>
              <a:gd name="adj" fmla="val 10000"/>
            </a:avLst>
          </a:prstGeom>
          <a:solidFill>
            <a:srgbClr val="121B2D"/>
          </a:solidFill>
          <a:ln w="12700">
            <a:solidFill>
              <a:srgbClr val="23304A"/>
            </a:solidFill>
            <a:prstDash val="solid"/>
          </a:ln>
        </p:spPr>
        <p:txBody>
          <a:bodyPr/>
          <a:lstStyle/>
          <a:p>
            <a:endParaRPr lang="he-IL" dirty="0"/>
          </a:p>
        </p:txBody>
      </p:sp>
      <p:sp>
        <p:nvSpPr>
          <p:cNvPr id="18" name="Text 16"/>
          <p:cNvSpPr/>
          <p:nvPr/>
        </p:nvSpPr>
        <p:spPr>
          <a:xfrm>
            <a:off x="640080" y="4096512"/>
            <a:ext cx="2697480" cy="548640"/>
          </a:xfrm>
          <a:prstGeom prst="rect">
            <a:avLst/>
          </a:prstGeom>
          <a:noFill/>
          <a:ln/>
        </p:spPr>
        <p:txBody>
          <a:bodyPr wrap="square" lIns="0" tIns="0" rIns="0" bIns="0" rtlCol="0" anchor="ctr"/>
          <a:lstStyle/>
          <a:p>
            <a:pPr marL="0" indent="0">
              <a:buNone/>
            </a:pPr>
            <a:r>
              <a:rPr lang="en-US" sz="1300" dirty="0">
                <a:solidFill>
                  <a:srgbClr val="F4F7FB"/>
                </a:solidFill>
                <a:latin typeface="Calibri" pitchFamily="34" charset="0"/>
                <a:ea typeface="Calibri" pitchFamily="34" charset="-122"/>
                <a:cs typeface="Calibri" pitchFamily="34" charset="-120"/>
              </a:rPr>
              <a:t>Third-party SaaS</a:t>
            </a:r>
            <a:endParaRPr lang="en-US" sz="1300" dirty="0"/>
          </a:p>
        </p:txBody>
      </p:sp>
      <p:sp>
        <p:nvSpPr>
          <p:cNvPr id="19" name="Text 17"/>
          <p:cNvSpPr/>
          <p:nvPr/>
        </p:nvSpPr>
        <p:spPr>
          <a:xfrm>
            <a:off x="8671255" y="1115568"/>
            <a:ext cx="3063240" cy="237744"/>
          </a:xfrm>
          <a:prstGeom prst="rect">
            <a:avLst/>
          </a:prstGeom>
          <a:noFill/>
          <a:ln/>
        </p:spPr>
        <p:txBody>
          <a:bodyPr wrap="square" lIns="0" tIns="0" rIns="0" bIns="0" rtlCol="0" anchor="ctr"/>
          <a:lstStyle/>
          <a:p>
            <a:pPr marL="0" indent="0">
              <a:buNone/>
            </a:pPr>
            <a:r>
              <a:rPr lang="en-US" sz="1200" b="1" kern="0" spc="140" dirty="0">
                <a:solidFill>
                  <a:srgbClr val="91A0B7"/>
                </a:solidFill>
                <a:latin typeface="Calibri" pitchFamily="34" charset="0"/>
                <a:ea typeface="Calibri" pitchFamily="34" charset="-122"/>
                <a:cs typeface="Calibri" pitchFamily="34" charset="-120"/>
              </a:rPr>
              <a:t>PROVIDERS</a:t>
            </a:r>
            <a:endParaRPr lang="en-US" sz="1200" dirty="0"/>
          </a:p>
        </p:txBody>
      </p:sp>
      <p:sp>
        <p:nvSpPr>
          <p:cNvPr id="20" name="Shape 18"/>
          <p:cNvSpPr/>
          <p:nvPr/>
        </p:nvSpPr>
        <p:spPr>
          <a:xfrm>
            <a:off x="8671255" y="1463040"/>
            <a:ext cx="3063240" cy="548640"/>
          </a:xfrm>
          <a:prstGeom prst="roundRect">
            <a:avLst>
              <a:gd name="adj" fmla="val 10000"/>
            </a:avLst>
          </a:prstGeom>
          <a:solidFill>
            <a:srgbClr val="121B2D"/>
          </a:solidFill>
          <a:ln w="12700">
            <a:solidFill>
              <a:srgbClr val="23304A"/>
            </a:solidFill>
            <a:prstDash val="solid"/>
          </a:ln>
        </p:spPr>
        <p:txBody>
          <a:bodyPr/>
          <a:lstStyle/>
          <a:p>
            <a:endParaRPr lang="he-IL" dirty="0"/>
          </a:p>
        </p:txBody>
      </p:sp>
      <p:sp>
        <p:nvSpPr>
          <p:cNvPr id="21" name="Text 19"/>
          <p:cNvSpPr/>
          <p:nvPr/>
        </p:nvSpPr>
        <p:spPr>
          <a:xfrm>
            <a:off x="8854135" y="1463040"/>
            <a:ext cx="2697480" cy="548640"/>
          </a:xfrm>
          <a:prstGeom prst="rect">
            <a:avLst/>
          </a:prstGeom>
          <a:noFill/>
          <a:ln/>
        </p:spPr>
        <p:txBody>
          <a:bodyPr wrap="square" lIns="0" tIns="0" rIns="0" bIns="0" rtlCol="0" anchor="ctr"/>
          <a:lstStyle/>
          <a:p>
            <a:pPr marL="0" indent="0">
              <a:buNone/>
            </a:pPr>
            <a:r>
              <a:rPr lang="en-US" sz="1300" dirty="0">
                <a:solidFill>
                  <a:srgbClr val="F4F7FB"/>
                </a:solidFill>
                <a:latin typeface="Calibri" pitchFamily="34" charset="0"/>
                <a:ea typeface="Calibri" pitchFamily="34" charset="-122"/>
                <a:cs typeface="Calibri" pitchFamily="34" charset="-120"/>
              </a:rPr>
              <a:t>Microsoft Copilot</a:t>
            </a:r>
            <a:endParaRPr lang="en-US" sz="1300" dirty="0"/>
          </a:p>
        </p:txBody>
      </p:sp>
      <p:sp>
        <p:nvSpPr>
          <p:cNvPr id="22" name="Shape 20"/>
          <p:cNvSpPr/>
          <p:nvPr/>
        </p:nvSpPr>
        <p:spPr>
          <a:xfrm>
            <a:off x="8671255" y="2121408"/>
            <a:ext cx="3063240" cy="548640"/>
          </a:xfrm>
          <a:prstGeom prst="roundRect">
            <a:avLst>
              <a:gd name="adj" fmla="val 10000"/>
            </a:avLst>
          </a:prstGeom>
          <a:solidFill>
            <a:srgbClr val="121B2D"/>
          </a:solidFill>
          <a:ln w="12700">
            <a:solidFill>
              <a:srgbClr val="23304A"/>
            </a:solidFill>
            <a:prstDash val="solid"/>
          </a:ln>
        </p:spPr>
        <p:txBody>
          <a:bodyPr/>
          <a:lstStyle/>
          <a:p>
            <a:endParaRPr lang="he-IL" dirty="0"/>
          </a:p>
        </p:txBody>
      </p:sp>
      <p:sp>
        <p:nvSpPr>
          <p:cNvPr id="23" name="Text 21"/>
          <p:cNvSpPr/>
          <p:nvPr/>
        </p:nvSpPr>
        <p:spPr>
          <a:xfrm>
            <a:off x="8854135" y="2121408"/>
            <a:ext cx="2697480" cy="548640"/>
          </a:xfrm>
          <a:prstGeom prst="rect">
            <a:avLst/>
          </a:prstGeom>
          <a:noFill/>
          <a:ln/>
        </p:spPr>
        <p:txBody>
          <a:bodyPr wrap="square" lIns="0" tIns="0" rIns="0" bIns="0" rtlCol="0" anchor="ctr"/>
          <a:lstStyle/>
          <a:p>
            <a:pPr marL="0" indent="0">
              <a:buNone/>
            </a:pPr>
            <a:r>
              <a:rPr lang="en-US" sz="1300" dirty="0">
                <a:solidFill>
                  <a:srgbClr val="F4F7FB"/>
                </a:solidFill>
                <a:latin typeface="Calibri" pitchFamily="34" charset="0"/>
                <a:ea typeface="Calibri" pitchFamily="34" charset="-122"/>
                <a:cs typeface="Calibri" pitchFamily="34" charset="-120"/>
              </a:rPr>
              <a:t>Azure AI Foundry</a:t>
            </a:r>
            <a:endParaRPr lang="en-US" sz="1300" dirty="0"/>
          </a:p>
        </p:txBody>
      </p:sp>
      <p:sp>
        <p:nvSpPr>
          <p:cNvPr id="24" name="Shape 22"/>
          <p:cNvSpPr/>
          <p:nvPr/>
        </p:nvSpPr>
        <p:spPr>
          <a:xfrm>
            <a:off x="8671255" y="2779776"/>
            <a:ext cx="3063240" cy="548640"/>
          </a:xfrm>
          <a:prstGeom prst="roundRect">
            <a:avLst>
              <a:gd name="adj" fmla="val 10000"/>
            </a:avLst>
          </a:prstGeom>
          <a:solidFill>
            <a:srgbClr val="121B2D"/>
          </a:solidFill>
          <a:ln w="12700">
            <a:solidFill>
              <a:srgbClr val="23304A"/>
            </a:solidFill>
            <a:prstDash val="solid"/>
          </a:ln>
        </p:spPr>
        <p:txBody>
          <a:bodyPr/>
          <a:lstStyle/>
          <a:p>
            <a:endParaRPr lang="he-IL" dirty="0"/>
          </a:p>
        </p:txBody>
      </p:sp>
      <p:sp>
        <p:nvSpPr>
          <p:cNvPr id="25" name="Text 23"/>
          <p:cNvSpPr/>
          <p:nvPr/>
        </p:nvSpPr>
        <p:spPr>
          <a:xfrm>
            <a:off x="8854135" y="2779776"/>
            <a:ext cx="2697480" cy="548640"/>
          </a:xfrm>
          <a:prstGeom prst="rect">
            <a:avLst/>
          </a:prstGeom>
          <a:noFill/>
          <a:ln/>
        </p:spPr>
        <p:txBody>
          <a:bodyPr wrap="square" lIns="0" tIns="0" rIns="0" bIns="0" rtlCol="0" anchor="ctr"/>
          <a:lstStyle/>
          <a:p>
            <a:pPr marL="0" indent="0">
              <a:buNone/>
            </a:pPr>
            <a:r>
              <a:rPr lang="en-US" sz="1300" dirty="0">
                <a:solidFill>
                  <a:srgbClr val="F4F7FB"/>
                </a:solidFill>
                <a:latin typeface="Calibri" pitchFamily="34" charset="0"/>
                <a:ea typeface="Calibri" pitchFamily="34" charset="-122"/>
                <a:cs typeface="Calibri" pitchFamily="34" charset="-120"/>
              </a:rPr>
              <a:t>AWS Bedrock</a:t>
            </a:r>
            <a:endParaRPr lang="en-US" sz="1300" dirty="0"/>
          </a:p>
        </p:txBody>
      </p:sp>
      <p:sp>
        <p:nvSpPr>
          <p:cNvPr id="26" name="Shape 24"/>
          <p:cNvSpPr/>
          <p:nvPr/>
        </p:nvSpPr>
        <p:spPr>
          <a:xfrm>
            <a:off x="8671255" y="3438144"/>
            <a:ext cx="3063240" cy="548640"/>
          </a:xfrm>
          <a:prstGeom prst="roundRect">
            <a:avLst>
              <a:gd name="adj" fmla="val 10000"/>
            </a:avLst>
          </a:prstGeom>
          <a:solidFill>
            <a:srgbClr val="121B2D"/>
          </a:solidFill>
          <a:ln w="12700">
            <a:solidFill>
              <a:srgbClr val="23304A"/>
            </a:solidFill>
            <a:prstDash val="solid"/>
          </a:ln>
        </p:spPr>
        <p:txBody>
          <a:bodyPr/>
          <a:lstStyle/>
          <a:p>
            <a:endParaRPr lang="he-IL" dirty="0"/>
          </a:p>
        </p:txBody>
      </p:sp>
      <p:sp>
        <p:nvSpPr>
          <p:cNvPr id="27" name="Text 25"/>
          <p:cNvSpPr/>
          <p:nvPr/>
        </p:nvSpPr>
        <p:spPr>
          <a:xfrm>
            <a:off x="8854135" y="3438144"/>
            <a:ext cx="2697480" cy="548640"/>
          </a:xfrm>
          <a:prstGeom prst="rect">
            <a:avLst/>
          </a:prstGeom>
          <a:noFill/>
          <a:ln/>
        </p:spPr>
        <p:txBody>
          <a:bodyPr wrap="square" lIns="0" tIns="0" rIns="0" bIns="0" rtlCol="0" anchor="ctr"/>
          <a:lstStyle/>
          <a:p>
            <a:pPr marL="0" indent="0">
              <a:buNone/>
            </a:pPr>
            <a:r>
              <a:rPr lang="en-US" sz="1300" dirty="0">
                <a:solidFill>
                  <a:srgbClr val="F4F7FB"/>
                </a:solidFill>
                <a:latin typeface="Calibri" pitchFamily="34" charset="0"/>
                <a:ea typeface="Calibri" pitchFamily="34" charset="-122"/>
                <a:cs typeface="Calibri" pitchFamily="34" charset="-120"/>
              </a:rPr>
              <a:t>Google Vertex AI</a:t>
            </a:r>
            <a:endParaRPr lang="en-US" sz="1300" dirty="0"/>
          </a:p>
        </p:txBody>
      </p:sp>
      <p:sp>
        <p:nvSpPr>
          <p:cNvPr id="28" name="Shape 26"/>
          <p:cNvSpPr/>
          <p:nvPr/>
        </p:nvSpPr>
        <p:spPr>
          <a:xfrm>
            <a:off x="8671255" y="4096512"/>
            <a:ext cx="3063240" cy="548640"/>
          </a:xfrm>
          <a:prstGeom prst="roundRect">
            <a:avLst>
              <a:gd name="adj" fmla="val 10000"/>
            </a:avLst>
          </a:prstGeom>
          <a:solidFill>
            <a:srgbClr val="121B2D"/>
          </a:solidFill>
          <a:ln w="12700">
            <a:solidFill>
              <a:srgbClr val="23304A"/>
            </a:solidFill>
            <a:prstDash val="solid"/>
          </a:ln>
        </p:spPr>
        <p:txBody>
          <a:bodyPr/>
          <a:lstStyle/>
          <a:p>
            <a:endParaRPr lang="he-IL" dirty="0"/>
          </a:p>
        </p:txBody>
      </p:sp>
      <p:sp>
        <p:nvSpPr>
          <p:cNvPr id="29" name="Text 27"/>
          <p:cNvSpPr/>
          <p:nvPr/>
        </p:nvSpPr>
        <p:spPr>
          <a:xfrm>
            <a:off x="8854135" y="4096512"/>
            <a:ext cx="2697480" cy="548640"/>
          </a:xfrm>
          <a:prstGeom prst="rect">
            <a:avLst/>
          </a:prstGeom>
          <a:noFill/>
          <a:ln/>
        </p:spPr>
        <p:txBody>
          <a:bodyPr wrap="square" lIns="0" tIns="0" rIns="0" bIns="0" rtlCol="0" anchor="ctr"/>
          <a:lstStyle/>
          <a:p>
            <a:pPr marL="0" indent="0">
              <a:buNone/>
            </a:pPr>
            <a:r>
              <a:rPr lang="en-US" sz="1300" dirty="0">
                <a:solidFill>
                  <a:srgbClr val="F4F7FB"/>
                </a:solidFill>
                <a:latin typeface="Calibri" pitchFamily="34" charset="0"/>
                <a:ea typeface="Calibri" pitchFamily="34" charset="-122"/>
                <a:cs typeface="Calibri" pitchFamily="34" charset="-120"/>
              </a:rPr>
              <a:t>Claude / OpenAI</a:t>
            </a:r>
            <a:endParaRPr lang="en-US" sz="1300" dirty="0"/>
          </a:p>
        </p:txBody>
      </p:sp>
      <p:sp>
        <p:nvSpPr>
          <p:cNvPr id="30" name="Shape 28"/>
          <p:cNvSpPr/>
          <p:nvPr/>
        </p:nvSpPr>
        <p:spPr>
          <a:xfrm>
            <a:off x="3840480" y="1463040"/>
            <a:ext cx="4510735" cy="3182112"/>
          </a:xfrm>
          <a:prstGeom prst="roundRect">
            <a:avLst>
              <a:gd name="adj" fmla="val 1724"/>
            </a:avLst>
          </a:prstGeom>
          <a:solidFill>
            <a:srgbClr val="1D2D42"/>
          </a:solidFill>
          <a:ln w="15875">
            <a:solidFill>
              <a:srgbClr val="B07CFF"/>
            </a:solidFill>
            <a:prstDash val="solid"/>
          </a:ln>
        </p:spPr>
        <p:txBody>
          <a:bodyPr/>
          <a:lstStyle/>
          <a:p>
            <a:endParaRPr lang="he-IL" dirty="0"/>
          </a:p>
        </p:txBody>
      </p:sp>
      <p:sp>
        <p:nvSpPr>
          <p:cNvPr id="31" name="Text 29"/>
          <p:cNvSpPr/>
          <p:nvPr/>
        </p:nvSpPr>
        <p:spPr>
          <a:xfrm>
            <a:off x="4023360" y="1627632"/>
            <a:ext cx="4144975" cy="329184"/>
          </a:xfrm>
          <a:prstGeom prst="rect">
            <a:avLst/>
          </a:prstGeom>
          <a:noFill/>
          <a:ln/>
        </p:spPr>
        <p:txBody>
          <a:bodyPr wrap="square" lIns="0" tIns="0" rIns="0" bIns="0" rtlCol="0" anchor="ctr"/>
          <a:lstStyle/>
          <a:p>
            <a:pPr marL="0" indent="0" algn="ctr">
              <a:buNone/>
            </a:pPr>
            <a:r>
              <a:rPr lang="en-US" sz="1700" b="1" dirty="0">
                <a:solidFill>
                  <a:srgbClr val="F4F7FB"/>
                </a:solidFill>
                <a:latin typeface="Calibri" pitchFamily="34" charset="0"/>
                <a:ea typeface="Calibri" pitchFamily="34" charset="-122"/>
                <a:cs typeface="Calibri" pitchFamily="34" charset="-120"/>
              </a:rPr>
              <a:t>AI Command Center</a:t>
            </a:r>
            <a:endParaRPr lang="en-US" sz="1700" dirty="0"/>
          </a:p>
        </p:txBody>
      </p:sp>
      <p:sp>
        <p:nvSpPr>
          <p:cNvPr id="32" name="Text 30"/>
          <p:cNvSpPr/>
          <p:nvPr/>
        </p:nvSpPr>
        <p:spPr>
          <a:xfrm>
            <a:off x="4023360" y="1956816"/>
            <a:ext cx="4144975" cy="256032"/>
          </a:xfrm>
          <a:prstGeom prst="rect">
            <a:avLst/>
          </a:prstGeom>
          <a:noFill/>
          <a:ln/>
        </p:spPr>
        <p:txBody>
          <a:bodyPr wrap="square" lIns="0" tIns="0" rIns="0" bIns="0" rtlCol="0" anchor="ctr"/>
          <a:lstStyle/>
          <a:p>
            <a:pPr marL="0" indent="0" algn="ctr">
              <a:buNone/>
            </a:pPr>
            <a:r>
              <a:rPr lang="en-US" sz="1200" dirty="0">
                <a:solidFill>
                  <a:srgbClr val="91A0B7"/>
                </a:solidFill>
                <a:latin typeface="Calibri" pitchFamily="34" charset="0"/>
                <a:ea typeface="Calibri" pitchFamily="34" charset="-122"/>
                <a:cs typeface="Calibri" pitchFamily="34" charset="-120"/>
              </a:rPr>
              <a:t>Policy enforcement point</a:t>
            </a:r>
            <a:endParaRPr lang="en-US" sz="1200" dirty="0"/>
          </a:p>
        </p:txBody>
      </p:sp>
      <p:sp>
        <p:nvSpPr>
          <p:cNvPr id="33" name="Shape 31"/>
          <p:cNvSpPr/>
          <p:nvPr/>
        </p:nvSpPr>
        <p:spPr>
          <a:xfrm>
            <a:off x="4023360" y="2331720"/>
            <a:ext cx="1981048" cy="365760"/>
          </a:xfrm>
          <a:prstGeom prst="roundRect">
            <a:avLst>
              <a:gd name="adj" fmla="val 25000"/>
            </a:avLst>
          </a:prstGeom>
          <a:solidFill>
            <a:srgbClr val="121B2D"/>
          </a:solidFill>
          <a:ln w="9525">
            <a:solidFill>
              <a:srgbClr val="23304A"/>
            </a:solidFill>
            <a:prstDash val="solid"/>
          </a:ln>
        </p:spPr>
        <p:txBody>
          <a:bodyPr/>
          <a:lstStyle/>
          <a:p>
            <a:endParaRPr lang="he-IL" dirty="0"/>
          </a:p>
        </p:txBody>
      </p:sp>
      <p:sp>
        <p:nvSpPr>
          <p:cNvPr id="34" name="Text 32"/>
          <p:cNvSpPr/>
          <p:nvPr/>
        </p:nvSpPr>
        <p:spPr>
          <a:xfrm>
            <a:off x="4023360" y="2331720"/>
            <a:ext cx="1981048" cy="365760"/>
          </a:xfrm>
          <a:prstGeom prst="rect">
            <a:avLst/>
          </a:prstGeom>
          <a:noFill/>
          <a:ln/>
        </p:spPr>
        <p:txBody>
          <a:bodyPr wrap="square" lIns="0" tIns="0" rIns="0" bIns="0" rtlCol="0" anchor="ctr"/>
          <a:lstStyle/>
          <a:p>
            <a:pPr marL="0" indent="0" algn="ctr">
              <a:buNone/>
            </a:pPr>
            <a:r>
              <a:rPr lang="en-US" sz="1200" dirty="0">
                <a:solidFill>
                  <a:srgbClr val="F4F7FB"/>
                </a:solidFill>
                <a:latin typeface="Calibri" pitchFamily="34" charset="0"/>
                <a:ea typeface="Calibri" pitchFamily="34" charset="-122"/>
                <a:cs typeface="Calibri" pitchFamily="34" charset="-120"/>
              </a:rPr>
              <a:t>Visibility</a:t>
            </a:r>
            <a:endParaRPr lang="en-US" sz="1200" dirty="0"/>
          </a:p>
        </p:txBody>
      </p:sp>
      <p:sp>
        <p:nvSpPr>
          <p:cNvPr id="35" name="Shape 33"/>
          <p:cNvSpPr/>
          <p:nvPr/>
        </p:nvSpPr>
        <p:spPr>
          <a:xfrm>
            <a:off x="6187288" y="2331720"/>
            <a:ext cx="1981048" cy="365760"/>
          </a:xfrm>
          <a:prstGeom prst="roundRect">
            <a:avLst>
              <a:gd name="adj" fmla="val 25000"/>
            </a:avLst>
          </a:prstGeom>
          <a:solidFill>
            <a:srgbClr val="121B2D"/>
          </a:solidFill>
          <a:ln w="9525">
            <a:solidFill>
              <a:srgbClr val="23304A"/>
            </a:solidFill>
            <a:prstDash val="solid"/>
          </a:ln>
        </p:spPr>
        <p:txBody>
          <a:bodyPr/>
          <a:lstStyle/>
          <a:p>
            <a:endParaRPr lang="he-IL" dirty="0"/>
          </a:p>
        </p:txBody>
      </p:sp>
      <p:sp>
        <p:nvSpPr>
          <p:cNvPr id="36" name="Text 34"/>
          <p:cNvSpPr/>
          <p:nvPr/>
        </p:nvSpPr>
        <p:spPr>
          <a:xfrm>
            <a:off x="6187288" y="2331720"/>
            <a:ext cx="1981048" cy="365760"/>
          </a:xfrm>
          <a:prstGeom prst="rect">
            <a:avLst/>
          </a:prstGeom>
          <a:noFill/>
          <a:ln/>
        </p:spPr>
        <p:txBody>
          <a:bodyPr wrap="square" lIns="0" tIns="0" rIns="0" bIns="0" rtlCol="0" anchor="ctr"/>
          <a:lstStyle/>
          <a:p>
            <a:pPr marL="0" indent="0" algn="ctr">
              <a:buNone/>
            </a:pPr>
            <a:r>
              <a:rPr lang="en-US" sz="1200" dirty="0">
                <a:solidFill>
                  <a:srgbClr val="F4F7FB"/>
                </a:solidFill>
                <a:latin typeface="Calibri" pitchFamily="34" charset="0"/>
                <a:ea typeface="Calibri" pitchFamily="34" charset="-122"/>
                <a:cs typeface="Calibri" pitchFamily="34" charset="-120"/>
              </a:rPr>
              <a:t>Budgets per unit</a:t>
            </a:r>
            <a:endParaRPr lang="en-US" sz="1200" dirty="0"/>
          </a:p>
        </p:txBody>
      </p:sp>
      <p:sp>
        <p:nvSpPr>
          <p:cNvPr id="37" name="Shape 35"/>
          <p:cNvSpPr/>
          <p:nvPr/>
        </p:nvSpPr>
        <p:spPr>
          <a:xfrm>
            <a:off x="4023360" y="2788920"/>
            <a:ext cx="1981048" cy="365760"/>
          </a:xfrm>
          <a:prstGeom prst="roundRect">
            <a:avLst>
              <a:gd name="adj" fmla="val 25000"/>
            </a:avLst>
          </a:prstGeom>
          <a:solidFill>
            <a:srgbClr val="121B2D"/>
          </a:solidFill>
          <a:ln w="9525">
            <a:solidFill>
              <a:srgbClr val="23304A"/>
            </a:solidFill>
            <a:prstDash val="solid"/>
          </a:ln>
        </p:spPr>
        <p:txBody>
          <a:bodyPr/>
          <a:lstStyle/>
          <a:p>
            <a:endParaRPr lang="he-IL" dirty="0"/>
          </a:p>
        </p:txBody>
      </p:sp>
      <p:sp>
        <p:nvSpPr>
          <p:cNvPr id="38" name="Text 36"/>
          <p:cNvSpPr/>
          <p:nvPr/>
        </p:nvSpPr>
        <p:spPr>
          <a:xfrm>
            <a:off x="4023360" y="2788920"/>
            <a:ext cx="1981048" cy="365760"/>
          </a:xfrm>
          <a:prstGeom prst="rect">
            <a:avLst/>
          </a:prstGeom>
          <a:noFill/>
          <a:ln/>
        </p:spPr>
        <p:txBody>
          <a:bodyPr wrap="square" lIns="0" tIns="0" rIns="0" bIns="0" rtlCol="0" anchor="ctr"/>
          <a:lstStyle/>
          <a:p>
            <a:pPr marL="0" indent="0" algn="ctr">
              <a:buNone/>
            </a:pPr>
            <a:r>
              <a:rPr lang="en-US" sz="1200" dirty="0">
                <a:solidFill>
                  <a:srgbClr val="F4F7FB"/>
                </a:solidFill>
                <a:latin typeface="Calibri" pitchFamily="34" charset="0"/>
                <a:ea typeface="Calibri" pitchFamily="34" charset="-122"/>
                <a:cs typeface="Calibri" pitchFamily="34" charset="-120"/>
              </a:rPr>
              <a:t>Owners</a:t>
            </a:r>
            <a:endParaRPr lang="en-US" sz="1200" dirty="0"/>
          </a:p>
        </p:txBody>
      </p:sp>
      <p:sp>
        <p:nvSpPr>
          <p:cNvPr id="39" name="Shape 37"/>
          <p:cNvSpPr/>
          <p:nvPr/>
        </p:nvSpPr>
        <p:spPr>
          <a:xfrm>
            <a:off x="6187288" y="2788920"/>
            <a:ext cx="1981048" cy="365760"/>
          </a:xfrm>
          <a:prstGeom prst="roundRect">
            <a:avLst>
              <a:gd name="adj" fmla="val 25000"/>
            </a:avLst>
          </a:prstGeom>
          <a:solidFill>
            <a:srgbClr val="121B2D"/>
          </a:solidFill>
          <a:ln w="9525">
            <a:solidFill>
              <a:srgbClr val="23304A"/>
            </a:solidFill>
            <a:prstDash val="solid"/>
          </a:ln>
        </p:spPr>
        <p:txBody>
          <a:bodyPr/>
          <a:lstStyle/>
          <a:p>
            <a:endParaRPr lang="he-IL" dirty="0"/>
          </a:p>
        </p:txBody>
      </p:sp>
      <p:sp>
        <p:nvSpPr>
          <p:cNvPr id="40" name="Text 38"/>
          <p:cNvSpPr/>
          <p:nvPr/>
        </p:nvSpPr>
        <p:spPr>
          <a:xfrm>
            <a:off x="6187288" y="2788920"/>
            <a:ext cx="1981048" cy="365760"/>
          </a:xfrm>
          <a:prstGeom prst="rect">
            <a:avLst/>
          </a:prstGeom>
          <a:noFill/>
          <a:ln/>
        </p:spPr>
        <p:txBody>
          <a:bodyPr wrap="square" lIns="0" tIns="0" rIns="0" bIns="0" rtlCol="0" anchor="ctr"/>
          <a:lstStyle/>
          <a:p>
            <a:pPr marL="0" indent="0" algn="ctr">
              <a:buNone/>
            </a:pPr>
            <a:r>
              <a:rPr lang="en-US" sz="1200" dirty="0">
                <a:solidFill>
                  <a:srgbClr val="F4F7FB"/>
                </a:solidFill>
                <a:latin typeface="Calibri" pitchFamily="34" charset="0"/>
                <a:ea typeface="Calibri" pitchFamily="34" charset="-122"/>
                <a:cs typeface="Calibri" pitchFamily="34" charset="-120"/>
              </a:rPr>
              <a:t>Alerts</a:t>
            </a:r>
            <a:endParaRPr lang="en-US" sz="1200" dirty="0"/>
          </a:p>
        </p:txBody>
      </p:sp>
      <p:sp>
        <p:nvSpPr>
          <p:cNvPr id="41" name="Shape 39"/>
          <p:cNvSpPr/>
          <p:nvPr/>
        </p:nvSpPr>
        <p:spPr>
          <a:xfrm>
            <a:off x="4023360" y="3246120"/>
            <a:ext cx="1981048" cy="365760"/>
          </a:xfrm>
          <a:prstGeom prst="roundRect">
            <a:avLst>
              <a:gd name="adj" fmla="val 25000"/>
            </a:avLst>
          </a:prstGeom>
          <a:solidFill>
            <a:srgbClr val="121B2D"/>
          </a:solidFill>
          <a:ln w="9525">
            <a:solidFill>
              <a:srgbClr val="23304A"/>
            </a:solidFill>
            <a:prstDash val="solid"/>
          </a:ln>
        </p:spPr>
        <p:txBody>
          <a:bodyPr/>
          <a:lstStyle/>
          <a:p>
            <a:endParaRPr lang="he-IL" dirty="0"/>
          </a:p>
        </p:txBody>
      </p:sp>
      <p:sp>
        <p:nvSpPr>
          <p:cNvPr id="42" name="Text 40"/>
          <p:cNvSpPr/>
          <p:nvPr/>
        </p:nvSpPr>
        <p:spPr>
          <a:xfrm>
            <a:off x="4023360" y="3246120"/>
            <a:ext cx="1981048" cy="365760"/>
          </a:xfrm>
          <a:prstGeom prst="rect">
            <a:avLst/>
          </a:prstGeom>
          <a:noFill/>
          <a:ln/>
        </p:spPr>
        <p:txBody>
          <a:bodyPr wrap="square" lIns="0" tIns="0" rIns="0" bIns="0" rtlCol="0" anchor="ctr"/>
          <a:lstStyle/>
          <a:p>
            <a:pPr marL="0" indent="0" algn="ctr">
              <a:buNone/>
            </a:pPr>
            <a:r>
              <a:rPr lang="en-US" sz="1200" dirty="0">
                <a:solidFill>
                  <a:srgbClr val="F4F7FB"/>
                </a:solidFill>
                <a:latin typeface="Calibri" pitchFamily="34" charset="0"/>
                <a:ea typeface="Calibri" pitchFamily="34" charset="-122"/>
                <a:cs typeface="Calibri" pitchFamily="34" charset="-120"/>
              </a:rPr>
              <a:t>Rate limits</a:t>
            </a:r>
            <a:endParaRPr lang="en-US" sz="1200" dirty="0"/>
          </a:p>
        </p:txBody>
      </p:sp>
      <p:sp>
        <p:nvSpPr>
          <p:cNvPr id="43" name="Shape 41"/>
          <p:cNvSpPr/>
          <p:nvPr/>
        </p:nvSpPr>
        <p:spPr>
          <a:xfrm>
            <a:off x="6187288" y="3246120"/>
            <a:ext cx="1981048" cy="365760"/>
          </a:xfrm>
          <a:prstGeom prst="roundRect">
            <a:avLst>
              <a:gd name="adj" fmla="val 25000"/>
            </a:avLst>
          </a:prstGeom>
          <a:solidFill>
            <a:srgbClr val="121B2D"/>
          </a:solidFill>
          <a:ln w="9525">
            <a:solidFill>
              <a:srgbClr val="23304A"/>
            </a:solidFill>
            <a:prstDash val="solid"/>
          </a:ln>
        </p:spPr>
        <p:txBody>
          <a:bodyPr/>
          <a:lstStyle/>
          <a:p>
            <a:endParaRPr lang="he-IL" dirty="0"/>
          </a:p>
        </p:txBody>
      </p:sp>
      <p:sp>
        <p:nvSpPr>
          <p:cNvPr id="44" name="Text 42"/>
          <p:cNvSpPr/>
          <p:nvPr/>
        </p:nvSpPr>
        <p:spPr>
          <a:xfrm>
            <a:off x="6187288" y="3246120"/>
            <a:ext cx="1981048" cy="365760"/>
          </a:xfrm>
          <a:prstGeom prst="rect">
            <a:avLst/>
          </a:prstGeom>
          <a:noFill/>
          <a:ln/>
        </p:spPr>
        <p:txBody>
          <a:bodyPr wrap="square" lIns="0" tIns="0" rIns="0" bIns="0" rtlCol="0" anchor="ctr"/>
          <a:lstStyle/>
          <a:p>
            <a:pPr marL="0" indent="0" algn="ctr">
              <a:buNone/>
            </a:pPr>
            <a:r>
              <a:rPr lang="en-US" sz="1200" dirty="0">
                <a:solidFill>
                  <a:srgbClr val="F4F7FB"/>
                </a:solidFill>
                <a:latin typeface="Calibri" pitchFamily="34" charset="0"/>
                <a:ea typeface="Calibri" pitchFamily="34" charset="-122"/>
                <a:cs typeface="Calibri" pitchFamily="34" charset="-120"/>
              </a:rPr>
              <a:t>Token quotas</a:t>
            </a:r>
            <a:endParaRPr lang="en-US" sz="1200" dirty="0"/>
          </a:p>
        </p:txBody>
      </p:sp>
      <p:sp>
        <p:nvSpPr>
          <p:cNvPr id="45" name="Shape 43"/>
          <p:cNvSpPr/>
          <p:nvPr/>
        </p:nvSpPr>
        <p:spPr>
          <a:xfrm>
            <a:off x="4023360" y="3703320"/>
            <a:ext cx="1981048" cy="365760"/>
          </a:xfrm>
          <a:prstGeom prst="roundRect">
            <a:avLst>
              <a:gd name="adj" fmla="val 25000"/>
            </a:avLst>
          </a:prstGeom>
          <a:solidFill>
            <a:srgbClr val="121B2D"/>
          </a:solidFill>
          <a:ln w="9525">
            <a:solidFill>
              <a:srgbClr val="23304A"/>
            </a:solidFill>
            <a:prstDash val="solid"/>
          </a:ln>
        </p:spPr>
        <p:txBody>
          <a:bodyPr/>
          <a:lstStyle/>
          <a:p>
            <a:endParaRPr lang="he-IL" dirty="0"/>
          </a:p>
        </p:txBody>
      </p:sp>
      <p:sp>
        <p:nvSpPr>
          <p:cNvPr id="46" name="Text 44"/>
          <p:cNvSpPr/>
          <p:nvPr/>
        </p:nvSpPr>
        <p:spPr>
          <a:xfrm>
            <a:off x="4023360" y="3703320"/>
            <a:ext cx="1981048" cy="365760"/>
          </a:xfrm>
          <a:prstGeom prst="rect">
            <a:avLst/>
          </a:prstGeom>
          <a:noFill/>
          <a:ln/>
        </p:spPr>
        <p:txBody>
          <a:bodyPr wrap="square" lIns="0" tIns="0" rIns="0" bIns="0" rtlCol="0" anchor="ctr"/>
          <a:lstStyle/>
          <a:p>
            <a:pPr marL="0" indent="0" algn="ctr">
              <a:buNone/>
            </a:pPr>
            <a:r>
              <a:rPr lang="en-US" sz="1200" dirty="0">
                <a:solidFill>
                  <a:srgbClr val="F4F7FB"/>
                </a:solidFill>
                <a:latin typeface="Calibri" pitchFamily="34" charset="0"/>
                <a:ea typeface="Calibri" pitchFamily="34" charset="-122"/>
                <a:cs typeface="Calibri" pitchFamily="34" charset="-120"/>
              </a:rPr>
              <a:t>Chargeback</a:t>
            </a:r>
            <a:endParaRPr lang="en-US" sz="1200" dirty="0"/>
          </a:p>
        </p:txBody>
      </p:sp>
      <p:sp>
        <p:nvSpPr>
          <p:cNvPr id="47" name="Shape 45"/>
          <p:cNvSpPr/>
          <p:nvPr/>
        </p:nvSpPr>
        <p:spPr>
          <a:xfrm>
            <a:off x="6187288" y="3703320"/>
            <a:ext cx="1981048" cy="365760"/>
          </a:xfrm>
          <a:prstGeom prst="roundRect">
            <a:avLst>
              <a:gd name="adj" fmla="val 25000"/>
            </a:avLst>
          </a:prstGeom>
          <a:solidFill>
            <a:srgbClr val="121B2D"/>
          </a:solidFill>
          <a:ln w="9525">
            <a:solidFill>
              <a:srgbClr val="23304A"/>
            </a:solidFill>
            <a:prstDash val="solid"/>
          </a:ln>
        </p:spPr>
        <p:txBody>
          <a:bodyPr/>
          <a:lstStyle/>
          <a:p>
            <a:endParaRPr lang="he-IL" dirty="0"/>
          </a:p>
        </p:txBody>
      </p:sp>
      <p:sp>
        <p:nvSpPr>
          <p:cNvPr id="48" name="Text 46"/>
          <p:cNvSpPr/>
          <p:nvPr/>
        </p:nvSpPr>
        <p:spPr>
          <a:xfrm>
            <a:off x="6187288" y="3703320"/>
            <a:ext cx="1981048" cy="365760"/>
          </a:xfrm>
          <a:prstGeom prst="rect">
            <a:avLst/>
          </a:prstGeom>
          <a:noFill/>
          <a:ln/>
        </p:spPr>
        <p:txBody>
          <a:bodyPr wrap="square" lIns="0" tIns="0" rIns="0" bIns="0" rtlCol="0" anchor="ctr"/>
          <a:lstStyle/>
          <a:p>
            <a:pPr marL="0" indent="0" algn="ctr">
              <a:buNone/>
            </a:pPr>
            <a:r>
              <a:rPr lang="en-US" sz="1200" dirty="0">
                <a:solidFill>
                  <a:srgbClr val="F4F7FB"/>
                </a:solidFill>
                <a:latin typeface="Calibri" pitchFamily="34" charset="0"/>
                <a:ea typeface="Calibri" pitchFamily="34" charset="-122"/>
                <a:cs typeface="Calibri" pitchFamily="34" charset="-120"/>
              </a:rPr>
              <a:t>Executive dashboard</a:t>
            </a:r>
            <a:endParaRPr lang="en-US" sz="1200" dirty="0"/>
          </a:p>
        </p:txBody>
      </p:sp>
      <p:sp>
        <p:nvSpPr>
          <p:cNvPr id="49" name="Text 47"/>
          <p:cNvSpPr/>
          <p:nvPr/>
        </p:nvSpPr>
        <p:spPr>
          <a:xfrm>
            <a:off x="4023360" y="4078224"/>
            <a:ext cx="4144975" cy="457200"/>
          </a:xfrm>
          <a:prstGeom prst="rect">
            <a:avLst/>
          </a:prstGeom>
          <a:noFill/>
          <a:ln/>
        </p:spPr>
        <p:txBody>
          <a:bodyPr wrap="square" lIns="0" tIns="0" rIns="0" bIns="0" rtlCol="0" anchor="ctr"/>
          <a:lstStyle/>
          <a:p>
            <a:pPr marL="0" indent="0" algn="ctr">
              <a:lnSpc>
                <a:spcPct val="110000"/>
              </a:lnSpc>
              <a:buNone/>
            </a:pPr>
            <a:r>
              <a:rPr lang="en-US" sz="1150" dirty="0">
                <a:solidFill>
                  <a:srgbClr val="91A0B7"/>
                </a:solidFill>
                <a:latin typeface="Calibri" pitchFamily="34" charset="0"/>
                <a:ea typeface="Calibri" pitchFamily="34" charset="-122"/>
                <a:cs typeface="Calibri" pitchFamily="34" charset="-120"/>
              </a:rPr>
              <a:t>Unauthorised or over-budget requests are filtered out. Governed, cost-allocated requests pass through.</a:t>
            </a:r>
            <a:endParaRPr lang="en-US" sz="1150" dirty="0"/>
          </a:p>
        </p:txBody>
      </p:sp>
      <p:sp>
        <p:nvSpPr>
          <p:cNvPr id="51" name="Shape 26">
            <a:extLst>
              <a:ext uri="{FF2B5EF4-FFF2-40B4-BE49-F238E27FC236}">
                <a16:creationId xmlns:a16="http://schemas.microsoft.com/office/drawing/2014/main" id="{ECFA40AD-96FD-61F0-5BE6-9E33ACBB4782}"/>
              </a:ext>
            </a:extLst>
          </p:cNvPr>
          <p:cNvSpPr/>
          <p:nvPr/>
        </p:nvSpPr>
        <p:spPr>
          <a:xfrm>
            <a:off x="8671255" y="4754880"/>
            <a:ext cx="3215640" cy="402336"/>
          </a:xfrm>
          <a:prstGeom prst="roundRect">
            <a:avLst>
              <a:gd name="adj" fmla="val 10000"/>
            </a:avLst>
          </a:prstGeom>
          <a:solidFill>
            <a:srgbClr val="121B2D"/>
          </a:solidFill>
          <a:ln w="12700">
            <a:solidFill>
              <a:srgbClr val="23304A"/>
            </a:solidFill>
            <a:prstDash val="solid"/>
          </a:ln>
        </p:spPr>
        <p:txBody>
          <a:bodyPr/>
          <a:lstStyle/>
          <a:p>
            <a:r>
              <a:rPr lang="en-US" sz="1300" dirty="0">
                <a:solidFill>
                  <a:srgbClr val="F4F7FB"/>
                </a:solidFill>
                <a:latin typeface="Calibri" pitchFamily="34" charset="0"/>
                <a:ea typeface="Calibri" pitchFamily="34" charset="-122"/>
                <a:cs typeface="Calibri" pitchFamily="34" charset="-120"/>
              </a:rPr>
              <a:t>   Databrikes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txBody>
          <a:bodyPr/>
          <a:lstStyle/>
          <a:p>
            <a:endParaRPr lang="he-IL"/>
          </a:p>
        </p:txBody>
      </p:sp>
      <p:sp>
        <p:nvSpPr>
          <p:cNvPr id="3" name="Shape 1"/>
          <p:cNvSpPr/>
          <p:nvPr/>
        </p:nvSpPr>
        <p:spPr>
          <a:xfrm>
            <a:off x="457200" y="306324"/>
            <a:ext cx="109728" cy="109728"/>
          </a:xfrm>
          <a:prstGeom prst="ellipse">
            <a:avLst/>
          </a:prstGeom>
          <a:solidFill>
            <a:srgbClr val="FF6B7A"/>
          </a:solidFill>
          <a:ln w="12700">
            <a:solidFill>
              <a:srgbClr val="FF6B7A"/>
            </a:solidFill>
            <a:prstDash val="solid"/>
          </a:ln>
        </p:spPr>
        <p:txBody>
          <a:bodyPr/>
          <a:lstStyle/>
          <a:p>
            <a:endParaRPr lang="he-IL"/>
          </a:p>
        </p:txBody>
      </p:sp>
      <p:sp>
        <p:nvSpPr>
          <p:cNvPr id="4" name="Text 2"/>
          <p:cNvSpPr/>
          <p:nvPr/>
        </p:nvSpPr>
        <p:spPr>
          <a:xfrm>
            <a:off x="640080" y="274320"/>
            <a:ext cx="7315200" cy="237744"/>
          </a:xfrm>
          <a:prstGeom prst="rect">
            <a:avLst/>
          </a:prstGeom>
          <a:noFill/>
          <a:ln/>
        </p:spPr>
        <p:txBody>
          <a:bodyPr wrap="square" lIns="0" tIns="0" rIns="0" bIns="0" rtlCol="0" anchor="ctr"/>
          <a:lstStyle/>
          <a:p>
            <a:pPr marL="0" indent="0">
              <a:buNone/>
            </a:pPr>
            <a:r>
              <a:rPr lang="en-US" sz="1300" b="1" kern="0" spc="200" dirty="0">
                <a:solidFill>
                  <a:srgbClr val="FF6B7A"/>
                </a:solidFill>
                <a:latin typeface="Calibri" pitchFamily="34" charset="0"/>
                <a:ea typeface="Calibri" pitchFamily="34" charset="-122"/>
                <a:cs typeface="Calibri" pitchFamily="34" charset="-120"/>
              </a:rPr>
              <a:t>ENFORCEMENT</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marL="0" indent="0">
              <a:buNone/>
            </a:pPr>
            <a:r>
              <a:rPr lang="en-US" sz="2333" b="1" dirty="0">
                <a:solidFill>
                  <a:srgbClr val="F4F7FB"/>
                </a:solidFill>
                <a:latin typeface="Calibri" pitchFamily="34" charset="0"/>
                <a:ea typeface="Calibri" pitchFamily="34" charset="-122"/>
                <a:cs typeface="Calibri" pitchFamily="34" charset="-120"/>
              </a:rPr>
              <a:t>Azure Budget will not stop the spend</a:t>
            </a:r>
            <a:endParaRPr lang="en-US" sz="2333" dirty="0"/>
          </a:p>
        </p:txBody>
      </p:sp>
      <p:sp>
        <p:nvSpPr>
          <p:cNvPr id="6" name="Text 4"/>
          <p:cNvSpPr/>
          <p:nvPr/>
        </p:nvSpPr>
        <p:spPr>
          <a:xfrm>
            <a:off x="8321040" y="493776"/>
            <a:ext cx="3413455" cy="658368"/>
          </a:xfrm>
          <a:prstGeom prst="rect">
            <a:avLst/>
          </a:prstGeom>
          <a:noFill/>
          <a:ln/>
        </p:spPr>
        <p:txBody>
          <a:bodyPr wrap="square" lIns="0" tIns="0" rIns="0" bIns="0" rtlCol="0" anchor="t"/>
          <a:lstStyle/>
          <a:p>
            <a:pPr marL="0" indent="0" algn="r">
              <a:lnSpc>
                <a:spcPct val="115000"/>
              </a:lnSpc>
              <a:buNone/>
            </a:pPr>
            <a:r>
              <a:rPr lang="en-US" sz="1200" dirty="0">
                <a:solidFill>
                  <a:srgbClr val="91A0B7"/>
                </a:solidFill>
                <a:latin typeface="Calibri" pitchFamily="34" charset="0"/>
                <a:ea typeface="Calibri" pitchFamily="34" charset="-122"/>
                <a:cs typeface="Calibri" pitchFamily="34" charset="-120"/>
              </a:rPr>
              <a:t>A budget reports. Only the gateway can refuse a request.</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marL="0" indent="0">
              <a:lnSpc>
                <a:spcPct val="115000"/>
              </a:lnSpc>
              <a:buNone/>
            </a:pPr>
            <a:r>
              <a:rPr lang="en-US" sz="1200" dirty="0">
                <a:solidFill>
                  <a:srgbClr val="536078"/>
                </a:solidFill>
                <a:latin typeface="Calibri" pitchFamily="34" charset="0"/>
                <a:ea typeface="Calibri" pitchFamily="34" charset="-122"/>
                <a:cs typeface="Calibri" pitchFamily="34" charset="-120"/>
              </a:rPr>
              <a:t>No API key is approved without: owner, cost centre, allowed models, max output tokens, TPM, a daily and a monthly quota, and an agreed break-glass path. Direct access to Foundry or a model endpoint is blocked. All traffic goes through the gateway.</a:t>
            </a:r>
            <a:endParaRPr lang="en-US" sz="1200" dirty="0"/>
          </a:p>
        </p:txBody>
      </p:sp>
      <p:sp>
        <p:nvSpPr>
          <p:cNvPr id="8" name="Text 6"/>
          <p:cNvSpPr/>
          <p:nvPr/>
        </p:nvSpPr>
        <p:spPr>
          <a:xfrm>
            <a:off x="457200" y="1234440"/>
            <a:ext cx="7863840" cy="237744"/>
          </a:xfrm>
          <a:prstGeom prst="rect">
            <a:avLst/>
          </a:prstGeom>
          <a:noFill/>
          <a:ln/>
        </p:spPr>
        <p:txBody>
          <a:bodyPr wrap="square" lIns="0" tIns="0" rIns="0" bIns="0" rtlCol="0" anchor="ctr"/>
          <a:lstStyle/>
          <a:p>
            <a:pPr marL="0" indent="0">
              <a:buNone/>
            </a:pPr>
            <a:r>
              <a:rPr lang="en-US" sz="1500" b="1" dirty="0">
                <a:solidFill>
                  <a:srgbClr val="F4F7FB"/>
                </a:solidFill>
                <a:latin typeface="Calibri" pitchFamily="34" charset="0"/>
                <a:ea typeface="Calibri" pitchFamily="34" charset="-122"/>
                <a:cs typeface="Calibri" pitchFamily="34" charset="-120"/>
              </a:rPr>
              <a:t>The control model</a:t>
            </a:r>
            <a:endParaRPr lang="en-US" sz="1500" dirty="0"/>
          </a:p>
        </p:txBody>
      </p:sp>
      <p:sp>
        <p:nvSpPr>
          <p:cNvPr id="9" name="Text 7"/>
          <p:cNvSpPr/>
          <p:nvPr/>
        </p:nvSpPr>
        <p:spPr>
          <a:xfrm>
            <a:off x="457200" y="1508760"/>
            <a:ext cx="7863840" cy="219456"/>
          </a:xfrm>
          <a:prstGeom prst="rect">
            <a:avLst/>
          </a:prstGeom>
          <a:noFill/>
          <a:ln/>
        </p:spPr>
        <p:txBody>
          <a:bodyPr wrap="square" lIns="0" tIns="0" rIns="0" bIns="0" rtlCol="0" anchor="ctr"/>
          <a:lstStyle/>
          <a:p>
            <a:pPr marL="0" indent="0">
              <a:buNone/>
            </a:pPr>
            <a:r>
              <a:rPr lang="en-US" sz="1200" dirty="0">
                <a:solidFill>
                  <a:srgbClr val="91A0B7"/>
                </a:solidFill>
                <a:latin typeface="Calibri" pitchFamily="34" charset="0"/>
                <a:ea typeface="Calibri" pitchFamily="34" charset="-122"/>
                <a:cs typeface="Calibri" pitchFamily="34" charset="-120"/>
              </a:rPr>
              <a:t>Every layer enforced in API Management, per subscription key</a:t>
            </a:r>
            <a:endParaRPr lang="en-US" sz="1200" dirty="0"/>
          </a:p>
        </p:txBody>
      </p:sp>
      <p:graphicFrame>
        <p:nvGraphicFramePr>
          <p:cNvPr id="23" name="Table 0"/>
          <p:cNvGraphicFramePr>
            <a:graphicFrameLocks noGrp="1"/>
          </p:cNvGraphicFramePr>
          <p:nvPr/>
        </p:nvGraphicFramePr>
        <p:xfrm>
          <a:off x="457200" y="1764792"/>
          <a:ext cx="7863840" cy="2048256"/>
        </p:xfrm>
        <a:graphic>
          <a:graphicData uri="http://schemas.openxmlformats.org/drawingml/2006/table">
            <a:tbl>
              <a:tblPr/>
              <a:tblGrid>
                <a:gridCol w="246888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tblGrid>
              <a:tr h="292608">
                <a:tc>
                  <a:txBody>
                    <a:bodyPr/>
                    <a:lstStyle/>
                    <a:p>
                      <a:pPr marL="0" indent="0" algn="l">
                        <a:buNone/>
                      </a:pPr>
                      <a:r>
                        <a:rPr lang="en-US" sz="1200" b="1" kern="0" spc="80" dirty="0">
                          <a:solidFill>
                            <a:srgbClr val="91A0B7"/>
                          </a:solidFill>
                          <a:latin typeface="Calibri" pitchFamily="34" charset="0"/>
                          <a:ea typeface="Calibri" pitchFamily="34" charset="-122"/>
                          <a:cs typeface="Calibri" pitchFamily="34" charset="-120"/>
                        </a:rPr>
                        <a:t>Control layer</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l">
                        <a:buNone/>
                      </a:pPr>
                      <a:r>
                        <a:rPr lang="en-US" sz="1200" b="1" kern="0" spc="80" dirty="0">
                          <a:solidFill>
                            <a:srgbClr val="91A0B7"/>
                          </a:solidFill>
                          <a:latin typeface="Calibri" pitchFamily="34" charset="0"/>
                          <a:ea typeface="Calibri" pitchFamily="34" charset="-122"/>
                          <a:cs typeface="Calibri" pitchFamily="34" charset="-120"/>
                        </a:rPr>
                        <a:t>Enforced at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l">
                        <a:buNone/>
                      </a:pPr>
                      <a:r>
                        <a:rPr lang="en-US" sz="1200" b="1" kern="0" spc="80" dirty="0">
                          <a:solidFill>
                            <a:srgbClr val="91A0B7"/>
                          </a:solidFill>
                          <a:latin typeface="Calibri" pitchFamily="34" charset="0"/>
                          <a:ea typeface="Calibri" pitchFamily="34" charset="-122"/>
                          <a:cs typeface="Calibri" pitchFamily="34" charset="-120"/>
                        </a:rPr>
                        <a:t>What it prevents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extLst>
                  <a:ext uri="{0D108BD9-81ED-4DB2-BD59-A6C34878D82A}">
                    <a16:rowId xmlns:a16="http://schemas.microsoft.com/office/drawing/2014/main" val="10000"/>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TPM / RPM</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l">
                        <a:buNone/>
                      </a:pPr>
                      <a:r>
                        <a:rPr lang="en-US" sz="1200" dirty="0">
                          <a:solidFill>
                            <a:srgbClr val="F4F7FB"/>
                          </a:solidFill>
                          <a:latin typeface="Calibri" pitchFamily="34" charset="0"/>
                          <a:ea typeface="Calibri" pitchFamily="34" charset="-122"/>
                          <a:cs typeface="Calibri" pitchFamily="34" charset="-120"/>
                        </a:rPr>
                        <a:t>User and application</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l">
                        <a:buNone/>
                      </a:pPr>
                      <a:r>
                        <a:rPr lang="en-US" sz="1200" dirty="0">
                          <a:solidFill>
                            <a:srgbClr val="F4F7FB"/>
                          </a:solidFill>
                          <a:latin typeface="Calibri" pitchFamily="34" charset="0"/>
                          <a:ea typeface="Calibri" pitchFamily="34" charset="-122"/>
                          <a:cs typeface="Calibri" pitchFamily="34" charset="-120"/>
                        </a:rPr>
                        <a:t>Minute-scale bursts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extLst>
                  <a:ext uri="{0D108BD9-81ED-4DB2-BD59-A6C34878D82A}">
                    <a16:rowId xmlns:a16="http://schemas.microsoft.com/office/drawing/2014/main" val="10001"/>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Daily token quota</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l">
                        <a:buNone/>
                      </a:pPr>
                      <a:r>
                        <a:rPr lang="en-US" sz="1200" dirty="0">
                          <a:solidFill>
                            <a:srgbClr val="F4F7FB"/>
                          </a:solidFill>
                          <a:latin typeface="Calibri" pitchFamily="34" charset="0"/>
                          <a:ea typeface="Calibri" pitchFamily="34" charset="-122"/>
                          <a:cs typeface="Calibri" pitchFamily="34" charset="-120"/>
                        </a:rPr>
                        <a:t>Application</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l">
                        <a:buNone/>
                      </a:pPr>
                      <a:r>
                        <a:rPr lang="en-US" sz="1200" dirty="0">
                          <a:solidFill>
                            <a:srgbClr val="F4F7FB"/>
                          </a:solidFill>
                          <a:latin typeface="Calibri" pitchFamily="34" charset="0"/>
                          <a:ea typeface="Calibri" pitchFamily="34" charset="-122"/>
                          <a:cs typeface="Calibri" pitchFamily="34" charset="-120"/>
                        </a:rPr>
                        <a:t>A broken job running for hours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extLst>
                  <a:ext uri="{0D108BD9-81ED-4DB2-BD59-A6C34878D82A}">
                    <a16:rowId xmlns:a16="http://schemas.microsoft.com/office/drawing/2014/main" val="10002"/>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Monthly token quota</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l">
                        <a:buNone/>
                      </a:pPr>
                      <a:r>
                        <a:rPr lang="en-US" sz="1200" dirty="0">
                          <a:solidFill>
                            <a:srgbClr val="F4F7FB"/>
                          </a:solidFill>
                          <a:latin typeface="Calibri" pitchFamily="34" charset="0"/>
                          <a:ea typeface="Calibri" pitchFamily="34" charset="-122"/>
                          <a:cs typeface="Calibri" pitchFamily="34" charset="-120"/>
                        </a:rPr>
                        <a:t>Application / cost centre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l">
                        <a:buNone/>
                      </a:pPr>
                      <a:r>
                        <a:rPr lang="en-US" sz="1200" dirty="0">
                          <a:solidFill>
                            <a:srgbClr val="F4F7FB"/>
                          </a:solidFill>
                          <a:latin typeface="Calibri" pitchFamily="34" charset="0"/>
                          <a:ea typeface="Calibri" pitchFamily="34" charset="-122"/>
                          <a:cs typeface="Calibri" pitchFamily="34" charset="-120"/>
                        </a:rPr>
                        <a:t>Overrun of the approved budget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extLst>
                  <a:ext uri="{0D108BD9-81ED-4DB2-BD59-A6C34878D82A}">
                    <a16:rowId xmlns:a16="http://schemas.microsoft.com/office/drawing/2014/main" val="10003"/>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Model allowlist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l">
                        <a:buNone/>
                      </a:pPr>
                      <a:r>
                        <a:rPr lang="en-US" sz="1200" dirty="0">
                          <a:solidFill>
                            <a:srgbClr val="F4F7FB"/>
                          </a:solidFill>
                          <a:latin typeface="Calibri" pitchFamily="34" charset="0"/>
                          <a:ea typeface="Calibri" pitchFamily="34" charset="-122"/>
                          <a:cs typeface="Calibri" pitchFamily="34" charset="-120"/>
                        </a:rPr>
                        <a:t>Application</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l">
                        <a:buNone/>
                      </a:pPr>
                      <a:r>
                        <a:rPr lang="en-US" sz="1200" dirty="0">
                          <a:solidFill>
                            <a:srgbClr val="F4F7FB"/>
                          </a:solidFill>
                          <a:latin typeface="Calibri" pitchFamily="34" charset="0"/>
                          <a:ea typeface="Calibri" pitchFamily="34" charset="-122"/>
                          <a:cs typeface="Calibri" pitchFamily="34" charset="-120"/>
                        </a:rPr>
                        <a:t>Unplanned jump to an expensive model</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extLst>
                  <a:ext uri="{0D108BD9-81ED-4DB2-BD59-A6C34878D82A}">
                    <a16:rowId xmlns:a16="http://schemas.microsoft.com/office/drawing/2014/main" val="10004"/>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Max output tokens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l">
                        <a:buNone/>
                      </a:pPr>
                      <a:r>
                        <a:rPr lang="en-US" sz="1200" dirty="0">
                          <a:solidFill>
                            <a:srgbClr val="F4F7FB"/>
                          </a:solidFill>
                          <a:latin typeface="Calibri" pitchFamily="34" charset="0"/>
                          <a:ea typeface="Calibri" pitchFamily="34" charset="-122"/>
                          <a:cs typeface="Calibri" pitchFamily="34" charset="-120"/>
                        </a:rPr>
                        <a:t>Every request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l">
                        <a:buNone/>
                      </a:pPr>
                      <a:r>
                        <a:rPr lang="en-US" sz="1200" dirty="0">
                          <a:solidFill>
                            <a:srgbClr val="F4F7FB"/>
                          </a:solidFill>
                          <a:latin typeface="Calibri" pitchFamily="34" charset="0"/>
                          <a:ea typeface="Calibri" pitchFamily="34" charset="-122"/>
                          <a:cs typeface="Calibri" pitchFamily="34" charset="-120"/>
                        </a:rPr>
                        <a:t>Runaway answers and agent loops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extLst>
                  <a:ext uri="{0D108BD9-81ED-4DB2-BD59-A6C34878D82A}">
                    <a16:rowId xmlns:a16="http://schemas.microsoft.com/office/drawing/2014/main" val="10005"/>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Global deployment ceiling</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l">
                        <a:buNone/>
                      </a:pPr>
                      <a:r>
                        <a:rPr lang="en-US" sz="1200" dirty="0">
                          <a:solidFill>
                            <a:srgbClr val="F4F7FB"/>
                          </a:solidFill>
                          <a:latin typeface="Calibri" pitchFamily="34" charset="0"/>
                          <a:ea typeface="Calibri" pitchFamily="34" charset="-122"/>
                          <a:cs typeface="Calibri" pitchFamily="34" charset="-120"/>
                        </a:rPr>
                        <a:t>Model / backend</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l">
                        <a:buNone/>
                      </a:pPr>
                      <a:r>
                        <a:rPr lang="en-US" sz="1200" dirty="0">
                          <a:solidFill>
                            <a:srgbClr val="F4F7FB"/>
                          </a:solidFill>
                          <a:latin typeface="Calibri" pitchFamily="34" charset="0"/>
                          <a:ea typeface="Calibri" pitchFamily="34" charset="-122"/>
                          <a:cs typeface="Calibri" pitchFamily="34" charset="-120"/>
                        </a:rPr>
                        <a:t>Organisation-wide blast radius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extLst>
                  <a:ext uri="{0D108BD9-81ED-4DB2-BD59-A6C34878D82A}">
                    <a16:rowId xmlns:a16="http://schemas.microsoft.com/office/drawing/2014/main" val="10006"/>
                  </a:ext>
                </a:extLst>
              </a:tr>
            </a:tbl>
          </a:graphicData>
        </a:graphic>
      </p:graphicFrame>
      <p:sp>
        <p:nvSpPr>
          <p:cNvPr id="11" name="Shape 8"/>
          <p:cNvSpPr/>
          <p:nvPr/>
        </p:nvSpPr>
        <p:spPr>
          <a:xfrm>
            <a:off x="8686800" y="1234440"/>
            <a:ext cx="3047695" cy="1097280"/>
          </a:xfrm>
          <a:prstGeom prst="roundRect">
            <a:avLst>
              <a:gd name="adj" fmla="val 5000"/>
            </a:avLst>
          </a:prstGeom>
          <a:solidFill>
            <a:srgbClr val="121B2D"/>
          </a:solidFill>
          <a:ln w="12700">
            <a:solidFill>
              <a:srgbClr val="23304A"/>
            </a:solidFill>
            <a:prstDash val="solid"/>
          </a:ln>
        </p:spPr>
        <p:txBody>
          <a:bodyPr/>
          <a:lstStyle/>
          <a:p>
            <a:endParaRPr lang="he-IL"/>
          </a:p>
        </p:txBody>
      </p:sp>
      <p:sp>
        <p:nvSpPr>
          <p:cNvPr id="12" name="Text 9"/>
          <p:cNvSpPr/>
          <p:nvPr/>
        </p:nvSpPr>
        <p:spPr>
          <a:xfrm>
            <a:off x="8887968" y="1325880"/>
            <a:ext cx="2645359"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AZURE BUDGET LATENCY</a:t>
            </a:r>
            <a:endParaRPr lang="en-US" sz="1200" dirty="0"/>
          </a:p>
        </p:txBody>
      </p:sp>
      <p:sp>
        <p:nvSpPr>
          <p:cNvPr id="13" name="Text 10"/>
          <p:cNvSpPr/>
          <p:nvPr/>
        </p:nvSpPr>
        <p:spPr>
          <a:xfrm>
            <a:off x="8887968" y="1527048"/>
            <a:ext cx="2645359"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8-24 h</a:t>
            </a:r>
            <a:endParaRPr lang="en-US" sz="2800" dirty="0"/>
          </a:p>
        </p:txBody>
      </p:sp>
      <p:sp>
        <p:nvSpPr>
          <p:cNvPr id="14" name="Text 11"/>
          <p:cNvSpPr/>
          <p:nvPr/>
        </p:nvSpPr>
        <p:spPr>
          <a:xfrm>
            <a:off x="8887968" y="1929384"/>
            <a:ext cx="2645359" cy="329184"/>
          </a:xfrm>
          <a:prstGeom prst="rect">
            <a:avLst/>
          </a:prstGeom>
          <a:noFill/>
          <a:ln/>
        </p:spPr>
        <p:txBody>
          <a:bodyPr wrap="square" lIns="0" tIns="0" rIns="0" bIns="0" rtlCol="0" anchor="t"/>
          <a:lstStyle/>
          <a:p>
            <a:pPr marL="0" indent="0">
              <a:lnSpc>
                <a:spcPct val="105000"/>
              </a:lnSpc>
              <a:buNone/>
            </a:pPr>
            <a:r>
              <a:rPr lang="en-US" sz="1200" b="1" dirty="0">
                <a:solidFill>
                  <a:srgbClr val="FF6B7A"/>
                </a:solidFill>
                <a:latin typeface="Calibri" pitchFamily="34" charset="0"/>
                <a:ea typeface="Calibri" pitchFamily="34" charset="-122"/>
                <a:cs typeface="Calibri" pitchFamily="34" charset="-120"/>
              </a:rPr>
              <a:t>reporting, not enforcement</a:t>
            </a:r>
            <a:endParaRPr lang="en-US" sz="1200" dirty="0"/>
          </a:p>
        </p:txBody>
      </p:sp>
      <p:sp>
        <p:nvSpPr>
          <p:cNvPr id="15" name="Shape 12"/>
          <p:cNvSpPr/>
          <p:nvPr/>
        </p:nvSpPr>
        <p:spPr>
          <a:xfrm>
            <a:off x="8686800" y="2459736"/>
            <a:ext cx="3047695" cy="1097280"/>
          </a:xfrm>
          <a:prstGeom prst="roundRect">
            <a:avLst>
              <a:gd name="adj" fmla="val 5000"/>
            </a:avLst>
          </a:prstGeom>
          <a:solidFill>
            <a:srgbClr val="121B2D"/>
          </a:solidFill>
          <a:ln w="12700">
            <a:solidFill>
              <a:srgbClr val="23304A"/>
            </a:solidFill>
            <a:prstDash val="solid"/>
          </a:ln>
        </p:spPr>
        <p:txBody>
          <a:bodyPr/>
          <a:lstStyle/>
          <a:p>
            <a:endParaRPr lang="he-IL"/>
          </a:p>
        </p:txBody>
      </p:sp>
      <p:sp>
        <p:nvSpPr>
          <p:cNvPr id="16" name="Text 13"/>
          <p:cNvSpPr/>
          <p:nvPr/>
        </p:nvSpPr>
        <p:spPr>
          <a:xfrm>
            <a:off x="8887968" y="2551176"/>
            <a:ext cx="2645359"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APIM ENFORCEMENT</a:t>
            </a:r>
            <a:endParaRPr lang="en-US" sz="1200" dirty="0"/>
          </a:p>
        </p:txBody>
      </p:sp>
      <p:sp>
        <p:nvSpPr>
          <p:cNvPr id="17" name="Text 14"/>
          <p:cNvSpPr/>
          <p:nvPr/>
        </p:nvSpPr>
        <p:spPr>
          <a:xfrm>
            <a:off x="8887968" y="2752344"/>
            <a:ext cx="2645359"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Per request</a:t>
            </a:r>
            <a:endParaRPr lang="en-US" sz="2800" dirty="0"/>
          </a:p>
        </p:txBody>
      </p:sp>
      <p:sp>
        <p:nvSpPr>
          <p:cNvPr id="18" name="Text 15"/>
          <p:cNvSpPr/>
          <p:nvPr/>
        </p:nvSpPr>
        <p:spPr>
          <a:xfrm>
            <a:off x="8887968" y="3154680"/>
            <a:ext cx="2645359" cy="329184"/>
          </a:xfrm>
          <a:prstGeom prst="rect">
            <a:avLst/>
          </a:prstGeom>
          <a:noFill/>
          <a:ln/>
        </p:spPr>
        <p:txBody>
          <a:bodyPr wrap="square" lIns="0" tIns="0" rIns="0" bIns="0" rtlCol="0" anchor="t"/>
          <a:lstStyle/>
          <a:p>
            <a:pPr marL="0" indent="0">
              <a:lnSpc>
                <a:spcPct val="105000"/>
              </a:lnSpc>
              <a:buNone/>
            </a:pPr>
            <a:r>
              <a:rPr lang="en-US" sz="1200" b="1" dirty="0">
                <a:solidFill>
                  <a:srgbClr val="3DDC97"/>
                </a:solidFill>
                <a:latin typeface="Calibri" pitchFamily="34" charset="0"/>
                <a:ea typeface="Calibri" pitchFamily="34" charset="-122"/>
                <a:cs typeface="Calibri" pitchFamily="34" charset="-120"/>
              </a:rPr>
              <a:t>429 on TPM, 403 on quota</a:t>
            </a:r>
            <a:endParaRPr lang="en-US" sz="1200" dirty="0"/>
          </a:p>
        </p:txBody>
      </p:sp>
      <p:sp>
        <p:nvSpPr>
          <p:cNvPr id="19" name="Shape 16"/>
          <p:cNvSpPr/>
          <p:nvPr/>
        </p:nvSpPr>
        <p:spPr>
          <a:xfrm>
            <a:off x="8686800" y="3685032"/>
            <a:ext cx="3047695" cy="1097280"/>
          </a:xfrm>
          <a:prstGeom prst="roundRect">
            <a:avLst>
              <a:gd name="adj" fmla="val 5000"/>
            </a:avLst>
          </a:prstGeom>
          <a:solidFill>
            <a:srgbClr val="121B2D"/>
          </a:solidFill>
          <a:ln w="12700">
            <a:solidFill>
              <a:srgbClr val="23304A"/>
            </a:solidFill>
            <a:prstDash val="solid"/>
          </a:ln>
        </p:spPr>
        <p:txBody>
          <a:bodyPr/>
          <a:lstStyle/>
          <a:p>
            <a:endParaRPr lang="he-IL"/>
          </a:p>
        </p:txBody>
      </p:sp>
      <p:sp>
        <p:nvSpPr>
          <p:cNvPr id="20" name="Text 17"/>
          <p:cNvSpPr/>
          <p:nvPr/>
        </p:nvSpPr>
        <p:spPr>
          <a:xfrm>
            <a:off x="8887968" y="3776472"/>
            <a:ext cx="2645359"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SET THE HARD QUOTA AT</a:t>
            </a:r>
            <a:endParaRPr lang="en-US" sz="1200" dirty="0"/>
          </a:p>
        </p:txBody>
      </p:sp>
      <p:sp>
        <p:nvSpPr>
          <p:cNvPr id="21" name="Text 18"/>
          <p:cNvSpPr/>
          <p:nvPr/>
        </p:nvSpPr>
        <p:spPr>
          <a:xfrm>
            <a:off x="8887968" y="3977640"/>
            <a:ext cx="2645359"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75-85%</a:t>
            </a:r>
            <a:endParaRPr lang="en-US" sz="2800" dirty="0"/>
          </a:p>
        </p:txBody>
      </p:sp>
      <p:sp>
        <p:nvSpPr>
          <p:cNvPr id="22" name="Text 19"/>
          <p:cNvSpPr/>
          <p:nvPr/>
        </p:nvSpPr>
        <p:spPr>
          <a:xfrm>
            <a:off x="8887968" y="4379976"/>
            <a:ext cx="2645359" cy="329184"/>
          </a:xfrm>
          <a:prstGeom prst="rect">
            <a:avLst/>
          </a:prstGeom>
          <a:noFill/>
          <a:ln/>
        </p:spPr>
        <p:txBody>
          <a:bodyPr wrap="square" lIns="0" tIns="0" rIns="0" bIns="0" rtlCol="0" anchor="t"/>
          <a:lstStyle/>
          <a:p>
            <a:pPr marL="0" indent="0">
              <a:lnSpc>
                <a:spcPct val="105000"/>
              </a:lnSpc>
              <a:buNone/>
            </a:pPr>
            <a:r>
              <a:rPr lang="en-US" sz="1200" b="1" dirty="0">
                <a:solidFill>
                  <a:srgbClr val="E0A030"/>
                </a:solidFill>
                <a:latin typeface="Calibri" pitchFamily="34" charset="0"/>
                <a:ea typeface="Calibri" pitchFamily="34" charset="-122"/>
                <a:cs typeface="Calibri" pitchFamily="34" charset="-120"/>
              </a:rPr>
              <a:t>of the approved budget</a:t>
            </a:r>
            <a:endParaRPr lang="en-US" sz="1200" dirty="0"/>
          </a:p>
        </p:txBody>
      </p:sp>
    </p:spTree>
    <p:extLst>
      <p:ext uri="{BB962C8B-B14F-4D97-AF65-F5344CB8AC3E}">
        <p14:creationId xmlns:p14="http://schemas.microsoft.com/office/powerpoint/2010/main" val="6382084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txBody>
          <a:bodyPr/>
          <a:lstStyle/>
          <a:p>
            <a:endParaRPr lang="he-IL"/>
          </a:p>
        </p:txBody>
      </p:sp>
      <p:sp>
        <p:nvSpPr>
          <p:cNvPr id="3" name="Shape 1"/>
          <p:cNvSpPr/>
          <p:nvPr/>
        </p:nvSpPr>
        <p:spPr>
          <a:xfrm>
            <a:off x="457200" y="306324"/>
            <a:ext cx="109728" cy="109728"/>
          </a:xfrm>
          <a:prstGeom prst="ellipse">
            <a:avLst/>
          </a:prstGeom>
          <a:solidFill>
            <a:srgbClr val="B07CFF"/>
          </a:solidFill>
          <a:ln w="12700">
            <a:solidFill>
              <a:srgbClr val="B07CFF"/>
            </a:solidFill>
            <a:prstDash val="solid"/>
          </a:ln>
        </p:spPr>
        <p:txBody>
          <a:bodyPr/>
          <a:lstStyle/>
          <a:p>
            <a:endParaRPr lang="he-IL"/>
          </a:p>
        </p:txBody>
      </p:sp>
      <p:sp>
        <p:nvSpPr>
          <p:cNvPr id="4" name="Text 2"/>
          <p:cNvSpPr/>
          <p:nvPr/>
        </p:nvSpPr>
        <p:spPr>
          <a:xfrm>
            <a:off x="640080" y="274320"/>
            <a:ext cx="7315200" cy="237744"/>
          </a:xfrm>
          <a:prstGeom prst="rect">
            <a:avLst/>
          </a:prstGeom>
          <a:noFill/>
          <a:ln/>
        </p:spPr>
        <p:txBody>
          <a:bodyPr wrap="square" lIns="0" tIns="0" rIns="0" bIns="0" rtlCol="0" anchor="ctr"/>
          <a:lstStyle/>
          <a:p>
            <a:pPr marL="0" indent="0">
              <a:buNone/>
            </a:pPr>
            <a:r>
              <a:rPr lang="en-US" sz="1300" b="1" kern="0" spc="200" dirty="0">
                <a:solidFill>
                  <a:srgbClr val="B07CFF"/>
                </a:solidFill>
                <a:latin typeface="Calibri" pitchFamily="34" charset="0"/>
                <a:ea typeface="Calibri" pitchFamily="34" charset="-122"/>
                <a:cs typeface="Calibri" pitchFamily="34" charset="-120"/>
              </a:rPr>
              <a:t>OWNERSHIP</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marL="0" indent="0">
              <a:buNone/>
            </a:pPr>
            <a:r>
              <a:rPr lang="en-US" sz="2471" b="1" dirty="0">
                <a:solidFill>
                  <a:srgbClr val="F4F7FB"/>
                </a:solidFill>
                <a:latin typeface="Calibri" pitchFamily="34" charset="0"/>
                <a:ea typeface="Calibri" pitchFamily="34" charset="-122"/>
                <a:cs typeface="Calibri" pitchFamily="34" charset="-120"/>
              </a:rPr>
              <a:t>Nothing reaches production unowned</a:t>
            </a:r>
            <a:endParaRPr lang="en-US" sz="2471" dirty="0"/>
          </a:p>
        </p:txBody>
      </p:sp>
      <p:sp>
        <p:nvSpPr>
          <p:cNvPr id="6" name="Text 4"/>
          <p:cNvSpPr/>
          <p:nvPr/>
        </p:nvSpPr>
        <p:spPr>
          <a:xfrm>
            <a:off x="8321040" y="493776"/>
            <a:ext cx="3413455" cy="658368"/>
          </a:xfrm>
          <a:prstGeom prst="rect">
            <a:avLst/>
          </a:prstGeom>
          <a:noFill/>
          <a:ln/>
        </p:spPr>
        <p:txBody>
          <a:bodyPr wrap="square" lIns="0" tIns="0" rIns="0" bIns="0" rtlCol="0" anchor="t"/>
          <a:lstStyle/>
          <a:p>
            <a:pPr marL="0" indent="0" algn="r">
              <a:lnSpc>
                <a:spcPct val="115000"/>
              </a:lnSpc>
              <a:buNone/>
            </a:pPr>
            <a:r>
              <a:rPr lang="en-US" sz="1200" dirty="0">
                <a:solidFill>
                  <a:srgbClr val="91A0B7"/>
                </a:solidFill>
                <a:latin typeface="Calibri" pitchFamily="34" charset="0"/>
                <a:ea typeface="Calibri" pitchFamily="34" charset="-122"/>
                <a:cs typeface="Calibri" pitchFamily="34" charset="-120"/>
              </a:rPr>
              <a:t>No AI workload goes live without explicit business ownership and financial allocation.</a:t>
            </a:r>
            <a:endParaRPr lang="en-US" sz="1200" dirty="0"/>
          </a:p>
        </p:txBody>
      </p:sp>
      <p:sp>
        <p:nvSpPr>
          <p:cNvPr id="7" name="Shape 5"/>
          <p:cNvSpPr/>
          <p:nvPr/>
        </p:nvSpPr>
        <p:spPr>
          <a:xfrm>
            <a:off x="457200" y="1536192"/>
            <a:ext cx="329184" cy="329184"/>
          </a:xfrm>
          <a:prstGeom prst="ellipse">
            <a:avLst/>
          </a:prstGeom>
          <a:solidFill>
            <a:srgbClr val="121B2D"/>
          </a:solidFill>
          <a:ln w="12700">
            <a:solidFill>
              <a:srgbClr val="B07CFF"/>
            </a:solidFill>
            <a:prstDash val="solid"/>
          </a:ln>
        </p:spPr>
        <p:txBody>
          <a:bodyPr/>
          <a:lstStyle/>
          <a:p>
            <a:endParaRPr lang="he-IL"/>
          </a:p>
        </p:txBody>
      </p:sp>
      <p:sp>
        <p:nvSpPr>
          <p:cNvPr id="8" name="Text 6"/>
          <p:cNvSpPr/>
          <p:nvPr/>
        </p:nvSpPr>
        <p:spPr>
          <a:xfrm>
            <a:off x="457200" y="1536192"/>
            <a:ext cx="329184" cy="329184"/>
          </a:xfrm>
          <a:prstGeom prst="rect">
            <a:avLst/>
          </a:prstGeom>
          <a:noFill/>
          <a:ln/>
        </p:spPr>
        <p:txBody>
          <a:bodyPr wrap="square" lIns="0" tIns="0" rIns="0" bIns="0" rtlCol="0" anchor="ctr"/>
          <a:lstStyle/>
          <a:p>
            <a:pPr marL="0" indent="0" algn="ctr">
              <a:buNone/>
            </a:pPr>
            <a:r>
              <a:rPr lang="en-US" sz="1300" b="1" dirty="0">
                <a:solidFill>
                  <a:srgbClr val="B07C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914400" y="1481328"/>
            <a:ext cx="4998568" cy="256032"/>
          </a:xfrm>
          <a:prstGeom prst="rect">
            <a:avLst/>
          </a:prstGeom>
          <a:noFill/>
          <a:ln/>
        </p:spPr>
        <p:txBody>
          <a:bodyPr wrap="square" lIns="0" tIns="0" rIns="0" bIns="0" rtlCol="0" anchor="ctr"/>
          <a:lstStyle/>
          <a:p>
            <a:pPr marL="0" indent="0">
              <a:buNone/>
            </a:pPr>
            <a:r>
              <a:rPr lang="en-US" sz="1400" b="1" dirty="0">
                <a:solidFill>
                  <a:srgbClr val="F4F7FB"/>
                </a:solidFill>
                <a:latin typeface="Calibri" pitchFamily="34" charset="0"/>
                <a:ea typeface="Calibri" pitchFamily="34" charset="-122"/>
                <a:cs typeface="Calibri" pitchFamily="34" charset="-120"/>
              </a:rPr>
              <a:t>Business owner</a:t>
            </a:r>
            <a:endParaRPr lang="en-US" sz="1400" dirty="0"/>
          </a:p>
        </p:txBody>
      </p:sp>
      <p:sp>
        <p:nvSpPr>
          <p:cNvPr id="10" name="Text 8"/>
          <p:cNvSpPr/>
          <p:nvPr/>
        </p:nvSpPr>
        <p:spPr>
          <a:xfrm>
            <a:off x="914400" y="1737360"/>
            <a:ext cx="4998568" cy="365760"/>
          </a:xfrm>
          <a:prstGeom prst="rect">
            <a:avLst/>
          </a:prstGeom>
          <a:noFill/>
          <a:ln/>
        </p:spPr>
        <p:txBody>
          <a:bodyPr wrap="square" lIns="0" tIns="0" rIns="0" bIns="0" rtlCol="0" anchor="t"/>
          <a:lstStyle/>
          <a:p>
            <a:pPr marL="0" indent="0">
              <a:lnSpc>
                <a:spcPct val="110000"/>
              </a:lnSpc>
              <a:buNone/>
            </a:pPr>
            <a:r>
              <a:rPr lang="en-US" sz="1200" dirty="0">
                <a:solidFill>
                  <a:srgbClr val="91A0B7"/>
                </a:solidFill>
                <a:latin typeface="Calibri" pitchFamily="34" charset="0"/>
                <a:ea typeface="Calibri" pitchFamily="34" charset="-122"/>
                <a:cs typeface="Calibri" pitchFamily="34" charset="-120"/>
              </a:rPr>
              <a:t>Accountability for the use case and its return.</a:t>
            </a:r>
            <a:endParaRPr lang="en-US" sz="1200" dirty="0"/>
          </a:p>
        </p:txBody>
      </p:sp>
      <p:sp>
        <p:nvSpPr>
          <p:cNvPr id="11" name="Shape 9"/>
          <p:cNvSpPr/>
          <p:nvPr/>
        </p:nvSpPr>
        <p:spPr>
          <a:xfrm>
            <a:off x="457200" y="2194560"/>
            <a:ext cx="329184" cy="329184"/>
          </a:xfrm>
          <a:prstGeom prst="ellipse">
            <a:avLst/>
          </a:prstGeom>
          <a:solidFill>
            <a:srgbClr val="121B2D"/>
          </a:solidFill>
          <a:ln w="12700">
            <a:solidFill>
              <a:srgbClr val="B07CFF"/>
            </a:solidFill>
            <a:prstDash val="solid"/>
          </a:ln>
        </p:spPr>
        <p:txBody>
          <a:bodyPr/>
          <a:lstStyle/>
          <a:p>
            <a:endParaRPr lang="he-IL"/>
          </a:p>
        </p:txBody>
      </p:sp>
      <p:sp>
        <p:nvSpPr>
          <p:cNvPr id="12" name="Text 10"/>
          <p:cNvSpPr/>
          <p:nvPr/>
        </p:nvSpPr>
        <p:spPr>
          <a:xfrm>
            <a:off x="457200" y="2194560"/>
            <a:ext cx="329184" cy="329184"/>
          </a:xfrm>
          <a:prstGeom prst="rect">
            <a:avLst/>
          </a:prstGeom>
          <a:noFill/>
          <a:ln/>
        </p:spPr>
        <p:txBody>
          <a:bodyPr wrap="square" lIns="0" tIns="0" rIns="0" bIns="0" rtlCol="0" anchor="ctr"/>
          <a:lstStyle/>
          <a:p>
            <a:pPr marL="0" indent="0" algn="ctr">
              <a:buNone/>
            </a:pPr>
            <a:r>
              <a:rPr lang="en-US" sz="1300" b="1" dirty="0">
                <a:solidFill>
                  <a:srgbClr val="B07C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914400" y="2139696"/>
            <a:ext cx="4998568" cy="256032"/>
          </a:xfrm>
          <a:prstGeom prst="rect">
            <a:avLst/>
          </a:prstGeom>
          <a:noFill/>
          <a:ln/>
        </p:spPr>
        <p:txBody>
          <a:bodyPr wrap="square" lIns="0" tIns="0" rIns="0" bIns="0" rtlCol="0" anchor="ctr"/>
          <a:lstStyle/>
          <a:p>
            <a:pPr marL="0" indent="0">
              <a:buNone/>
            </a:pPr>
            <a:r>
              <a:rPr lang="en-US" sz="1400" b="1" dirty="0">
                <a:solidFill>
                  <a:srgbClr val="F4F7FB"/>
                </a:solidFill>
                <a:latin typeface="Calibri" pitchFamily="34" charset="0"/>
                <a:ea typeface="Calibri" pitchFamily="34" charset="-122"/>
                <a:cs typeface="Calibri" pitchFamily="34" charset="-120"/>
              </a:rPr>
              <a:t>Technical owner</a:t>
            </a:r>
            <a:endParaRPr lang="en-US" sz="1400" dirty="0"/>
          </a:p>
        </p:txBody>
      </p:sp>
      <p:sp>
        <p:nvSpPr>
          <p:cNvPr id="14" name="Text 12"/>
          <p:cNvSpPr/>
          <p:nvPr/>
        </p:nvSpPr>
        <p:spPr>
          <a:xfrm>
            <a:off x="914400" y="2395728"/>
            <a:ext cx="4998568" cy="365760"/>
          </a:xfrm>
          <a:prstGeom prst="rect">
            <a:avLst/>
          </a:prstGeom>
          <a:noFill/>
          <a:ln/>
        </p:spPr>
        <p:txBody>
          <a:bodyPr wrap="square" lIns="0" tIns="0" rIns="0" bIns="0" rtlCol="0" anchor="t"/>
          <a:lstStyle/>
          <a:p>
            <a:pPr marL="0" indent="0">
              <a:lnSpc>
                <a:spcPct val="110000"/>
              </a:lnSpc>
              <a:buNone/>
            </a:pPr>
            <a:r>
              <a:rPr lang="en-US" sz="1200" dirty="0">
                <a:solidFill>
                  <a:srgbClr val="91A0B7"/>
                </a:solidFill>
                <a:latin typeface="Calibri" pitchFamily="34" charset="0"/>
                <a:ea typeface="Calibri" pitchFamily="34" charset="-122"/>
                <a:cs typeface="Calibri" pitchFamily="34" charset="-120"/>
              </a:rPr>
              <a:t>Deployment, model choice and system health.</a:t>
            </a:r>
            <a:endParaRPr lang="en-US" sz="1200" dirty="0"/>
          </a:p>
        </p:txBody>
      </p:sp>
      <p:sp>
        <p:nvSpPr>
          <p:cNvPr id="15" name="Shape 13"/>
          <p:cNvSpPr/>
          <p:nvPr/>
        </p:nvSpPr>
        <p:spPr>
          <a:xfrm>
            <a:off x="457200" y="2852928"/>
            <a:ext cx="329184" cy="329184"/>
          </a:xfrm>
          <a:prstGeom prst="ellipse">
            <a:avLst/>
          </a:prstGeom>
          <a:solidFill>
            <a:srgbClr val="121B2D"/>
          </a:solidFill>
          <a:ln w="12700">
            <a:solidFill>
              <a:srgbClr val="B07CFF"/>
            </a:solidFill>
            <a:prstDash val="solid"/>
          </a:ln>
        </p:spPr>
        <p:txBody>
          <a:bodyPr/>
          <a:lstStyle/>
          <a:p>
            <a:endParaRPr lang="he-IL"/>
          </a:p>
        </p:txBody>
      </p:sp>
      <p:sp>
        <p:nvSpPr>
          <p:cNvPr id="16" name="Text 14"/>
          <p:cNvSpPr/>
          <p:nvPr/>
        </p:nvSpPr>
        <p:spPr>
          <a:xfrm>
            <a:off x="457200" y="2852928"/>
            <a:ext cx="329184" cy="329184"/>
          </a:xfrm>
          <a:prstGeom prst="rect">
            <a:avLst/>
          </a:prstGeom>
          <a:noFill/>
          <a:ln/>
        </p:spPr>
        <p:txBody>
          <a:bodyPr wrap="square" lIns="0" tIns="0" rIns="0" bIns="0" rtlCol="0" anchor="ctr"/>
          <a:lstStyle/>
          <a:p>
            <a:pPr marL="0" indent="0" algn="ctr">
              <a:buNone/>
            </a:pPr>
            <a:r>
              <a:rPr lang="en-US" sz="1300" b="1" dirty="0">
                <a:solidFill>
                  <a:srgbClr val="B07C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914400" y="2798064"/>
            <a:ext cx="4998568" cy="256032"/>
          </a:xfrm>
          <a:prstGeom prst="rect">
            <a:avLst/>
          </a:prstGeom>
          <a:noFill/>
          <a:ln/>
        </p:spPr>
        <p:txBody>
          <a:bodyPr wrap="square" lIns="0" tIns="0" rIns="0" bIns="0" rtlCol="0" anchor="ctr"/>
          <a:lstStyle/>
          <a:p>
            <a:pPr marL="0" indent="0">
              <a:buNone/>
            </a:pPr>
            <a:r>
              <a:rPr lang="en-US" sz="1400" b="1" dirty="0">
                <a:solidFill>
                  <a:srgbClr val="F4F7FB"/>
                </a:solidFill>
                <a:latin typeface="Calibri" pitchFamily="34" charset="0"/>
                <a:ea typeface="Calibri" pitchFamily="34" charset="-122"/>
                <a:cs typeface="Calibri" pitchFamily="34" charset="-120"/>
              </a:rPr>
              <a:t>Budget</a:t>
            </a:r>
            <a:endParaRPr lang="en-US" sz="1400" dirty="0"/>
          </a:p>
        </p:txBody>
      </p:sp>
      <p:sp>
        <p:nvSpPr>
          <p:cNvPr id="18" name="Text 16"/>
          <p:cNvSpPr/>
          <p:nvPr/>
        </p:nvSpPr>
        <p:spPr>
          <a:xfrm>
            <a:off x="914400" y="3054096"/>
            <a:ext cx="4998568" cy="365760"/>
          </a:xfrm>
          <a:prstGeom prst="rect">
            <a:avLst/>
          </a:prstGeom>
          <a:noFill/>
          <a:ln/>
        </p:spPr>
        <p:txBody>
          <a:bodyPr wrap="square" lIns="0" tIns="0" rIns="0" bIns="0" rtlCol="0" anchor="t"/>
          <a:lstStyle/>
          <a:p>
            <a:pPr marL="0" indent="0">
              <a:lnSpc>
                <a:spcPct val="110000"/>
              </a:lnSpc>
              <a:buNone/>
            </a:pPr>
            <a:r>
              <a:rPr lang="en-US" sz="1200" dirty="0">
                <a:solidFill>
                  <a:srgbClr val="91A0B7"/>
                </a:solidFill>
                <a:latin typeface="Calibri" pitchFamily="34" charset="0"/>
                <a:ea typeface="Calibri" pitchFamily="34" charset="-122"/>
                <a:cs typeface="Calibri" pitchFamily="34" charset="-120"/>
              </a:rPr>
              <a:t>Maximum financial exposure, set before anything runs.</a:t>
            </a:r>
            <a:endParaRPr lang="en-US" sz="1200" dirty="0"/>
          </a:p>
        </p:txBody>
      </p:sp>
      <p:sp>
        <p:nvSpPr>
          <p:cNvPr id="19" name="Shape 17"/>
          <p:cNvSpPr/>
          <p:nvPr/>
        </p:nvSpPr>
        <p:spPr>
          <a:xfrm>
            <a:off x="457200" y="3511296"/>
            <a:ext cx="329184" cy="329184"/>
          </a:xfrm>
          <a:prstGeom prst="ellipse">
            <a:avLst/>
          </a:prstGeom>
          <a:solidFill>
            <a:srgbClr val="121B2D"/>
          </a:solidFill>
          <a:ln w="12700">
            <a:solidFill>
              <a:srgbClr val="B07CFF"/>
            </a:solidFill>
            <a:prstDash val="solid"/>
          </a:ln>
        </p:spPr>
        <p:txBody>
          <a:bodyPr/>
          <a:lstStyle/>
          <a:p>
            <a:endParaRPr lang="he-IL"/>
          </a:p>
        </p:txBody>
      </p:sp>
      <p:sp>
        <p:nvSpPr>
          <p:cNvPr id="20" name="Text 18"/>
          <p:cNvSpPr/>
          <p:nvPr/>
        </p:nvSpPr>
        <p:spPr>
          <a:xfrm>
            <a:off x="457200" y="3511296"/>
            <a:ext cx="329184" cy="329184"/>
          </a:xfrm>
          <a:prstGeom prst="rect">
            <a:avLst/>
          </a:prstGeom>
          <a:noFill/>
          <a:ln/>
        </p:spPr>
        <p:txBody>
          <a:bodyPr wrap="square" lIns="0" tIns="0" rIns="0" bIns="0" rtlCol="0" anchor="ctr"/>
          <a:lstStyle/>
          <a:p>
            <a:pPr marL="0" indent="0" algn="ctr">
              <a:buNone/>
            </a:pPr>
            <a:r>
              <a:rPr lang="en-US" sz="1300" b="1" dirty="0">
                <a:solidFill>
                  <a:srgbClr val="B07CFF"/>
                </a:solidFill>
                <a:latin typeface="Calibri" pitchFamily="34" charset="0"/>
                <a:ea typeface="Calibri" pitchFamily="34" charset="-122"/>
                <a:cs typeface="Calibri" pitchFamily="34" charset="-120"/>
              </a:rPr>
              <a:t>4</a:t>
            </a:r>
            <a:endParaRPr lang="en-US" sz="1300" dirty="0"/>
          </a:p>
        </p:txBody>
      </p:sp>
      <p:sp>
        <p:nvSpPr>
          <p:cNvPr id="21" name="Text 19"/>
          <p:cNvSpPr/>
          <p:nvPr/>
        </p:nvSpPr>
        <p:spPr>
          <a:xfrm>
            <a:off x="914400" y="3456432"/>
            <a:ext cx="4998568" cy="256032"/>
          </a:xfrm>
          <a:prstGeom prst="rect">
            <a:avLst/>
          </a:prstGeom>
          <a:noFill/>
          <a:ln/>
        </p:spPr>
        <p:txBody>
          <a:bodyPr wrap="square" lIns="0" tIns="0" rIns="0" bIns="0" rtlCol="0" anchor="ctr"/>
          <a:lstStyle/>
          <a:p>
            <a:pPr marL="0" indent="0">
              <a:buNone/>
            </a:pPr>
            <a:r>
              <a:rPr lang="en-US" sz="1400" b="1" dirty="0">
                <a:solidFill>
                  <a:srgbClr val="F4F7FB"/>
                </a:solidFill>
                <a:latin typeface="Calibri" pitchFamily="34" charset="0"/>
                <a:ea typeface="Calibri" pitchFamily="34" charset="-122"/>
                <a:cs typeface="Calibri" pitchFamily="34" charset="-120"/>
              </a:rPr>
              <a:t>Rate limit</a:t>
            </a:r>
            <a:endParaRPr lang="en-US" sz="1400" dirty="0"/>
          </a:p>
        </p:txBody>
      </p:sp>
      <p:sp>
        <p:nvSpPr>
          <p:cNvPr id="22" name="Text 20"/>
          <p:cNvSpPr/>
          <p:nvPr/>
        </p:nvSpPr>
        <p:spPr>
          <a:xfrm>
            <a:off x="914400" y="3712464"/>
            <a:ext cx="4998568" cy="365760"/>
          </a:xfrm>
          <a:prstGeom prst="rect">
            <a:avLst/>
          </a:prstGeom>
          <a:noFill/>
          <a:ln/>
        </p:spPr>
        <p:txBody>
          <a:bodyPr wrap="square" lIns="0" tIns="0" rIns="0" bIns="0" rtlCol="0" anchor="t"/>
          <a:lstStyle/>
          <a:p>
            <a:pPr marL="0" indent="0">
              <a:lnSpc>
                <a:spcPct val="110000"/>
              </a:lnSpc>
              <a:buNone/>
            </a:pPr>
            <a:r>
              <a:rPr lang="en-US" sz="1200" dirty="0">
                <a:solidFill>
                  <a:srgbClr val="91A0B7"/>
                </a:solidFill>
                <a:latin typeface="Calibri" pitchFamily="34" charset="0"/>
                <a:ea typeface="Calibri" pitchFamily="34" charset="-122"/>
                <a:cs typeface="Calibri" pitchFamily="34" charset="-120"/>
              </a:rPr>
              <a:t>Prevents API spam, runaway loops and overload.</a:t>
            </a:r>
            <a:endParaRPr lang="en-US" sz="1200" dirty="0"/>
          </a:p>
        </p:txBody>
      </p:sp>
      <p:sp>
        <p:nvSpPr>
          <p:cNvPr id="23" name="Shape 21"/>
          <p:cNvSpPr/>
          <p:nvPr/>
        </p:nvSpPr>
        <p:spPr>
          <a:xfrm>
            <a:off x="6278728" y="1536192"/>
            <a:ext cx="329184" cy="329184"/>
          </a:xfrm>
          <a:prstGeom prst="ellipse">
            <a:avLst/>
          </a:prstGeom>
          <a:solidFill>
            <a:srgbClr val="121B2D"/>
          </a:solidFill>
          <a:ln w="12700">
            <a:solidFill>
              <a:srgbClr val="B07CFF"/>
            </a:solidFill>
            <a:prstDash val="solid"/>
          </a:ln>
        </p:spPr>
        <p:txBody>
          <a:bodyPr/>
          <a:lstStyle/>
          <a:p>
            <a:endParaRPr lang="he-IL"/>
          </a:p>
        </p:txBody>
      </p:sp>
      <p:sp>
        <p:nvSpPr>
          <p:cNvPr id="24" name="Text 22"/>
          <p:cNvSpPr/>
          <p:nvPr/>
        </p:nvSpPr>
        <p:spPr>
          <a:xfrm>
            <a:off x="6278728" y="1536192"/>
            <a:ext cx="329184" cy="329184"/>
          </a:xfrm>
          <a:prstGeom prst="rect">
            <a:avLst/>
          </a:prstGeom>
          <a:noFill/>
          <a:ln/>
        </p:spPr>
        <p:txBody>
          <a:bodyPr wrap="square" lIns="0" tIns="0" rIns="0" bIns="0" rtlCol="0" anchor="ctr"/>
          <a:lstStyle/>
          <a:p>
            <a:pPr marL="0" indent="0" algn="ctr">
              <a:buNone/>
            </a:pPr>
            <a:r>
              <a:rPr lang="en-US" sz="1300" b="1" dirty="0">
                <a:solidFill>
                  <a:srgbClr val="B07CFF"/>
                </a:solidFill>
                <a:latin typeface="Calibri" pitchFamily="34" charset="0"/>
                <a:ea typeface="Calibri" pitchFamily="34" charset="-122"/>
                <a:cs typeface="Calibri" pitchFamily="34" charset="-120"/>
              </a:rPr>
              <a:t>5</a:t>
            </a:r>
            <a:endParaRPr lang="en-US" sz="1300" dirty="0"/>
          </a:p>
        </p:txBody>
      </p:sp>
      <p:sp>
        <p:nvSpPr>
          <p:cNvPr id="25" name="Text 23"/>
          <p:cNvSpPr/>
          <p:nvPr/>
        </p:nvSpPr>
        <p:spPr>
          <a:xfrm>
            <a:off x="6735928" y="1481328"/>
            <a:ext cx="4998568" cy="256032"/>
          </a:xfrm>
          <a:prstGeom prst="rect">
            <a:avLst/>
          </a:prstGeom>
          <a:noFill/>
          <a:ln/>
        </p:spPr>
        <p:txBody>
          <a:bodyPr wrap="square" lIns="0" tIns="0" rIns="0" bIns="0" rtlCol="0" anchor="ctr"/>
          <a:lstStyle/>
          <a:p>
            <a:pPr marL="0" indent="0">
              <a:buNone/>
            </a:pPr>
            <a:r>
              <a:rPr lang="en-US" sz="1400" b="1" dirty="0">
                <a:solidFill>
                  <a:srgbClr val="F4F7FB"/>
                </a:solidFill>
                <a:latin typeface="Calibri" pitchFamily="34" charset="0"/>
                <a:ea typeface="Calibri" pitchFamily="34" charset="-122"/>
                <a:cs typeface="Calibri" pitchFamily="34" charset="-120"/>
              </a:rPr>
              <a:t>Token quota</a:t>
            </a:r>
            <a:endParaRPr lang="en-US" sz="1400" dirty="0"/>
          </a:p>
        </p:txBody>
      </p:sp>
      <p:sp>
        <p:nvSpPr>
          <p:cNvPr id="26" name="Text 24"/>
          <p:cNvSpPr/>
          <p:nvPr/>
        </p:nvSpPr>
        <p:spPr>
          <a:xfrm>
            <a:off x="6735928" y="1737360"/>
            <a:ext cx="4998568" cy="365760"/>
          </a:xfrm>
          <a:prstGeom prst="rect">
            <a:avLst/>
          </a:prstGeom>
          <a:noFill/>
          <a:ln/>
        </p:spPr>
        <p:txBody>
          <a:bodyPr wrap="square" lIns="0" tIns="0" rIns="0" bIns="0" rtlCol="0" anchor="t"/>
          <a:lstStyle/>
          <a:p>
            <a:pPr marL="0" indent="0">
              <a:lnSpc>
                <a:spcPct val="110000"/>
              </a:lnSpc>
              <a:buNone/>
            </a:pPr>
            <a:r>
              <a:rPr lang="en-US" sz="1200" dirty="0">
                <a:solidFill>
                  <a:srgbClr val="91A0B7"/>
                </a:solidFill>
                <a:latin typeface="Calibri" pitchFamily="34" charset="0"/>
                <a:ea typeface="Calibri" pitchFamily="34" charset="-122"/>
                <a:cs typeface="Calibri" pitchFamily="34" charset="-120"/>
              </a:rPr>
              <a:t>Caps consumption per consumer, independent of budget.</a:t>
            </a:r>
            <a:endParaRPr lang="en-US" sz="1200" dirty="0"/>
          </a:p>
        </p:txBody>
      </p:sp>
      <p:sp>
        <p:nvSpPr>
          <p:cNvPr id="27" name="Shape 25"/>
          <p:cNvSpPr/>
          <p:nvPr/>
        </p:nvSpPr>
        <p:spPr>
          <a:xfrm>
            <a:off x="6278728" y="2194560"/>
            <a:ext cx="329184" cy="329184"/>
          </a:xfrm>
          <a:prstGeom prst="ellipse">
            <a:avLst/>
          </a:prstGeom>
          <a:solidFill>
            <a:srgbClr val="121B2D"/>
          </a:solidFill>
          <a:ln w="12700">
            <a:solidFill>
              <a:srgbClr val="B07CFF"/>
            </a:solidFill>
            <a:prstDash val="solid"/>
          </a:ln>
        </p:spPr>
        <p:txBody>
          <a:bodyPr/>
          <a:lstStyle/>
          <a:p>
            <a:endParaRPr lang="he-IL"/>
          </a:p>
        </p:txBody>
      </p:sp>
      <p:sp>
        <p:nvSpPr>
          <p:cNvPr id="28" name="Text 26"/>
          <p:cNvSpPr/>
          <p:nvPr/>
        </p:nvSpPr>
        <p:spPr>
          <a:xfrm>
            <a:off x="6278728" y="2194560"/>
            <a:ext cx="329184" cy="329184"/>
          </a:xfrm>
          <a:prstGeom prst="rect">
            <a:avLst/>
          </a:prstGeom>
          <a:noFill/>
          <a:ln/>
        </p:spPr>
        <p:txBody>
          <a:bodyPr wrap="square" lIns="0" tIns="0" rIns="0" bIns="0" rtlCol="0" anchor="ctr"/>
          <a:lstStyle/>
          <a:p>
            <a:pPr marL="0" indent="0" algn="ctr">
              <a:buNone/>
            </a:pPr>
            <a:r>
              <a:rPr lang="en-US" sz="1300" b="1" dirty="0">
                <a:solidFill>
                  <a:srgbClr val="B07CFF"/>
                </a:solidFill>
                <a:latin typeface="Calibri" pitchFamily="34" charset="0"/>
                <a:ea typeface="Calibri" pitchFamily="34" charset="-122"/>
                <a:cs typeface="Calibri" pitchFamily="34" charset="-120"/>
              </a:rPr>
              <a:t>6</a:t>
            </a:r>
            <a:endParaRPr lang="en-US" sz="1300" dirty="0"/>
          </a:p>
        </p:txBody>
      </p:sp>
      <p:sp>
        <p:nvSpPr>
          <p:cNvPr id="29" name="Text 27"/>
          <p:cNvSpPr/>
          <p:nvPr/>
        </p:nvSpPr>
        <p:spPr>
          <a:xfrm>
            <a:off x="6735928" y="2139696"/>
            <a:ext cx="4998568" cy="256032"/>
          </a:xfrm>
          <a:prstGeom prst="rect">
            <a:avLst/>
          </a:prstGeom>
          <a:noFill/>
          <a:ln/>
        </p:spPr>
        <p:txBody>
          <a:bodyPr wrap="square" lIns="0" tIns="0" rIns="0" bIns="0" rtlCol="0" anchor="ctr"/>
          <a:lstStyle/>
          <a:p>
            <a:pPr marL="0" indent="0">
              <a:buNone/>
            </a:pPr>
            <a:r>
              <a:rPr lang="en-US" sz="1400" b="1" dirty="0">
                <a:solidFill>
                  <a:srgbClr val="F4F7FB"/>
                </a:solidFill>
                <a:latin typeface="Calibri" pitchFamily="34" charset="0"/>
                <a:ea typeface="Calibri" pitchFamily="34" charset="-122"/>
                <a:cs typeface="Calibri" pitchFamily="34" charset="-120"/>
              </a:rPr>
              <a:t>Cost centre</a:t>
            </a:r>
            <a:endParaRPr lang="en-US" sz="1400" dirty="0"/>
          </a:p>
        </p:txBody>
      </p:sp>
      <p:sp>
        <p:nvSpPr>
          <p:cNvPr id="30" name="Text 28"/>
          <p:cNvSpPr/>
          <p:nvPr/>
        </p:nvSpPr>
        <p:spPr>
          <a:xfrm>
            <a:off x="6735928" y="2395728"/>
            <a:ext cx="4998568" cy="365760"/>
          </a:xfrm>
          <a:prstGeom prst="rect">
            <a:avLst/>
          </a:prstGeom>
          <a:noFill/>
          <a:ln/>
        </p:spPr>
        <p:txBody>
          <a:bodyPr wrap="square" lIns="0" tIns="0" rIns="0" bIns="0" rtlCol="0" anchor="t"/>
          <a:lstStyle/>
          <a:p>
            <a:pPr marL="0" indent="0">
              <a:lnSpc>
                <a:spcPct val="110000"/>
              </a:lnSpc>
              <a:buNone/>
            </a:pPr>
            <a:r>
              <a:rPr lang="en-US" sz="1200" dirty="0">
                <a:solidFill>
                  <a:srgbClr val="91A0B7"/>
                </a:solidFill>
                <a:latin typeface="Calibri" pitchFamily="34" charset="0"/>
                <a:ea typeface="Calibri" pitchFamily="34" charset="-122"/>
                <a:cs typeface="Calibri" pitchFamily="34" charset="-120"/>
              </a:rPr>
              <a:t>Makes chargeback possible at month end.</a:t>
            </a:r>
            <a:endParaRPr lang="en-US" sz="1200" dirty="0"/>
          </a:p>
        </p:txBody>
      </p:sp>
      <p:sp>
        <p:nvSpPr>
          <p:cNvPr id="31" name="Shape 29"/>
          <p:cNvSpPr/>
          <p:nvPr/>
        </p:nvSpPr>
        <p:spPr>
          <a:xfrm>
            <a:off x="6278728" y="2852928"/>
            <a:ext cx="329184" cy="329184"/>
          </a:xfrm>
          <a:prstGeom prst="ellipse">
            <a:avLst/>
          </a:prstGeom>
          <a:solidFill>
            <a:srgbClr val="121B2D"/>
          </a:solidFill>
          <a:ln w="12700">
            <a:solidFill>
              <a:srgbClr val="B07CFF"/>
            </a:solidFill>
            <a:prstDash val="solid"/>
          </a:ln>
        </p:spPr>
        <p:txBody>
          <a:bodyPr/>
          <a:lstStyle/>
          <a:p>
            <a:endParaRPr lang="he-IL"/>
          </a:p>
        </p:txBody>
      </p:sp>
      <p:sp>
        <p:nvSpPr>
          <p:cNvPr id="32" name="Text 30"/>
          <p:cNvSpPr/>
          <p:nvPr/>
        </p:nvSpPr>
        <p:spPr>
          <a:xfrm>
            <a:off x="6278728" y="2852928"/>
            <a:ext cx="329184" cy="329184"/>
          </a:xfrm>
          <a:prstGeom prst="rect">
            <a:avLst/>
          </a:prstGeom>
          <a:noFill/>
          <a:ln/>
        </p:spPr>
        <p:txBody>
          <a:bodyPr wrap="square" lIns="0" tIns="0" rIns="0" bIns="0" rtlCol="0" anchor="ctr"/>
          <a:lstStyle/>
          <a:p>
            <a:pPr marL="0" indent="0" algn="ctr">
              <a:buNone/>
            </a:pPr>
            <a:r>
              <a:rPr lang="en-US" sz="1300" b="1" dirty="0">
                <a:solidFill>
                  <a:srgbClr val="B07CFF"/>
                </a:solidFill>
                <a:latin typeface="Calibri" pitchFamily="34" charset="0"/>
                <a:ea typeface="Calibri" pitchFamily="34" charset="-122"/>
                <a:cs typeface="Calibri" pitchFamily="34" charset="-120"/>
              </a:rPr>
              <a:t>7</a:t>
            </a:r>
            <a:endParaRPr lang="en-US" sz="1300" dirty="0"/>
          </a:p>
        </p:txBody>
      </p:sp>
      <p:sp>
        <p:nvSpPr>
          <p:cNvPr id="33" name="Text 31"/>
          <p:cNvSpPr/>
          <p:nvPr/>
        </p:nvSpPr>
        <p:spPr>
          <a:xfrm>
            <a:off x="6735928" y="2798064"/>
            <a:ext cx="4998568" cy="256032"/>
          </a:xfrm>
          <a:prstGeom prst="rect">
            <a:avLst/>
          </a:prstGeom>
          <a:noFill/>
          <a:ln/>
        </p:spPr>
        <p:txBody>
          <a:bodyPr wrap="square" lIns="0" tIns="0" rIns="0" bIns="0" rtlCol="0" anchor="ctr"/>
          <a:lstStyle/>
          <a:p>
            <a:pPr marL="0" indent="0">
              <a:buNone/>
            </a:pPr>
            <a:r>
              <a:rPr lang="en-US" sz="1400" b="1" dirty="0">
                <a:solidFill>
                  <a:srgbClr val="F4F7FB"/>
                </a:solidFill>
                <a:latin typeface="Calibri" pitchFamily="34" charset="0"/>
                <a:ea typeface="Calibri" pitchFamily="34" charset="-122"/>
                <a:cs typeface="Calibri" pitchFamily="34" charset="-120"/>
              </a:rPr>
              <a:t>Executive approval</a:t>
            </a:r>
            <a:endParaRPr lang="en-US" sz="1400" dirty="0"/>
          </a:p>
        </p:txBody>
      </p:sp>
      <p:sp>
        <p:nvSpPr>
          <p:cNvPr id="34" name="Text 32"/>
          <p:cNvSpPr/>
          <p:nvPr/>
        </p:nvSpPr>
        <p:spPr>
          <a:xfrm>
            <a:off x="6735928" y="3054096"/>
            <a:ext cx="4998568" cy="365760"/>
          </a:xfrm>
          <a:prstGeom prst="rect">
            <a:avLst/>
          </a:prstGeom>
          <a:noFill/>
          <a:ln/>
        </p:spPr>
        <p:txBody>
          <a:bodyPr wrap="square" lIns="0" tIns="0" rIns="0" bIns="0" rtlCol="0" anchor="t"/>
          <a:lstStyle/>
          <a:p>
            <a:pPr marL="0" indent="0">
              <a:lnSpc>
                <a:spcPct val="110000"/>
              </a:lnSpc>
              <a:buNone/>
            </a:pPr>
            <a:r>
              <a:rPr lang="en-US" sz="1200" dirty="0">
                <a:solidFill>
                  <a:srgbClr val="91A0B7"/>
                </a:solidFill>
                <a:latin typeface="Calibri" pitchFamily="34" charset="0"/>
                <a:ea typeface="Calibri" pitchFamily="34" charset="-122"/>
                <a:cs typeface="Calibri" pitchFamily="34" charset="-120"/>
              </a:rPr>
              <a:t>Sign-off before launch, not after the first invoice.</a:t>
            </a:r>
            <a:endParaRPr lang="en-US" sz="1200" dirty="0"/>
          </a:p>
        </p:txBody>
      </p:sp>
      <p:sp>
        <p:nvSpPr>
          <p:cNvPr id="35" name="Shape 33"/>
          <p:cNvSpPr/>
          <p:nvPr/>
        </p:nvSpPr>
        <p:spPr>
          <a:xfrm>
            <a:off x="457200" y="4279392"/>
            <a:ext cx="11277295" cy="914400"/>
          </a:xfrm>
          <a:prstGeom prst="roundRect">
            <a:avLst>
              <a:gd name="adj" fmla="val 6000"/>
            </a:avLst>
          </a:prstGeom>
          <a:solidFill>
            <a:srgbClr val="121B2D"/>
          </a:solidFill>
          <a:ln w="12700">
            <a:solidFill>
              <a:srgbClr val="B07CFF"/>
            </a:solidFill>
            <a:prstDash val="solid"/>
          </a:ln>
        </p:spPr>
        <p:txBody>
          <a:bodyPr/>
          <a:lstStyle/>
          <a:p>
            <a:endParaRPr lang="he-IL"/>
          </a:p>
        </p:txBody>
      </p:sp>
      <p:sp>
        <p:nvSpPr>
          <p:cNvPr id="36" name="Text 34"/>
          <p:cNvSpPr/>
          <p:nvPr/>
        </p:nvSpPr>
        <p:spPr>
          <a:xfrm>
            <a:off x="685800" y="4407408"/>
            <a:ext cx="10820095" cy="292608"/>
          </a:xfrm>
          <a:prstGeom prst="rect">
            <a:avLst/>
          </a:prstGeom>
          <a:noFill/>
          <a:ln/>
        </p:spPr>
        <p:txBody>
          <a:bodyPr wrap="square" lIns="0" tIns="0" rIns="0" bIns="0" rtlCol="0" anchor="ctr"/>
          <a:lstStyle/>
          <a:p>
            <a:pPr marL="0" indent="0">
              <a:buNone/>
            </a:pPr>
            <a:r>
              <a:rPr lang="en-US" sz="1600" b="1" dirty="0">
                <a:solidFill>
                  <a:srgbClr val="F4F7FB"/>
                </a:solidFill>
                <a:latin typeface="Calibri" pitchFamily="34" charset="0"/>
                <a:ea typeface="Calibri" pitchFamily="34" charset="-122"/>
                <a:cs typeface="Calibri" pitchFamily="34" charset="-120"/>
              </a:rPr>
              <a:t>This is what makes shadow AI structurally impossible</a:t>
            </a:r>
            <a:endParaRPr lang="en-US" sz="1600" dirty="0"/>
          </a:p>
        </p:txBody>
      </p:sp>
      <p:sp>
        <p:nvSpPr>
          <p:cNvPr id="37" name="Text 35"/>
          <p:cNvSpPr/>
          <p:nvPr/>
        </p:nvSpPr>
        <p:spPr>
          <a:xfrm>
            <a:off x="685800" y="4700016"/>
            <a:ext cx="10820095" cy="402336"/>
          </a:xfrm>
          <a:prstGeom prst="rect">
            <a:avLst/>
          </a:prstGeom>
          <a:noFill/>
          <a:ln/>
        </p:spPr>
        <p:txBody>
          <a:bodyPr wrap="square" lIns="0" tIns="0" rIns="0" bIns="0" rtlCol="0" anchor="t"/>
          <a:lstStyle/>
          <a:p>
            <a:pPr marL="0" indent="0">
              <a:lnSpc>
                <a:spcPct val="115000"/>
              </a:lnSpc>
              <a:buNone/>
            </a:pPr>
            <a:r>
              <a:rPr lang="en-US" sz="1250" dirty="0">
                <a:solidFill>
                  <a:srgbClr val="91A0B7"/>
                </a:solidFill>
                <a:latin typeface="Calibri" pitchFamily="34" charset="0"/>
                <a:ea typeface="Calibri" pitchFamily="34" charset="-122"/>
                <a:cs typeface="Calibri" pitchFamily="34" charset="-120"/>
              </a:rPr>
              <a:t>Applied at the gateway, these criteria mean an unowned or unfunded workload cannot obtain a key, so it never reaches a provider inside the enterprise network.</a:t>
            </a:r>
            <a:endParaRPr lang="en-US" sz="1250" dirty="0"/>
          </a:p>
        </p:txBody>
      </p:sp>
    </p:spTree>
    <p:extLst>
      <p:ext uri="{BB962C8B-B14F-4D97-AF65-F5344CB8AC3E}">
        <p14:creationId xmlns:p14="http://schemas.microsoft.com/office/powerpoint/2010/main" val="13267445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txBody>
          <a:bodyPr/>
          <a:lstStyle/>
          <a:p>
            <a:endParaRPr lang="he-IL"/>
          </a:p>
        </p:txBody>
      </p:sp>
      <p:sp>
        <p:nvSpPr>
          <p:cNvPr id="3" name="Shape 1"/>
          <p:cNvSpPr/>
          <p:nvPr/>
        </p:nvSpPr>
        <p:spPr>
          <a:xfrm>
            <a:off x="457200" y="306324"/>
            <a:ext cx="109728" cy="109728"/>
          </a:xfrm>
          <a:prstGeom prst="ellipse">
            <a:avLst/>
          </a:prstGeom>
          <a:solidFill>
            <a:srgbClr val="FF9F43"/>
          </a:solidFill>
          <a:ln w="12700">
            <a:solidFill>
              <a:srgbClr val="FF9F43"/>
            </a:solidFill>
            <a:prstDash val="solid"/>
          </a:ln>
        </p:spPr>
        <p:txBody>
          <a:bodyPr/>
          <a:lstStyle/>
          <a:p>
            <a:endParaRPr lang="he-IL"/>
          </a:p>
        </p:txBody>
      </p:sp>
      <p:sp>
        <p:nvSpPr>
          <p:cNvPr id="4" name="Text 2"/>
          <p:cNvSpPr/>
          <p:nvPr/>
        </p:nvSpPr>
        <p:spPr>
          <a:xfrm>
            <a:off x="640080" y="274320"/>
            <a:ext cx="7315200" cy="237744"/>
          </a:xfrm>
          <a:prstGeom prst="rect">
            <a:avLst/>
          </a:prstGeom>
          <a:noFill/>
          <a:ln/>
        </p:spPr>
        <p:txBody>
          <a:bodyPr wrap="square" lIns="0" tIns="0" rIns="0" bIns="0" rtlCol="0" anchor="ctr"/>
          <a:lstStyle/>
          <a:p>
            <a:pPr marL="0" indent="0">
              <a:buNone/>
            </a:pPr>
            <a:r>
              <a:rPr lang="en-US" sz="1300" b="1" kern="0" spc="200" dirty="0">
                <a:solidFill>
                  <a:srgbClr val="FF9F43"/>
                </a:solidFill>
                <a:latin typeface="Calibri" pitchFamily="34" charset="0"/>
                <a:ea typeface="Calibri" pitchFamily="34" charset="-122"/>
                <a:cs typeface="Calibri" pitchFamily="34" charset="-120"/>
              </a:rPr>
              <a:t>LIFECYCLE</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marL="0" indent="0">
              <a:buNone/>
            </a:pPr>
            <a:r>
              <a:rPr lang="en-US" sz="2333" b="1" dirty="0">
                <a:solidFill>
                  <a:srgbClr val="F4F7FB"/>
                </a:solidFill>
                <a:latin typeface="Calibri" pitchFamily="34" charset="0"/>
                <a:ea typeface="Calibri" pitchFamily="34" charset="-122"/>
                <a:cs typeface="Calibri" pitchFamily="34" charset="-120"/>
              </a:rPr>
              <a:t>A gated path from proposal to report</a:t>
            </a:r>
            <a:endParaRPr lang="en-US" sz="2333" dirty="0"/>
          </a:p>
        </p:txBody>
      </p:sp>
      <p:sp>
        <p:nvSpPr>
          <p:cNvPr id="6" name="Text 4"/>
          <p:cNvSpPr/>
          <p:nvPr/>
        </p:nvSpPr>
        <p:spPr>
          <a:xfrm>
            <a:off x="8321040" y="493776"/>
            <a:ext cx="3413455" cy="658368"/>
          </a:xfrm>
          <a:prstGeom prst="rect">
            <a:avLst/>
          </a:prstGeom>
          <a:noFill/>
          <a:ln/>
        </p:spPr>
        <p:txBody>
          <a:bodyPr wrap="square" lIns="0" tIns="0" rIns="0" bIns="0" rtlCol="0" anchor="t"/>
          <a:lstStyle/>
          <a:p>
            <a:pPr marL="0" indent="0" algn="r">
              <a:lnSpc>
                <a:spcPct val="115000"/>
              </a:lnSpc>
              <a:buNone/>
            </a:pPr>
            <a:r>
              <a:rPr lang="en-US" sz="1200" dirty="0">
                <a:solidFill>
                  <a:srgbClr val="91A0B7"/>
                </a:solidFill>
                <a:latin typeface="Calibri" pitchFamily="34" charset="0"/>
                <a:ea typeface="Calibri" pitchFamily="34" charset="-122"/>
                <a:cs typeface="Calibri" pitchFamily="34" charset="-120"/>
              </a:rPr>
              <a:t>Four hard checkpoints sit before deployment. A request that cannot clear them does not reach a provider at all.</a:t>
            </a:r>
            <a:endParaRPr lang="en-US" sz="1200" dirty="0"/>
          </a:p>
        </p:txBody>
      </p:sp>
      <p:sp>
        <p:nvSpPr>
          <p:cNvPr id="7" name="Text 5"/>
          <p:cNvSpPr/>
          <p:nvPr/>
        </p:nvSpPr>
        <p:spPr>
          <a:xfrm>
            <a:off x="457200" y="6355080"/>
            <a:ext cx="11277295" cy="228600"/>
          </a:xfrm>
          <a:prstGeom prst="rect">
            <a:avLst/>
          </a:prstGeom>
          <a:noFill/>
          <a:ln/>
        </p:spPr>
        <p:txBody>
          <a:bodyPr wrap="square" lIns="0" tIns="0" rIns="0" bIns="0" rtlCol="0" anchor="t"/>
          <a:lstStyle/>
          <a:p>
            <a:pPr marL="0" indent="0">
              <a:lnSpc>
                <a:spcPct val="115000"/>
              </a:lnSpc>
              <a:buNone/>
            </a:pPr>
            <a:r>
              <a:rPr lang="en-US" sz="1200" dirty="0">
                <a:solidFill>
                  <a:srgbClr val="536078"/>
                </a:solidFill>
                <a:latin typeface="Calibri" pitchFamily="34" charset="0"/>
                <a:ea typeface="Calibri" pitchFamily="34" charset="-122"/>
                <a:cs typeface="Calibri" pitchFamily="34" charset="-120"/>
              </a:rPr>
              <a:t>Steps 02 to 05 are the gates. Everything after them is observation, not permission.</a:t>
            </a:r>
            <a:endParaRPr lang="en-US" sz="1200" dirty="0"/>
          </a:p>
        </p:txBody>
      </p:sp>
      <p:sp>
        <p:nvSpPr>
          <p:cNvPr id="8" name="Shape 6"/>
          <p:cNvSpPr/>
          <p:nvPr/>
        </p:nvSpPr>
        <p:spPr>
          <a:xfrm>
            <a:off x="457200" y="1508760"/>
            <a:ext cx="2627300" cy="1874520"/>
          </a:xfrm>
          <a:prstGeom prst="roundRect">
            <a:avLst>
              <a:gd name="adj" fmla="val 2927"/>
            </a:avLst>
          </a:prstGeom>
          <a:solidFill>
            <a:srgbClr val="121B2D"/>
          </a:solidFill>
          <a:ln w="12700">
            <a:solidFill>
              <a:srgbClr val="23304A"/>
            </a:solidFill>
            <a:prstDash val="solid"/>
          </a:ln>
        </p:spPr>
        <p:txBody>
          <a:bodyPr/>
          <a:lstStyle/>
          <a:p>
            <a:endParaRPr lang="he-IL"/>
          </a:p>
        </p:txBody>
      </p:sp>
      <p:sp>
        <p:nvSpPr>
          <p:cNvPr id="9" name="Text 7"/>
          <p:cNvSpPr/>
          <p:nvPr/>
        </p:nvSpPr>
        <p:spPr>
          <a:xfrm>
            <a:off x="658368" y="1655064"/>
            <a:ext cx="822960" cy="329184"/>
          </a:xfrm>
          <a:prstGeom prst="rect">
            <a:avLst/>
          </a:prstGeom>
          <a:noFill/>
          <a:ln/>
        </p:spPr>
        <p:txBody>
          <a:bodyPr wrap="square" lIns="0" tIns="0" rIns="0" bIns="0" rtlCol="0" anchor="ctr"/>
          <a:lstStyle/>
          <a:p>
            <a:pPr marL="0" indent="0">
              <a:buNone/>
            </a:pPr>
            <a:r>
              <a:rPr lang="en-US" sz="2100" b="1" dirty="0">
                <a:solidFill>
                  <a:srgbClr val="536078"/>
                </a:solidFill>
                <a:latin typeface="Calibri" pitchFamily="34" charset="0"/>
                <a:ea typeface="Calibri" pitchFamily="34" charset="-122"/>
                <a:cs typeface="Calibri" pitchFamily="34" charset="-120"/>
              </a:rPr>
              <a:t>01</a:t>
            </a:r>
            <a:endParaRPr lang="en-US" sz="2100" dirty="0"/>
          </a:p>
        </p:txBody>
      </p:sp>
      <p:sp>
        <p:nvSpPr>
          <p:cNvPr id="10" name="Text 8"/>
          <p:cNvSpPr/>
          <p:nvPr/>
        </p:nvSpPr>
        <p:spPr>
          <a:xfrm>
            <a:off x="658368" y="2039112"/>
            <a:ext cx="2224964" cy="457200"/>
          </a:xfrm>
          <a:prstGeom prst="rect">
            <a:avLst/>
          </a:prstGeom>
          <a:noFill/>
          <a:ln/>
        </p:spPr>
        <p:txBody>
          <a:bodyPr wrap="square" lIns="0" tIns="0" rIns="0" bIns="0" rtlCol="0" anchor="t"/>
          <a:lstStyle/>
          <a:p>
            <a:pPr marL="0" indent="0">
              <a:buNone/>
            </a:pPr>
            <a:r>
              <a:rPr lang="en-US" sz="1400" b="1" dirty="0">
                <a:solidFill>
                  <a:srgbClr val="F4F7FB"/>
                </a:solidFill>
                <a:latin typeface="Calibri" pitchFamily="34" charset="0"/>
                <a:ea typeface="Calibri" pitchFamily="34" charset="-122"/>
                <a:cs typeface="Calibri" pitchFamily="34" charset="-120"/>
              </a:rPr>
              <a:t>Request</a:t>
            </a:r>
            <a:endParaRPr lang="en-US" sz="1400" dirty="0"/>
          </a:p>
        </p:txBody>
      </p:sp>
      <p:sp>
        <p:nvSpPr>
          <p:cNvPr id="11" name="Text 9"/>
          <p:cNvSpPr/>
          <p:nvPr/>
        </p:nvSpPr>
        <p:spPr>
          <a:xfrm>
            <a:off x="658368" y="2478024"/>
            <a:ext cx="2224964" cy="777240"/>
          </a:xfrm>
          <a:prstGeom prst="rect">
            <a:avLst/>
          </a:prstGeom>
          <a:noFill/>
          <a:ln/>
        </p:spPr>
        <p:txBody>
          <a:bodyPr wrap="square" lIns="0" tIns="0" rIns="0" bIns="0" rtlCol="0" anchor="t"/>
          <a:lstStyle/>
          <a:p>
            <a:pPr marL="0" indent="0">
              <a:lnSpc>
                <a:spcPct val="115000"/>
              </a:lnSpc>
              <a:buNone/>
            </a:pPr>
            <a:r>
              <a:rPr lang="en-US" sz="1200" dirty="0">
                <a:solidFill>
                  <a:srgbClr val="91A0B7"/>
                </a:solidFill>
                <a:latin typeface="Calibri" pitchFamily="34" charset="0"/>
                <a:ea typeface="Calibri" pitchFamily="34" charset="-122"/>
                <a:cs typeface="Calibri" pitchFamily="34" charset="-120"/>
              </a:rPr>
              <a:t>Use case, expected volume and business justification submitted.</a:t>
            </a:r>
            <a:endParaRPr lang="en-US" sz="1200" dirty="0"/>
          </a:p>
        </p:txBody>
      </p:sp>
      <p:sp>
        <p:nvSpPr>
          <p:cNvPr id="12" name="Shape 10"/>
          <p:cNvSpPr/>
          <p:nvPr/>
        </p:nvSpPr>
        <p:spPr>
          <a:xfrm>
            <a:off x="3340532" y="1508760"/>
            <a:ext cx="2627300" cy="1874520"/>
          </a:xfrm>
          <a:prstGeom prst="roundRect">
            <a:avLst>
              <a:gd name="adj" fmla="val 2927"/>
            </a:avLst>
          </a:prstGeom>
          <a:solidFill>
            <a:srgbClr val="121B2D"/>
          </a:solidFill>
          <a:ln w="12700">
            <a:solidFill>
              <a:srgbClr val="23304A"/>
            </a:solidFill>
            <a:prstDash val="solid"/>
          </a:ln>
        </p:spPr>
        <p:txBody>
          <a:bodyPr/>
          <a:lstStyle/>
          <a:p>
            <a:endParaRPr lang="he-IL"/>
          </a:p>
        </p:txBody>
      </p:sp>
      <p:sp>
        <p:nvSpPr>
          <p:cNvPr id="13" name="Text 11"/>
          <p:cNvSpPr/>
          <p:nvPr/>
        </p:nvSpPr>
        <p:spPr>
          <a:xfrm>
            <a:off x="3541700" y="1655064"/>
            <a:ext cx="822960" cy="329184"/>
          </a:xfrm>
          <a:prstGeom prst="rect">
            <a:avLst/>
          </a:prstGeom>
          <a:noFill/>
          <a:ln/>
        </p:spPr>
        <p:txBody>
          <a:bodyPr wrap="square" lIns="0" tIns="0" rIns="0" bIns="0" rtlCol="0" anchor="ctr"/>
          <a:lstStyle/>
          <a:p>
            <a:pPr marL="0" indent="0">
              <a:buNone/>
            </a:pPr>
            <a:r>
              <a:rPr lang="en-US" sz="2100" b="1" dirty="0">
                <a:solidFill>
                  <a:srgbClr val="FF9F43"/>
                </a:solidFill>
                <a:latin typeface="Calibri" pitchFamily="34" charset="0"/>
                <a:ea typeface="Calibri" pitchFamily="34" charset="-122"/>
                <a:cs typeface="Calibri" pitchFamily="34" charset="-120"/>
              </a:rPr>
              <a:t>02</a:t>
            </a:r>
            <a:endParaRPr lang="en-US" sz="2100" dirty="0"/>
          </a:p>
        </p:txBody>
      </p:sp>
      <p:sp>
        <p:nvSpPr>
          <p:cNvPr id="14" name="Shape 12"/>
          <p:cNvSpPr/>
          <p:nvPr/>
        </p:nvSpPr>
        <p:spPr>
          <a:xfrm>
            <a:off x="5126584" y="1691640"/>
            <a:ext cx="640080" cy="237744"/>
          </a:xfrm>
          <a:prstGeom prst="roundRect">
            <a:avLst>
              <a:gd name="adj" fmla="val 50000"/>
            </a:avLst>
          </a:prstGeom>
          <a:solidFill>
            <a:srgbClr val="3D2B0C"/>
          </a:solidFill>
          <a:ln w="9525">
            <a:solidFill>
              <a:srgbClr val="FF9F43"/>
            </a:solidFill>
            <a:prstDash val="solid"/>
          </a:ln>
        </p:spPr>
        <p:txBody>
          <a:bodyPr/>
          <a:lstStyle/>
          <a:p>
            <a:endParaRPr lang="he-IL"/>
          </a:p>
        </p:txBody>
      </p:sp>
      <p:sp>
        <p:nvSpPr>
          <p:cNvPr id="15" name="Text 13"/>
          <p:cNvSpPr/>
          <p:nvPr/>
        </p:nvSpPr>
        <p:spPr>
          <a:xfrm>
            <a:off x="5126584" y="1691640"/>
            <a:ext cx="640080" cy="237744"/>
          </a:xfrm>
          <a:prstGeom prst="rect">
            <a:avLst/>
          </a:prstGeom>
          <a:noFill/>
          <a:ln/>
        </p:spPr>
        <p:txBody>
          <a:bodyPr wrap="square" lIns="0" tIns="0" rIns="0" bIns="0" rtlCol="0" anchor="ctr"/>
          <a:lstStyle/>
          <a:p>
            <a:pPr marL="0" indent="0" algn="ctr">
              <a:buNone/>
            </a:pPr>
            <a:r>
              <a:rPr lang="en-US" sz="1100" b="1" kern="0" spc="80" dirty="0">
                <a:solidFill>
                  <a:srgbClr val="FF9F43"/>
                </a:solidFill>
                <a:latin typeface="Calibri" pitchFamily="34" charset="0"/>
                <a:ea typeface="Calibri" pitchFamily="34" charset="-122"/>
                <a:cs typeface="Calibri" pitchFamily="34" charset="-120"/>
              </a:rPr>
              <a:t>GATE</a:t>
            </a:r>
            <a:endParaRPr lang="en-US" sz="1100" dirty="0"/>
          </a:p>
        </p:txBody>
      </p:sp>
      <p:sp>
        <p:nvSpPr>
          <p:cNvPr id="16" name="Text 14"/>
          <p:cNvSpPr/>
          <p:nvPr/>
        </p:nvSpPr>
        <p:spPr>
          <a:xfrm>
            <a:off x="3541700" y="2039112"/>
            <a:ext cx="2224964" cy="457200"/>
          </a:xfrm>
          <a:prstGeom prst="rect">
            <a:avLst/>
          </a:prstGeom>
          <a:noFill/>
          <a:ln/>
        </p:spPr>
        <p:txBody>
          <a:bodyPr wrap="square" lIns="0" tIns="0" rIns="0" bIns="0" rtlCol="0" anchor="t"/>
          <a:lstStyle/>
          <a:p>
            <a:pPr marL="0" indent="0">
              <a:buNone/>
            </a:pPr>
            <a:r>
              <a:rPr lang="en-US" sz="1400" b="1" dirty="0">
                <a:solidFill>
                  <a:srgbClr val="F4F7FB"/>
                </a:solidFill>
                <a:latin typeface="Calibri" pitchFamily="34" charset="0"/>
                <a:ea typeface="Calibri" pitchFamily="34" charset="-122"/>
                <a:cs typeface="Calibri" pitchFamily="34" charset="-120"/>
              </a:rPr>
              <a:t>Business approval</a:t>
            </a:r>
            <a:endParaRPr lang="en-US" sz="1400" dirty="0"/>
          </a:p>
        </p:txBody>
      </p:sp>
      <p:sp>
        <p:nvSpPr>
          <p:cNvPr id="17" name="Text 15"/>
          <p:cNvSpPr/>
          <p:nvPr/>
        </p:nvSpPr>
        <p:spPr>
          <a:xfrm>
            <a:off x="3541700" y="2478024"/>
            <a:ext cx="2224964" cy="777240"/>
          </a:xfrm>
          <a:prstGeom prst="rect">
            <a:avLst/>
          </a:prstGeom>
          <a:noFill/>
          <a:ln/>
        </p:spPr>
        <p:txBody>
          <a:bodyPr wrap="square" lIns="0" tIns="0" rIns="0" bIns="0" rtlCol="0" anchor="t"/>
          <a:lstStyle/>
          <a:p>
            <a:pPr marL="0" indent="0">
              <a:lnSpc>
                <a:spcPct val="115000"/>
              </a:lnSpc>
              <a:buNone/>
            </a:pPr>
            <a:r>
              <a:rPr lang="en-US" sz="1200" dirty="0">
                <a:solidFill>
                  <a:srgbClr val="91A0B7"/>
                </a:solidFill>
                <a:latin typeface="Calibri" pitchFamily="34" charset="0"/>
                <a:ea typeface="Calibri" pitchFamily="34" charset="-122"/>
                <a:cs typeface="Calibri" pitchFamily="34" charset="-120"/>
              </a:rPr>
              <a:t>Named business owner accepts the outcome and the cost.</a:t>
            </a:r>
            <a:endParaRPr lang="en-US" sz="1200" dirty="0"/>
          </a:p>
        </p:txBody>
      </p:sp>
      <p:sp>
        <p:nvSpPr>
          <p:cNvPr id="18" name="Shape 16"/>
          <p:cNvSpPr/>
          <p:nvPr/>
        </p:nvSpPr>
        <p:spPr>
          <a:xfrm>
            <a:off x="6223864" y="1508760"/>
            <a:ext cx="2627300" cy="1874520"/>
          </a:xfrm>
          <a:prstGeom prst="roundRect">
            <a:avLst>
              <a:gd name="adj" fmla="val 2927"/>
            </a:avLst>
          </a:prstGeom>
          <a:solidFill>
            <a:srgbClr val="121B2D"/>
          </a:solidFill>
          <a:ln w="12700">
            <a:solidFill>
              <a:srgbClr val="23304A"/>
            </a:solidFill>
            <a:prstDash val="solid"/>
          </a:ln>
        </p:spPr>
        <p:txBody>
          <a:bodyPr/>
          <a:lstStyle/>
          <a:p>
            <a:endParaRPr lang="he-IL"/>
          </a:p>
        </p:txBody>
      </p:sp>
      <p:sp>
        <p:nvSpPr>
          <p:cNvPr id="19" name="Text 17"/>
          <p:cNvSpPr/>
          <p:nvPr/>
        </p:nvSpPr>
        <p:spPr>
          <a:xfrm>
            <a:off x="6425032" y="1655064"/>
            <a:ext cx="822960" cy="329184"/>
          </a:xfrm>
          <a:prstGeom prst="rect">
            <a:avLst/>
          </a:prstGeom>
          <a:noFill/>
          <a:ln/>
        </p:spPr>
        <p:txBody>
          <a:bodyPr wrap="square" lIns="0" tIns="0" rIns="0" bIns="0" rtlCol="0" anchor="ctr"/>
          <a:lstStyle/>
          <a:p>
            <a:pPr marL="0" indent="0">
              <a:buNone/>
            </a:pPr>
            <a:r>
              <a:rPr lang="en-US" sz="2100" b="1" dirty="0">
                <a:solidFill>
                  <a:srgbClr val="FF9F43"/>
                </a:solidFill>
                <a:latin typeface="Calibri" pitchFamily="34" charset="0"/>
                <a:ea typeface="Calibri" pitchFamily="34" charset="-122"/>
                <a:cs typeface="Calibri" pitchFamily="34" charset="-120"/>
              </a:rPr>
              <a:t>03</a:t>
            </a:r>
            <a:endParaRPr lang="en-US" sz="2100" dirty="0"/>
          </a:p>
        </p:txBody>
      </p:sp>
      <p:sp>
        <p:nvSpPr>
          <p:cNvPr id="20" name="Shape 18"/>
          <p:cNvSpPr/>
          <p:nvPr/>
        </p:nvSpPr>
        <p:spPr>
          <a:xfrm>
            <a:off x="8009915" y="1691640"/>
            <a:ext cx="640080" cy="237744"/>
          </a:xfrm>
          <a:prstGeom prst="roundRect">
            <a:avLst>
              <a:gd name="adj" fmla="val 50000"/>
            </a:avLst>
          </a:prstGeom>
          <a:solidFill>
            <a:srgbClr val="3D2B0C"/>
          </a:solidFill>
          <a:ln w="9525">
            <a:solidFill>
              <a:srgbClr val="FF9F43"/>
            </a:solidFill>
            <a:prstDash val="solid"/>
          </a:ln>
        </p:spPr>
        <p:txBody>
          <a:bodyPr/>
          <a:lstStyle/>
          <a:p>
            <a:endParaRPr lang="he-IL"/>
          </a:p>
        </p:txBody>
      </p:sp>
      <p:sp>
        <p:nvSpPr>
          <p:cNvPr id="21" name="Text 19"/>
          <p:cNvSpPr/>
          <p:nvPr/>
        </p:nvSpPr>
        <p:spPr>
          <a:xfrm>
            <a:off x="8009915" y="1691640"/>
            <a:ext cx="640080" cy="237744"/>
          </a:xfrm>
          <a:prstGeom prst="rect">
            <a:avLst/>
          </a:prstGeom>
          <a:noFill/>
          <a:ln/>
        </p:spPr>
        <p:txBody>
          <a:bodyPr wrap="square" lIns="0" tIns="0" rIns="0" bIns="0" rtlCol="0" anchor="ctr"/>
          <a:lstStyle/>
          <a:p>
            <a:pPr marL="0" indent="0" algn="ctr">
              <a:buNone/>
            </a:pPr>
            <a:r>
              <a:rPr lang="en-US" sz="1100" b="1" kern="0" spc="80" dirty="0">
                <a:solidFill>
                  <a:srgbClr val="FF9F43"/>
                </a:solidFill>
                <a:latin typeface="Calibri" pitchFamily="34" charset="0"/>
                <a:ea typeface="Calibri" pitchFamily="34" charset="-122"/>
                <a:cs typeface="Calibri" pitchFamily="34" charset="-120"/>
              </a:rPr>
              <a:t>GATE</a:t>
            </a:r>
            <a:endParaRPr lang="en-US" sz="1100" dirty="0"/>
          </a:p>
        </p:txBody>
      </p:sp>
      <p:sp>
        <p:nvSpPr>
          <p:cNvPr id="22" name="Text 20"/>
          <p:cNvSpPr/>
          <p:nvPr/>
        </p:nvSpPr>
        <p:spPr>
          <a:xfrm>
            <a:off x="6425032" y="2039112"/>
            <a:ext cx="2224964" cy="457200"/>
          </a:xfrm>
          <a:prstGeom prst="rect">
            <a:avLst/>
          </a:prstGeom>
          <a:noFill/>
          <a:ln/>
        </p:spPr>
        <p:txBody>
          <a:bodyPr wrap="square" lIns="0" tIns="0" rIns="0" bIns="0" rtlCol="0" anchor="t"/>
          <a:lstStyle/>
          <a:p>
            <a:pPr marL="0" indent="0">
              <a:buNone/>
            </a:pPr>
            <a:r>
              <a:rPr lang="en-US" sz="1400" b="1" dirty="0">
                <a:solidFill>
                  <a:srgbClr val="F4F7FB"/>
                </a:solidFill>
                <a:latin typeface="Calibri" pitchFamily="34" charset="0"/>
                <a:ea typeface="Calibri" pitchFamily="34" charset="-122"/>
                <a:cs typeface="Calibri" pitchFamily="34" charset="-120"/>
              </a:rPr>
              <a:t>Budget allocation</a:t>
            </a:r>
            <a:endParaRPr lang="en-US" sz="1400" dirty="0"/>
          </a:p>
        </p:txBody>
      </p:sp>
      <p:sp>
        <p:nvSpPr>
          <p:cNvPr id="23" name="Text 21"/>
          <p:cNvSpPr/>
          <p:nvPr/>
        </p:nvSpPr>
        <p:spPr>
          <a:xfrm>
            <a:off x="6425032" y="2478024"/>
            <a:ext cx="2224964" cy="777240"/>
          </a:xfrm>
          <a:prstGeom prst="rect">
            <a:avLst/>
          </a:prstGeom>
          <a:noFill/>
          <a:ln/>
        </p:spPr>
        <p:txBody>
          <a:bodyPr wrap="square" lIns="0" tIns="0" rIns="0" bIns="0" rtlCol="0" anchor="t"/>
          <a:lstStyle/>
          <a:p>
            <a:pPr marL="0" indent="0">
              <a:lnSpc>
                <a:spcPct val="115000"/>
              </a:lnSpc>
              <a:buNone/>
            </a:pPr>
            <a:r>
              <a:rPr lang="en-US" sz="1200" dirty="0">
                <a:solidFill>
                  <a:srgbClr val="91A0B7"/>
                </a:solidFill>
                <a:latin typeface="Calibri" pitchFamily="34" charset="0"/>
                <a:ea typeface="Calibri" pitchFamily="34" charset="-122"/>
                <a:cs typeface="Calibri" pitchFamily="34" charset="-120"/>
              </a:rPr>
              <a:t>Monthly envelope assigned against a cost centre.</a:t>
            </a:r>
            <a:endParaRPr lang="en-US" sz="1200" dirty="0"/>
          </a:p>
        </p:txBody>
      </p:sp>
      <p:sp>
        <p:nvSpPr>
          <p:cNvPr id="24" name="Shape 22"/>
          <p:cNvSpPr/>
          <p:nvPr/>
        </p:nvSpPr>
        <p:spPr>
          <a:xfrm>
            <a:off x="9107195" y="1508760"/>
            <a:ext cx="2627300" cy="1874520"/>
          </a:xfrm>
          <a:prstGeom prst="roundRect">
            <a:avLst>
              <a:gd name="adj" fmla="val 2927"/>
            </a:avLst>
          </a:prstGeom>
          <a:solidFill>
            <a:srgbClr val="121B2D"/>
          </a:solidFill>
          <a:ln w="12700">
            <a:solidFill>
              <a:srgbClr val="23304A"/>
            </a:solidFill>
            <a:prstDash val="solid"/>
          </a:ln>
        </p:spPr>
        <p:txBody>
          <a:bodyPr/>
          <a:lstStyle/>
          <a:p>
            <a:endParaRPr lang="he-IL"/>
          </a:p>
        </p:txBody>
      </p:sp>
      <p:sp>
        <p:nvSpPr>
          <p:cNvPr id="25" name="Text 23"/>
          <p:cNvSpPr/>
          <p:nvPr/>
        </p:nvSpPr>
        <p:spPr>
          <a:xfrm>
            <a:off x="9308363" y="1655064"/>
            <a:ext cx="822960" cy="329184"/>
          </a:xfrm>
          <a:prstGeom prst="rect">
            <a:avLst/>
          </a:prstGeom>
          <a:noFill/>
          <a:ln/>
        </p:spPr>
        <p:txBody>
          <a:bodyPr wrap="square" lIns="0" tIns="0" rIns="0" bIns="0" rtlCol="0" anchor="ctr"/>
          <a:lstStyle/>
          <a:p>
            <a:pPr marL="0" indent="0">
              <a:buNone/>
            </a:pPr>
            <a:r>
              <a:rPr lang="en-US" sz="2100" b="1" dirty="0">
                <a:solidFill>
                  <a:srgbClr val="FF9F43"/>
                </a:solidFill>
                <a:latin typeface="Calibri" pitchFamily="34" charset="0"/>
                <a:ea typeface="Calibri" pitchFamily="34" charset="-122"/>
                <a:cs typeface="Calibri" pitchFamily="34" charset="-120"/>
              </a:rPr>
              <a:t>04</a:t>
            </a:r>
            <a:endParaRPr lang="en-US" sz="2100" dirty="0"/>
          </a:p>
        </p:txBody>
      </p:sp>
      <p:sp>
        <p:nvSpPr>
          <p:cNvPr id="26" name="Shape 24"/>
          <p:cNvSpPr/>
          <p:nvPr/>
        </p:nvSpPr>
        <p:spPr>
          <a:xfrm>
            <a:off x="10893247" y="1691640"/>
            <a:ext cx="640080" cy="237744"/>
          </a:xfrm>
          <a:prstGeom prst="roundRect">
            <a:avLst>
              <a:gd name="adj" fmla="val 50000"/>
            </a:avLst>
          </a:prstGeom>
          <a:solidFill>
            <a:srgbClr val="3D2B0C"/>
          </a:solidFill>
          <a:ln w="9525">
            <a:solidFill>
              <a:srgbClr val="FF9F43"/>
            </a:solidFill>
            <a:prstDash val="solid"/>
          </a:ln>
        </p:spPr>
        <p:txBody>
          <a:bodyPr/>
          <a:lstStyle/>
          <a:p>
            <a:endParaRPr lang="he-IL"/>
          </a:p>
        </p:txBody>
      </p:sp>
      <p:sp>
        <p:nvSpPr>
          <p:cNvPr id="27" name="Text 25"/>
          <p:cNvSpPr/>
          <p:nvPr/>
        </p:nvSpPr>
        <p:spPr>
          <a:xfrm>
            <a:off x="10893247" y="1691640"/>
            <a:ext cx="640080" cy="237744"/>
          </a:xfrm>
          <a:prstGeom prst="rect">
            <a:avLst/>
          </a:prstGeom>
          <a:noFill/>
          <a:ln/>
        </p:spPr>
        <p:txBody>
          <a:bodyPr wrap="square" lIns="0" tIns="0" rIns="0" bIns="0" rtlCol="0" anchor="ctr"/>
          <a:lstStyle/>
          <a:p>
            <a:pPr marL="0" indent="0" algn="ctr">
              <a:buNone/>
            </a:pPr>
            <a:r>
              <a:rPr lang="en-US" sz="1100" b="1" kern="0" spc="80" dirty="0">
                <a:solidFill>
                  <a:srgbClr val="FF9F43"/>
                </a:solidFill>
                <a:latin typeface="Calibri" pitchFamily="34" charset="0"/>
                <a:ea typeface="Calibri" pitchFamily="34" charset="-122"/>
                <a:cs typeface="Calibri" pitchFamily="34" charset="-120"/>
              </a:rPr>
              <a:t>GATE</a:t>
            </a:r>
            <a:endParaRPr lang="en-US" sz="1100" dirty="0"/>
          </a:p>
        </p:txBody>
      </p:sp>
      <p:sp>
        <p:nvSpPr>
          <p:cNvPr id="28" name="Text 26"/>
          <p:cNvSpPr/>
          <p:nvPr/>
        </p:nvSpPr>
        <p:spPr>
          <a:xfrm>
            <a:off x="9308363" y="2039112"/>
            <a:ext cx="2224964" cy="457200"/>
          </a:xfrm>
          <a:prstGeom prst="rect">
            <a:avLst/>
          </a:prstGeom>
          <a:noFill/>
          <a:ln/>
        </p:spPr>
        <p:txBody>
          <a:bodyPr wrap="square" lIns="0" tIns="0" rIns="0" bIns="0" rtlCol="0" anchor="t"/>
          <a:lstStyle/>
          <a:p>
            <a:pPr marL="0" indent="0">
              <a:buNone/>
            </a:pPr>
            <a:r>
              <a:rPr lang="en-US" sz="1400" b="1" dirty="0">
                <a:solidFill>
                  <a:srgbClr val="F4F7FB"/>
                </a:solidFill>
                <a:latin typeface="Calibri" pitchFamily="34" charset="0"/>
                <a:ea typeface="Calibri" pitchFamily="34" charset="-122"/>
                <a:cs typeface="Calibri" pitchFamily="34" charset="-120"/>
              </a:rPr>
              <a:t>Quota assignment</a:t>
            </a:r>
            <a:endParaRPr lang="en-US" sz="1400" dirty="0"/>
          </a:p>
        </p:txBody>
      </p:sp>
      <p:sp>
        <p:nvSpPr>
          <p:cNvPr id="29" name="Text 27"/>
          <p:cNvSpPr/>
          <p:nvPr/>
        </p:nvSpPr>
        <p:spPr>
          <a:xfrm>
            <a:off x="9308363" y="2478024"/>
            <a:ext cx="2224964" cy="777240"/>
          </a:xfrm>
          <a:prstGeom prst="rect">
            <a:avLst/>
          </a:prstGeom>
          <a:noFill/>
          <a:ln/>
        </p:spPr>
        <p:txBody>
          <a:bodyPr wrap="square" lIns="0" tIns="0" rIns="0" bIns="0" rtlCol="0" anchor="t"/>
          <a:lstStyle/>
          <a:p>
            <a:pPr marL="0" indent="0">
              <a:lnSpc>
                <a:spcPct val="115000"/>
              </a:lnSpc>
              <a:buNone/>
            </a:pPr>
            <a:r>
              <a:rPr lang="en-US" sz="1200" dirty="0">
                <a:solidFill>
                  <a:srgbClr val="91A0B7"/>
                </a:solidFill>
                <a:latin typeface="Calibri" pitchFamily="34" charset="0"/>
                <a:ea typeface="Calibri" pitchFamily="34" charset="-122"/>
                <a:cs typeface="Calibri" pitchFamily="34" charset="-120"/>
              </a:rPr>
              <a:t>Token quota and rate limit set per consumer.</a:t>
            </a:r>
            <a:endParaRPr lang="en-US" sz="1200" dirty="0"/>
          </a:p>
        </p:txBody>
      </p:sp>
      <p:sp>
        <p:nvSpPr>
          <p:cNvPr id="30" name="Shape 28"/>
          <p:cNvSpPr/>
          <p:nvPr/>
        </p:nvSpPr>
        <p:spPr>
          <a:xfrm>
            <a:off x="457200" y="3639312"/>
            <a:ext cx="2627300" cy="1874520"/>
          </a:xfrm>
          <a:prstGeom prst="roundRect">
            <a:avLst>
              <a:gd name="adj" fmla="val 2927"/>
            </a:avLst>
          </a:prstGeom>
          <a:solidFill>
            <a:srgbClr val="121B2D"/>
          </a:solidFill>
          <a:ln w="12700">
            <a:solidFill>
              <a:srgbClr val="23304A"/>
            </a:solidFill>
            <a:prstDash val="solid"/>
          </a:ln>
        </p:spPr>
        <p:txBody>
          <a:bodyPr/>
          <a:lstStyle/>
          <a:p>
            <a:endParaRPr lang="he-IL"/>
          </a:p>
        </p:txBody>
      </p:sp>
      <p:sp>
        <p:nvSpPr>
          <p:cNvPr id="31" name="Text 29"/>
          <p:cNvSpPr/>
          <p:nvPr/>
        </p:nvSpPr>
        <p:spPr>
          <a:xfrm>
            <a:off x="658368" y="3785616"/>
            <a:ext cx="822960" cy="329184"/>
          </a:xfrm>
          <a:prstGeom prst="rect">
            <a:avLst/>
          </a:prstGeom>
          <a:noFill/>
          <a:ln/>
        </p:spPr>
        <p:txBody>
          <a:bodyPr wrap="square" lIns="0" tIns="0" rIns="0" bIns="0" rtlCol="0" anchor="ctr"/>
          <a:lstStyle/>
          <a:p>
            <a:pPr marL="0" indent="0">
              <a:buNone/>
            </a:pPr>
            <a:r>
              <a:rPr lang="en-US" sz="2100" b="1" dirty="0">
                <a:solidFill>
                  <a:srgbClr val="FF9F43"/>
                </a:solidFill>
                <a:latin typeface="Calibri" pitchFamily="34" charset="0"/>
                <a:ea typeface="Calibri" pitchFamily="34" charset="-122"/>
                <a:cs typeface="Calibri" pitchFamily="34" charset="-120"/>
              </a:rPr>
              <a:t>05</a:t>
            </a:r>
            <a:endParaRPr lang="en-US" sz="2100" dirty="0"/>
          </a:p>
        </p:txBody>
      </p:sp>
      <p:sp>
        <p:nvSpPr>
          <p:cNvPr id="32" name="Shape 30"/>
          <p:cNvSpPr/>
          <p:nvPr/>
        </p:nvSpPr>
        <p:spPr>
          <a:xfrm>
            <a:off x="2243252" y="3822192"/>
            <a:ext cx="640080" cy="237744"/>
          </a:xfrm>
          <a:prstGeom prst="roundRect">
            <a:avLst>
              <a:gd name="adj" fmla="val 50000"/>
            </a:avLst>
          </a:prstGeom>
          <a:solidFill>
            <a:srgbClr val="3D2B0C"/>
          </a:solidFill>
          <a:ln w="9525">
            <a:solidFill>
              <a:srgbClr val="FF9F43"/>
            </a:solidFill>
            <a:prstDash val="solid"/>
          </a:ln>
        </p:spPr>
        <p:txBody>
          <a:bodyPr/>
          <a:lstStyle/>
          <a:p>
            <a:endParaRPr lang="he-IL"/>
          </a:p>
        </p:txBody>
      </p:sp>
      <p:sp>
        <p:nvSpPr>
          <p:cNvPr id="33" name="Text 31"/>
          <p:cNvSpPr/>
          <p:nvPr/>
        </p:nvSpPr>
        <p:spPr>
          <a:xfrm>
            <a:off x="2243252" y="3822192"/>
            <a:ext cx="640080" cy="237744"/>
          </a:xfrm>
          <a:prstGeom prst="rect">
            <a:avLst/>
          </a:prstGeom>
          <a:noFill/>
          <a:ln/>
        </p:spPr>
        <p:txBody>
          <a:bodyPr wrap="square" lIns="0" tIns="0" rIns="0" bIns="0" rtlCol="0" anchor="ctr"/>
          <a:lstStyle/>
          <a:p>
            <a:pPr marL="0" indent="0" algn="ctr">
              <a:buNone/>
            </a:pPr>
            <a:r>
              <a:rPr lang="en-US" sz="1100" b="1" kern="0" spc="80" dirty="0">
                <a:solidFill>
                  <a:srgbClr val="FF9F43"/>
                </a:solidFill>
                <a:latin typeface="Calibri" pitchFamily="34" charset="0"/>
                <a:ea typeface="Calibri" pitchFamily="34" charset="-122"/>
                <a:cs typeface="Calibri" pitchFamily="34" charset="-120"/>
              </a:rPr>
              <a:t>GATE</a:t>
            </a:r>
            <a:endParaRPr lang="en-US" sz="1100" dirty="0"/>
          </a:p>
        </p:txBody>
      </p:sp>
      <p:sp>
        <p:nvSpPr>
          <p:cNvPr id="34" name="Text 32"/>
          <p:cNvSpPr/>
          <p:nvPr/>
        </p:nvSpPr>
        <p:spPr>
          <a:xfrm>
            <a:off x="658368" y="4169664"/>
            <a:ext cx="2224964" cy="457200"/>
          </a:xfrm>
          <a:prstGeom prst="rect">
            <a:avLst/>
          </a:prstGeom>
          <a:noFill/>
          <a:ln/>
        </p:spPr>
        <p:txBody>
          <a:bodyPr wrap="square" lIns="0" tIns="0" rIns="0" bIns="0" rtlCol="0" anchor="t"/>
          <a:lstStyle/>
          <a:p>
            <a:pPr marL="0" indent="0">
              <a:buNone/>
            </a:pPr>
            <a:r>
              <a:rPr lang="en-US" sz="1400" b="1" dirty="0">
                <a:solidFill>
                  <a:srgbClr val="F4F7FB"/>
                </a:solidFill>
                <a:latin typeface="Calibri" pitchFamily="34" charset="0"/>
                <a:ea typeface="Calibri" pitchFamily="34" charset="-122"/>
                <a:cs typeface="Calibri" pitchFamily="34" charset="-120"/>
              </a:rPr>
              <a:t>Gateway policy</a:t>
            </a:r>
            <a:endParaRPr lang="en-US" sz="1400" dirty="0"/>
          </a:p>
        </p:txBody>
      </p:sp>
      <p:sp>
        <p:nvSpPr>
          <p:cNvPr id="35" name="Text 33"/>
          <p:cNvSpPr/>
          <p:nvPr/>
        </p:nvSpPr>
        <p:spPr>
          <a:xfrm>
            <a:off x="658368" y="4608576"/>
            <a:ext cx="2224964" cy="777240"/>
          </a:xfrm>
          <a:prstGeom prst="rect">
            <a:avLst/>
          </a:prstGeom>
          <a:noFill/>
          <a:ln/>
        </p:spPr>
        <p:txBody>
          <a:bodyPr wrap="square" lIns="0" tIns="0" rIns="0" bIns="0" rtlCol="0" anchor="t"/>
          <a:lstStyle/>
          <a:p>
            <a:pPr marL="0" indent="0">
              <a:lnSpc>
                <a:spcPct val="115000"/>
              </a:lnSpc>
              <a:buNone/>
            </a:pPr>
            <a:r>
              <a:rPr lang="en-US" sz="1200" dirty="0">
                <a:solidFill>
                  <a:srgbClr val="91A0B7"/>
                </a:solidFill>
                <a:latin typeface="Calibri" pitchFamily="34" charset="0"/>
                <a:ea typeface="Calibri" pitchFamily="34" charset="-122"/>
                <a:cs typeface="Calibri" pitchFamily="34" charset="-120"/>
              </a:rPr>
              <a:t>Key issued, model tier pinned, policy applied.</a:t>
            </a:r>
            <a:endParaRPr lang="en-US" sz="1200" dirty="0"/>
          </a:p>
        </p:txBody>
      </p:sp>
      <p:sp>
        <p:nvSpPr>
          <p:cNvPr id="36" name="Shape 34"/>
          <p:cNvSpPr/>
          <p:nvPr/>
        </p:nvSpPr>
        <p:spPr>
          <a:xfrm>
            <a:off x="3340532" y="3639312"/>
            <a:ext cx="2627300" cy="1874520"/>
          </a:xfrm>
          <a:prstGeom prst="roundRect">
            <a:avLst>
              <a:gd name="adj" fmla="val 2927"/>
            </a:avLst>
          </a:prstGeom>
          <a:solidFill>
            <a:srgbClr val="121B2D"/>
          </a:solidFill>
          <a:ln w="12700">
            <a:solidFill>
              <a:srgbClr val="23304A"/>
            </a:solidFill>
            <a:prstDash val="solid"/>
          </a:ln>
        </p:spPr>
        <p:txBody>
          <a:bodyPr/>
          <a:lstStyle/>
          <a:p>
            <a:endParaRPr lang="he-IL"/>
          </a:p>
        </p:txBody>
      </p:sp>
      <p:sp>
        <p:nvSpPr>
          <p:cNvPr id="37" name="Text 35"/>
          <p:cNvSpPr/>
          <p:nvPr/>
        </p:nvSpPr>
        <p:spPr>
          <a:xfrm>
            <a:off x="3541700" y="3785616"/>
            <a:ext cx="822960" cy="329184"/>
          </a:xfrm>
          <a:prstGeom prst="rect">
            <a:avLst/>
          </a:prstGeom>
          <a:noFill/>
          <a:ln/>
        </p:spPr>
        <p:txBody>
          <a:bodyPr wrap="square" lIns="0" tIns="0" rIns="0" bIns="0" rtlCol="0" anchor="ctr"/>
          <a:lstStyle/>
          <a:p>
            <a:pPr marL="0" indent="0">
              <a:buNone/>
            </a:pPr>
            <a:r>
              <a:rPr lang="en-US" sz="2100" b="1" dirty="0">
                <a:solidFill>
                  <a:srgbClr val="536078"/>
                </a:solidFill>
                <a:latin typeface="Calibri" pitchFamily="34" charset="0"/>
                <a:ea typeface="Calibri" pitchFamily="34" charset="-122"/>
                <a:cs typeface="Calibri" pitchFamily="34" charset="-120"/>
              </a:rPr>
              <a:t>06</a:t>
            </a:r>
            <a:endParaRPr lang="en-US" sz="2100" dirty="0"/>
          </a:p>
        </p:txBody>
      </p:sp>
      <p:sp>
        <p:nvSpPr>
          <p:cNvPr id="38" name="Text 36"/>
          <p:cNvSpPr/>
          <p:nvPr/>
        </p:nvSpPr>
        <p:spPr>
          <a:xfrm>
            <a:off x="3541700" y="4169664"/>
            <a:ext cx="2224964" cy="457200"/>
          </a:xfrm>
          <a:prstGeom prst="rect">
            <a:avLst/>
          </a:prstGeom>
          <a:noFill/>
          <a:ln/>
        </p:spPr>
        <p:txBody>
          <a:bodyPr wrap="square" lIns="0" tIns="0" rIns="0" bIns="0" rtlCol="0" anchor="t"/>
          <a:lstStyle/>
          <a:p>
            <a:pPr marL="0" indent="0">
              <a:buNone/>
            </a:pPr>
            <a:r>
              <a:rPr lang="en-US" sz="1400" b="1" dirty="0">
                <a:solidFill>
                  <a:srgbClr val="F4F7FB"/>
                </a:solidFill>
                <a:latin typeface="Calibri" pitchFamily="34" charset="0"/>
                <a:ea typeface="Calibri" pitchFamily="34" charset="-122"/>
                <a:cs typeface="Calibri" pitchFamily="34" charset="-120"/>
              </a:rPr>
              <a:t>Deployment</a:t>
            </a:r>
            <a:endParaRPr lang="en-US" sz="1400" dirty="0"/>
          </a:p>
        </p:txBody>
      </p:sp>
      <p:sp>
        <p:nvSpPr>
          <p:cNvPr id="39" name="Text 37"/>
          <p:cNvSpPr/>
          <p:nvPr/>
        </p:nvSpPr>
        <p:spPr>
          <a:xfrm>
            <a:off x="3541700" y="4608576"/>
            <a:ext cx="2224964" cy="777240"/>
          </a:xfrm>
          <a:prstGeom prst="rect">
            <a:avLst/>
          </a:prstGeom>
          <a:noFill/>
          <a:ln/>
        </p:spPr>
        <p:txBody>
          <a:bodyPr wrap="square" lIns="0" tIns="0" rIns="0" bIns="0" rtlCol="0" anchor="t"/>
          <a:lstStyle/>
          <a:p>
            <a:pPr marL="0" indent="0">
              <a:lnSpc>
                <a:spcPct val="115000"/>
              </a:lnSpc>
              <a:buNone/>
            </a:pPr>
            <a:r>
              <a:rPr lang="en-US" sz="1200" dirty="0">
                <a:solidFill>
                  <a:srgbClr val="91A0B7"/>
                </a:solidFill>
                <a:latin typeface="Calibri" pitchFamily="34" charset="0"/>
                <a:ea typeface="Calibri" pitchFamily="34" charset="-122"/>
                <a:cs typeface="Calibri" pitchFamily="34" charset="-120"/>
              </a:rPr>
              <a:t>Workload goes live through the gateway, never around it.</a:t>
            </a:r>
            <a:endParaRPr lang="en-US" sz="1200" dirty="0"/>
          </a:p>
        </p:txBody>
      </p:sp>
      <p:sp>
        <p:nvSpPr>
          <p:cNvPr id="40" name="Shape 38"/>
          <p:cNvSpPr/>
          <p:nvPr/>
        </p:nvSpPr>
        <p:spPr>
          <a:xfrm>
            <a:off x="6223864" y="3639312"/>
            <a:ext cx="2627300" cy="1874520"/>
          </a:xfrm>
          <a:prstGeom prst="roundRect">
            <a:avLst>
              <a:gd name="adj" fmla="val 2927"/>
            </a:avLst>
          </a:prstGeom>
          <a:solidFill>
            <a:srgbClr val="121B2D"/>
          </a:solidFill>
          <a:ln w="12700">
            <a:solidFill>
              <a:srgbClr val="23304A"/>
            </a:solidFill>
            <a:prstDash val="solid"/>
          </a:ln>
        </p:spPr>
        <p:txBody>
          <a:bodyPr/>
          <a:lstStyle/>
          <a:p>
            <a:endParaRPr lang="he-IL"/>
          </a:p>
        </p:txBody>
      </p:sp>
      <p:sp>
        <p:nvSpPr>
          <p:cNvPr id="41" name="Text 39"/>
          <p:cNvSpPr/>
          <p:nvPr/>
        </p:nvSpPr>
        <p:spPr>
          <a:xfrm>
            <a:off x="6425032" y="3785616"/>
            <a:ext cx="822960" cy="329184"/>
          </a:xfrm>
          <a:prstGeom prst="rect">
            <a:avLst/>
          </a:prstGeom>
          <a:noFill/>
          <a:ln/>
        </p:spPr>
        <p:txBody>
          <a:bodyPr wrap="square" lIns="0" tIns="0" rIns="0" bIns="0" rtlCol="0" anchor="ctr"/>
          <a:lstStyle/>
          <a:p>
            <a:pPr marL="0" indent="0">
              <a:buNone/>
            </a:pPr>
            <a:r>
              <a:rPr lang="en-US" sz="2100" b="1" dirty="0">
                <a:solidFill>
                  <a:srgbClr val="536078"/>
                </a:solidFill>
                <a:latin typeface="Calibri" pitchFamily="34" charset="0"/>
                <a:ea typeface="Calibri" pitchFamily="34" charset="-122"/>
                <a:cs typeface="Calibri" pitchFamily="34" charset="-120"/>
              </a:rPr>
              <a:t>07</a:t>
            </a:r>
            <a:endParaRPr lang="en-US" sz="2100" dirty="0"/>
          </a:p>
        </p:txBody>
      </p:sp>
      <p:sp>
        <p:nvSpPr>
          <p:cNvPr id="42" name="Text 40"/>
          <p:cNvSpPr/>
          <p:nvPr/>
        </p:nvSpPr>
        <p:spPr>
          <a:xfrm>
            <a:off x="6425032" y="4169664"/>
            <a:ext cx="2224964" cy="457200"/>
          </a:xfrm>
          <a:prstGeom prst="rect">
            <a:avLst/>
          </a:prstGeom>
          <a:noFill/>
          <a:ln/>
        </p:spPr>
        <p:txBody>
          <a:bodyPr wrap="square" lIns="0" tIns="0" rIns="0" bIns="0" rtlCol="0" anchor="t"/>
          <a:lstStyle/>
          <a:p>
            <a:pPr marL="0" indent="0">
              <a:buNone/>
            </a:pPr>
            <a:r>
              <a:rPr lang="en-US" sz="1400" b="1" dirty="0">
                <a:solidFill>
                  <a:srgbClr val="F4F7FB"/>
                </a:solidFill>
                <a:latin typeface="Calibri" pitchFamily="34" charset="0"/>
                <a:ea typeface="Calibri" pitchFamily="34" charset="-122"/>
                <a:cs typeface="Calibri" pitchFamily="34" charset="-120"/>
              </a:rPr>
              <a:t>Monitoring</a:t>
            </a:r>
            <a:endParaRPr lang="en-US" sz="1400" dirty="0"/>
          </a:p>
        </p:txBody>
      </p:sp>
      <p:sp>
        <p:nvSpPr>
          <p:cNvPr id="43" name="Text 41"/>
          <p:cNvSpPr/>
          <p:nvPr/>
        </p:nvSpPr>
        <p:spPr>
          <a:xfrm>
            <a:off x="6425032" y="4608576"/>
            <a:ext cx="2224964" cy="777240"/>
          </a:xfrm>
          <a:prstGeom prst="rect">
            <a:avLst/>
          </a:prstGeom>
          <a:noFill/>
          <a:ln/>
        </p:spPr>
        <p:txBody>
          <a:bodyPr wrap="square" lIns="0" tIns="0" rIns="0" bIns="0" rtlCol="0" anchor="t"/>
          <a:lstStyle/>
          <a:p>
            <a:pPr marL="0" indent="0">
              <a:lnSpc>
                <a:spcPct val="115000"/>
              </a:lnSpc>
              <a:buNone/>
            </a:pPr>
            <a:r>
              <a:rPr lang="en-US" sz="1200" dirty="0">
                <a:solidFill>
                  <a:srgbClr val="91A0B7"/>
                </a:solidFill>
                <a:latin typeface="Calibri" pitchFamily="34" charset="0"/>
                <a:ea typeface="Calibri" pitchFamily="34" charset="-122"/>
                <a:cs typeface="Calibri" pitchFamily="34" charset="-120"/>
              </a:rPr>
              <a:t>Usage, anomalies and unit cost tracked continuously.</a:t>
            </a:r>
            <a:endParaRPr lang="en-US" sz="1200" dirty="0"/>
          </a:p>
        </p:txBody>
      </p:sp>
      <p:sp>
        <p:nvSpPr>
          <p:cNvPr id="44" name="Shape 42"/>
          <p:cNvSpPr/>
          <p:nvPr/>
        </p:nvSpPr>
        <p:spPr>
          <a:xfrm>
            <a:off x="9107195" y="3639312"/>
            <a:ext cx="2627300" cy="1874520"/>
          </a:xfrm>
          <a:prstGeom prst="roundRect">
            <a:avLst>
              <a:gd name="adj" fmla="val 2927"/>
            </a:avLst>
          </a:prstGeom>
          <a:solidFill>
            <a:srgbClr val="121B2D"/>
          </a:solidFill>
          <a:ln w="12700">
            <a:solidFill>
              <a:srgbClr val="23304A"/>
            </a:solidFill>
            <a:prstDash val="solid"/>
          </a:ln>
        </p:spPr>
        <p:txBody>
          <a:bodyPr/>
          <a:lstStyle/>
          <a:p>
            <a:endParaRPr lang="he-IL"/>
          </a:p>
        </p:txBody>
      </p:sp>
      <p:sp>
        <p:nvSpPr>
          <p:cNvPr id="45" name="Text 43"/>
          <p:cNvSpPr/>
          <p:nvPr/>
        </p:nvSpPr>
        <p:spPr>
          <a:xfrm>
            <a:off x="9308363" y="3785616"/>
            <a:ext cx="822960" cy="329184"/>
          </a:xfrm>
          <a:prstGeom prst="rect">
            <a:avLst/>
          </a:prstGeom>
          <a:noFill/>
          <a:ln/>
        </p:spPr>
        <p:txBody>
          <a:bodyPr wrap="square" lIns="0" tIns="0" rIns="0" bIns="0" rtlCol="0" anchor="ctr"/>
          <a:lstStyle/>
          <a:p>
            <a:pPr marL="0" indent="0">
              <a:buNone/>
            </a:pPr>
            <a:r>
              <a:rPr lang="en-US" sz="2100" b="1" dirty="0">
                <a:solidFill>
                  <a:srgbClr val="536078"/>
                </a:solidFill>
                <a:latin typeface="Calibri" pitchFamily="34" charset="0"/>
                <a:ea typeface="Calibri" pitchFamily="34" charset="-122"/>
                <a:cs typeface="Calibri" pitchFamily="34" charset="-120"/>
              </a:rPr>
              <a:t>08</a:t>
            </a:r>
            <a:endParaRPr lang="en-US" sz="2100" dirty="0"/>
          </a:p>
        </p:txBody>
      </p:sp>
      <p:sp>
        <p:nvSpPr>
          <p:cNvPr id="46" name="Text 44"/>
          <p:cNvSpPr/>
          <p:nvPr/>
        </p:nvSpPr>
        <p:spPr>
          <a:xfrm>
            <a:off x="9308363" y="4169664"/>
            <a:ext cx="2224964" cy="457200"/>
          </a:xfrm>
          <a:prstGeom prst="rect">
            <a:avLst/>
          </a:prstGeom>
          <a:noFill/>
          <a:ln/>
        </p:spPr>
        <p:txBody>
          <a:bodyPr wrap="square" lIns="0" tIns="0" rIns="0" bIns="0" rtlCol="0" anchor="t"/>
          <a:lstStyle/>
          <a:p>
            <a:pPr marL="0" indent="0">
              <a:buNone/>
            </a:pPr>
            <a:r>
              <a:rPr lang="en-US" sz="1400" b="1" dirty="0">
                <a:solidFill>
                  <a:srgbClr val="F4F7FB"/>
                </a:solidFill>
                <a:latin typeface="Calibri" pitchFamily="34" charset="0"/>
                <a:ea typeface="Calibri" pitchFamily="34" charset="-122"/>
                <a:cs typeface="Calibri" pitchFamily="34" charset="-120"/>
              </a:rPr>
              <a:t>Executive report</a:t>
            </a:r>
            <a:endParaRPr lang="en-US" sz="1400" dirty="0"/>
          </a:p>
        </p:txBody>
      </p:sp>
      <p:sp>
        <p:nvSpPr>
          <p:cNvPr id="47" name="Text 45"/>
          <p:cNvSpPr/>
          <p:nvPr/>
        </p:nvSpPr>
        <p:spPr>
          <a:xfrm>
            <a:off x="9308363" y="4608576"/>
            <a:ext cx="2224964" cy="777240"/>
          </a:xfrm>
          <a:prstGeom prst="rect">
            <a:avLst/>
          </a:prstGeom>
          <a:noFill/>
          <a:ln/>
        </p:spPr>
        <p:txBody>
          <a:bodyPr wrap="square" lIns="0" tIns="0" rIns="0" bIns="0" rtlCol="0" anchor="t"/>
          <a:lstStyle/>
          <a:p>
            <a:pPr marL="0" indent="0">
              <a:lnSpc>
                <a:spcPct val="115000"/>
              </a:lnSpc>
              <a:buNone/>
            </a:pPr>
            <a:r>
              <a:rPr lang="en-US" sz="1200" dirty="0">
                <a:solidFill>
                  <a:srgbClr val="91A0B7"/>
                </a:solidFill>
                <a:latin typeface="Calibri" pitchFamily="34" charset="0"/>
                <a:ea typeface="Calibri" pitchFamily="34" charset="-122"/>
                <a:cs typeface="Calibri" pitchFamily="34" charset="-120"/>
              </a:rPr>
              <a:t>Consumption, variance and value reported monthly.</a:t>
            </a:r>
            <a:endParaRPr lang="en-US" sz="1200" dirty="0"/>
          </a:p>
        </p:txBody>
      </p:sp>
    </p:spTree>
    <p:extLst>
      <p:ext uri="{BB962C8B-B14F-4D97-AF65-F5344CB8AC3E}">
        <p14:creationId xmlns:p14="http://schemas.microsoft.com/office/powerpoint/2010/main" val="41202243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txBody>
          <a:bodyPr/>
          <a:lstStyle/>
          <a:p>
            <a:endParaRPr lang="he-IL"/>
          </a:p>
        </p:txBody>
      </p:sp>
      <p:sp>
        <p:nvSpPr>
          <p:cNvPr id="3" name="Shape 1"/>
          <p:cNvSpPr/>
          <p:nvPr/>
        </p:nvSpPr>
        <p:spPr>
          <a:xfrm>
            <a:off x="457200" y="306324"/>
            <a:ext cx="109728" cy="109728"/>
          </a:xfrm>
          <a:prstGeom prst="ellipse">
            <a:avLst/>
          </a:prstGeom>
          <a:solidFill>
            <a:srgbClr val="B07CFF"/>
          </a:solidFill>
          <a:ln w="12700">
            <a:solidFill>
              <a:srgbClr val="B07CFF"/>
            </a:solidFill>
            <a:prstDash val="solid"/>
          </a:ln>
        </p:spPr>
        <p:txBody>
          <a:bodyPr/>
          <a:lstStyle/>
          <a:p>
            <a:endParaRPr lang="he-IL"/>
          </a:p>
        </p:txBody>
      </p:sp>
      <p:sp>
        <p:nvSpPr>
          <p:cNvPr id="4" name="Text 2"/>
          <p:cNvSpPr/>
          <p:nvPr/>
        </p:nvSpPr>
        <p:spPr>
          <a:xfrm>
            <a:off x="640080" y="274320"/>
            <a:ext cx="7315200" cy="237744"/>
          </a:xfrm>
          <a:prstGeom prst="rect">
            <a:avLst/>
          </a:prstGeom>
          <a:noFill/>
          <a:ln/>
        </p:spPr>
        <p:txBody>
          <a:bodyPr wrap="square" lIns="0" tIns="0" rIns="0" bIns="0" rtlCol="0" anchor="ctr"/>
          <a:lstStyle/>
          <a:p>
            <a:pPr marL="0" indent="0">
              <a:buNone/>
            </a:pPr>
            <a:r>
              <a:rPr lang="en-US" sz="1300" b="1" kern="0" spc="200" dirty="0">
                <a:solidFill>
                  <a:srgbClr val="B07CFF"/>
                </a:solidFill>
                <a:latin typeface="Calibri" pitchFamily="34" charset="0"/>
                <a:ea typeface="Calibri" pitchFamily="34" charset="-122"/>
                <a:cs typeface="Calibri" pitchFamily="34" charset="-120"/>
              </a:rPr>
              <a:t>MODEL POLICY</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marL="0" indent="0">
              <a:buNone/>
            </a:pPr>
            <a:r>
              <a:rPr lang="en-US" sz="2333" b="1" dirty="0">
                <a:solidFill>
                  <a:srgbClr val="F4F7FB"/>
                </a:solidFill>
                <a:latin typeface="Calibri" pitchFamily="34" charset="0"/>
                <a:ea typeface="Calibri" pitchFamily="34" charset="-122"/>
                <a:cs typeface="Calibri" pitchFamily="34" charset="-120"/>
              </a:rPr>
              <a:t>Sonnet by default, Opus by exception</a:t>
            </a:r>
            <a:endParaRPr lang="en-US" sz="2333" dirty="0"/>
          </a:p>
        </p:txBody>
      </p:sp>
      <p:sp>
        <p:nvSpPr>
          <p:cNvPr id="6" name="Text 4"/>
          <p:cNvSpPr/>
          <p:nvPr/>
        </p:nvSpPr>
        <p:spPr>
          <a:xfrm>
            <a:off x="8321040" y="493776"/>
            <a:ext cx="3413455" cy="658368"/>
          </a:xfrm>
          <a:prstGeom prst="rect">
            <a:avLst/>
          </a:prstGeom>
          <a:noFill/>
          <a:ln/>
        </p:spPr>
        <p:txBody>
          <a:bodyPr wrap="square" lIns="0" tIns="0" rIns="0" bIns="0" rtlCol="0" anchor="t"/>
          <a:lstStyle/>
          <a:p>
            <a:pPr marL="0" indent="0" algn="r">
              <a:lnSpc>
                <a:spcPct val="115000"/>
              </a:lnSpc>
              <a:buNone/>
            </a:pPr>
            <a:r>
              <a:rPr lang="en-US" sz="1200" dirty="0">
                <a:solidFill>
                  <a:srgbClr val="91A0B7"/>
                </a:solidFill>
                <a:latin typeface="Calibri" pitchFamily="34" charset="0"/>
                <a:ea typeface="Calibri" pitchFamily="34" charset="-122"/>
                <a:cs typeface="Calibri" pitchFamily="34" charset="-120"/>
              </a:rPr>
              <a:t>GitHub Copilot model selection is the one AI lever that needs no new platform, only a policy.</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marL="0" indent="0">
              <a:lnSpc>
                <a:spcPct val="115000"/>
              </a:lnSpc>
              <a:buNone/>
            </a:pPr>
            <a:r>
              <a:rPr lang="en-US" sz="1200" dirty="0">
                <a:solidFill>
                  <a:srgbClr val="536078"/>
                </a:solidFill>
                <a:latin typeface="Calibri" pitchFamily="34" charset="0"/>
                <a:ea typeface="Calibri" pitchFamily="34" charset="-122"/>
                <a:cs typeface="Calibri" pitchFamily="34" charset="-120"/>
              </a:rPr>
              <a:t>The same policy applies to Bedrock: 82% of AWS AI spend is Opus-class, and the model mix changes month to month: Opus 4.8 ran and stopped, Opus 5 appeared in July. That is a policy gap, not a usage pattern.</a:t>
            </a:r>
            <a:endParaRPr lang="en-US" sz="1200" dirty="0"/>
          </a:p>
        </p:txBody>
      </p:sp>
      <p:sp>
        <p:nvSpPr>
          <p:cNvPr id="8" name="Text 6"/>
          <p:cNvSpPr/>
          <p:nvPr/>
        </p:nvSpPr>
        <p:spPr>
          <a:xfrm>
            <a:off x="457200" y="1234440"/>
            <a:ext cx="7680960" cy="237744"/>
          </a:xfrm>
          <a:prstGeom prst="rect">
            <a:avLst/>
          </a:prstGeom>
          <a:noFill/>
          <a:ln/>
        </p:spPr>
        <p:txBody>
          <a:bodyPr wrap="square" lIns="0" tIns="0" rIns="0" bIns="0" rtlCol="0" anchor="ctr"/>
          <a:lstStyle/>
          <a:p>
            <a:pPr marL="0" indent="0">
              <a:buNone/>
            </a:pPr>
            <a:r>
              <a:rPr lang="en-US" sz="1500" b="1" dirty="0">
                <a:solidFill>
                  <a:srgbClr val="F4F7FB"/>
                </a:solidFill>
                <a:latin typeface="Calibri" pitchFamily="34" charset="0"/>
                <a:ea typeface="Calibri" pitchFamily="34" charset="-122"/>
                <a:cs typeface="Calibri" pitchFamily="34" charset="-120"/>
              </a:rPr>
              <a:t>Model pricing and intended use</a:t>
            </a:r>
            <a:endParaRPr lang="en-US" sz="1500" dirty="0"/>
          </a:p>
        </p:txBody>
      </p:sp>
      <p:sp>
        <p:nvSpPr>
          <p:cNvPr id="9" name="Text 7"/>
          <p:cNvSpPr/>
          <p:nvPr/>
        </p:nvSpPr>
        <p:spPr>
          <a:xfrm>
            <a:off x="457200" y="1508760"/>
            <a:ext cx="7680960" cy="219456"/>
          </a:xfrm>
          <a:prstGeom prst="rect">
            <a:avLst/>
          </a:prstGeom>
          <a:noFill/>
          <a:ln/>
        </p:spPr>
        <p:txBody>
          <a:bodyPr wrap="square" lIns="0" tIns="0" rIns="0" bIns="0" rtlCol="0" anchor="ctr"/>
          <a:lstStyle/>
          <a:p>
            <a:pPr marL="0" indent="0">
              <a:buNone/>
            </a:pPr>
            <a:r>
              <a:rPr lang="en-US" sz="1200" dirty="0">
                <a:solidFill>
                  <a:srgbClr val="91A0B7"/>
                </a:solidFill>
                <a:latin typeface="Calibri" pitchFamily="34" charset="0"/>
                <a:ea typeface="Calibri" pitchFamily="34" charset="-122"/>
                <a:cs typeface="Calibri" pitchFamily="34" charset="-120"/>
              </a:rPr>
              <a:t>Promotional pricing, valid through 31 August 2026</a:t>
            </a:r>
            <a:endParaRPr lang="en-US" sz="1200" dirty="0"/>
          </a:p>
        </p:txBody>
      </p:sp>
      <p:graphicFrame>
        <p:nvGraphicFramePr>
          <p:cNvPr id="26" name="Table 0"/>
          <p:cNvGraphicFramePr>
            <a:graphicFrameLocks noGrp="1"/>
          </p:cNvGraphicFramePr>
          <p:nvPr/>
        </p:nvGraphicFramePr>
        <p:xfrm>
          <a:off x="457200" y="1764792"/>
          <a:ext cx="7680960" cy="1586992"/>
        </p:xfrm>
        <a:graphic>
          <a:graphicData uri="http://schemas.openxmlformats.org/drawingml/2006/table">
            <a:tbl>
              <a:tblPr/>
              <a:tblGrid>
                <a:gridCol w="192024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2377440">
                  <a:extLst>
                    <a:ext uri="{9D8B030D-6E8A-4147-A177-3AD203B41FA5}">
                      <a16:colId xmlns:a16="http://schemas.microsoft.com/office/drawing/2014/main" val="20004"/>
                    </a:ext>
                  </a:extLst>
                </a:gridCol>
              </a:tblGrid>
              <a:tr h="292608">
                <a:tc>
                  <a:txBody>
                    <a:bodyPr/>
                    <a:lstStyle/>
                    <a:p>
                      <a:pPr marL="0" indent="0" algn="l">
                        <a:buNone/>
                      </a:pPr>
                      <a:r>
                        <a:rPr lang="en-US" sz="1200" b="1" kern="0" spc="80" dirty="0">
                          <a:solidFill>
                            <a:srgbClr val="91A0B7"/>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b="1" kern="0" spc="80" dirty="0">
                          <a:solidFill>
                            <a:srgbClr val="91A0B7"/>
                          </a:solidFill>
                          <a:latin typeface="Calibri" pitchFamily="34" charset="0"/>
                          <a:ea typeface="Calibri" pitchFamily="34" charset="-122"/>
                          <a:cs typeface="Calibri" pitchFamily="34" charset="-120"/>
                        </a:rPr>
                        <a:t>Input / 1M</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b="1" kern="0" spc="80" dirty="0">
                          <a:solidFill>
                            <a:srgbClr val="91A0B7"/>
                          </a:solidFill>
                          <a:latin typeface="Calibri" pitchFamily="34" charset="0"/>
                          <a:ea typeface="Calibri" pitchFamily="34" charset="-122"/>
                          <a:cs typeface="Calibri" pitchFamily="34" charset="-120"/>
                        </a:rPr>
                        <a:t>Output / 1M</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b="1" kern="0" spc="80" dirty="0">
                          <a:solidFill>
                            <a:srgbClr val="91A0B7"/>
                          </a:solidFill>
                          <a:latin typeface="Calibri" pitchFamily="34" charset="0"/>
                          <a:ea typeface="Calibri" pitchFamily="34" charset="-122"/>
                          <a:cs typeface="Calibri" pitchFamily="34" charset="-120"/>
                        </a:rPr>
                        <a:t>Relative cost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l">
                        <a:buNone/>
                      </a:pPr>
                      <a:r>
                        <a:rPr lang="en-US" sz="1200" b="1" kern="0" spc="80" dirty="0">
                          <a:solidFill>
                            <a:srgbClr val="91A0B7"/>
                          </a:solidFill>
                          <a:latin typeface="Calibri" pitchFamily="34" charset="0"/>
                          <a:ea typeface="Calibri" pitchFamily="34" charset="-122"/>
                          <a:cs typeface="Calibri" pitchFamily="34" charset="-120"/>
                        </a:rPr>
                        <a:t>Recommended usage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extLst>
                  <a:ext uri="{0D108BD9-81ED-4DB2-BD59-A6C34878D82A}">
                    <a16:rowId xmlns:a16="http://schemas.microsoft.com/office/drawing/2014/main" val="10000"/>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Claude Sonnet 5</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3DDC97"/>
                          </a:solidFill>
                          <a:latin typeface="Calibri" pitchFamily="34" charset="0"/>
                          <a:ea typeface="Calibri" pitchFamily="34" charset="-122"/>
                          <a:cs typeface="Calibri" pitchFamily="34" charset="-120"/>
                        </a:rPr>
                        <a:t>Baseline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l">
                        <a:buNone/>
                      </a:pPr>
                      <a:r>
                        <a:rPr lang="en-US" sz="1200" dirty="0">
                          <a:solidFill>
                            <a:srgbClr val="F4F7FB"/>
                          </a:solidFill>
                          <a:latin typeface="Calibri" pitchFamily="34" charset="0"/>
                          <a:ea typeface="Calibri" pitchFamily="34" charset="-122"/>
                          <a:cs typeface="Calibri" pitchFamily="34" charset="-120"/>
                        </a:rPr>
                        <a:t>Default model: routine coding, SQL, debugging, documentation</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extLst>
                  <a:ext uri="{0D108BD9-81ED-4DB2-BD59-A6C34878D82A}">
                    <a16:rowId xmlns:a16="http://schemas.microsoft.com/office/drawing/2014/main" val="10001"/>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Claude Opus 4.8</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$25</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E0A030"/>
                          </a:solidFill>
                          <a:latin typeface="Calibri" pitchFamily="34" charset="0"/>
                          <a:ea typeface="Calibri" pitchFamily="34" charset="-122"/>
                          <a:cs typeface="Calibri" pitchFamily="34" charset="-120"/>
                        </a:rPr>
                        <a:t>~2.5x</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l">
                        <a:buNone/>
                      </a:pPr>
                      <a:r>
                        <a:rPr lang="en-US" sz="1200" dirty="0">
                          <a:solidFill>
                            <a:srgbClr val="F4F7FB"/>
                          </a:solidFill>
                          <a:latin typeface="Calibri" pitchFamily="34" charset="0"/>
                          <a:ea typeface="Calibri" pitchFamily="34" charset="-122"/>
                          <a:cs typeface="Calibri" pitchFamily="34" charset="-120"/>
                        </a:rPr>
                        <a:t>Complex tasks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extLst>
                  <a:ext uri="{0D108BD9-81ED-4DB2-BD59-A6C34878D82A}">
                    <a16:rowId xmlns:a16="http://schemas.microsoft.com/office/drawing/2014/main" val="10002"/>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Claude Opus 5</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$25</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E0A030"/>
                          </a:solidFill>
                          <a:latin typeface="Calibri" pitchFamily="34" charset="0"/>
                          <a:ea typeface="Calibri" pitchFamily="34" charset="-122"/>
                          <a:cs typeface="Calibri" pitchFamily="34" charset="-120"/>
                        </a:rPr>
                        <a:t>~2.5x</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l">
                        <a:buNone/>
                      </a:pPr>
                      <a:r>
                        <a:rPr lang="en-US" sz="1200" dirty="0">
                          <a:solidFill>
                            <a:srgbClr val="F4F7FB"/>
                          </a:solidFill>
                          <a:latin typeface="Calibri" pitchFamily="34" charset="0"/>
                          <a:ea typeface="Calibri" pitchFamily="34" charset="-122"/>
                          <a:cs typeface="Calibri" pitchFamily="34" charset="-120"/>
                        </a:rPr>
                        <a:t>Advanced reasoning</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extLst>
                  <a:ext uri="{0D108BD9-81ED-4DB2-BD59-A6C34878D82A}">
                    <a16:rowId xmlns:a16="http://schemas.microsoft.com/office/drawing/2014/main" val="10003"/>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Opus 4.8 Fast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$50</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FF6B7A"/>
                          </a:solidFill>
                          <a:latin typeface="Calibri" pitchFamily="34" charset="0"/>
                          <a:ea typeface="Calibri" pitchFamily="34" charset="-122"/>
                          <a:cs typeface="Calibri" pitchFamily="34" charset="-120"/>
                        </a:rPr>
                        <a:t>~5x</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l">
                        <a:buNone/>
                      </a:pPr>
                      <a:r>
                        <a:rPr lang="en-US" sz="1200" dirty="0">
                          <a:solidFill>
                            <a:srgbClr val="F4F7FB"/>
                          </a:solidFill>
                          <a:latin typeface="Calibri" pitchFamily="34" charset="0"/>
                          <a:ea typeface="Calibri" pitchFamily="34" charset="-122"/>
                          <a:cs typeface="Calibri" pitchFamily="34" charset="-120"/>
                        </a:rPr>
                        <a:t>Exception only</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extLst>
                  <a:ext uri="{0D108BD9-81ED-4DB2-BD59-A6C34878D82A}">
                    <a16:rowId xmlns:a16="http://schemas.microsoft.com/office/drawing/2014/main" val="10004"/>
                  </a:ext>
                </a:extLst>
              </a:tr>
            </a:tbl>
          </a:graphicData>
        </a:graphic>
      </p:graphicFrame>
      <p:sp>
        <p:nvSpPr>
          <p:cNvPr id="11" name="Shape 8"/>
          <p:cNvSpPr/>
          <p:nvPr/>
        </p:nvSpPr>
        <p:spPr>
          <a:xfrm>
            <a:off x="8503920" y="1234440"/>
            <a:ext cx="3230575" cy="1097280"/>
          </a:xfrm>
          <a:prstGeom prst="roundRect">
            <a:avLst>
              <a:gd name="adj" fmla="val 5000"/>
            </a:avLst>
          </a:prstGeom>
          <a:solidFill>
            <a:srgbClr val="121B2D"/>
          </a:solidFill>
          <a:ln w="12700">
            <a:solidFill>
              <a:srgbClr val="23304A"/>
            </a:solidFill>
            <a:prstDash val="solid"/>
          </a:ln>
        </p:spPr>
        <p:txBody>
          <a:bodyPr/>
          <a:lstStyle/>
          <a:p>
            <a:endParaRPr lang="he-IL"/>
          </a:p>
        </p:txBody>
      </p:sp>
      <p:sp>
        <p:nvSpPr>
          <p:cNvPr id="12" name="Text 9"/>
          <p:cNvSpPr/>
          <p:nvPr/>
        </p:nvSpPr>
        <p:spPr>
          <a:xfrm>
            <a:off x="8705088" y="1325880"/>
            <a:ext cx="2828239"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AVAILABLE SAVING</a:t>
            </a:r>
            <a:endParaRPr lang="en-US" sz="1200" dirty="0"/>
          </a:p>
        </p:txBody>
      </p:sp>
      <p:sp>
        <p:nvSpPr>
          <p:cNvPr id="13" name="Text 10"/>
          <p:cNvSpPr/>
          <p:nvPr/>
        </p:nvSpPr>
        <p:spPr>
          <a:xfrm>
            <a:off x="8705088" y="1527048"/>
            <a:ext cx="2828239"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~60%</a:t>
            </a:r>
            <a:endParaRPr lang="en-US" sz="2800" dirty="0"/>
          </a:p>
        </p:txBody>
      </p:sp>
      <p:sp>
        <p:nvSpPr>
          <p:cNvPr id="14" name="Text 11"/>
          <p:cNvSpPr/>
          <p:nvPr/>
        </p:nvSpPr>
        <p:spPr>
          <a:xfrm>
            <a:off x="8705088" y="1929384"/>
            <a:ext cx="2828239" cy="329184"/>
          </a:xfrm>
          <a:prstGeom prst="rect">
            <a:avLst/>
          </a:prstGeom>
          <a:noFill/>
          <a:ln/>
        </p:spPr>
        <p:txBody>
          <a:bodyPr wrap="square" lIns="0" tIns="0" rIns="0" bIns="0" rtlCol="0" anchor="t"/>
          <a:lstStyle/>
          <a:p>
            <a:pPr marL="0" indent="0">
              <a:lnSpc>
                <a:spcPct val="105000"/>
              </a:lnSpc>
              <a:buNone/>
            </a:pPr>
            <a:r>
              <a:rPr lang="en-US" sz="1200" b="1" dirty="0">
                <a:solidFill>
                  <a:srgbClr val="3DDC97"/>
                </a:solidFill>
                <a:latin typeface="Calibri" pitchFamily="34" charset="0"/>
                <a:ea typeface="Calibri" pitchFamily="34" charset="-122"/>
                <a:cs typeface="Calibri" pitchFamily="34" charset="-120"/>
              </a:rPr>
              <a:t>on model token cost, routine work Opus to Sonnet</a:t>
            </a:r>
            <a:endParaRPr lang="en-US" sz="1200" dirty="0"/>
          </a:p>
        </p:txBody>
      </p:sp>
      <p:sp>
        <p:nvSpPr>
          <p:cNvPr id="15" name="Shape 12"/>
          <p:cNvSpPr/>
          <p:nvPr/>
        </p:nvSpPr>
        <p:spPr>
          <a:xfrm>
            <a:off x="8503920" y="2459736"/>
            <a:ext cx="3230575" cy="1097280"/>
          </a:xfrm>
          <a:prstGeom prst="roundRect">
            <a:avLst>
              <a:gd name="adj" fmla="val 5000"/>
            </a:avLst>
          </a:prstGeom>
          <a:solidFill>
            <a:srgbClr val="121B2D"/>
          </a:solidFill>
          <a:ln w="12700">
            <a:solidFill>
              <a:srgbClr val="23304A"/>
            </a:solidFill>
            <a:prstDash val="solid"/>
          </a:ln>
        </p:spPr>
        <p:txBody>
          <a:bodyPr/>
          <a:lstStyle/>
          <a:p>
            <a:endParaRPr lang="he-IL"/>
          </a:p>
        </p:txBody>
      </p:sp>
      <p:sp>
        <p:nvSpPr>
          <p:cNvPr id="16" name="Text 13"/>
          <p:cNvSpPr/>
          <p:nvPr/>
        </p:nvSpPr>
        <p:spPr>
          <a:xfrm>
            <a:off x="8705088" y="2551176"/>
            <a:ext cx="2828239"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GITHUB COPILOT SPEND</a:t>
            </a:r>
            <a:endParaRPr lang="en-US" sz="1200" dirty="0"/>
          </a:p>
        </p:txBody>
      </p:sp>
      <p:sp>
        <p:nvSpPr>
          <p:cNvPr id="17" name="Text 14"/>
          <p:cNvSpPr/>
          <p:nvPr/>
        </p:nvSpPr>
        <p:spPr>
          <a:xfrm>
            <a:off x="8705088" y="2752344"/>
            <a:ext cx="2828239"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$57,177</a:t>
            </a:r>
            <a:endParaRPr lang="en-US" sz="2800" dirty="0"/>
          </a:p>
        </p:txBody>
      </p:sp>
      <p:sp>
        <p:nvSpPr>
          <p:cNvPr id="18" name="Text 15"/>
          <p:cNvSpPr/>
          <p:nvPr/>
        </p:nvSpPr>
        <p:spPr>
          <a:xfrm>
            <a:off x="8705088" y="3154680"/>
            <a:ext cx="2828239" cy="329184"/>
          </a:xfrm>
          <a:prstGeom prst="rect">
            <a:avLst/>
          </a:prstGeom>
          <a:noFill/>
          <a:ln/>
        </p:spPr>
        <p:txBody>
          <a:bodyPr wrap="square" lIns="0" tIns="0" rIns="0" bIns="0" rtlCol="0" anchor="t"/>
          <a:lstStyle/>
          <a:p>
            <a:pPr marL="0" indent="0">
              <a:lnSpc>
                <a:spcPct val="105000"/>
              </a:lnSpc>
              <a:buNone/>
            </a:pPr>
            <a:r>
              <a:rPr lang="en-US" sz="1200" b="1" dirty="0">
                <a:solidFill>
                  <a:srgbClr val="FF6B7A"/>
                </a:solidFill>
                <a:latin typeface="Calibri" pitchFamily="34" charset="0"/>
                <a:ea typeface="Calibri" pitchFamily="34" charset="-122"/>
                <a:cs typeface="Calibri" pitchFamily="34" charset="-120"/>
              </a:rPr>
              <a:t>Jan-Jul, +593% Jan to Jul</a:t>
            </a:r>
            <a:endParaRPr lang="en-US" sz="1200" dirty="0"/>
          </a:p>
        </p:txBody>
      </p:sp>
      <p:sp>
        <p:nvSpPr>
          <p:cNvPr id="19" name="Shape 16"/>
          <p:cNvSpPr/>
          <p:nvPr/>
        </p:nvSpPr>
        <p:spPr>
          <a:xfrm>
            <a:off x="8503920" y="3685032"/>
            <a:ext cx="3230575" cy="1097280"/>
          </a:xfrm>
          <a:prstGeom prst="roundRect">
            <a:avLst>
              <a:gd name="adj" fmla="val 5000"/>
            </a:avLst>
          </a:prstGeom>
          <a:solidFill>
            <a:srgbClr val="121B2D"/>
          </a:solidFill>
          <a:ln w="12700">
            <a:solidFill>
              <a:srgbClr val="23304A"/>
            </a:solidFill>
            <a:prstDash val="solid"/>
          </a:ln>
        </p:spPr>
        <p:txBody>
          <a:bodyPr/>
          <a:lstStyle/>
          <a:p>
            <a:endParaRPr lang="he-IL"/>
          </a:p>
        </p:txBody>
      </p:sp>
      <p:sp>
        <p:nvSpPr>
          <p:cNvPr id="20" name="Text 17"/>
          <p:cNvSpPr/>
          <p:nvPr/>
        </p:nvSpPr>
        <p:spPr>
          <a:xfrm>
            <a:off x="8705088" y="3776472"/>
            <a:ext cx="2828239"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AWS BEDROCK, OPUS SHARE</a:t>
            </a:r>
            <a:endParaRPr lang="en-US" sz="1200" dirty="0"/>
          </a:p>
        </p:txBody>
      </p:sp>
      <p:sp>
        <p:nvSpPr>
          <p:cNvPr id="21" name="Text 18"/>
          <p:cNvSpPr/>
          <p:nvPr/>
        </p:nvSpPr>
        <p:spPr>
          <a:xfrm>
            <a:off x="8705088" y="3977640"/>
            <a:ext cx="2828239"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82.1%</a:t>
            </a:r>
            <a:endParaRPr lang="en-US" sz="2800" dirty="0"/>
          </a:p>
        </p:txBody>
      </p:sp>
      <p:sp>
        <p:nvSpPr>
          <p:cNvPr id="22" name="Text 19"/>
          <p:cNvSpPr/>
          <p:nvPr/>
        </p:nvSpPr>
        <p:spPr>
          <a:xfrm>
            <a:off x="8705088" y="4379976"/>
            <a:ext cx="2828239" cy="329184"/>
          </a:xfrm>
          <a:prstGeom prst="rect">
            <a:avLst/>
          </a:prstGeom>
          <a:noFill/>
          <a:ln/>
        </p:spPr>
        <p:txBody>
          <a:bodyPr wrap="square" lIns="0" tIns="0" rIns="0" bIns="0" rtlCol="0" anchor="t"/>
          <a:lstStyle/>
          <a:p>
            <a:pPr marL="0" indent="0">
              <a:lnSpc>
                <a:spcPct val="105000"/>
              </a:lnSpc>
              <a:buNone/>
            </a:pPr>
            <a:r>
              <a:rPr lang="en-US" sz="1200" b="1" dirty="0">
                <a:solidFill>
                  <a:srgbClr val="E0A030"/>
                </a:solidFill>
                <a:latin typeface="Calibri" pitchFamily="34" charset="0"/>
                <a:ea typeface="Calibri" pitchFamily="34" charset="-122"/>
                <a:cs typeface="Calibri" pitchFamily="34" charset="-120"/>
              </a:rPr>
              <a:t>of AWS AI spend is Opus-class</a:t>
            </a:r>
            <a:endParaRPr lang="en-US" sz="1200" dirty="0"/>
          </a:p>
        </p:txBody>
      </p:sp>
      <p:sp>
        <p:nvSpPr>
          <p:cNvPr id="23" name="Shape 20"/>
          <p:cNvSpPr/>
          <p:nvPr/>
        </p:nvSpPr>
        <p:spPr>
          <a:xfrm>
            <a:off x="8503920" y="4910328"/>
            <a:ext cx="3230575" cy="1097280"/>
          </a:xfrm>
          <a:prstGeom prst="roundRect">
            <a:avLst>
              <a:gd name="adj" fmla="val 5000"/>
            </a:avLst>
          </a:prstGeom>
          <a:solidFill>
            <a:srgbClr val="121B2D"/>
          </a:solidFill>
          <a:ln w="12700">
            <a:solidFill>
              <a:srgbClr val="23304A"/>
            </a:solidFill>
            <a:prstDash val="solid"/>
          </a:ln>
        </p:spPr>
        <p:txBody>
          <a:bodyPr/>
          <a:lstStyle/>
          <a:p>
            <a:endParaRPr lang="he-IL"/>
          </a:p>
        </p:txBody>
      </p:sp>
      <p:sp>
        <p:nvSpPr>
          <p:cNvPr id="24" name="Text 21"/>
          <p:cNvSpPr/>
          <p:nvPr/>
        </p:nvSpPr>
        <p:spPr>
          <a:xfrm>
            <a:off x="8705088" y="5001768"/>
            <a:ext cx="2828239"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PROMO PRICING ENDS</a:t>
            </a:r>
            <a:endParaRPr lang="en-US" sz="1200" dirty="0"/>
          </a:p>
        </p:txBody>
      </p:sp>
      <p:sp>
        <p:nvSpPr>
          <p:cNvPr id="25" name="Text 22"/>
          <p:cNvSpPr/>
          <p:nvPr/>
        </p:nvSpPr>
        <p:spPr>
          <a:xfrm>
            <a:off x="8705088" y="5202936"/>
            <a:ext cx="2828239"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31 Aug 2026</a:t>
            </a:r>
            <a:endParaRPr lang="en-US" sz="2800" dirty="0"/>
          </a:p>
        </p:txBody>
      </p:sp>
      <p:sp>
        <p:nvSpPr>
          <p:cNvPr id="10" name="Text 23"/>
          <p:cNvSpPr/>
          <p:nvPr/>
        </p:nvSpPr>
        <p:spPr>
          <a:xfrm>
            <a:off x="8705088" y="5605272"/>
            <a:ext cx="2828239" cy="329184"/>
          </a:xfrm>
          <a:prstGeom prst="rect">
            <a:avLst/>
          </a:prstGeom>
          <a:noFill/>
          <a:ln/>
        </p:spPr>
        <p:txBody>
          <a:bodyPr wrap="square" lIns="0" tIns="0" rIns="0" bIns="0" rtlCol="0" anchor="t"/>
          <a:lstStyle/>
          <a:p>
            <a:pPr marL="0" indent="0">
              <a:lnSpc>
                <a:spcPct val="105000"/>
              </a:lnSpc>
              <a:buNone/>
            </a:pPr>
            <a:r>
              <a:rPr lang="en-US" sz="1200" b="1" dirty="0">
                <a:solidFill>
                  <a:srgbClr val="91A0B7"/>
                </a:solidFill>
                <a:latin typeface="Calibri" pitchFamily="34" charset="0"/>
                <a:ea typeface="Calibri" pitchFamily="34" charset="-122"/>
                <a:cs typeface="Calibri" pitchFamily="34" charset="-120"/>
              </a:rPr>
              <a:t>reassess before the date</a:t>
            </a:r>
            <a:endParaRPr lang="en-US" sz="1200" dirty="0"/>
          </a:p>
        </p:txBody>
      </p:sp>
    </p:spTree>
    <p:extLst>
      <p:ext uri="{BB962C8B-B14F-4D97-AF65-F5344CB8AC3E}">
        <p14:creationId xmlns:p14="http://schemas.microsoft.com/office/powerpoint/2010/main" val="36723537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2">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txBody>
          <a:bodyPr/>
          <a:lstStyle/>
          <a:p>
            <a:endParaRPr lang="he-IL" dirty="0"/>
          </a:p>
        </p:txBody>
      </p:sp>
      <p:sp>
        <p:nvSpPr>
          <p:cNvPr id="3" name="Shape 1"/>
          <p:cNvSpPr/>
          <p:nvPr/>
        </p:nvSpPr>
        <p:spPr>
          <a:xfrm>
            <a:off x="7863840" y="-1280160"/>
            <a:ext cx="5852160" cy="5852160"/>
          </a:xfrm>
          <a:prstGeom prst="ellipse">
            <a:avLst/>
          </a:prstGeom>
          <a:solidFill>
            <a:srgbClr val="E0A030">
              <a:alpha val="8000"/>
            </a:srgbClr>
          </a:solidFill>
          <a:ln w="12700">
            <a:solidFill>
              <a:srgbClr val="E0A030">
                <a:alpha val="0"/>
              </a:srgbClr>
            </a:solidFill>
            <a:prstDash val="solid"/>
          </a:ln>
        </p:spPr>
        <p:txBody>
          <a:bodyPr/>
          <a:lstStyle/>
          <a:p>
            <a:endParaRPr lang="he-IL" dirty="0"/>
          </a:p>
        </p:txBody>
      </p:sp>
      <p:sp>
        <p:nvSpPr>
          <p:cNvPr id="4" name="Shape 2"/>
          <p:cNvSpPr/>
          <p:nvPr/>
        </p:nvSpPr>
        <p:spPr>
          <a:xfrm>
            <a:off x="9144000" y="2377440"/>
            <a:ext cx="4754880" cy="4754880"/>
          </a:xfrm>
          <a:prstGeom prst="ellipse">
            <a:avLst/>
          </a:prstGeom>
          <a:solidFill>
            <a:srgbClr val="3DD9EB">
              <a:alpha val="7000"/>
            </a:srgbClr>
          </a:solidFill>
          <a:ln w="12700">
            <a:solidFill>
              <a:srgbClr val="3DD9EB">
                <a:alpha val="0"/>
              </a:srgbClr>
            </a:solidFill>
            <a:prstDash val="solid"/>
          </a:ln>
        </p:spPr>
        <p:txBody>
          <a:bodyPr/>
          <a:lstStyle/>
          <a:p>
            <a:endParaRPr lang="he-IL" dirty="0"/>
          </a:p>
        </p:txBody>
      </p:sp>
      <p:sp>
        <p:nvSpPr>
          <p:cNvPr id="5" name="Text 3"/>
          <p:cNvSpPr/>
          <p:nvPr/>
        </p:nvSpPr>
        <p:spPr>
          <a:xfrm>
            <a:off x="457200" y="2331720"/>
            <a:ext cx="8229600" cy="274320"/>
          </a:xfrm>
          <a:prstGeom prst="rect">
            <a:avLst/>
          </a:prstGeom>
          <a:noFill/>
          <a:ln/>
        </p:spPr>
        <p:txBody>
          <a:bodyPr wrap="square" lIns="0" tIns="0" rIns="0" bIns="0" rtlCol="0" anchor="ctr"/>
          <a:lstStyle/>
          <a:p>
            <a:pPr marL="0" indent="0">
              <a:buNone/>
            </a:pPr>
            <a:r>
              <a:rPr lang="en-US" sz="1300" b="1" kern="0" spc="300" dirty="0">
                <a:solidFill>
                  <a:srgbClr val="E0A030"/>
                </a:solidFill>
                <a:latin typeface="Calibri" pitchFamily="34" charset="0"/>
                <a:ea typeface="Calibri" pitchFamily="34" charset="-122"/>
                <a:cs typeface="Calibri" pitchFamily="34" charset="-120"/>
              </a:rPr>
              <a:t>PART TWO</a:t>
            </a:r>
            <a:endParaRPr lang="en-US" sz="1300" dirty="0"/>
          </a:p>
        </p:txBody>
      </p:sp>
      <p:sp>
        <p:nvSpPr>
          <p:cNvPr id="6" name="Text 4"/>
          <p:cNvSpPr/>
          <p:nvPr/>
        </p:nvSpPr>
        <p:spPr>
          <a:xfrm>
            <a:off x="457200" y="2651760"/>
            <a:ext cx="8412480" cy="1005840"/>
          </a:xfrm>
          <a:prstGeom prst="rect">
            <a:avLst/>
          </a:prstGeom>
          <a:noFill/>
          <a:ln/>
        </p:spPr>
        <p:txBody>
          <a:bodyPr wrap="square" lIns="0" tIns="0" rIns="0" bIns="0" rtlCol="0" anchor="ctr"/>
          <a:lstStyle/>
          <a:p>
            <a:pPr marL="0" indent="0">
              <a:buNone/>
            </a:pPr>
            <a:r>
              <a:rPr lang="en-US" sz="4000" b="1" dirty="0">
                <a:solidFill>
                  <a:srgbClr val="F4F7FB"/>
                </a:solidFill>
                <a:latin typeface="Calibri" pitchFamily="34" charset="0"/>
                <a:ea typeface="Calibri" pitchFamily="34" charset="-122"/>
                <a:cs typeface="Calibri" pitchFamily="34" charset="-120"/>
              </a:rPr>
              <a:t>What waiting costs</a:t>
            </a:r>
            <a:endParaRPr lang="en-US" sz="4000" dirty="0"/>
          </a:p>
        </p:txBody>
      </p:sp>
      <p:sp>
        <p:nvSpPr>
          <p:cNvPr id="7" name="Text 5"/>
          <p:cNvSpPr/>
          <p:nvPr/>
        </p:nvSpPr>
        <p:spPr>
          <a:xfrm>
            <a:off x="457200" y="3703320"/>
            <a:ext cx="7863840" cy="457200"/>
          </a:xfrm>
          <a:prstGeom prst="rect">
            <a:avLst/>
          </a:prstGeom>
          <a:noFill/>
          <a:ln/>
        </p:spPr>
        <p:txBody>
          <a:bodyPr wrap="square" lIns="0" tIns="0" rIns="0" bIns="0" rtlCol="0" anchor="ctr"/>
          <a:lstStyle/>
          <a:p>
            <a:pPr marL="0" indent="0">
              <a:buNone/>
            </a:pPr>
            <a:r>
              <a:rPr lang="en-US" sz="1500" dirty="0">
                <a:solidFill>
                  <a:srgbClr val="91A0B7"/>
                </a:solidFill>
                <a:latin typeface="Calibri" pitchFamily="34" charset="0"/>
                <a:ea typeface="Calibri" pitchFamily="34" charset="-122"/>
                <a:cs typeface="Calibri" pitchFamily="34" charset="-120"/>
              </a:rPr>
              <a:t>Three gaps that are already priced, and already being paid</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4">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txBody>
          <a:bodyPr/>
          <a:lstStyle/>
          <a:p>
            <a:endParaRPr lang="he-IL" dirty="0"/>
          </a:p>
        </p:txBody>
      </p:sp>
      <p:sp>
        <p:nvSpPr>
          <p:cNvPr id="3" name="Shape 1"/>
          <p:cNvSpPr/>
          <p:nvPr/>
        </p:nvSpPr>
        <p:spPr>
          <a:xfrm>
            <a:off x="457200" y="306324"/>
            <a:ext cx="109728" cy="109728"/>
          </a:xfrm>
          <a:prstGeom prst="ellipse">
            <a:avLst/>
          </a:prstGeom>
          <a:solidFill>
            <a:srgbClr val="B07CFF"/>
          </a:solidFill>
          <a:ln w="12700">
            <a:solidFill>
              <a:srgbClr val="B07CFF"/>
            </a:solidFill>
            <a:prstDash val="solid"/>
          </a:ln>
        </p:spPr>
        <p:txBody>
          <a:bodyPr/>
          <a:lstStyle/>
          <a:p>
            <a:endParaRPr lang="he-IL" dirty="0"/>
          </a:p>
        </p:txBody>
      </p:sp>
      <p:sp>
        <p:nvSpPr>
          <p:cNvPr id="4" name="Text 2"/>
          <p:cNvSpPr/>
          <p:nvPr/>
        </p:nvSpPr>
        <p:spPr>
          <a:xfrm>
            <a:off x="640080" y="274320"/>
            <a:ext cx="7315200" cy="237744"/>
          </a:xfrm>
          <a:prstGeom prst="rect">
            <a:avLst/>
          </a:prstGeom>
          <a:noFill/>
          <a:ln/>
        </p:spPr>
        <p:txBody>
          <a:bodyPr wrap="square" lIns="0" tIns="0" rIns="0" bIns="0" rtlCol="0" anchor="ctr"/>
          <a:lstStyle/>
          <a:p>
            <a:pPr marL="0" indent="0">
              <a:buNone/>
            </a:pPr>
            <a:r>
              <a:rPr lang="en-US" sz="1300" b="1" kern="0" spc="200" dirty="0">
                <a:solidFill>
                  <a:srgbClr val="B07CFF"/>
                </a:solidFill>
                <a:latin typeface="Calibri" pitchFamily="34" charset="0"/>
                <a:ea typeface="Calibri" pitchFamily="34" charset="-122"/>
                <a:cs typeface="Calibri" pitchFamily="34" charset="-120"/>
              </a:rPr>
              <a:t>DATABRICKS</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marL="0" indent="0">
              <a:buNone/>
            </a:pPr>
            <a:r>
              <a:rPr lang="en-US" sz="2154" b="1" dirty="0">
                <a:solidFill>
                  <a:srgbClr val="F4F7FB"/>
                </a:solidFill>
                <a:latin typeface="Calibri" pitchFamily="34" charset="0"/>
                <a:ea typeface="Calibri" pitchFamily="34" charset="-122"/>
                <a:cs typeface="Calibri" pitchFamily="34" charset="-120"/>
              </a:rPr>
              <a:t>$504,000 paid in April. 18% of it used.</a:t>
            </a:r>
            <a:endParaRPr lang="en-US" sz="2154" dirty="0"/>
          </a:p>
        </p:txBody>
      </p:sp>
      <p:sp>
        <p:nvSpPr>
          <p:cNvPr id="6" name="Text 4"/>
          <p:cNvSpPr/>
          <p:nvPr/>
        </p:nvSpPr>
        <p:spPr>
          <a:xfrm>
            <a:off x="8321040" y="493776"/>
            <a:ext cx="3413455" cy="658368"/>
          </a:xfrm>
          <a:prstGeom prst="rect">
            <a:avLst/>
          </a:prstGeom>
          <a:noFill/>
          <a:ln/>
        </p:spPr>
        <p:txBody>
          <a:bodyPr wrap="square" lIns="0" tIns="0" rIns="0" bIns="0" rtlCol="0" anchor="t"/>
          <a:lstStyle/>
          <a:p>
            <a:pPr marL="0" indent="0" algn="r">
              <a:lnSpc>
                <a:spcPct val="115000"/>
              </a:lnSpc>
              <a:buNone/>
            </a:pPr>
            <a:r>
              <a:rPr lang="en-US" sz="1200" dirty="0">
                <a:solidFill>
                  <a:srgbClr val="91A0B7"/>
                </a:solidFill>
                <a:latin typeface="Calibri" pitchFamily="34" charset="0"/>
                <a:ea typeface="Calibri" pitchFamily="34" charset="-122"/>
                <a:cs typeface="Calibri" pitchFamily="34" charset="-120"/>
              </a:rPr>
              <a:t>A three-year, 600,000 DBU-hour pre-purchase made on 28 April 2026.</a:t>
            </a:r>
            <a:endParaRPr lang="en-US" sz="1200" dirty="0"/>
          </a:p>
        </p:txBody>
      </p:sp>
      <p:sp>
        <p:nvSpPr>
          <p:cNvPr id="7" name="Shape 5"/>
          <p:cNvSpPr/>
          <p:nvPr/>
        </p:nvSpPr>
        <p:spPr>
          <a:xfrm>
            <a:off x="457200" y="1234440"/>
            <a:ext cx="2647874" cy="1078992"/>
          </a:xfrm>
          <a:prstGeom prst="roundRect">
            <a:avLst>
              <a:gd name="adj" fmla="val 5085"/>
            </a:avLst>
          </a:prstGeom>
          <a:solidFill>
            <a:srgbClr val="121B2D"/>
          </a:solidFill>
          <a:ln w="12700">
            <a:solidFill>
              <a:srgbClr val="23304A"/>
            </a:solidFill>
            <a:prstDash val="solid"/>
          </a:ln>
        </p:spPr>
        <p:txBody>
          <a:bodyPr/>
          <a:lstStyle/>
          <a:p>
            <a:endParaRPr lang="he-IL" dirty="0"/>
          </a:p>
        </p:txBody>
      </p:sp>
      <p:sp>
        <p:nvSpPr>
          <p:cNvPr id="8" name="Text 6"/>
          <p:cNvSpPr/>
          <p:nvPr/>
        </p:nvSpPr>
        <p:spPr>
          <a:xfrm>
            <a:off x="658368" y="1325880"/>
            <a:ext cx="2245538"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COMMITTED</a:t>
            </a:r>
            <a:endParaRPr lang="en-US" sz="1200" dirty="0"/>
          </a:p>
        </p:txBody>
      </p:sp>
      <p:sp>
        <p:nvSpPr>
          <p:cNvPr id="9" name="Text 7"/>
          <p:cNvSpPr/>
          <p:nvPr/>
        </p:nvSpPr>
        <p:spPr>
          <a:xfrm>
            <a:off x="658368" y="1527048"/>
            <a:ext cx="2245538"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$504,000</a:t>
            </a:r>
            <a:endParaRPr lang="en-US" sz="2800" dirty="0"/>
          </a:p>
        </p:txBody>
      </p:sp>
      <p:sp>
        <p:nvSpPr>
          <p:cNvPr id="10" name="Text 8"/>
          <p:cNvSpPr/>
          <p:nvPr/>
        </p:nvSpPr>
        <p:spPr>
          <a:xfrm>
            <a:off x="658368" y="1929384"/>
            <a:ext cx="2245538" cy="329184"/>
          </a:xfrm>
          <a:prstGeom prst="rect">
            <a:avLst/>
          </a:prstGeom>
          <a:noFill/>
          <a:ln/>
        </p:spPr>
        <p:txBody>
          <a:bodyPr wrap="square" lIns="0" tIns="0" rIns="0" bIns="0" rtlCol="0" anchor="t"/>
          <a:lstStyle/>
          <a:p>
            <a:pPr marL="0" indent="0">
              <a:lnSpc>
                <a:spcPct val="105000"/>
              </a:lnSpc>
              <a:buNone/>
            </a:pPr>
            <a:r>
              <a:rPr lang="en-US" sz="1200" b="1" dirty="0">
                <a:solidFill>
                  <a:srgbClr val="B07CFF"/>
                </a:solidFill>
                <a:latin typeface="Calibri" pitchFamily="34" charset="0"/>
                <a:ea typeface="Calibri" pitchFamily="34" charset="-122"/>
                <a:cs typeface="Calibri" pitchFamily="34" charset="-120"/>
              </a:rPr>
              <a:t>Azure P3 pre-purchase, 28 Apr 2026</a:t>
            </a:r>
            <a:endParaRPr lang="en-US" sz="1200" dirty="0"/>
          </a:p>
        </p:txBody>
      </p:sp>
      <p:sp>
        <p:nvSpPr>
          <p:cNvPr id="11" name="Shape 9"/>
          <p:cNvSpPr/>
          <p:nvPr/>
        </p:nvSpPr>
        <p:spPr>
          <a:xfrm>
            <a:off x="3333674" y="1234440"/>
            <a:ext cx="2647874" cy="1078992"/>
          </a:xfrm>
          <a:prstGeom prst="roundRect">
            <a:avLst>
              <a:gd name="adj" fmla="val 5085"/>
            </a:avLst>
          </a:prstGeom>
          <a:solidFill>
            <a:srgbClr val="121B2D"/>
          </a:solidFill>
          <a:ln w="12700">
            <a:solidFill>
              <a:srgbClr val="23304A"/>
            </a:solidFill>
            <a:prstDash val="solid"/>
          </a:ln>
        </p:spPr>
        <p:txBody>
          <a:bodyPr/>
          <a:lstStyle/>
          <a:p>
            <a:endParaRPr lang="he-IL" dirty="0"/>
          </a:p>
        </p:txBody>
      </p:sp>
      <p:sp>
        <p:nvSpPr>
          <p:cNvPr id="12" name="Text 10"/>
          <p:cNvSpPr/>
          <p:nvPr/>
        </p:nvSpPr>
        <p:spPr>
          <a:xfrm>
            <a:off x="3534842" y="1325880"/>
            <a:ext cx="2245538"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TERM</a:t>
            </a:r>
            <a:endParaRPr lang="en-US" sz="1200" dirty="0"/>
          </a:p>
        </p:txBody>
      </p:sp>
      <p:sp>
        <p:nvSpPr>
          <p:cNvPr id="13" name="Text 11"/>
          <p:cNvSpPr/>
          <p:nvPr/>
        </p:nvSpPr>
        <p:spPr>
          <a:xfrm>
            <a:off x="3534842" y="1527048"/>
            <a:ext cx="2245538"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3 years</a:t>
            </a:r>
            <a:endParaRPr lang="en-US" sz="2800" dirty="0"/>
          </a:p>
        </p:txBody>
      </p:sp>
      <p:sp>
        <p:nvSpPr>
          <p:cNvPr id="14" name="Text 12"/>
          <p:cNvSpPr/>
          <p:nvPr/>
        </p:nvSpPr>
        <p:spPr>
          <a:xfrm>
            <a:off x="3534842" y="1929384"/>
            <a:ext cx="2245538" cy="329184"/>
          </a:xfrm>
          <a:prstGeom prst="rect">
            <a:avLst/>
          </a:prstGeom>
          <a:noFill/>
          <a:ln/>
        </p:spPr>
        <p:txBody>
          <a:bodyPr wrap="square" lIns="0" tIns="0" rIns="0" bIns="0" rtlCol="0" anchor="t"/>
          <a:lstStyle/>
          <a:p>
            <a:pPr marL="0" indent="0">
              <a:lnSpc>
                <a:spcPct val="105000"/>
              </a:lnSpc>
              <a:buNone/>
            </a:pPr>
            <a:r>
              <a:rPr lang="en-US" sz="1200" b="1" dirty="0">
                <a:solidFill>
                  <a:srgbClr val="91A0B7"/>
                </a:solidFill>
                <a:latin typeface="Calibri" pitchFamily="34" charset="0"/>
                <a:ea typeface="Calibri" pitchFamily="34" charset="-122"/>
                <a:cs typeface="Calibri" pitchFamily="34" charset="-120"/>
              </a:rPr>
              <a:t>600,000 DBU hours</a:t>
            </a:r>
            <a:endParaRPr lang="en-US" sz="1200" dirty="0"/>
          </a:p>
        </p:txBody>
      </p:sp>
      <p:sp>
        <p:nvSpPr>
          <p:cNvPr id="15" name="Shape 13"/>
          <p:cNvSpPr/>
          <p:nvPr/>
        </p:nvSpPr>
        <p:spPr>
          <a:xfrm>
            <a:off x="6210148" y="1234440"/>
            <a:ext cx="2647874" cy="1078992"/>
          </a:xfrm>
          <a:prstGeom prst="roundRect">
            <a:avLst>
              <a:gd name="adj" fmla="val 5085"/>
            </a:avLst>
          </a:prstGeom>
          <a:solidFill>
            <a:srgbClr val="121B2D"/>
          </a:solidFill>
          <a:ln w="12700">
            <a:solidFill>
              <a:srgbClr val="23304A"/>
            </a:solidFill>
            <a:prstDash val="solid"/>
          </a:ln>
        </p:spPr>
        <p:txBody>
          <a:bodyPr/>
          <a:lstStyle/>
          <a:p>
            <a:endParaRPr lang="he-IL" dirty="0"/>
          </a:p>
        </p:txBody>
      </p:sp>
      <p:sp>
        <p:nvSpPr>
          <p:cNvPr id="16" name="Text 14"/>
          <p:cNvSpPr/>
          <p:nvPr/>
        </p:nvSpPr>
        <p:spPr>
          <a:xfrm>
            <a:off x="6411316" y="1325880"/>
            <a:ext cx="2245538"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DRAWN TO JULY</a:t>
            </a:r>
            <a:endParaRPr lang="en-US" sz="1200" dirty="0"/>
          </a:p>
        </p:txBody>
      </p:sp>
      <p:sp>
        <p:nvSpPr>
          <p:cNvPr id="17" name="Text 15"/>
          <p:cNvSpPr/>
          <p:nvPr/>
        </p:nvSpPr>
        <p:spPr>
          <a:xfrm>
            <a:off x="6411316" y="1527048"/>
            <a:ext cx="2245538"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$88,666</a:t>
            </a:r>
            <a:endParaRPr lang="en-US" sz="2800" dirty="0"/>
          </a:p>
        </p:txBody>
      </p:sp>
      <p:sp>
        <p:nvSpPr>
          <p:cNvPr id="18" name="Text 16"/>
          <p:cNvSpPr/>
          <p:nvPr/>
        </p:nvSpPr>
        <p:spPr>
          <a:xfrm>
            <a:off x="6411316" y="1929384"/>
            <a:ext cx="2245538" cy="329184"/>
          </a:xfrm>
          <a:prstGeom prst="rect">
            <a:avLst/>
          </a:prstGeom>
          <a:noFill/>
          <a:ln/>
        </p:spPr>
        <p:txBody>
          <a:bodyPr wrap="square" lIns="0" tIns="0" rIns="0" bIns="0" rtlCol="0" anchor="t"/>
          <a:lstStyle/>
          <a:p>
            <a:pPr marL="0" indent="0">
              <a:lnSpc>
                <a:spcPct val="105000"/>
              </a:lnSpc>
              <a:buNone/>
            </a:pPr>
            <a:r>
              <a:rPr lang="en-US" sz="1200" b="1" dirty="0">
                <a:solidFill>
                  <a:srgbClr val="3DD9EB"/>
                </a:solidFill>
                <a:latin typeface="Calibri" pitchFamily="34" charset="0"/>
                <a:ea typeface="Calibri" pitchFamily="34" charset="-122"/>
                <a:cs typeface="Calibri" pitchFamily="34" charset="-120"/>
              </a:rPr>
              <a:t>consumption, not new cash</a:t>
            </a:r>
            <a:endParaRPr lang="en-US" sz="1200" dirty="0"/>
          </a:p>
        </p:txBody>
      </p:sp>
      <p:sp>
        <p:nvSpPr>
          <p:cNvPr id="19" name="Shape 17"/>
          <p:cNvSpPr/>
          <p:nvPr/>
        </p:nvSpPr>
        <p:spPr>
          <a:xfrm>
            <a:off x="9086621" y="1234440"/>
            <a:ext cx="2647874" cy="1078992"/>
          </a:xfrm>
          <a:prstGeom prst="roundRect">
            <a:avLst>
              <a:gd name="adj" fmla="val 5085"/>
            </a:avLst>
          </a:prstGeom>
          <a:solidFill>
            <a:srgbClr val="121B2D"/>
          </a:solidFill>
          <a:ln w="12700">
            <a:solidFill>
              <a:srgbClr val="23304A"/>
            </a:solidFill>
            <a:prstDash val="solid"/>
          </a:ln>
        </p:spPr>
        <p:txBody>
          <a:bodyPr/>
          <a:lstStyle/>
          <a:p>
            <a:endParaRPr lang="he-IL" dirty="0"/>
          </a:p>
        </p:txBody>
      </p:sp>
      <p:sp>
        <p:nvSpPr>
          <p:cNvPr id="20" name="Text 18"/>
          <p:cNvSpPr/>
          <p:nvPr/>
        </p:nvSpPr>
        <p:spPr>
          <a:xfrm>
            <a:off x="9287789" y="1325880"/>
            <a:ext cx="2245538"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INFRA UNDERNEATH</a:t>
            </a:r>
            <a:endParaRPr lang="en-US" sz="1200" dirty="0"/>
          </a:p>
        </p:txBody>
      </p:sp>
      <p:sp>
        <p:nvSpPr>
          <p:cNvPr id="21" name="Text 19"/>
          <p:cNvSpPr/>
          <p:nvPr/>
        </p:nvSpPr>
        <p:spPr>
          <a:xfrm>
            <a:off x="9287789" y="1527048"/>
            <a:ext cx="2245538"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$63,501</a:t>
            </a:r>
            <a:endParaRPr lang="en-US" sz="2800" dirty="0"/>
          </a:p>
        </p:txBody>
      </p:sp>
      <p:sp>
        <p:nvSpPr>
          <p:cNvPr id="22" name="Text 20"/>
          <p:cNvSpPr/>
          <p:nvPr/>
        </p:nvSpPr>
        <p:spPr>
          <a:xfrm>
            <a:off x="9287789" y="1929384"/>
            <a:ext cx="2245538" cy="329184"/>
          </a:xfrm>
          <a:prstGeom prst="rect">
            <a:avLst/>
          </a:prstGeom>
          <a:noFill/>
          <a:ln/>
        </p:spPr>
        <p:txBody>
          <a:bodyPr wrap="square" lIns="0" tIns="0" rIns="0" bIns="0" rtlCol="0" anchor="t"/>
          <a:lstStyle/>
          <a:p>
            <a:pPr marL="0" indent="0">
              <a:lnSpc>
                <a:spcPct val="105000"/>
              </a:lnSpc>
              <a:buNone/>
            </a:pPr>
            <a:r>
              <a:rPr lang="en-US" sz="1200" b="1" dirty="0">
                <a:solidFill>
                  <a:srgbClr val="FF6B7A"/>
                </a:solidFill>
                <a:latin typeface="Calibri" pitchFamily="34" charset="0"/>
                <a:ea typeface="Calibri" pitchFamily="34" charset="-122"/>
                <a:cs typeface="Calibri" pitchFamily="34" charset="-120"/>
              </a:rPr>
              <a:t>May-Jul, this part still bills</a:t>
            </a:r>
            <a:endParaRPr lang="en-US" sz="1200" dirty="0"/>
          </a:p>
        </p:txBody>
      </p:sp>
      <p:sp>
        <p:nvSpPr>
          <p:cNvPr id="23" name="Shape 21"/>
          <p:cNvSpPr/>
          <p:nvPr/>
        </p:nvSpPr>
        <p:spPr>
          <a:xfrm>
            <a:off x="457200" y="2468880"/>
            <a:ext cx="11277295" cy="1691640"/>
          </a:xfrm>
          <a:prstGeom prst="roundRect">
            <a:avLst>
              <a:gd name="adj" fmla="val 3243"/>
            </a:avLst>
          </a:prstGeom>
          <a:solidFill>
            <a:srgbClr val="121B2D"/>
          </a:solidFill>
          <a:ln w="12700">
            <a:solidFill>
              <a:srgbClr val="B07CFF"/>
            </a:solidFill>
            <a:prstDash val="solid"/>
          </a:ln>
        </p:spPr>
        <p:txBody>
          <a:bodyPr/>
          <a:lstStyle/>
          <a:p>
            <a:endParaRPr lang="he-IL" dirty="0"/>
          </a:p>
        </p:txBody>
      </p:sp>
      <p:sp>
        <p:nvSpPr>
          <p:cNvPr id="24" name="Text 22"/>
          <p:cNvSpPr/>
          <p:nvPr/>
        </p:nvSpPr>
        <p:spPr>
          <a:xfrm>
            <a:off x="777240" y="2651760"/>
            <a:ext cx="3108960" cy="1325880"/>
          </a:xfrm>
          <a:prstGeom prst="rect">
            <a:avLst/>
          </a:prstGeom>
          <a:noFill/>
          <a:ln/>
        </p:spPr>
        <p:txBody>
          <a:bodyPr wrap="square" lIns="0" tIns="0" rIns="0" bIns="0" rtlCol="0" anchor="ctr"/>
          <a:lstStyle/>
          <a:p>
            <a:pPr marL="0" indent="0">
              <a:buNone/>
            </a:pPr>
            <a:r>
              <a:rPr lang="en-US" sz="6600" b="1" dirty="0">
                <a:solidFill>
                  <a:srgbClr val="B07CFF"/>
                </a:solidFill>
                <a:latin typeface="Calibri" pitchFamily="34" charset="0"/>
                <a:ea typeface="Calibri" pitchFamily="34" charset="-122"/>
                <a:cs typeface="Calibri" pitchFamily="34" charset="-120"/>
              </a:rPr>
              <a:t>18%</a:t>
            </a:r>
            <a:endParaRPr lang="en-US" sz="6600" dirty="0"/>
          </a:p>
        </p:txBody>
      </p:sp>
      <p:sp>
        <p:nvSpPr>
          <p:cNvPr id="25" name="Text 23"/>
          <p:cNvSpPr/>
          <p:nvPr/>
        </p:nvSpPr>
        <p:spPr>
          <a:xfrm>
            <a:off x="4023360" y="2724912"/>
            <a:ext cx="7345375" cy="1188720"/>
          </a:xfrm>
          <a:prstGeom prst="rect">
            <a:avLst/>
          </a:prstGeom>
          <a:noFill/>
          <a:ln/>
        </p:spPr>
        <p:txBody>
          <a:bodyPr wrap="square" lIns="0" tIns="0" rIns="0" bIns="0" rtlCol="0" anchor="ctr"/>
          <a:lstStyle/>
          <a:p>
            <a:pPr marL="0" indent="0">
              <a:lnSpc>
                <a:spcPct val="125000"/>
              </a:lnSpc>
              <a:buNone/>
            </a:pPr>
            <a:r>
              <a:rPr lang="en-US" sz="1550" dirty="0">
                <a:solidFill>
                  <a:srgbClr val="F4F7FB"/>
                </a:solidFill>
                <a:latin typeface="Calibri" pitchFamily="34" charset="0"/>
                <a:ea typeface="Calibri" pitchFamily="34" charset="-122"/>
                <a:cs typeface="Calibri" pitchFamily="34" charset="-120"/>
              </a:rPr>
              <a:t>cumulative utilisation of the Databricks commitment as at July. Databricks compute bills at $0 because it draws against a balance already paid so it disappears from every consumption report while the money is already gone.</a:t>
            </a:r>
            <a:endParaRPr lang="en-US" sz="1550" dirty="0"/>
          </a:p>
        </p:txBody>
      </p:sp>
      <p:sp>
        <p:nvSpPr>
          <p:cNvPr id="27" name="Text 25"/>
          <p:cNvSpPr/>
          <p:nvPr/>
        </p:nvSpPr>
        <p:spPr>
          <a:xfrm>
            <a:off x="630936" y="4434840"/>
            <a:ext cx="11103559" cy="365760"/>
          </a:xfrm>
          <a:prstGeom prst="rect">
            <a:avLst/>
          </a:prstGeom>
          <a:noFill/>
          <a:ln/>
        </p:spPr>
        <p:txBody>
          <a:bodyPr wrap="square" lIns="0" tIns="0" rIns="0" bIns="0" rtlCol="0" anchor="t"/>
          <a:lstStyle/>
          <a:p>
            <a:pPr marL="0" indent="0">
              <a:lnSpc>
                <a:spcPct val="110000"/>
              </a:lnSpc>
              <a:buNone/>
            </a:pPr>
            <a:endParaRPr lang="en-US" sz="1250" dirty="0"/>
          </a:p>
        </p:txBody>
      </p:sp>
      <p:sp>
        <p:nvSpPr>
          <p:cNvPr id="28" name="Shape 26"/>
          <p:cNvSpPr/>
          <p:nvPr/>
        </p:nvSpPr>
        <p:spPr>
          <a:xfrm>
            <a:off x="457200" y="5084064"/>
            <a:ext cx="64008" cy="64008"/>
          </a:xfrm>
          <a:prstGeom prst="rect">
            <a:avLst/>
          </a:prstGeom>
          <a:solidFill>
            <a:srgbClr val="B07CFF"/>
          </a:solidFill>
          <a:ln w="12700">
            <a:solidFill>
              <a:srgbClr val="B07CFF"/>
            </a:solidFill>
            <a:prstDash val="solid"/>
          </a:ln>
        </p:spPr>
        <p:txBody>
          <a:bodyPr/>
          <a:lstStyle/>
          <a:p>
            <a:endParaRPr lang="he-IL" dirty="0"/>
          </a:p>
        </p:txBody>
      </p:sp>
      <p:sp>
        <p:nvSpPr>
          <p:cNvPr id="29" name="Text 27"/>
          <p:cNvSpPr/>
          <p:nvPr/>
        </p:nvSpPr>
        <p:spPr>
          <a:xfrm>
            <a:off x="630936" y="5001768"/>
            <a:ext cx="11103559" cy="365760"/>
          </a:xfrm>
          <a:prstGeom prst="rect">
            <a:avLst/>
          </a:prstGeom>
          <a:noFill/>
          <a:ln/>
        </p:spPr>
        <p:txBody>
          <a:bodyPr wrap="square" lIns="0" tIns="0" rIns="0" bIns="0" rtlCol="0" anchor="t"/>
          <a:lstStyle/>
          <a:p>
            <a:pPr marL="0" indent="0">
              <a:lnSpc>
                <a:spcPct val="110000"/>
              </a:lnSpc>
              <a:buNone/>
            </a:pPr>
            <a:r>
              <a:rPr lang="en-US" sz="1250" dirty="0">
                <a:solidFill>
                  <a:srgbClr val="F4F7FB"/>
                </a:solidFill>
                <a:latin typeface="Calibri" pitchFamily="34" charset="0"/>
                <a:ea typeface="Calibri" pitchFamily="34" charset="-122"/>
                <a:cs typeface="Calibri" pitchFamily="34" charset="-120"/>
              </a:rPr>
              <a:t>The VMs, networking and storage that Databricks runs on are not covered by the pre-purchase and cost $63,501 across May to July alone.</a:t>
            </a:r>
            <a:endParaRPr lang="en-US" sz="1250" dirty="0"/>
          </a:p>
        </p:txBody>
      </p:sp>
      <p:sp>
        <p:nvSpPr>
          <p:cNvPr id="31" name="Text 29"/>
          <p:cNvSpPr/>
          <p:nvPr/>
        </p:nvSpPr>
        <p:spPr>
          <a:xfrm>
            <a:off x="630936" y="5568696"/>
            <a:ext cx="11103559" cy="182880"/>
          </a:xfrm>
          <a:prstGeom prst="rect">
            <a:avLst/>
          </a:prstGeom>
          <a:noFill/>
          <a:ln/>
        </p:spPr>
        <p:txBody>
          <a:bodyPr wrap="square" lIns="0" tIns="0" rIns="0" bIns="0" rtlCol="0" anchor="t"/>
          <a:lstStyle/>
          <a:p>
            <a:pPr marL="0" indent="0">
              <a:lnSpc>
                <a:spcPct val="110000"/>
              </a:lnSpc>
              <a:buNone/>
            </a:pP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txBody>
          <a:bodyPr/>
          <a:lstStyle/>
          <a:p>
            <a:endParaRPr lang="he-IL"/>
          </a:p>
        </p:txBody>
      </p:sp>
      <p:sp>
        <p:nvSpPr>
          <p:cNvPr id="3" name="Shape 1"/>
          <p:cNvSpPr/>
          <p:nvPr/>
        </p:nvSpPr>
        <p:spPr>
          <a:xfrm>
            <a:off x="457200" y="306324"/>
            <a:ext cx="109728" cy="109728"/>
          </a:xfrm>
          <a:prstGeom prst="ellipse">
            <a:avLst/>
          </a:prstGeom>
          <a:solidFill>
            <a:srgbClr val="3DD9EB"/>
          </a:solidFill>
          <a:ln w="12700">
            <a:solidFill>
              <a:srgbClr val="3DD9EB"/>
            </a:solidFill>
            <a:prstDash val="solid"/>
          </a:ln>
        </p:spPr>
        <p:txBody>
          <a:bodyPr/>
          <a:lstStyle/>
          <a:p>
            <a:endParaRPr lang="he-IL"/>
          </a:p>
        </p:txBody>
      </p:sp>
      <p:sp>
        <p:nvSpPr>
          <p:cNvPr id="4" name="Text 2"/>
          <p:cNvSpPr/>
          <p:nvPr/>
        </p:nvSpPr>
        <p:spPr>
          <a:xfrm>
            <a:off x="640080" y="274320"/>
            <a:ext cx="7315200" cy="237744"/>
          </a:xfrm>
          <a:prstGeom prst="rect">
            <a:avLst/>
          </a:prstGeom>
          <a:noFill/>
          <a:ln/>
        </p:spPr>
        <p:txBody>
          <a:bodyPr wrap="square" lIns="0" tIns="0" rIns="0" bIns="0" rtlCol="0" anchor="ctr"/>
          <a:lstStyle/>
          <a:p>
            <a:pPr marL="0" indent="0">
              <a:buNone/>
            </a:pPr>
            <a:r>
              <a:rPr lang="en-US" sz="1300" b="1" kern="0" spc="200" dirty="0">
                <a:solidFill>
                  <a:srgbClr val="3DD9EB"/>
                </a:solidFill>
                <a:latin typeface="Calibri" pitchFamily="34" charset="0"/>
                <a:ea typeface="Calibri" pitchFamily="34" charset="-122"/>
                <a:cs typeface="Calibri" pitchFamily="34" charset="-120"/>
              </a:rPr>
              <a:t>NEXT STEPS</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marL="0" indent="0">
              <a:buNone/>
            </a:pPr>
            <a:endParaRPr lang="en-US" sz="2800" dirty="0"/>
          </a:p>
        </p:txBody>
      </p:sp>
      <p:sp>
        <p:nvSpPr>
          <p:cNvPr id="6" name="Text 4"/>
          <p:cNvSpPr/>
          <p:nvPr/>
        </p:nvSpPr>
        <p:spPr>
          <a:xfrm>
            <a:off x="8321040" y="493776"/>
            <a:ext cx="3413455" cy="658368"/>
          </a:xfrm>
          <a:prstGeom prst="rect">
            <a:avLst/>
          </a:prstGeom>
          <a:noFill/>
          <a:ln/>
        </p:spPr>
        <p:txBody>
          <a:bodyPr wrap="square" lIns="0" tIns="0" rIns="0" bIns="0" rtlCol="0" anchor="t"/>
          <a:lstStyle/>
          <a:p>
            <a:pPr marL="0" indent="0" algn="r">
              <a:lnSpc>
                <a:spcPct val="115000"/>
              </a:lnSpc>
              <a:buNone/>
            </a:pPr>
            <a:endParaRPr lang="en-US" sz="1200" dirty="0"/>
          </a:p>
        </p:txBody>
      </p:sp>
      <p:sp>
        <p:nvSpPr>
          <p:cNvPr id="7" name="Text 5"/>
          <p:cNvSpPr/>
          <p:nvPr/>
        </p:nvSpPr>
        <p:spPr>
          <a:xfrm>
            <a:off x="457200" y="1234440"/>
            <a:ext cx="10972800" cy="237744"/>
          </a:xfrm>
          <a:prstGeom prst="rect">
            <a:avLst/>
          </a:prstGeom>
          <a:noFill/>
          <a:ln/>
        </p:spPr>
        <p:txBody>
          <a:bodyPr wrap="square" lIns="0" tIns="0" rIns="0" bIns="0" rtlCol="0" anchor="ctr"/>
          <a:lstStyle/>
          <a:p>
            <a:pPr marL="0" indent="0">
              <a:buNone/>
            </a:pPr>
            <a:r>
              <a:rPr lang="en-US" sz="1500" b="1" dirty="0">
                <a:solidFill>
                  <a:srgbClr val="F4F7FB"/>
                </a:solidFill>
                <a:latin typeface="Calibri" pitchFamily="34" charset="0"/>
                <a:ea typeface="Calibri" pitchFamily="34" charset="-122"/>
                <a:cs typeface="Calibri" pitchFamily="34" charset="-120"/>
              </a:rPr>
              <a:t>Open items</a:t>
            </a:r>
            <a:endParaRPr lang="en-US" sz="1500" dirty="0"/>
          </a:p>
        </p:txBody>
      </p:sp>
      <p:graphicFrame>
        <p:nvGraphicFramePr>
          <p:cNvPr id="27" name="Table 0"/>
          <p:cNvGraphicFramePr>
            <a:graphicFrameLocks noGrp="1"/>
          </p:cNvGraphicFramePr>
          <p:nvPr/>
        </p:nvGraphicFramePr>
        <p:xfrm>
          <a:off x="457200" y="818388"/>
          <a:ext cx="10972800" cy="3969706"/>
        </p:xfrm>
        <a:graphic>
          <a:graphicData uri="http://schemas.openxmlformats.org/drawingml/2006/table">
            <a:tbl>
              <a:tblPr/>
              <a:tblGrid>
                <a:gridCol w="41148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5303520">
                  <a:extLst>
                    <a:ext uri="{9D8B030D-6E8A-4147-A177-3AD203B41FA5}">
                      <a16:colId xmlns:a16="http://schemas.microsoft.com/office/drawing/2014/main" val="20002"/>
                    </a:ext>
                  </a:extLst>
                </a:gridCol>
                <a:gridCol w="105156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tblGrid>
              <a:tr h="577282">
                <a:tc>
                  <a:txBody>
                    <a:bodyPr/>
                    <a:lstStyle/>
                    <a:p>
                      <a:pPr marL="0" indent="0" algn="ctr">
                        <a:buNone/>
                      </a:pPr>
                      <a:r>
                        <a:rPr lang="en-US" sz="1200" b="1" kern="0" spc="80" dirty="0">
                          <a:solidFill>
                            <a:srgbClr val="91A0B7"/>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l">
                        <a:buNone/>
                      </a:pPr>
                      <a:r>
                        <a:rPr lang="en-US" sz="1200" b="1" kern="0" spc="80" dirty="0">
                          <a:solidFill>
                            <a:srgbClr val="91A0B7"/>
                          </a:solidFill>
                          <a:latin typeface="Calibri" pitchFamily="34" charset="0"/>
                          <a:ea typeface="Calibri" pitchFamily="34" charset="-122"/>
                          <a:cs typeface="Calibri" pitchFamily="34" charset="-120"/>
                        </a:rPr>
                        <a:t>Item</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l">
                        <a:buNone/>
                      </a:pPr>
                      <a:r>
                        <a:rPr lang="en-US" sz="1200" b="1" kern="0" spc="80" dirty="0">
                          <a:solidFill>
                            <a:srgbClr val="91A0B7"/>
                          </a:solidFill>
                          <a:latin typeface="Calibri" pitchFamily="34" charset="0"/>
                          <a:ea typeface="Calibri" pitchFamily="34" charset="-122"/>
                          <a:cs typeface="Calibri" pitchFamily="34" charset="-120"/>
                        </a:rPr>
                        <a:t>Detail</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ctr">
                        <a:buNone/>
                      </a:pPr>
                      <a:r>
                        <a:rPr lang="en-US" sz="1200" b="1" kern="0" spc="80" dirty="0">
                          <a:solidFill>
                            <a:srgbClr val="91A0B7"/>
                          </a:solidFill>
                          <a:latin typeface="Calibri" pitchFamily="34" charset="0"/>
                          <a:ea typeface="Calibri" pitchFamily="34" charset="-122"/>
                          <a:cs typeface="Calibri" pitchFamily="34" charset="-120"/>
                        </a:rPr>
                        <a:t>Status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l">
                        <a:buNone/>
                      </a:pPr>
                      <a:r>
                        <a:rPr lang="en-US" sz="1200" b="1" kern="0" spc="80" dirty="0">
                          <a:solidFill>
                            <a:srgbClr val="91A0B7"/>
                          </a:solidFill>
                          <a:latin typeface="Calibri" pitchFamily="34" charset="0"/>
                          <a:ea typeface="Calibri" pitchFamily="34" charset="-122"/>
                          <a:cs typeface="Calibri" pitchFamily="34" charset="-120"/>
                        </a:rPr>
                        <a:t>Owner</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extLst>
                  <a:ext uri="{0D108BD9-81ED-4DB2-BD59-A6C34878D82A}">
                    <a16:rowId xmlns:a16="http://schemas.microsoft.com/office/drawing/2014/main" val="10000"/>
                  </a:ext>
                </a:extLst>
              </a:tr>
              <a:tr h="727770">
                <a:tc>
                  <a:txBody>
                    <a:bodyPr/>
                    <a:lstStyle/>
                    <a:p>
                      <a:pPr marL="0" indent="0" algn="ctr">
                        <a:buNone/>
                      </a:pPr>
                      <a:r>
                        <a:rPr lang="en-US" sz="1200" b="1" dirty="0">
                          <a:solidFill>
                            <a:srgbClr val="F4F7FB"/>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l">
                        <a:buNone/>
                      </a:pPr>
                      <a:r>
                        <a:rPr lang="en-US" sz="1200" dirty="0">
                          <a:solidFill>
                            <a:srgbClr val="F4F7FB"/>
                          </a:solidFill>
                          <a:latin typeface="Calibri" pitchFamily="34" charset="0"/>
                          <a:ea typeface="Calibri" pitchFamily="34" charset="-122"/>
                          <a:cs typeface="Calibri" pitchFamily="34" charset="-120"/>
                        </a:rPr>
                        <a:t>Savings and efficiency programme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l">
                        <a:buNone/>
                      </a:pPr>
                      <a:r>
                        <a:rPr lang="en-US" sz="1200" dirty="0">
                          <a:solidFill>
                            <a:srgbClr val="F4F7FB"/>
                          </a:solidFill>
                          <a:latin typeface="Calibri" pitchFamily="34" charset="0"/>
                          <a:ea typeface="Calibri" pitchFamily="34" charset="-122"/>
                          <a:cs typeface="Calibri" pitchFamily="34" charset="-120"/>
                        </a:rPr>
                        <a:t>Deliver the Cloud FinOps savings plan: right-sizing, auto-shutdown, reserved instances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ctr">
                        <a:buNone/>
                      </a:pPr>
                      <a:r>
                        <a:rPr lang="en-US" sz="1200" dirty="0">
                          <a:solidFill>
                            <a:srgbClr val="E0A030"/>
                          </a:solidFill>
                          <a:latin typeface="Calibri" pitchFamily="34" charset="0"/>
                          <a:ea typeface="Calibri" pitchFamily="34" charset="-122"/>
                          <a:cs typeface="Calibri" pitchFamily="34" charset="-120"/>
                        </a:rPr>
                        <a:t>Planned</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l">
                        <a:buNone/>
                      </a:pPr>
                      <a:r>
                        <a:rPr lang="en-US" sz="1200" dirty="0">
                          <a:solidFill>
                            <a:srgbClr val="F4F7FB"/>
                          </a:solidFill>
                          <a:latin typeface="Calibri" pitchFamily="34" charset="0"/>
                          <a:ea typeface="Calibri" pitchFamily="34" charset="-122"/>
                          <a:cs typeface="Calibri" pitchFamily="34" charset="-120"/>
                        </a:rPr>
                        <a:t>Infrastructure Division&amp;</a:t>
                      </a:r>
                    </a:p>
                    <a:p>
                      <a:pPr marL="0" indent="0" algn="l">
                        <a:buNone/>
                      </a:pPr>
                      <a:r>
                        <a:rPr lang="en-US" sz="1200" dirty="0" err="1">
                          <a:solidFill>
                            <a:srgbClr val="F4F7FB"/>
                          </a:solidFill>
                          <a:latin typeface="Calibri" pitchFamily="34" charset="0"/>
                          <a:ea typeface="Calibri" pitchFamily="34" charset="-122"/>
                          <a:cs typeface="Calibri" pitchFamily="34" charset="-120"/>
                        </a:rPr>
                        <a:t>CloudOps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extLst>
                  <a:ext uri="{0D108BD9-81ED-4DB2-BD59-A6C34878D82A}">
                    <a16:rowId xmlns:a16="http://schemas.microsoft.com/office/drawing/2014/main" val="10001"/>
                  </a:ext>
                </a:extLst>
              </a:tr>
              <a:tr h="727770">
                <a:tc>
                  <a:txBody>
                    <a:bodyPr/>
                    <a:lstStyle/>
                    <a:p>
                      <a:pPr marL="0" indent="0" algn="ctr">
                        <a:buNone/>
                      </a:pPr>
                      <a:r>
                        <a:rPr lang="en-US" sz="1200" b="1" dirty="0">
                          <a:solidFill>
                            <a:srgbClr val="F4F7FB"/>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l">
                        <a:buNone/>
                      </a:pPr>
                      <a:r>
                        <a:rPr lang="en-US" sz="1200" dirty="0">
                          <a:solidFill>
                            <a:srgbClr val="F4F7FB"/>
                          </a:solidFill>
                          <a:latin typeface="Calibri" pitchFamily="34" charset="0"/>
                          <a:ea typeface="Calibri" pitchFamily="34" charset="-122"/>
                          <a:cs typeface="Calibri" pitchFamily="34" charset="-120"/>
                        </a:rPr>
                        <a:t>Analytics Tools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F4F7FB"/>
                          </a:solidFill>
                          <a:latin typeface="Calibri" pitchFamily="34" charset="0"/>
                          <a:ea typeface="Calibri" pitchFamily="34" charset="-122"/>
                          <a:cs typeface="Calibri" pitchFamily="34" charset="-120"/>
                        </a:rPr>
                        <a:t>Deploy the WIV.AI platform for governance, cost and usage monitoring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F4F7FB"/>
                          </a:solidFill>
                          <a:latin typeface="Calibri" pitchFamily="34" charset="0"/>
                          <a:ea typeface="Calibri" pitchFamily="34" charset="-122"/>
                          <a:cs typeface="Calibri" pitchFamily="34" charset="-120"/>
                        </a:rPr>
                        <a:t>Power BI For Billing Analytics</a:t>
                      </a:r>
                      <a:endParaRPr lang="en-US" sz="1200" dirty="0">
                        <a:latin typeface="Calibri" charset="0"/>
                        <a:ea typeface="Calibri" charset="0"/>
                        <a:cs typeface="Calibri"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F4F7FB"/>
                          </a:solidFill>
                          <a:latin typeface="Calibri" pitchFamily="34" charset="0"/>
                          <a:ea typeface="Calibri" pitchFamily="34" charset="-122"/>
                          <a:cs typeface="Calibri" pitchFamily="34" charset="-120"/>
                        </a:rPr>
                        <a:t>Elastic For Azure Billing Module </a:t>
                      </a:r>
                    </a:p>
                    <a:p>
                      <a:pPr marL="0" indent="0" algn="l">
                        <a:buNone/>
                      </a:pP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ctr">
                        <a:buNone/>
                      </a:pPr>
                      <a:r>
                        <a:rPr lang="en-US" sz="1200" dirty="0">
                          <a:solidFill>
                            <a:srgbClr val="3DD9EB"/>
                          </a:solidFill>
                          <a:latin typeface="Calibri" pitchFamily="34" charset="0"/>
                          <a:ea typeface="Calibri" pitchFamily="34" charset="-122"/>
                          <a:cs typeface="Calibri" pitchFamily="34" charset="-120"/>
                        </a:rPr>
                        <a:t>In progress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l">
                        <a:buNone/>
                      </a:pPr>
                      <a:r>
                        <a:rPr lang="en-US" sz="1200" dirty="0">
                          <a:solidFill>
                            <a:srgbClr val="F4F7FB"/>
                          </a:solidFill>
                          <a:latin typeface="Calibri" pitchFamily="34" charset="0"/>
                          <a:ea typeface="Calibri" pitchFamily="34" charset="-122"/>
                          <a:cs typeface="Calibri" pitchFamily="34" charset="-120"/>
                        </a:rPr>
                        <a:t>Ariel Oral</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extLst>
                  <a:ext uri="{0D108BD9-81ED-4DB2-BD59-A6C34878D82A}">
                    <a16:rowId xmlns:a16="http://schemas.microsoft.com/office/drawing/2014/main" val="10002"/>
                  </a:ext>
                </a:extLst>
              </a:tr>
              <a:tr h="727770">
                <a:tc>
                  <a:txBody>
                    <a:bodyPr/>
                    <a:lstStyle/>
                    <a:p>
                      <a:pPr marL="0" indent="0" algn="ctr">
                        <a:buNone/>
                      </a:pPr>
                      <a:r>
                        <a:rPr lang="en-US" sz="1200" b="1" dirty="0">
                          <a:solidFill>
                            <a:srgbClr val="F4F7FB"/>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l">
                        <a:buNone/>
                      </a:pPr>
                      <a:r>
                        <a:rPr lang="en-US" sz="1200" dirty="0">
                          <a:solidFill>
                            <a:srgbClr val="F4F7FB"/>
                          </a:solidFill>
                          <a:latin typeface="Calibri" pitchFamily="34" charset="0"/>
                          <a:ea typeface="Calibri" pitchFamily="34" charset="-122"/>
                          <a:cs typeface="Calibri" pitchFamily="34" charset="-120"/>
                        </a:rPr>
                        <a:t>Two-layer tagging</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l">
                        <a:buNone/>
                      </a:pPr>
                      <a:r>
                        <a:rPr lang="en-US" sz="1200" dirty="0">
                          <a:solidFill>
                            <a:srgbClr val="F4F7FB"/>
                          </a:solidFill>
                          <a:latin typeface="Calibri" pitchFamily="34" charset="0"/>
                          <a:ea typeface="Calibri" pitchFamily="34" charset="-122"/>
                          <a:cs typeface="Calibri" pitchFamily="34" charset="-120"/>
                        </a:rPr>
                        <a:t>Resource tags (Service, Application, Cost Center, Environment) for chargeback, plus per-request metadata (use case, agent, model, provider) injected at the AI gateway</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ctr">
                        <a:buNone/>
                      </a:pPr>
                      <a:r>
                        <a:rPr lang="en-US" sz="1200" dirty="0">
                          <a:solidFill>
                            <a:srgbClr val="3DD9EB"/>
                          </a:solidFill>
                          <a:latin typeface="Calibri" pitchFamily="34" charset="0"/>
                          <a:ea typeface="Calibri" pitchFamily="34" charset="-122"/>
                          <a:cs typeface="Calibri" pitchFamily="34" charset="-120"/>
                        </a:rPr>
                        <a:t>In progress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l">
                        <a:buNone/>
                      </a:pPr>
                      <a:r>
                        <a:rPr lang="en-US" sz="1200" dirty="0">
                          <a:solidFill>
                            <a:srgbClr val="F4F7FB"/>
                          </a:solidFill>
                          <a:latin typeface="Calibri" pitchFamily="34" charset="0"/>
                          <a:ea typeface="Calibri" pitchFamily="34" charset="-122"/>
                          <a:cs typeface="Calibri" pitchFamily="34" charset="-120"/>
                        </a:rPr>
                        <a:t>Ariel Oral</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extLst>
                  <a:ext uri="{0D108BD9-81ED-4DB2-BD59-A6C34878D82A}">
                    <a16:rowId xmlns:a16="http://schemas.microsoft.com/office/drawing/2014/main" val="10003"/>
                  </a:ext>
                </a:extLst>
              </a:tr>
              <a:tr h="577282">
                <a:tc>
                  <a:txBody>
                    <a:bodyPr/>
                    <a:lstStyle/>
                    <a:p>
                      <a:pPr marL="0" indent="0" algn="ctr">
                        <a:buNone/>
                      </a:pPr>
                      <a:r>
                        <a:rPr lang="en-US" sz="1200" b="1" dirty="0">
                          <a:solidFill>
                            <a:srgbClr val="F4F7FB"/>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l">
                        <a:buNone/>
                      </a:pPr>
                      <a:r>
                        <a:rPr lang="en-US" sz="1200" dirty="0">
                          <a:solidFill>
                            <a:srgbClr val="F4F7FB"/>
                          </a:solidFill>
                          <a:latin typeface="Calibri" pitchFamily="34" charset="0"/>
                          <a:ea typeface="Calibri" pitchFamily="34" charset="-122"/>
                          <a:cs typeface="Calibri" pitchFamily="34" charset="-120"/>
                        </a:rPr>
                        <a:t>AWS FinOps agent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l">
                        <a:buNone/>
                      </a:pPr>
                      <a:r>
                        <a:rPr lang="en-US" sz="1200" dirty="0">
                          <a:solidFill>
                            <a:srgbClr val="F4F7FB"/>
                          </a:solidFill>
                          <a:latin typeface="Calibri" pitchFamily="34" charset="0"/>
                          <a:ea typeface="Calibri" pitchFamily="34" charset="-122"/>
                          <a:cs typeface="Calibri" pitchFamily="34" charset="-120"/>
                        </a:rPr>
                        <a:t>Automated cost analysis, savings recommendations and AWS service optimisation</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ctr">
                        <a:buNone/>
                      </a:pPr>
                      <a:r>
                        <a:rPr lang="en-US" sz="1200" dirty="0">
                          <a:solidFill>
                            <a:srgbClr val="3DD9EB"/>
                          </a:solidFill>
                          <a:latin typeface="Calibri" pitchFamily="34" charset="0"/>
                          <a:ea typeface="Calibri" pitchFamily="34" charset="-122"/>
                          <a:cs typeface="Calibri" pitchFamily="34" charset="-120"/>
                        </a:rPr>
                        <a:t>In progress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l">
                        <a:buNone/>
                      </a:pPr>
                      <a:r>
                        <a:rPr lang="en-US" sz="1200" dirty="0">
                          <a:solidFill>
                            <a:srgbClr val="F4F7FB"/>
                          </a:solidFill>
                          <a:latin typeface="Calibri" pitchFamily="34" charset="0"/>
                          <a:ea typeface="Calibri" pitchFamily="34" charset="-122"/>
                          <a:cs typeface="Calibri" pitchFamily="34" charset="-120"/>
                        </a:rPr>
                        <a:t>Ariel</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extLst>
                  <a:ext uri="{0D108BD9-81ED-4DB2-BD59-A6C34878D82A}">
                    <a16:rowId xmlns:a16="http://schemas.microsoft.com/office/drawing/2014/main" val="10004"/>
                  </a:ext>
                </a:extLst>
              </a:tr>
              <a:tr h="577282">
                <a:tc>
                  <a:txBody>
                    <a:bodyPr/>
                    <a:lstStyle/>
                    <a:p>
                      <a:pPr marL="0" indent="0" algn="ctr">
                        <a:buNone/>
                      </a:pPr>
                      <a:r>
                        <a:rPr lang="en-US" sz="1200" b="1" dirty="0">
                          <a:solidFill>
                            <a:srgbClr val="F4F7FB"/>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l">
                        <a:buNone/>
                      </a:pPr>
                      <a:r>
                        <a:rPr lang="en-US" sz="1200" dirty="0">
                          <a:solidFill>
                            <a:srgbClr val="F4F7FB"/>
                          </a:solidFill>
                          <a:latin typeface="Calibri" pitchFamily="34" charset="0"/>
                          <a:ea typeface="Calibri" pitchFamily="34" charset="-122"/>
                          <a:cs typeface="Calibri" pitchFamily="34" charset="-120"/>
                        </a:rPr>
                        <a:t>Databricks commitment optimisation</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l">
                        <a:buNone/>
                      </a:pPr>
                      <a:r>
                        <a:rPr lang="en-US" sz="1200" dirty="0">
                          <a:solidFill>
                            <a:srgbClr val="F4F7FB"/>
                          </a:solidFill>
                          <a:latin typeface="Calibri" pitchFamily="34" charset="0"/>
                          <a:ea typeface="Calibri" pitchFamily="34" charset="-122"/>
                          <a:cs typeface="Calibri" pitchFamily="34" charset="-120"/>
                        </a:rPr>
                        <a:t>Raise DBU commitment utilisation from 18%, track it monthly, and tune Classic vs Serverless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ctr">
                        <a:buNone/>
                      </a:pPr>
                      <a:r>
                        <a:rPr lang="en-US" sz="1200" dirty="0">
                          <a:solidFill>
                            <a:srgbClr val="91A0B7"/>
                          </a:solidFill>
                          <a:latin typeface="Calibri" pitchFamily="34" charset="0"/>
                          <a:ea typeface="Calibri" pitchFamily="34" charset="-122"/>
                          <a:cs typeface="Calibri" pitchFamily="34" charset="-120"/>
                        </a:rPr>
                        <a:t>To scope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l">
                        <a:buNone/>
                      </a:pPr>
                      <a:r>
                        <a:rPr lang="en-US" sz="1200" dirty="0">
                          <a:solidFill>
                            <a:srgbClr val="F4F7FB"/>
                          </a:solidFill>
                          <a:latin typeface="Calibri" pitchFamily="34" charset="0"/>
                          <a:ea typeface="Calibri" pitchFamily="34" charset="-122"/>
                          <a:cs typeface="Calibri" pitchFamily="34" charset="-120"/>
                        </a:rPr>
                        <a:t>TBD</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extLst>
                  <a:ext uri="{0D108BD9-81ED-4DB2-BD59-A6C34878D82A}">
                    <a16:rowId xmlns:a16="http://schemas.microsoft.com/office/drawing/2014/main" val="10005"/>
                  </a:ext>
                </a:extLst>
              </a:tr>
            </a:tbl>
          </a:graphicData>
        </a:graphic>
      </p:graphicFrame>
      <p:sp>
        <p:nvSpPr>
          <p:cNvPr id="9" name="Shape 6"/>
          <p:cNvSpPr/>
          <p:nvPr/>
        </p:nvSpPr>
        <p:spPr>
          <a:xfrm>
            <a:off x="457200" y="5074920"/>
            <a:ext cx="3606698" cy="1078992"/>
          </a:xfrm>
          <a:prstGeom prst="roundRect">
            <a:avLst>
              <a:gd name="adj" fmla="val 5085"/>
            </a:avLst>
          </a:prstGeom>
          <a:solidFill>
            <a:srgbClr val="121B2D"/>
          </a:solidFill>
          <a:ln w="12700">
            <a:solidFill>
              <a:srgbClr val="23304A"/>
            </a:solidFill>
            <a:prstDash val="solid"/>
          </a:ln>
        </p:spPr>
        <p:txBody>
          <a:bodyPr/>
          <a:lstStyle/>
          <a:p>
            <a:endParaRPr lang="he-IL"/>
          </a:p>
        </p:txBody>
      </p:sp>
      <p:sp>
        <p:nvSpPr>
          <p:cNvPr id="10" name="Text 7"/>
          <p:cNvSpPr/>
          <p:nvPr/>
        </p:nvSpPr>
        <p:spPr>
          <a:xfrm>
            <a:off x="658368" y="5166360"/>
            <a:ext cx="3204362"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DECISION NEEDED</a:t>
            </a:r>
            <a:endParaRPr lang="en-US" sz="1200" dirty="0"/>
          </a:p>
        </p:txBody>
      </p:sp>
      <p:sp>
        <p:nvSpPr>
          <p:cNvPr id="11" name="Text 8"/>
          <p:cNvSpPr/>
          <p:nvPr/>
        </p:nvSpPr>
        <p:spPr>
          <a:xfrm>
            <a:off x="658368" y="5367528"/>
            <a:ext cx="3204362"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4 items</a:t>
            </a:r>
            <a:endParaRPr lang="en-US" sz="2800" dirty="0"/>
          </a:p>
        </p:txBody>
      </p:sp>
      <p:sp>
        <p:nvSpPr>
          <p:cNvPr id="12" name="Text 9"/>
          <p:cNvSpPr/>
          <p:nvPr/>
        </p:nvSpPr>
        <p:spPr>
          <a:xfrm>
            <a:off x="658368" y="5769864"/>
            <a:ext cx="3204362" cy="329184"/>
          </a:xfrm>
          <a:prstGeom prst="rect">
            <a:avLst/>
          </a:prstGeom>
          <a:noFill/>
          <a:ln/>
        </p:spPr>
        <p:txBody>
          <a:bodyPr wrap="square" lIns="0" tIns="0" rIns="0" bIns="0" rtlCol="0" anchor="t"/>
          <a:lstStyle/>
          <a:p>
            <a:pPr marL="0" indent="0">
              <a:lnSpc>
                <a:spcPct val="105000"/>
              </a:lnSpc>
              <a:buNone/>
            </a:pPr>
            <a:r>
              <a:rPr lang="en-US" sz="1200" b="1" dirty="0">
                <a:solidFill>
                  <a:srgbClr val="E0A030"/>
                </a:solidFill>
                <a:latin typeface="Calibri" pitchFamily="34" charset="0"/>
                <a:ea typeface="Calibri" pitchFamily="34" charset="-122"/>
                <a:cs typeface="Calibri" pitchFamily="34" charset="-120"/>
              </a:rPr>
              <a:t>the $193K recommendation list</a:t>
            </a:r>
            <a:endParaRPr lang="en-US" sz="1200" dirty="0"/>
          </a:p>
        </p:txBody>
      </p:sp>
      <p:sp>
        <p:nvSpPr>
          <p:cNvPr id="13" name="Shape 10"/>
          <p:cNvSpPr/>
          <p:nvPr/>
        </p:nvSpPr>
        <p:spPr>
          <a:xfrm>
            <a:off x="4292498" y="5074920"/>
            <a:ext cx="3606698" cy="1078992"/>
          </a:xfrm>
          <a:prstGeom prst="roundRect">
            <a:avLst>
              <a:gd name="adj" fmla="val 5085"/>
            </a:avLst>
          </a:prstGeom>
          <a:solidFill>
            <a:srgbClr val="121B2D"/>
          </a:solidFill>
          <a:ln w="12700">
            <a:solidFill>
              <a:srgbClr val="23304A"/>
            </a:solidFill>
            <a:prstDash val="solid"/>
          </a:ln>
        </p:spPr>
        <p:txBody>
          <a:bodyPr/>
          <a:lstStyle/>
          <a:p>
            <a:endParaRPr lang="he-IL"/>
          </a:p>
        </p:txBody>
      </p:sp>
      <p:sp>
        <p:nvSpPr>
          <p:cNvPr id="14" name="Text 11"/>
          <p:cNvSpPr/>
          <p:nvPr/>
        </p:nvSpPr>
        <p:spPr>
          <a:xfrm>
            <a:off x="4493666" y="5166360"/>
            <a:ext cx="3204362"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DEPENDENCY</a:t>
            </a:r>
            <a:endParaRPr lang="en-US" sz="1200" dirty="0"/>
          </a:p>
        </p:txBody>
      </p:sp>
      <p:sp>
        <p:nvSpPr>
          <p:cNvPr id="15" name="Text 12"/>
          <p:cNvSpPr/>
          <p:nvPr/>
        </p:nvSpPr>
        <p:spPr>
          <a:xfrm>
            <a:off x="4493666" y="5367528"/>
            <a:ext cx="3204362"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Tagging</a:t>
            </a:r>
            <a:endParaRPr lang="en-US" sz="2800" dirty="0"/>
          </a:p>
        </p:txBody>
      </p:sp>
      <p:sp>
        <p:nvSpPr>
          <p:cNvPr id="16" name="Text 13"/>
          <p:cNvSpPr/>
          <p:nvPr/>
        </p:nvSpPr>
        <p:spPr>
          <a:xfrm>
            <a:off x="4493666" y="5769864"/>
            <a:ext cx="3204362" cy="329184"/>
          </a:xfrm>
          <a:prstGeom prst="rect">
            <a:avLst/>
          </a:prstGeom>
          <a:noFill/>
          <a:ln/>
        </p:spPr>
        <p:txBody>
          <a:bodyPr wrap="square" lIns="0" tIns="0" rIns="0" bIns="0" rtlCol="0" anchor="t"/>
          <a:lstStyle/>
          <a:p>
            <a:pPr marL="0" indent="0">
              <a:lnSpc>
                <a:spcPct val="105000"/>
              </a:lnSpc>
              <a:buNone/>
            </a:pPr>
            <a:r>
              <a:rPr lang="en-US" sz="1200" b="1" dirty="0">
                <a:solidFill>
                  <a:srgbClr val="3DD9EB"/>
                </a:solidFill>
                <a:latin typeface="Calibri" pitchFamily="34" charset="0"/>
                <a:ea typeface="Calibri" pitchFamily="34" charset="-122"/>
                <a:cs typeface="Calibri" pitchFamily="34" charset="-120"/>
              </a:rPr>
              <a:t>item 3 blocks chargeback</a:t>
            </a:r>
            <a:endParaRPr lang="en-US" sz="1200" dirty="0"/>
          </a:p>
        </p:txBody>
      </p:sp>
      <p:sp>
        <p:nvSpPr>
          <p:cNvPr id="18" name="Text 15"/>
          <p:cNvSpPr/>
          <p:nvPr/>
        </p:nvSpPr>
        <p:spPr>
          <a:xfrm>
            <a:off x="8328965" y="5166360"/>
            <a:ext cx="3204362" cy="237744"/>
          </a:xfrm>
          <a:prstGeom prst="rect">
            <a:avLst/>
          </a:prstGeom>
          <a:noFill/>
          <a:ln/>
        </p:spPr>
        <p:txBody>
          <a:bodyPr wrap="square" lIns="0" tIns="0" rIns="0" bIns="0" rtlCol="0" anchor="ctr"/>
          <a:lstStyle/>
          <a:p>
            <a:pPr marL="0" indent="0">
              <a:buNone/>
            </a:pPr>
            <a:endParaRPr lang="en-US" sz="1200" dirty="0"/>
          </a:p>
        </p:txBody>
      </p:sp>
      <p:sp>
        <p:nvSpPr>
          <p:cNvPr id="19" name="Text 16"/>
          <p:cNvSpPr/>
          <p:nvPr/>
        </p:nvSpPr>
        <p:spPr>
          <a:xfrm>
            <a:off x="8328965" y="5367528"/>
            <a:ext cx="3204362" cy="438912"/>
          </a:xfrm>
          <a:prstGeom prst="rect">
            <a:avLst/>
          </a:prstGeom>
          <a:noFill/>
          <a:ln/>
        </p:spPr>
        <p:txBody>
          <a:bodyPr wrap="square" lIns="0" tIns="0" rIns="0" bIns="0" rtlCol="0" anchor="ctr"/>
          <a:lstStyle/>
          <a:p>
            <a:pPr marL="0" indent="0">
              <a:buNone/>
            </a:pPr>
            <a:endParaRPr lang="en-US" sz="2800" dirty="0"/>
          </a:p>
        </p:txBody>
      </p:sp>
      <p:sp>
        <p:nvSpPr>
          <p:cNvPr id="20" name="Text 17"/>
          <p:cNvSpPr/>
          <p:nvPr/>
        </p:nvSpPr>
        <p:spPr>
          <a:xfrm>
            <a:off x="8328965" y="5769864"/>
            <a:ext cx="3204362" cy="329184"/>
          </a:xfrm>
          <a:prstGeom prst="rect">
            <a:avLst/>
          </a:prstGeom>
          <a:noFill/>
          <a:ln/>
        </p:spPr>
        <p:txBody>
          <a:bodyPr wrap="square" lIns="0" tIns="0" rIns="0" bIns="0" rtlCol="0" anchor="t"/>
          <a:lstStyle/>
          <a:p>
            <a:pPr marL="0" indent="0">
              <a:lnSpc>
                <a:spcPct val="105000"/>
              </a:lnSpc>
              <a:buNone/>
            </a:pPr>
            <a:endParaRPr lang="en-US" sz="1200" dirty="0"/>
          </a:p>
        </p:txBody>
      </p:sp>
    </p:spTree>
    <p:extLst>
      <p:ext uri="{BB962C8B-B14F-4D97-AF65-F5344CB8AC3E}">
        <p14:creationId xmlns:p14="http://schemas.microsoft.com/office/powerpoint/2010/main" val="28881969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3">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txBody>
          <a:bodyPr/>
          <a:lstStyle/>
          <a:p>
            <a:endParaRPr lang="he-IL" dirty="0"/>
          </a:p>
        </p:txBody>
      </p:sp>
      <p:sp>
        <p:nvSpPr>
          <p:cNvPr id="3" name="Shape 1"/>
          <p:cNvSpPr/>
          <p:nvPr/>
        </p:nvSpPr>
        <p:spPr>
          <a:xfrm>
            <a:off x="457200" y="306324"/>
            <a:ext cx="109728" cy="109728"/>
          </a:xfrm>
          <a:prstGeom prst="ellipse">
            <a:avLst/>
          </a:prstGeom>
          <a:solidFill>
            <a:srgbClr val="E0A030"/>
          </a:solidFill>
          <a:ln w="12700">
            <a:solidFill>
              <a:srgbClr val="E0A030"/>
            </a:solidFill>
            <a:prstDash val="solid"/>
          </a:ln>
        </p:spPr>
        <p:txBody>
          <a:bodyPr/>
          <a:lstStyle/>
          <a:p>
            <a:endParaRPr lang="he-IL" dirty="0"/>
          </a:p>
        </p:txBody>
      </p:sp>
      <p:sp>
        <p:nvSpPr>
          <p:cNvPr id="4" name="Text 2"/>
          <p:cNvSpPr/>
          <p:nvPr/>
        </p:nvSpPr>
        <p:spPr>
          <a:xfrm>
            <a:off x="640080" y="274320"/>
            <a:ext cx="7315200" cy="237744"/>
          </a:xfrm>
          <a:prstGeom prst="rect">
            <a:avLst/>
          </a:prstGeom>
          <a:noFill/>
          <a:ln/>
        </p:spPr>
        <p:txBody>
          <a:bodyPr wrap="square" lIns="0" tIns="0" rIns="0" bIns="0" rtlCol="0" anchor="ctr"/>
          <a:lstStyle/>
          <a:p>
            <a:pPr marL="0" indent="0">
              <a:buNone/>
            </a:pPr>
            <a:r>
              <a:rPr lang="en-US" sz="1300" b="1" kern="0" spc="200" dirty="0">
                <a:solidFill>
                  <a:srgbClr val="E0A030"/>
                </a:solidFill>
                <a:latin typeface="Calibri" pitchFamily="34" charset="0"/>
                <a:ea typeface="Calibri" pitchFamily="34" charset="-122"/>
                <a:cs typeface="Calibri" pitchFamily="34" charset="-120"/>
              </a:rPr>
              <a:t>COVERAGE</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marL="0" indent="0">
              <a:buNone/>
            </a:pPr>
            <a:r>
              <a:rPr lang="en-US" sz="1953" b="1" dirty="0">
                <a:solidFill>
                  <a:srgbClr val="F4F7FB"/>
                </a:solidFill>
                <a:latin typeface="Calibri" pitchFamily="34" charset="0"/>
                <a:ea typeface="Calibri" pitchFamily="34" charset="-122"/>
                <a:cs typeface="Calibri" pitchFamily="34" charset="-120"/>
              </a:rPr>
              <a:t>Azure buys 59% at a discount, AWS 93%</a:t>
            </a:r>
            <a:endParaRPr lang="en-US" sz="1953" dirty="0"/>
          </a:p>
        </p:txBody>
      </p:sp>
      <p:sp>
        <p:nvSpPr>
          <p:cNvPr id="6" name="Text 4"/>
          <p:cNvSpPr/>
          <p:nvPr/>
        </p:nvSpPr>
        <p:spPr>
          <a:xfrm>
            <a:off x="8321040" y="493776"/>
            <a:ext cx="3413455" cy="658368"/>
          </a:xfrm>
          <a:prstGeom prst="rect">
            <a:avLst/>
          </a:prstGeom>
          <a:noFill/>
          <a:ln/>
        </p:spPr>
        <p:txBody>
          <a:bodyPr wrap="square" lIns="0" tIns="0" rIns="0" bIns="0" rtlCol="0" anchor="t"/>
          <a:lstStyle/>
          <a:p>
            <a:pPr marL="0" indent="0" algn="r">
              <a:lnSpc>
                <a:spcPct val="115000"/>
              </a:lnSpc>
              <a:buNone/>
            </a:pPr>
            <a:r>
              <a:rPr lang="en-US" sz="1200" dirty="0">
                <a:solidFill>
                  <a:srgbClr val="91A0B7"/>
                </a:solidFill>
                <a:latin typeface="Calibri" pitchFamily="34" charset="0"/>
                <a:ea typeface="Calibri" pitchFamily="34" charset="-122"/>
                <a:cs typeface="Calibri" pitchFamily="34" charset="-120"/>
              </a:rPr>
              <a:t>How each cloud's compute is actually purchased, the single biggest lever on unit cost.</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marL="0" indent="0">
              <a:lnSpc>
                <a:spcPct val="115000"/>
              </a:lnSpc>
              <a:buNone/>
            </a:pPr>
            <a:r>
              <a:rPr lang="en-US" sz="1200" dirty="0">
                <a:solidFill>
                  <a:srgbClr val="536078"/>
                </a:solidFill>
                <a:latin typeface="Calibri" pitchFamily="34" charset="0"/>
                <a:ea typeface="Calibri" pitchFamily="34" charset="-122"/>
                <a:cs typeface="Calibri" pitchFamily="34" charset="-120"/>
              </a:rPr>
              <a:t>SAP is the obvious first candidate: it is the largest Azure workload, it has not moved more than a few percent in seven months, and it is almost entirely virtual machines, the flattest, most reservable profile in the estate.</a:t>
            </a:r>
            <a:endParaRPr lang="en-US" sz="1200" dirty="0"/>
          </a:p>
        </p:txBody>
      </p:sp>
      <p:sp>
        <p:nvSpPr>
          <p:cNvPr id="8" name="Text 6"/>
          <p:cNvSpPr/>
          <p:nvPr/>
        </p:nvSpPr>
        <p:spPr>
          <a:xfrm>
            <a:off x="457200" y="1234440"/>
            <a:ext cx="4754880" cy="237744"/>
          </a:xfrm>
          <a:prstGeom prst="rect">
            <a:avLst/>
          </a:prstGeom>
          <a:noFill/>
          <a:ln/>
        </p:spPr>
        <p:txBody>
          <a:bodyPr wrap="square" lIns="0" tIns="0" rIns="0" bIns="0" rtlCol="0" anchor="ctr"/>
          <a:lstStyle/>
          <a:p>
            <a:pPr marL="0" indent="0">
              <a:buNone/>
            </a:pPr>
            <a:r>
              <a:rPr lang="en-US" sz="1500" b="1" dirty="0">
                <a:solidFill>
                  <a:srgbClr val="F4F7FB"/>
                </a:solidFill>
                <a:latin typeface="Calibri" pitchFamily="34" charset="0"/>
                <a:ea typeface="Calibri" pitchFamily="34" charset="-122"/>
                <a:cs typeface="Calibri" pitchFamily="34" charset="-120"/>
              </a:rPr>
              <a:t>AWS</a:t>
            </a:r>
            <a:endParaRPr lang="en-US" sz="1500" dirty="0"/>
          </a:p>
        </p:txBody>
      </p:sp>
      <p:sp>
        <p:nvSpPr>
          <p:cNvPr id="9" name="Text 7"/>
          <p:cNvSpPr/>
          <p:nvPr/>
        </p:nvSpPr>
        <p:spPr>
          <a:xfrm>
            <a:off x="457200" y="1508760"/>
            <a:ext cx="4754880" cy="219456"/>
          </a:xfrm>
          <a:prstGeom prst="rect">
            <a:avLst/>
          </a:prstGeom>
          <a:noFill/>
          <a:ln/>
        </p:spPr>
        <p:txBody>
          <a:bodyPr wrap="square" lIns="0" tIns="0" rIns="0" bIns="0" rtlCol="0" anchor="ctr"/>
          <a:lstStyle/>
          <a:p>
            <a:pPr marL="0" indent="0">
              <a:buNone/>
            </a:pPr>
            <a:r>
              <a:rPr lang="en-US" sz="1200" dirty="0">
                <a:solidFill>
                  <a:srgbClr val="91A0B7"/>
                </a:solidFill>
                <a:latin typeface="Calibri" pitchFamily="34" charset="0"/>
                <a:ea typeface="Calibri" pitchFamily="34" charset="-122"/>
                <a:cs typeface="Calibri" pitchFamily="34" charset="-120"/>
              </a:rPr>
              <a:t>Monthly cost by purchase option</a:t>
            </a:r>
            <a:endParaRPr lang="en-US" sz="1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57200" y="1764792"/>
          <a:ext cx="4754880" cy="1463040"/>
        </p:xfrm>
        <a:graphic>
          <a:graphicData uri="http://schemas.openxmlformats.org/drawingml/2006/table">
            <a:tbl>
              <a:tblPr/>
              <a:tblGrid>
                <a:gridCol w="237744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tblGrid>
              <a:tr h="292608">
                <a:tc>
                  <a:txBody>
                    <a:bodyPr/>
                    <a:lstStyle/>
                    <a:p>
                      <a:pPr marL="0" indent="0" algn="l">
                        <a:buNone/>
                      </a:pPr>
                      <a:r>
                        <a:rPr lang="en-US" sz="1200" b="1" kern="0" spc="80" dirty="0">
                          <a:solidFill>
                            <a:srgbClr val="91A0B7"/>
                          </a:solidFill>
                          <a:latin typeface="Calibri" pitchFamily="34" charset="0"/>
                          <a:ea typeface="Calibri" pitchFamily="34" charset="-122"/>
                          <a:cs typeface="Calibri" pitchFamily="34" charset="-120"/>
                        </a:rPr>
                        <a:t>Purchase option</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b="1" kern="0" spc="80" dirty="0">
                          <a:solidFill>
                            <a:srgbClr val="91A0B7"/>
                          </a:solidFill>
                          <a:latin typeface="Calibri" pitchFamily="34" charset="0"/>
                          <a:ea typeface="Calibri" pitchFamily="34" charset="-122"/>
                          <a:cs typeface="Calibri" pitchFamily="34" charset="-120"/>
                        </a:rPr>
                        <a:t>Total cost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b="1" kern="0" spc="80" dirty="0">
                          <a:solidFill>
                            <a:srgbClr val="91A0B7"/>
                          </a:solidFill>
                          <a:latin typeface="Calibri" pitchFamily="34" charset="0"/>
                          <a:ea typeface="Calibri" pitchFamily="34" charset="-122"/>
                          <a:cs typeface="Calibri" pitchFamily="34" charset="-120"/>
                        </a:rPr>
                        <a:t>Ratio</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extLst>
                  <a:ext uri="{0D108BD9-81ED-4DB2-BD59-A6C34878D82A}">
                    <a16:rowId xmlns:a16="http://schemas.microsoft.com/office/drawing/2014/main" val="10000"/>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Spot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$16,559</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3DDC97"/>
                          </a:solidFill>
                          <a:latin typeface="Calibri" pitchFamily="34" charset="0"/>
                          <a:ea typeface="Calibri" pitchFamily="34" charset="-122"/>
                          <a:cs typeface="Calibri" pitchFamily="34" charset="-120"/>
                        </a:rPr>
                        <a:t>47%</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extLst>
                  <a:ext uri="{0D108BD9-81ED-4DB2-BD59-A6C34878D82A}">
                    <a16:rowId xmlns:a16="http://schemas.microsoft.com/office/drawing/2014/main" val="10001"/>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Compute Savings Plan</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$16,364</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3DDC97"/>
                          </a:solidFill>
                          <a:latin typeface="Calibri" pitchFamily="34" charset="0"/>
                          <a:ea typeface="Calibri" pitchFamily="34" charset="-122"/>
                          <a:cs typeface="Calibri" pitchFamily="34" charset="-120"/>
                        </a:rPr>
                        <a:t>46%</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extLst>
                  <a:ext uri="{0D108BD9-81ED-4DB2-BD59-A6C34878D82A}">
                    <a16:rowId xmlns:a16="http://schemas.microsoft.com/office/drawing/2014/main" val="10002"/>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On-Demand</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$2,502</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FF6B7A"/>
                          </a:solidFill>
                          <a:latin typeface="Calibri" pitchFamily="34" charset="0"/>
                          <a:ea typeface="Calibri" pitchFamily="34" charset="-122"/>
                          <a:cs typeface="Calibri" pitchFamily="34" charset="-120"/>
                        </a:rPr>
                        <a:t>7%</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extLst>
                  <a:ext uri="{0D108BD9-81ED-4DB2-BD59-A6C34878D82A}">
                    <a16:rowId xmlns:a16="http://schemas.microsoft.com/office/drawing/2014/main" val="10003"/>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Total</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b="1" dirty="0">
                          <a:solidFill>
                            <a:srgbClr val="F4F7FB"/>
                          </a:solidFill>
                          <a:latin typeface="Calibri" pitchFamily="34" charset="0"/>
                          <a:ea typeface="Calibri" pitchFamily="34" charset="-122"/>
                          <a:cs typeface="Calibri" pitchFamily="34" charset="-120"/>
                        </a:rPr>
                        <a:t>$35,425</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b="1" dirty="0">
                          <a:solidFill>
                            <a:srgbClr val="91A0B7"/>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extLst>
                  <a:ext uri="{0D108BD9-81ED-4DB2-BD59-A6C34878D82A}">
                    <a16:rowId xmlns:a16="http://schemas.microsoft.com/office/drawing/2014/main" val="10004"/>
                  </a:ext>
                </a:extLst>
              </a:tr>
            </a:tbl>
          </a:graphicData>
        </a:graphic>
      </p:graphicFrame>
      <p:sp>
        <p:nvSpPr>
          <p:cNvPr id="11" name="Text 8"/>
          <p:cNvSpPr/>
          <p:nvPr/>
        </p:nvSpPr>
        <p:spPr>
          <a:xfrm>
            <a:off x="5577840" y="1234440"/>
            <a:ext cx="4754880" cy="237744"/>
          </a:xfrm>
          <a:prstGeom prst="rect">
            <a:avLst/>
          </a:prstGeom>
          <a:noFill/>
          <a:ln/>
        </p:spPr>
        <p:txBody>
          <a:bodyPr wrap="square" lIns="0" tIns="0" rIns="0" bIns="0" rtlCol="0" anchor="ctr"/>
          <a:lstStyle/>
          <a:p>
            <a:pPr marL="0" indent="0">
              <a:buNone/>
            </a:pPr>
            <a:r>
              <a:rPr lang="en-US" sz="1500" b="1" dirty="0">
                <a:solidFill>
                  <a:srgbClr val="F4F7FB"/>
                </a:solidFill>
                <a:latin typeface="Calibri" pitchFamily="34" charset="0"/>
                <a:ea typeface="Calibri" pitchFamily="34" charset="-122"/>
                <a:cs typeface="Calibri" pitchFamily="34" charset="-120"/>
              </a:rPr>
              <a:t>Azure</a:t>
            </a:r>
            <a:endParaRPr lang="en-US" sz="1500" dirty="0"/>
          </a:p>
        </p:txBody>
      </p:sp>
      <p:sp>
        <p:nvSpPr>
          <p:cNvPr id="12" name="Text 9"/>
          <p:cNvSpPr/>
          <p:nvPr/>
        </p:nvSpPr>
        <p:spPr>
          <a:xfrm>
            <a:off x="5577840" y="1508760"/>
            <a:ext cx="4754880" cy="219456"/>
          </a:xfrm>
          <a:prstGeom prst="rect">
            <a:avLst/>
          </a:prstGeom>
          <a:noFill/>
          <a:ln/>
        </p:spPr>
        <p:txBody>
          <a:bodyPr wrap="square" lIns="0" tIns="0" rIns="0" bIns="0" rtlCol="0" anchor="ctr"/>
          <a:lstStyle/>
          <a:p>
            <a:pPr marL="0" indent="0">
              <a:buNone/>
            </a:pPr>
            <a:r>
              <a:rPr lang="en-US" sz="1200" dirty="0">
                <a:solidFill>
                  <a:srgbClr val="91A0B7"/>
                </a:solidFill>
                <a:latin typeface="Calibri" pitchFamily="34" charset="0"/>
                <a:ea typeface="Calibri" pitchFamily="34" charset="-122"/>
                <a:cs typeface="Calibri" pitchFamily="34" charset="-120"/>
              </a:rPr>
              <a:t>Monthly cost by purchase option</a:t>
            </a:r>
            <a:endParaRPr lang="en-US" sz="1200" dirty="0"/>
          </a:p>
        </p:txBody>
      </p:sp>
      <p:graphicFrame>
        <p:nvGraphicFramePr>
          <p:cNvPr id="27" name="Table 1"/>
          <p:cNvGraphicFramePr>
            <a:graphicFrameLocks noGrp="1"/>
          </p:cNvGraphicFramePr>
          <p:nvPr>
            <p:extLst>
              <p:ext uri="{D42A27DB-BD31-4B8C-83A1-F6EECF244321}">
                <p14:modId xmlns:p14="http://schemas.microsoft.com/office/powerpoint/2010/main" val="1579011935"/>
              </p:ext>
            </p:extLst>
          </p:nvPr>
        </p:nvGraphicFramePr>
        <p:xfrm>
          <a:off x="5577840" y="1764792"/>
          <a:ext cx="4754880" cy="1755648"/>
        </p:xfrm>
        <a:graphic>
          <a:graphicData uri="http://schemas.openxmlformats.org/drawingml/2006/table">
            <a:tbl>
              <a:tblPr/>
              <a:tblGrid>
                <a:gridCol w="237744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tblGrid>
              <a:tr h="292608">
                <a:tc>
                  <a:txBody>
                    <a:bodyPr/>
                    <a:lstStyle/>
                    <a:p>
                      <a:pPr marL="0" indent="0" algn="l">
                        <a:buNone/>
                      </a:pPr>
                      <a:r>
                        <a:rPr lang="en-US" sz="1200" b="1" kern="0" spc="80" dirty="0">
                          <a:solidFill>
                            <a:srgbClr val="91A0B7"/>
                          </a:solidFill>
                          <a:latin typeface="Calibri" pitchFamily="34" charset="0"/>
                          <a:ea typeface="Calibri" pitchFamily="34" charset="-122"/>
                          <a:cs typeface="Calibri" pitchFamily="34" charset="-120"/>
                        </a:rPr>
                        <a:t>Purchase option</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b="1" kern="0" spc="80" dirty="0">
                          <a:solidFill>
                            <a:srgbClr val="91A0B7"/>
                          </a:solidFill>
                          <a:latin typeface="Calibri" pitchFamily="34" charset="0"/>
                          <a:ea typeface="Calibri" pitchFamily="34" charset="-122"/>
                          <a:cs typeface="Calibri" pitchFamily="34" charset="-120"/>
                        </a:rPr>
                        <a:t>Total cost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b="1" kern="0" spc="80" dirty="0">
                          <a:solidFill>
                            <a:srgbClr val="91A0B7"/>
                          </a:solidFill>
                          <a:latin typeface="Calibri" pitchFamily="34" charset="0"/>
                          <a:ea typeface="Calibri" pitchFamily="34" charset="-122"/>
                          <a:cs typeface="Calibri" pitchFamily="34" charset="-120"/>
                        </a:rPr>
                        <a:t>Ratio</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extLst>
                  <a:ext uri="{0D108BD9-81ED-4DB2-BD59-A6C34878D82A}">
                    <a16:rowId xmlns:a16="http://schemas.microsoft.com/office/drawing/2014/main" val="10000"/>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On-Demand</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$21,690</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FF6B7A"/>
                          </a:solidFill>
                          <a:latin typeface="Calibri" pitchFamily="34" charset="0"/>
                          <a:ea typeface="Calibri" pitchFamily="34" charset="-122"/>
                          <a:cs typeface="Calibri" pitchFamily="34" charset="-120"/>
                        </a:rPr>
                        <a:t>41%</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extLst>
                  <a:ext uri="{0D108BD9-81ED-4DB2-BD59-A6C34878D82A}">
                    <a16:rowId xmlns:a16="http://schemas.microsoft.com/office/drawing/2014/main" val="10001"/>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Reservation</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$21,463</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3DDC97"/>
                          </a:solidFill>
                          <a:latin typeface="Calibri" pitchFamily="34" charset="0"/>
                          <a:ea typeface="Calibri" pitchFamily="34" charset="-122"/>
                          <a:cs typeface="Calibri" pitchFamily="34" charset="-120"/>
                        </a:rPr>
                        <a:t>40%</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extLst>
                  <a:ext uri="{0D108BD9-81ED-4DB2-BD59-A6C34878D82A}">
                    <a16:rowId xmlns:a16="http://schemas.microsoft.com/office/drawing/2014/main" val="10002"/>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Compute Savings Plan</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$9,424</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3DDC97"/>
                          </a:solidFill>
                          <a:latin typeface="Calibri" pitchFamily="34" charset="0"/>
                          <a:ea typeface="Calibri" pitchFamily="34" charset="-122"/>
                          <a:cs typeface="Calibri" pitchFamily="34" charset="-120"/>
                        </a:rPr>
                        <a:t>18%</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extLst>
                  <a:ext uri="{0D108BD9-81ED-4DB2-BD59-A6C34878D82A}">
                    <a16:rowId xmlns:a16="http://schemas.microsoft.com/office/drawing/2014/main" val="10003"/>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Spot</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F4F7FB"/>
                          </a:solidFill>
                          <a:latin typeface="Calibri" pitchFamily="34" charset="0"/>
                          <a:ea typeface="Calibri" pitchFamily="34" charset="-122"/>
                          <a:cs typeface="Calibri" pitchFamily="34" charset="-120"/>
                        </a:rPr>
                        <a:t>$737</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91A0B7"/>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extLst>
                  <a:ext uri="{0D108BD9-81ED-4DB2-BD59-A6C34878D82A}">
                    <a16:rowId xmlns:a16="http://schemas.microsoft.com/office/drawing/2014/main" val="10004"/>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Total</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b="1" dirty="0">
                          <a:solidFill>
                            <a:srgbClr val="F4F7FB"/>
                          </a:solidFill>
                          <a:latin typeface="Calibri" pitchFamily="34" charset="0"/>
                          <a:ea typeface="Calibri" pitchFamily="34" charset="-122"/>
                          <a:cs typeface="Calibri" pitchFamily="34" charset="-120"/>
                        </a:rPr>
                        <a:t>$53,314</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b="1" dirty="0">
                          <a:solidFill>
                            <a:srgbClr val="91A0B7"/>
                          </a:solidFill>
                          <a:latin typeface="Calibri" pitchFamily="34" charset="0"/>
                          <a:ea typeface="Calibri" pitchFamily="34" charset="-122"/>
                          <a:cs typeface="Calibri" pitchFamily="34" charset="-120"/>
                        </a:rPr>
                        <a:t>100%</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extLst>
                  <a:ext uri="{0D108BD9-81ED-4DB2-BD59-A6C34878D82A}">
                    <a16:rowId xmlns:a16="http://schemas.microsoft.com/office/drawing/2014/main" val="10005"/>
                  </a:ext>
                </a:extLst>
              </a:tr>
            </a:tbl>
          </a:graphicData>
        </a:graphic>
      </p:graphicFrame>
      <p:sp>
        <p:nvSpPr>
          <p:cNvPr id="10" name="Shape 10"/>
          <p:cNvSpPr/>
          <p:nvPr/>
        </p:nvSpPr>
        <p:spPr>
          <a:xfrm>
            <a:off x="457200" y="4041648"/>
            <a:ext cx="3606698" cy="1078992"/>
          </a:xfrm>
          <a:prstGeom prst="roundRect">
            <a:avLst>
              <a:gd name="adj" fmla="val 5085"/>
            </a:avLst>
          </a:prstGeom>
          <a:solidFill>
            <a:srgbClr val="121B2D"/>
          </a:solidFill>
          <a:ln w="12700">
            <a:solidFill>
              <a:srgbClr val="23304A"/>
            </a:solidFill>
            <a:prstDash val="solid"/>
          </a:ln>
        </p:spPr>
        <p:txBody>
          <a:bodyPr/>
          <a:lstStyle/>
          <a:p>
            <a:endParaRPr lang="he-IL" dirty="0"/>
          </a:p>
        </p:txBody>
      </p:sp>
      <p:sp>
        <p:nvSpPr>
          <p:cNvPr id="15" name="Text 11"/>
          <p:cNvSpPr/>
          <p:nvPr/>
        </p:nvSpPr>
        <p:spPr>
          <a:xfrm>
            <a:off x="658368" y="4133088"/>
            <a:ext cx="3204362"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AZURE ON-DEMAND</a:t>
            </a:r>
            <a:endParaRPr lang="en-US" sz="1200" dirty="0"/>
          </a:p>
        </p:txBody>
      </p:sp>
      <p:sp>
        <p:nvSpPr>
          <p:cNvPr id="16" name="Text 12"/>
          <p:cNvSpPr/>
          <p:nvPr/>
        </p:nvSpPr>
        <p:spPr>
          <a:xfrm>
            <a:off x="658368" y="4334256"/>
            <a:ext cx="3204362"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$21,690</a:t>
            </a:r>
            <a:endParaRPr lang="en-US" sz="2800" dirty="0"/>
          </a:p>
        </p:txBody>
      </p:sp>
      <p:sp>
        <p:nvSpPr>
          <p:cNvPr id="17" name="Text 13"/>
          <p:cNvSpPr/>
          <p:nvPr/>
        </p:nvSpPr>
        <p:spPr>
          <a:xfrm>
            <a:off x="658368" y="4736592"/>
            <a:ext cx="3204362" cy="329184"/>
          </a:xfrm>
          <a:prstGeom prst="rect">
            <a:avLst/>
          </a:prstGeom>
          <a:noFill/>
          <a:ln/>
        </p:spPr>
        <p:txBody>
          <a:bodyPr wrap="square" lIns="0" tIns="0" rIns="0" bIns="0" rtlCol="0" anchor="t"/>
          <a:lstStyle/>
          <a:p>
            <a:pPr marL="0" indent="0">
              <a:lnSpc>
                <a:spcPct val="105000"/>
              </a:lnSpc>
              <a:buNone/>
            </a:pPr>
            <a:r>
              <a:rPr lang="en-US" sz="1200" b="1" dirty="0">
                <a:solidFill>
                  <a:srgbClr val="FF6B7A"/>
                </a:solidFill>
                <a:latin typeface="Calibri" pitchFamily="34" charset="0"/>
                <a:ea typeface="Calibri" pitchFamily="34" charset="-122"/>
                <a:cs typeface="Calibri" pitchFamily="34" charset="-120"/>
              </a:rPr>
              <a:t>per month, at list price</a:t>
            </a:r>
            <a:endParaRPr lang="en-US" sz="1200" dirty="0"/>
          </a:p>
        </p:txBody>
      </p:sp>
      <p:sp>
        <p:nvSpPr>
          <p:cNvPr id="18" name="Shape 14"/>
          <p:cNvSpPr/>
          <p:nvPr/>
        </p:nvSpPr>
        <p:spPr>
          <a:xfrm>
            <a:off x="4292498" y="4041648"/>
            <a:ext cx="3606698" cy="1078992"/>
          </a:xfrm>
          <a:prstGeom prst="roundRect">
            <a:avLst>
              <a:gd name="adj" fmla="val 5085"/>
            </a:avLst>
          </a:prstGeom>
          <a:solidFill>
            <a:srgbClr val="121B2D"/>
          </a:solidFill>
          <a:ln w="12700">
            <a:solidFill>
              <a:srgbClr val="23304A"/>
            </a:solidFill>
            <a:prstDash val="solid"/>
          </a:ln>
        </p:spPr>
        <p:txBody>
          <a:bodyPr/>
          <a:lstStyle/>
          <a:p>
            <a:endParaRPr lang="he-IL" dirty="0"/>
          </a:p>
        </p:txBody>
      </p:sp>
      <p:sp>
        <p:nvSpPr>
          <p:cNvPr id="19" name="Text 15"/>
          <p:cNvSpPr/>
          <p:nvPr/>
        </p:nvSpPr>
        <p:spPr>
          <a:xfrm>
            <a:off x="4493666" y="4133088"/>
            <a:ext cx="3204362"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IF AZURE MATCHED AWS</a:t>
            </a:r>
            <a:endParaRPr lang="en-US" sz="1200" dirty="0"/>
          </a:p>
        </p:txBody>
      </p:sp>
      <p:sp>
        <p:nvSpPr>
          <p:cNvPr id="20" name="Text 16"/>
          <p:cNvSpPr/>
          <p:nvPr/>
        </p:nvSpPr>
        <p:spPr>
          <a:xfrm>
            <a:off x="4493666" y="4334256"/>
            <a:ext cx="3204362"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~$7,600</a:t>
            </a:r>
            <a:endParaRPr lang="en-US" sz="2800" dirty="0"/>
          </a:p>
        </p:txBody>
      </p:sp>
      <p:sp>
        <p:nvSpPr>
          <p:cNvPr id="21" name="Text 17"/>
          <p:cNvSpPr/>
          <p:nvPr/>
        </p:nvSpPr>
        <p:spPr>
          <a:xfrm>
            <a:off x="4493666" y="4736592"/>
            <a:ext cx="3204362" cy="329184"/>
          </a:xfrm>
          <a:prstGeom prst="rect">
            <a:avLst/>
          </a:prstGeom>
          <a:noFill/>
          <a:ln/>
        </p:spPr>
        <p:txBody>
          <a:bodyPr wrap="square" lIns="0" tIns="0" rIns="0" bIns="0" rtlCol="0" anchor="t"/>
          <a:lstStyle/>
          <a:p>
            <a:pPr marL="0" indent="0">
              <a:lnSpc>
                <a:spcPct val="105000"/>
              </a:lnSpc>
              <a:buNone/>
            </a:pPr>
            <a:r>
              <a:rPr lang="en-US" sz="1200" b="1" dirty="0">
                <a:solidFill>
                  <a:srgbClr val="3DDC97"/>
                </a:solidFill>
                <a:latin typeface="Calibri" pitchFamily="34" charset="0"/>
                <a:ea typeface="Calibri" pitchFamily="34" charset="-122"/>
                <a:cs typeface="Calibri" pitchFamily="34" charset="-120"/>
              </a:rPr>
              <a:t>estimated monthly saving at 93% coverage</a:t>
            </a:r>
            <a:endParaRPr lang="en-US" sz="1200" dirty="0"/>
          </a:p>
        </p:txBody>
      </p:sp>
      <p:sp>
        <p:nvSpPr>
          <p:cNvPr id="22" name="Shape 18"/>
          <p:cNvSpPr/>
          <p:nvPr/>
        </p:nvSpPr>
        <p:spPr>
          <a:xfrm>
            <a:off x="8127797" y="4041648"/>
            <a:ext cx="3606698" cy="1078992"/>
          </a:xfrm>
          <a:prstGeom prst="roundRect">
            <a:avLst>
              <a:gd name="adj" fmla="val 5085"/>
            </a:avLst>
          </a:prstGeom>
          <a:solidFill>
            <a:srgbClr val="121B2D"/>
          </a:solidFill>
          <a:ln w="12700">
            <a:solidFill>
              <a:srgbClr val="23304A"/>
            </a:solidFill>
            <a:prstDash val="solid"/>
          </a:ln>
        </p:spPr>
        <p:txBody>
          <a:bodyPr/>
          <a:lstStyle/>
          <a:p>
            <a:endParaRPr lang="he-IL" dirty="0"/>
          </a:p>
        </p:txBody>
      </p:sp>
      <p:sp>
        <p:nvSpPr>
          <p:cNvPr id="23" name="Text 19"/>
          <p:cNvSpPr/>
          <p:nvPr/>
        </p:nvSpPr>
        <p:spPr>
          <a:xfrm>
            <a:off x="8328965" y="4133088"/>
            <a:ext cx="3204362"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ANNUALISED</a:t>
            </a:r>
            <a:endParaRPr lang="en-US" sz="1200" dirty="0"/>
          </a:p>
        </p:txBody>
      </p:sp>
      <p:sp>
        <p:nvSpPr>
          <p:cNvPr id="24" name="Text 20"/>
          <p:cNvSpPr/>
          <p:nvPr/>
        </p:nvSpPr>
        <p:spPr>
          <a:xfrm>
            <a:off x="8328965" y="4334256"/>
            <a:ext cx="3204362"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~$91,000</a:t>
            </a:r>
            <a:endParaRPr lang="en-US" sz="2800" dirty="0"/>
          </a:p>
        </p:txBody>
      </p:sp>
      <p:sp>
        <p:nvSpPr>
          <p:cNvPr id="25" name="Text 21"/>
          <p:cNvSpPr/>
          <p:nvPr/>
        </p:nvSpPr>
        <p:spPr>
          <a:xfrm>
            <a:off x="8328965" y="4736592"/>
            <a:ext cx="3204362" cy="329184"/>
          </a:xfrm>
          <a:prstGeom prst="rect">
            <a:avLst/>
          </a:prstGeom>
          <a:noFill/>
          <a:ln/>
        </p:spPr>
        <p:txBody>
          <a:bodyPr wrap="square" lIns="0" tIns="0" rIns="0" bIns="0" rtlCol="0" anchor="t"/>
          <a:lstStyle/>
          <a:p>
            <a:pPr marL="0" indent="0">
              <a:lnSpc>
                <a:spcPct val="105000"/>
              </a:lnSpc>
              <a:buNone/>
            </a:pPr>
            <a:r>
              <a:rPr lang="en-US" sz="1200" b="1" dirty="0">
                <a:solidFill>
                  <a:srgbClr val="3DDC97"/>
                </a:solidFill>
                <a:latin typeface="Calibri" pitchFamily="34" charset="0"/>
                <a:ea typeface="Calibri" pitchFamily="34" charset="-122"/>
                <a:cs typeface="Calibri" pitchFamily="34" charset="-120"/>
              </a:rPr>
              <a:t>on compute alone, nothing switched off</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5">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txBody>
          <a:bodyPr/>
          <a:lstStyle/>
          <a:p>
            <a:endParaRPr lang="he-IL" dirty="0"/>
          </a:p>
        </p:txBody>
      </p:sp>
      <p:sp>
        <p:nvSpPr>
          <p:cNvPr id="3" name="Shape 1"/>
          <p:cNvSpPr/>
          <p:nvPr/>
        </p:nvSpPr>
        <p:spPr>
          <a:xfrm>
            <a:off x="457200" y="306324"/>
            <a:ext cx="109728" cy="109728"/>
          </a:xfrm>
          <a:prstGeom prst="ellipse">
            <a:avLst/>
          </a:prstGeom>
          <a:solidFill>
            <a:srgbClr val="FF6B7A"/>
          </a:solidFill>
          <a:ln w="12700">
            <a:solidFill>
              <a:srgbClr val="FF6B7A"/>
            </a:solidFill>
            <a:prstDash val="solid"/>
          </a:ln>
        </p:spPr>
        <p:txBody>
          <a:bodyPr/>
          <a:lstStyle/>
          <a:p>
            <a:endParaRPr lang="he-IL" dirty="0"/>
          </a:p>
        </p:txBody>
      </p:sp>
      <p:sp>
        <p:nvSpPr>
          <p:cNvPr id="4" name="Text 2"/>
          <p:cNvSpPr/>
          <p:nvPr/>
        </p:nvSpPr>
        <p:spPr>
          <a:xfrm>
            <a:off x="640080" y="274320"/>
            <a:ext cx="7315200" cy="237744"/>
          </a:xfrm>
          <a:prstGeom prst="rect">
            <a:avLst/>
          </a:prstGeom>
          <a:noFill/>
          <a:ln/>
        </p:spPr>
        <p:txBody>
          <a:bodyPr wrap="square" lIns="0" tIns="0" rIns="0" bIns="0" rtlCol="0" anchor="ctr"/>
          <a:lstStyle/>
          <a:p>
            <a:pPr marL="0" indent="0">
              <a:buNone/>
            </a:pPr>
            <a:r>
              <a:rPr lang="en-US" sz="1300" b="1" kern="0" spc="200" dirty="0">
                <a:solidFill>
                  <a:srgbClr val="FF6B7A"/>
                </a:solidFill>
                <a:latin typeface="Calibri" pitchFamily="34" charset="0"/>
                <a:ea typeface="Calibri" pitchFamily="34" charset="-122"/>
                <a:cs typeface="Calibri" pitchFamily="34" charset="-120"/>
              </a:rPr>
              <a:t>ATTRIBUTION</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marL="0" indent="0">
              <a:buNone/>
            </a:pPr>
            <a:r>
              <a:rPr lang="en-US" sz="2471" b="1" dirty="0">
                <a:solidFill>
                  <a:srgbClr val="F4F7FB"/>
                </a:solidFill>
                <a:latin typeface="Calibri" pitchFamily="34" charset="0"/>
                <a:ea typeface="Calibri" pitchFamily="34" charset="-122"/>
                <a:cs typeface="Calibri" pitchFamily="34" charset="-120"/>
              </a:rPr>
              <a:t>A quarter of the bill has no owner</a:t>
            </a:r>
            <a:endParaRPr lang="en-US" sz="2471" dirty="0"/>
          </a:p>
        </p:txBody>
      </p:sp>
      <p:sp>
        <p:nvSpPr>
          <p:cNvPr id="6" name="Text 4"/>
          <p:cNvSpPr/>
          <p:nvPr/>
        </p:nvSpPr>
        <p:spPr>
          <a:xfrm>
            <a:off x="8321040" y="493776"/>
            <a:ext cx="3413455" cy="658368"/>
          </a:xfrm>
          <a:prstGeom prst="rect">
            <a:avLst/>
          </a:prstGeom>
          <a:noFill/>
          <a:ln/>
        </p:spPr>
        <p:txBody>
          <a:bodyPr wrap="square" lIns="0" tIns="0" rIns="0" bIns="0" rtlCol="0" anchor="t"/>
          <a:lstStyle/>
          <a:p>
            <a:pPr marL="0" indent="0" algn="r">
              <a:lnSpc>
                <a:spcPct val="115000"/>
              </a:lnSpc>
              <a:buNone/>
            </a:pPr>
            <a:r>
              <a:rPr lang="en-US" sz="1200" dirty="0">
                <a:solidFill>
                  <a:srgbClr val="91A0B7"/>
                </a:solidFill>
                <a:latin typeface="Calibri" pitchFamily="34" charset="0"/>
                <a:ea typeface="Calibri" pitchFamily="34" charset="-122"/>
                <a:cs typeface="Calibri" pitchFamily="34" charset="-120"/>
              </a:rPr>
              <a:t>From the Project tag on each resource, Azure enrollment.</a:t>
            </a:r>
            <a:endParaRPr lang="en-US" sz="1200" dirty="0"/>
          </a:p>
        </p:txBody>
      </p:sp>
      <p:sp>
        <p:nvSpPr>
          <p:cNvPr id="7" name="Shape 5"/>
          <p:cNvSpPr/>
          <p:nvPr/>
        </p:nvSpPr>
        <p:spPr>
          <a:xfrm>
            <a:off x="457200" y="1234440"/>
            <a:ext cx="3606698" cy="1078992"/>
          </a:xfrm>
          <a:prstGeom prst="roundRect">
            <a:avLst>
              <a:gd name="adj" fmla="val 5085"/>
            </a:avLst>
          </a:prstGeom>
          <a:solidFill>
            <a:srgbClr val="121B2D"/>
          </a:solidFill>
          <a:ln w="12700">
            <a:solidFill>
              <a:srgbClr val="23304A"/>
            </a:solidFill>
            <a:prstDash val="solid"/>
          </a:ln>
        </p:spPr>
        <p:txBody>
          <a:bodyPr/>
          <a:lstStyle/>
          <a:p>
            <a:endParaRPr lang="he-IL" dirty="0"/>
          </a:p>
        </p:txBody>
      </p:sp>
      <p:sp>
        <p:nvSpPr>
          <p:cNvPr id="8" name="Text 6"/>
          <p:cNvSpPr/>
          <p:nvPr/>
        </p:nvSpPr>
        <p:spPr>
          <a:xfrm>
            <a:off x="658368" y="1325880"/>
            <a:ext cx="3204362"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UNTAGGED, JULY</a:t>
            </a:r>
            <a:endParaRPr lang="en-US" sz="1200" dirty="0"/>
          </a:p>
        </p:txBody>
      </p:sp>
      <p:sp>
        <p:nvSpPr>
          <p:cNvPr id="9" name="Text 7"/>
          <p:cNvSpPr/>
          <p:nvPr/>
        </p:nvSpPr>
        <p:spPr>
          <a:xfrm>
            <a:off x="658368" y="1527048"/>
            <a:ext cx="3204362"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23.4%</a:t>
            </a:r>
            <a:endParaRPr lang="en-US" sz="2800" dirty="0"/>
          </a:p>
        </p:txBody>
      </p:sp>
      <p:sp>
        <p:nvSpPr>
          <p:cNvPr id="10" name="Text 8"/>
          <p:cNvSpPr/>
          <p:nvPr/>
        </p:nvSpPr>
        <p:spPr>
          <a:xfrm>
            <a:off x="658368" y="1929384"/>
            <a:ext cx="3204362" cy="329184"/>
          </a:xfrm>
          <a:prstGeom prst="rect">
            <a:avLst/>
          </a:prstGeom>
          <a:noFill/>
          <a:ln/>
        </p:spPr>
        <p:txBody>
          <a:bodyPr wrap="square" lIns="0" tIns="0" rIns="0" bIns="0" rtlCol="0" anchor="t"/>
          <a:lstStyle/>
          <a:p>
            <a:pPr marL="0" indent="0">
              <a:lnSpc>
                <a:spcPct val="105000"/>
              </a:lnSpc>
              <a:buNone/>
            </a:pPr>
            <a:r>
              <a:rPr lang="en-US" sz="1200" b="1" dirty="0">
                <a:solidFill>
                  <a:srgbClr val="FF6B7A"/>
                </a:solidFill>
                <a:latin typeface="Calibri" pitchFamily="34" charset="0"/>
                <a:ea typeface="Calibri" pitchFamily="34" charset="-122"/>
                <a:cs typeface="Calibri" pitchFamily="34" charset="-120"/>
              </a:rPr>
              <a:t>was 8.4% in May</a:t>
            </a:r>
            <a:endParaRPr lang="en-US" sz="1200" dirty="0"/>
          </a:p>
        </p:txBody>
      </p:sp>
      <p:sp>
        <p:nvSpPr>
          <p:cNvPr id="11" name="Shape 9"/>
          <p:cNvSpPr/>
          <p:nvPr/>
        </p:nvSpPr>
        <p:spPr>
          <a:xfrm>
            <a:off x="4292498" y="1234440"/>
            <a:ext cx="3606698" cy="1078992"/>
          </a:xfrm>
          <a:prstGeom prst="roundRect">
            <a:avLst>
              <a:gd name="adj" fmla="val 5085"/>
            </a:avLst>
          </a:prstGeom>
          <a:solidFill>
            <a:srgbClr val="121B2D"/>
          </a:solidFill>
          <a:ln w="12700">
            <a:solidFill>
              <a:srgbClr val="23304A"/>
            </a:solidFill>
            <a:prstDash val="solid"/>
          </a:ln>
        </p:spPr>
        <p:txBody>
          <a:bodyPr/>
          <a:lstStyle/>
          <a:p>
            <a:endParaRPr lang="he-IL" dirty="0"/>
          </a:p>
        </p:txBody>
      </p:sp>
      <p:sp>
        <p:nvSpPr>
          <p:cNvPr id="12" name="Text 10"/>
          <p:cNvSpPr/>
          <p:nvPr/>
        </p:nvSpPr>
        <p:spPr>
          <a:xfrm>
            <a:off x="4493666" y="1325880"/>
            <a:ext cx="3204362"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UNTAGGED AI SPEND</a:t>
            </a:r>
            <a:endParaRPr lang="en-US" sz="1200" dirty="0"/>
          </a:p>
        </p:txBody>
      </p:sp>
      <p:sp>
        <p:nvSpPr>
          <p:cNvPr id="13" name="Text 11"/>
          <p:cNvSpPr/>
          <p:nvPr/>
        </p:nvSpPr>
        <p:spPr>
          <a:xfrm>
            <a:off x="4493666" y="1527048"/>
            <a:ext cx="3204362"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$51,381</a:t>
            </a:r>
            <a:endParaRPr lang="en-US" sz="2800" dirty="0"/>
          </a:p>
        </p:txBody>
      </p:sp>
      <p:sp>
        <p:nvSpPr>
          <p:cNvPr id="14" name="Text 12"/>
          <p:cNvSpPr/>
          <p:nvPr/>
        </p:nvSpPr>
        <p:spPr>
          <a:xfrm>
            <a:off x="4493666" y="1929384"/>
            <a:ext cx="3204362" cy="329184"/>
          </a:xfrm>
          <a:prstGeom prst="rect">
            <a:avLst/>
          </a:prstGeom>
          <a:noFill/>
          <a:ln/>
        </p:spPr>
        <p:txBody>
          <a:bodyPr wrap="square" lIns="0" tIns="0" rIns="0" bIns="0" rtlCol="0" anchor="t"/>
          <a:lstStyle/>
          <a:p>
            <a:pPr marL="0" indent="0">
              <a:lnSpc>
                <a:spcPct val="105000"/>
              </a:lnSpc>
              <a:buNone/>
            </a:pPr>
            <a:r>
              <a:rPr lang="en-US" sz="1200" b="1" dirty="0">
                <a:solidFill>
                  <a:srgbClr val="B07CFF"/>
                </a:solidFill>
                <a:latin typeface="Calibri" pitchFamily="34" charset="0"/>
                <a:ea typeface="Calibri" pitchFamily="34" charset="-122"/>
                <a:cs typeface="Calibri" pitchFamily="34" charset="-120"/>
              </a:rPr>
              <a:t>of $96,843 untagged in total</a:t>
            </a:r>
            <a:endParaRPr lang="en-US" sz="1200" dirty="0"/>
          </a:p>
        </p:txBody>
      </p:sp>
      <p:sp>
        <p:nvSpPr>
          <p:cNvPr id="15" name="Shape 13"/>
          <p:cNvSpPr/>
          <p:nvPr/>
        </p:nvSpPr>
        <p:spPr>
          <a:xfrm>
            <a:off x="8127797" y="1234440"/>
            <a:ext cx="3606698" cy="1078992"/>
          </a:xfrm>
          <a:prstGeom prst="roundRect">
            <a:avLst>
              <a:gd name="adj" fmla="val 5085"/>
            </a:avLst>
          </a:prstGeom>
          <a:solidFill>
            <a:srgbClr val="121B2D"/>
          </a:solidFill>
          <a:ln w="12700">
            <a:solidFill>
              <a:srgbClr val="23304A"/>
            </a:solidFill>
            <a:prstDash val="solid"/>
          </a:ln>
        </p:spPr>
        <p:txBody>
          <a:bodyPr/>
          <a:lstStyle/>
          <a:p>
            <a:endParaRPr lang="he-IL" dirty="0"/>
          </a:p>
        </p:txBody>
      </p:sp>
      <p:sp>
        <p:nvSpPr>
          <p:cNvPr id="16" name="Text 14"/>
          <p:cNvSpPr/>
          <p:nvPr/>
        </p:nvSpPr>
        <p:spPr>
          <a:xfrm>
            <a:off x="8328965" y="1325880"/>
            <a:ext cx="3204362"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COST CENTRE FIELD</a:t>
            </a:r>
            <a:endParaRPr lang="en-US" sz="1200" dirty="0"/>
          </a:p>
        </p:txBody>
      </p:sp>
      <p:sp>
        <p:nvSpPr>
          <p:cNvPr id="17" name="Text 15"/>
          <p:cNvSpPr/>
          <p:nvPr/>
        </p:nvSpPr>
        <p:spPr>
          <a:xfrm>
            <a:off x="8328965" y="1527048"/>
            <a:ext cx="3204362"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empty</a:t>
            </a:r>
            <a:endParaRPr lang="en-US" sz="2800" dirty="0"/>
          </a:p>
        </p:txBody>
      </p:sp>
      <p:sp>
        <p:nvSpPr>
          <p:cNvPr id="18" name="Text 16"/>
          <p:cNvSpPr/>
          <p:nvPr/>
        </p:nvSpPr>
        <p:spPr>
          <a:xfrm>
            <a:off x="8328965" y="1929384"/>
            <a:ext cx="3204362" cy="329184"/>
          </a:xfrm>
          <a:prstGeom prst="rect">
            <a:avLst/>
          </a:prstGeom>
          <a:noFill/>
          <a:ln/>
        </p:spPr>
        <p:txBody>
          <a:bodyPr wrap="square" lIns="0" tIns="0" rIns="0" bIns="0" rtlCol="0" anchor="t"/>
          <a:lstStyle/>
          <a:p>
            <a:pPr marL="0" indent="0">
              <a:lnSpc>
                <a:spcPct val="105000"/>
              </a:lnSpc>
              <a:buNone/>
            </a:pPr>
            <a:r>
              <a:rPr lang="en-US" sz="1200" b="1" dirty="0">
                <a:solidFill>
                  <a:srgbClr val="91A0B7"/>
                </a:solidFill>
                <a:latin typeface="Calibri" pitchFamily="34" charset="0"/>
                <a:ea typeface="Calibri" pitchFamily="34" charset="-122"/>
                <a:cs typeface="Calibri" pitchFamily="34" charset="-120"/>
              </a:rPr>
              <a:t>on every line of the enrollment</a:t>
            </a:r>
            <a:endParaRPr lang="en-US" sz="1200" dirty="0"/>
          </a:p>
        </p:txBody>
      </p:sp>
      <p:sp>
        <p:nvSpPr>
          <p:cNvPr id="19" name="Shape 17"/>
          <p:cNvSpPr/>
          <p:nvPr/>
        </p:nvSpPr>
        <p:spPr>
          <a:xfrm>
            <a:off x="457200" y="2468880"/>
            <a:ext cx="11277295" cy="1691640"/>
          </a:xfrm>
          <a:prstGeom prst="roundRect">
            <a:avLst>
              <a:gd name="adj" fmla="val 3243"/>
            </a:avLst>
          </a:prstGeom>
          <a:solidFill>
            <a:srgbClr val="121B2D"/>
          </a:solidFill>
          <a:ln w="12700">
            <a:solidFill>
              <a:srgbClr val="FF6B7A"/>
            </a:solidFill>
            <a:prstDash val="solid"/>
          </a:ln>
        </p:spPr>
        <p:txBody>
          <a:bodyPr/>
          <a:lstStyle/>
          <a:p>
            <a:endParaRPr lang="he-IL" dirty="0"/>
          </a:p>
        </p:txBody>
      </p:sp>
      <p:sp>
        <p:nvSpPr>
          <p:cNvPr id="20" name="Text 18"/>
          <p:cNvSpPr/>
          <p:nvPr/>
        </p:nvSpPr>
        <p:spPr>
          <a:xfrm>
            <a:off x="777240" y="2651760"/>
            <a:ext cx="3108960" cy="1325880"/>
          </a:xfrm>
          <a:prstGeom prst="rect">
            <a:avLst/>
          </a:prstGeom>
          <a:noFill/>
          <a:ln/>
        </p:spPr>
        <p:txBody>
          <a:bodyPr wrap="square" lIns="0" tIns="0" rIns="0" bIns="0" rtlCol="0" anchor="ctr"/>
          <a:lstStyle/>
          <a:p>
            <a:pPr marL="0" indent="0">
              <a:buNone/>
            </a:pPr>
            <a:r>
              <a:rPr lang="en-US" sz="6600" b="1" dirty="0">
                <a:solidFill>
                  <a:srgbClr val="FF6B7A"/>
                </a:solidFill>
                <a:latin typeface="Calibri" pitchFamily="34" charset="0"/>
                <a:ea typeface="Calibri" pitchFamily="34" charset="-122"/>
                <a:cs typeface="Calibri" pitchFamily="34" charset="-120"/>
              </a:rPr>
              <a:t>23.4%</a:t>
            </a:r>
            <a:endParaRPr lang="en-US" sz="6600" dirty="0"/>
          </a:p>
        </p:txBody>
      </p:sp>
      <p:sp>
        <p:nvSpPr>
          <p:cNvPr id="21" name="Text 19"/>
          <p:cNvSpPr/>
          <p:nvPr/>
        </p:nvSpPr>
        <p:spPr>
          <a:xfrm>
            <a:off x="4023360" y="2724912"/>
            <a:ext cx="7345375" cy="1188720"/>
          </a:xfrm>
          <a:prstGeom prst="rect">
            <a:avLst/>
          </a:prstGeom>
          <a:noFill/>
          <a:ln/>
        </p:spPr>
        <p:txBody>
          <a:bodyPr wrap="square" lIns="0" tIns="0" rIns="0" bIns="0" rtlCol="0" anchor="ctr"/>
          <a:lstStyle/>
          <a:p>
            <a:pPr marL="0" indent="0">
              <a:lnSpc>
                <a:spcPct val="125000"/>
              </a:lnSpc>
              <a:buNone/>
            </a:pPr>
            <a:r>
              <a:rPr lang="en-US" sz="1550" dirty="0">
                <a:solidFill>
                  <a:srgbClr val="F4F7FB"/>
                </a:solidFill>
                <a:latin typeface="Calibri" pitchFamily="34" charset="0"/>
                <a:ea typeface="Calibri" pitchFamily="34" charset="-122"/>
                <a:cs typeface="Calibri" pitchFamily="34" charset="-120"/>
              </a:rPr>
              <a:t>of July's Azure spend carries no project tag, up from 8.4% in May. Nearly a quarter of the bill cannot be attributed to a team, which means it cannot be charged back, questioned, or defended.</a:t>
            </a:r>
            <a:endParaRPr lang="en-US" sz="1550" dirty="0"/>
          </a:p>
        </p:txBody>
      </p:sp>
      <p:sp>
        <p:nvSpPr>
          <p:cNvPr id="22" name="Shape 20"/>
          <p:cNvSpPr/>
          <p:nvPr/>
        </p:nvSpPr>
        <p:spPr>
          <a:xfrm>
            <a:off x="457200" y="4517136"/>
            <a:ext cx="64008" cy="64008"/>
          </a:xfrm>
          <a:prstGeom prst="rect">
            <a:avLst/>
          </a:prstGeom>
          <a:solidFill>
            <a:srgbClr val="FF6B7A"/>
          </a:solidFill>
          <a:ln w="12700">
            <a:solidFill>
              <a:srgbClr val="FF6B7A"/>
            </a:solidFill>
            <a:prstDash val="solid"/>
          </a:ln>
        </p:spPr>
        <p:txBody>
          <a:bodyPr/>
          <a:lstStyle/>
          <a:p>
            <a:endParaRPr lang="he-IL" dirty="0"/>
          </a:p>
        </p:txBody>
      </p:sp>
      <p:sp>
        <p:nvSpPr>
          <p:cNvPr id="23" name="Text 21"/>
          <p:cNvSpPr/>
          <p:nvPr/>
        </p:nvSpPr>
        <p:spPr>
          <a:xfrm>
            <a:off x="630936" y="4434840"/>
            <a:ext cx="11103559" cy="365760"/>
          </a:xfrm>
          <a:prstGeom prst="rect">
            <a:avLst/>
          </a:prstGeom>
          <a:noFill/>
          <a:ln/>
        </p:spPr>
        <p:txBody>
          <a:bodyPr wrap="square" lIns="0" tIns="0" rIns="0" bIns="0" rtlCol="0" anchor="t"/>
          <a:lstStyle/>
          <a:p>
            <a:pPr marL="0" indent="0">
              <a:lnSpc>
                <a:spcPct val="110000"/>
              </a:lnSpc>
              <a:buNone/>
            </a:pPr>
            <a:r>
              <a:rPr lang="en-US" sz="1250" dirty="0">
                <a:solidFill>
                  <a:srgbClr val="F4F7FB"/>
                </a:solidFill>
                <a:latin typeface="Calibri" pitchFamily="34" charset="0"/>
                <a:ea typeface="Calibri" pitchFamily="34" charset="-122"/>
                <a:cs typeface="Calibri" pitchFamily="34" charset="-120"/>
              </a:rPr>
              <a:t>The untagged share tripled in three months, it is getting worse, not better, and it is worst in exactly the AI workloads that are growing fastest.</a:t>
            </a:r>
            <a:endParaRPr lang="en-US" sz="1250" dirty="0"/>
          </a:p>
        </p:txBody>
      </p:sp>
      <p:sp>
        <p:nvSpPr>
          <p:cNvPr id="24" name="Shape 22"/>
          <p:cNvSpPr/>
          <p:nvPr/>
        </p:nvSpPr>
        <p:spPr>
          <a:xfrm>
            <a:off x="457200" y="5084064"/>
            <a:ext cx="64008" cy="64008"/>
          </a:xfrm>
          <a:prstGeom prst="rect">
            <a:avLst/>
          </a:prstGeom>
          <a:solidFill>
            <a:srgbClr val="FF6B7A"/>
          </a:solidFill>
          <a:ln w="12700">
            <a:solidFill>
              <a:srgbClr val="FF6B7A"/>
            </a:solidFill>
            <a:prstDash val="solid"/>
          </a:ln>
        </p:spPr>
        <p:txBody>
          <a:bodyPr/>
          <a:lstStyle/>
          <a:p>
            <a:endParaRPr lang="he-IL" dirty="0"/>
          </a:p>
        </p:txBody>
      </p:sp>
      <p:sp>
        <p:nvSpPr>
          <p:cNvPr id="25" name="Text 23"/>
          <p:cNvSpPr/>
          <p:nvPr/>
        </p:nvSpPr>
        <p:spPr>
          <a:xfrm>
            <a:off x="630936" y="5001768"/>
            <a:ext cx="11103559" cy="365760"/>
          </a:xfrm>
          <a:prstGeom prst="rect">
            <a:avLst/>
          </a:prstGeom>
          <a:noFill/>
          <a:ln/>
        </p:spPr>
        <p:txBody>
          <a:bodyPr wrap="square" lIns="0" tIns="0" rIns="0" bIns="0" rtlCol="0" anchor="t"/>
          <a:lstStyle/>
          <a:p>
            <a:pPr marL="0" indent="0">
              <a:lnSpc>
                <a:spcPct val="110000"/>
              </a:lnSpc>
              <a:buNone/>
            </a:pPr>
            <a:r>
              <a:rPr lang="en-US" sz="1250" dirty="0">
                <a:solidFill>
                  <a:srgbClr val="F4F7FB"/>
                </a:solidFill>
                <a:latin typeface="Calibri" pitchFamily="34" charset="0"/>
                <a:ea typeface="Calibri" pitchFamily="34" charset="-122"/>
                <a:cs typeface="Calibri" pitchFamily="34" charset="-120"/>
              </a:rPr>
              <a:t>Tagging is the dependency under everything else: no chargeback, no per-consumer budget, and no gateway quota can be enforced without it.</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6">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txBody>
          <a:bodyPr/>
          <a:lstStyle/>
          <a:p>
            <a:endParaRPr lang="he-IL" dirty="0"/>
          </a:p>
        </p:txBody>
      </p:sp>
      <p:sp>
        <p:nvSpPr>
          <p:cNvPr id="3" name="Shape 1"/>
          <p:cNvSpPr/>
          <p:nvPr/>
        </p:nvSpPr>
        <p:spPr>
          <a:xfrm>
            <a:off x="7863840" y="-1280160"/>
            <a:ext cx="5852160" cy="5852160"/>
          </a:xfrm>
          <a:prstGeom prst="ellipse">
            <a:avLst/>
          </a:prstGeom>
          <a:solidFill>
            <a:srgbClr val="3DDC97">
              <a:alpha val="8000"/>
            </a:srgbClr>
          </a:solidFill>
          <a:ln w="12700">
            <a:solidFill>
              <a:srgbClr val="3DDC97">
                <a:alpha val="0"/>
              </a:srgbClr>
            </a:solidFill>
            <a:prstDash val="solid"/>
          </a:ln>
        </p:spPr>
        <p:txBody>
          <a:bodyPr/>
          <a:lstStyle/>
          <a:p>
            <a:endParaRPr lang="he-IL" dirty="0"/>
          </a:p>
        </p:txBody>
      </p:sp>
      <p:sp>
        <p:nvSpPr>
          <p:cNvPr id="4" name="Shape 2"/>
          <p:cNvSpPr/>
          <p:nvPr/>
        </p:nvSpPr>
        <p:spPr>
          <a:xfrm>
            <a:off x="9144000" y="2377440"/>
            <a:ext cx="4754880" cy="4754880"/>
          </a:xfrm>
          <a:prstGeom prst="ellipse">
            <a:avLst/>
          </a:prstGeom>
          <a:solidFill>
            <a:srgbClr val="3DD9EB">
              <a:alpha val="7000"/>
            </a:srgbClr>
          </a:solidFill>
          <a:ln w="12700">
            <a:solidFill>
              <a:srgbClr val="3DD9EB">
                <a:alpha val="0"/>
              </a:srgbClr>
            </a:solidFill>
            <a:prstDash val="solid"/>
          </a:ln>
        </p:spPr>
        <p:txBody>
          <a:bodyPr/>
          <a:lstStyle/>
          <a:p>
            <a:endParaRPr lang="he-IL" dirty="0"/>
          </a:p>
        </p:txBody>
      </p:sp>
      <p:sp>
        <p:nvSpPr>
          <p:cNvPr id="5" name="Text 3"/>
          <p:cNvSpPr/>
          <p:nvPr/>
        </p:nvSpPr>
        <p:spPr>
          <a:xfrm>
            <a:off x="457200" y="2331720"/>
            <a:ext cx="8229600" cy="274320"/>
          </a:xfrm>
          <a:prstGeom prst="rect">
            <a:avLst/>
          </a:prstGeom>
          <a:noFill/>
          <a:ln/>
        </p:spPr>
        <p:txBody>
          <a:bodyPr wrap="square" lIns="0" tIns="0" rIns="0" bIns="0" rtlCol="0" anchor="ctr"/>
          <a:lstStyle/>
          <a:p>
            <a:pPr marL="0" indent="0">
              <a:buNone/>
            </a:pPr>
            <a:r>
              <a:rPr lang="en-US" sz="1300" b="1" kern="0" spc="300" dirty="0">
                <a:solidFill>
                  <a:srgbClr val="3DDC97"/>
                </a:solidFill>
                <a:latin typeface="Calibri" pitchFamily="34" charset="0"/>
                <a:ea typeface="Calibri" pitchFamily="34" charset="-122"/>
                <a:cs typeface="Calibri" pitchFamily="34" charset="-120"/>
              </a:rPr>
              <a:t>PART THREE</a:t>
            </a:r>
            <a:endParaRPr lang="en-US" sz="1300" dirty="0"/>
          </a:p>
        </p:txBody>
      </p:sp>
      <p:sp>
        <p:nvSpPr>
          <p:cNvPr id="6" name="Text 4"/>
          <p:cNvSpPr/>
          <p:nvPr/>
        </p:nvSpPr>
        <p:spPr>
          <a:xfrm>
            <a:off x="457200" y="2651760"/>
            <a:ext cx="8412480" cy="1005840"/>
          </a:xfrm>
          <a:prstGeom prst="rect">
            <a:avLst/>
          </a:prstGeom>
          <a:noFill/>
          <a:ln/>
        </p:spPr>
        <p:txBody>
          <a:bodyPr wrap="square" lIns="0" tIns="0" rIns="0" bIns="0" rtlCol="0" anchor="ctr"/>
          <a:lstStyle/>
          <a:p>
            <a:pPr marL="0" indent="0">
              <a:buNone/>
            </a:pPr>
            <a:r>
              <a:rPr lang="en-US" sz="4000" b="1" dirty="0">
                <a:solidFill>
                  <a:srgbClr val="F4F7FB"/>
                </a:solidFill>
                <a:latin typeface="Calibri" pitchFamily="34" charset="0"/>
                <a:ea typeface="Calibri" pitchFamily="34" charset="-122"/>
                <a:cs typeface="Calibri" pitchFamily="34" charset="-120"/>
              </a:rPr>
              <a:t>What we have already taken out</a:t>
            </a:r>
            <a:endParaRPr lang="en-US" sz="4000" dirty="0"/>
          </a:p>
        </p:txBody>
      </p:sp>
      <p:sp>
        <p:nvSpPr>
          <p:cNvPr id="7" name="Text 5"/>
          <p:cNvSpPr/>
          <p:nvPr/>
        </p:nvSpPr>
        <p:spPr>
          <a:xfrm>
            <a:off x="457200" y="3703320"/>
            <a:ext cx="7863840" cy="457200"/>
          </a:xfrm>
          <a:prstGeom prst="rect">
            <a:avLst/>
          </a:prstGeom>
          <a:noFill/>
          <a:ln/>
        </p:spPr>
        <p:txBody>
          <a:bodyPr wrap="square" lIns="0" tIns="0" rIns="0" bIns="0" rtlCol="0" anchor="ctr"/>
          <a:lstStyle/>
          <a:p>
            <a:pPr marL="0" indent="0">
              <a:buNone/>
            </a:pPr>
            <a:r>
              <a:rPr lang="en-US" sz="1500" dirty="0">
                <a:solidFill>
                  <a:srgbClr val="91A0B7"/>
                </a:solidFill>
                <a:latin typeface="Calibri" pitchFamily="34" charset="0"/>
                <a:ea typeface="Calibri" pitchFamily="34" charset="-122"/>
                <a:cs typeface="Calibri" pitchFamily="34" charset="-120"/>
              </a:rPr>
              <a:t>$278,868 banked, $193,000 identified and waiting</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7">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txBody>
          <a:bodyPr/>
          <a:lstStyle/>
          <a:p>
            <a:endParaRPr lang="he-IL" dirty="0"/>
          </a:p>
        </p:txBody>
      </p:sp>
      <p:sp>
        <p:nvSpPr>
          <p:cNvPr id="3" name="Shape 1"/>
          <p:cNvSpPr/>
          <p:nvPr/>
        </p:nvSpPr>
        <p:spPr>
          <a:xfrm>
            <a:off x="457200" y="306324"/>
            <a:ext cx="109728" cy="109728"/>
          </a:xfrm>
          <a:prstGeom prst="ellipse">
            <a:avLst/>
          </a:prstGeom>
          <a:solidFill>
            <a:srgbClr val="3DDC97"/>
          </a:solidFill>
          <a:ln w="12700">
            <a:solidFill>
              <a:srgbClr val="3DDC97"/>
            </a:solidFill>
            <a:prstDash val="solid"/>
          </a:ln>
        </p:spPr>
        <p:txBody>
          <a:bodyPr/>
          <a:lstStyle/>
          <a:p>
            <a:endParaRPr lang="he-IL" dirty="0"/>
          </a:p>
        </p:txBody>
      </p:sp>
      <p:sp>
        <p:nvSpPr>
          <p:cNvPr id="4" name="Text 2"/>
          <p:cNvSpPr/>
          <p:nvPr/>
        </p:nvSpPr>
        <p:spPr>
          <a:xfrm>
            <a:off x="640080" y="274320"/>
            <a:ext cx="7315200" cy="237744"/>
          </a:xfrm>
          <a:prstGeom prst="rect">
            <a:avLst/>
          </a:prstGeom>
          <a:noFill/>
          <a:ln/>
        </p:spPr>
        <p:txBody>
          <a:bodyPr wrap="square" lIns="0" tIns="0" rIns="0" bIns="0" rtlCol="0" anchor="ctr"/>
          <a:lstStyle/>
          <a:p>
            <a:pPr marL="0" indent="0">
              <a:buNone/>
            </a:pPr>
            <a:r>
              <a:rPr lang="en-US" sz="1300" b="1" kern="0" spc="200" dirty="0">
                <a:solidFill>
                  <a:srgbClr val="3DDC97"/>
                </a:solidFill>
                <a:latin typeface="Calibri" pitchFamily="34" charset="0"/>
                <a:ea typeface="Calibri" pitchFamily="34" charset="-122"/>
                <a:cs typeface="Calibri" pitchFamily="34" charset="-120"/>
              </a:rPr>
              <a:t>IMPLEMENTED</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marL="0" indent="0">
              <a:buNone/>
            </a:pPr>
            <a:r>
              <a:rPr lang="en-US" sz="1953" b="1" dirty="0">
                <a:solidFill>
                  <a:srgbClr val="F4F7FB"/>
                </a:solidFill>
                <a:latin typeface="Calibri" pitchFamily="34" charset="0"/>
                <a:ea typeface="Calibri" pitchFamily="34" charset="-122"/>
                <a:cs typeface="Calibri" pitchFamily="34" charset="-120"/>
              </a:rPr>
              <a:t>$278,868 of annual saving, already actioned</a:t>
            </a:r>
            <a:endParaRPr lang="en-US" sz="1953" dirty="0"/>
          </a:p>
        </p:txBody>
      </p:sp>
      <p:sp>
        <p:nvSpPr>
          <p:cNvPr id="6" name="Text 4"/>
          <p:cNvSpPr/>
          <p:nvPr/>
        </p:nvSpPr>
        <p:spPr>
          <a:xfrm>
            <a:off x="8321040" y="493776"/>
            <a:ext cx="3413455" cy="658368"/>
          </a:xfrm>
          <a:prstGeom prst="rect">
            <a:avLst/>
          </a:prstGeom>
          <a:noFill/>
          <a:ln/>
        </p:spPr>
        <p:txBody>
          <a:bodyPr wrap="square" lIns="0" tIns="0" rIns="0" bIns="0" rtlCol="0" anchor="t"/>
          <a:lstStyle/>
          <a:p>
            <a:pPr marL="0" indent="0" algn="r">
              <a:lnSpc>
                <a:spcPct val="115000"/>
              </a:lnSpc>
              <a:buNone/>
            </a:pPr>
            <a:r>
              <a:rPr lang="en-US" sz="1200" dirty="0">
                <a:solidFill>
                  <a:srgbClr val="91A0B7"/>
                </a:solidFill>
                <a:latin typeface="Calibri" pitchFamily="34" charset="0"/>
                <a:ea typeface="Calibri" pitchFamily="34" charset="-122"/>
                <a:cs typeface="Calibri" pitchFamily="34" charset="-120"/>
              </a:rPr>
              <a:t>Delivered during 2026. Annualised figures.</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marL="0" indent="0">
              <a:lnSpc>
                <a:spcPct val="115000"/>
              </a:lnSpc>
              <a:buNone/>
            </a:pPr>
            <a:r>
              <a:rPr lang="en-US" sz="1200" dirty="0">
                <a:solidFill>
                  <a:srgbClr val="536078"/>
                </a:solidFill>
                <a:latin typeface="Calibri" pitchFamily="34" charset="0"/>
                <a:ea typeface="Calibri" pitchFamily="34" charset="-122"/>
                <a:cs typeface="Calibri" pitchFamily="34" charset="-120"/>
              </a:rPr>
              <a:t>This is the half of the story the previous briefing did not tell: the bill grew 21% since January, and it would have grown considerably more without these.</a:t>
            </a:r>
            <a:endParaRPr lang="en-US" sz="1200" dirty="0"/>
          </a:p>
        </p:txBody>
      </p:sp>
      <p:sp>
        <p:nvSpPr>
          <p:cNvPr id="8" name="Text 6"/>
          <p:cNvSpPr/>
          <p:nvPr/>
        </p:nvSpPr>
        <p:spPr>
          <a:xfrm>
            <a:off x="457200" y="1234440"/>
            <a:ext cx="5303520" cy="237744"/>
          </a:xfrm>
          <a:prstGeom prst="rect">
            <a:avLst/>
          </a:prstGeom>
          <a:noFill/>
          <a:ln/>
        </p:spPr>
        <p:txBody>
          <a:bodyPr wrap="square" lIns="0" tIns="0" rIns="0" bIns="0" rtlCol="0" anchor="ctr"/>
          <a:lstStyle/>
          <a:p>
            <a:pPr marL="0" indent="0">
              <a:buNone/>
            </a:pPr>
            <a:r>
              <a:rPr lang="en-US" sz="1500" b="1" dirty="0">
                <a:solidFill>
                  <a:srgbClr val="F4F7FB"/>
                </a:solidFill>
                <a:latin typeface="Calibri" pitchFamily="34" charset="0"/>
                <a:ea typeface="Calibri" pitchFamily="34" charset="-122"/>
                <a:cs typeface="Calibri" pitchFamily="34" charset="-120"/>
              </a:rPr>
              <a:t>Banked savings, by type</a:t>
            </a:r>
            <a:endParaRPr lang="en-US" sz="15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5303520" cy="3511296"/>
        </p:xfrm>
        <a:graphic>
          <a:graphicData uri="http://schemas.openxmlformats.org/drawingml/2006/table">
            <a:tbl>
              <a:tblPr/>
              <a:tblGrid>
                <a:gridCol w="384048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tblGrid>
              <a:tr h="292608">
                <a:tc>
                  <a:txBody>
                    <a:bodyPr/>
                    <a:lstStyle/>
                    <a:p>
                      <a:pPr marL="0" indent="0" algn="l">
                        <a:buNone/>
                      </a:pPr>
                      <a:r>
                        <a:rPr lang="en-US" sz="1200" b="1" kern="0" spc="80" dirty="0">
                          <a:solidFill>
                            <a:srgbClr val="91A0B7"/>
                          </a:solidFill>
                          <a:latin typeface="Calibri" pitchFamily="34" charset="0"/>
                          <a:ea typeface="Calibri" pitchFamily="34" charset="-122"/>
                          <a:cs typeface="Calibri" pitchFamily="34" charset="-120"/>
                        </a:rPr>
                        <a:t>Savings type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b="1" kern="0" spc="80" dirty="0">
                          <a:solidFill>
                            <a:srgbClr val="91A0B7"/>
                          </a:solidFill>
                          <a:latin typeface="Calibri" pitchFamily="34" charset="0"/>
                          <a:ea typeface="Calibri" pitchFamily="34" charset="-122"/>
                          <a:cs typeface="Calibri" pitchFamily="34" charset="-120"/>
                        </a:rPr>
                        <a:t>Annual saving</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extLst>
                  <a:ext uri="{0D108BD9-81ED-4DB2-BD59-A6C34878D82A}">
                    <a16:rowId xmlns:a16="http://schemas.microsoft.com/office/drawing/2014/main" val="10000"/>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Decommission North Europe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3DDC97"/>
                          </a:solidFill>
                          <a:latin typeface="Calibri" pitchFamily="34" charset="0"/>
                          <a:ea typeface="Calibri" pitchFamily="34" charset="-122"/>
                          <a:cs typeface="Calibri" pitchFamily="34" charset="-120"/>
                        </a:rPr>
                        <a:t>$70,452</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extLst>
                  <a:ext uri="{0D108BD9-81ED-4DB2-BD59-A6C34878D82A}">
                    <a16:rowId xmlns:a16="http://schemas.microsoft.com/office/drawing/2014/main" val="10001"/>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VM reserved instance purchase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3DDC97"/>
                          </a:solidFill>
                          <a:latin typeface="Calibri" pitchFamily="34" charset="0"/>
                          <a:ea typeface="Calibri" pitchFamily="34" charset="-122"/>
                          <a:cs typeface="Calibri" pitchFamily="34" charset="-120"/>
                        </a:rPr>
                        <a:t>$66,783</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extLst>
                  <a:ext uri="{0D108BD9-81ED-4DB2-BD59-A6C34878D82A}">
                    <a16:rowId xmlns:a16="http://schemas.microsoft.com/office/drawing/2014/main" val="10002"/>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Savings plan purchase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3DDC97"/>
                          </a:solidFill>
                          <a:latin typeface="Calibri" pitchFamily="34" charset="0"/>
                          <a:ea typeface="Calibri" pitchFamily="34" charset="-122"/>
                          <a:cs typeface="Calibri" pitchFamily="34" charset="-120"/>
                        </a:rPr>
                        <a:t>$65,335</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extLst>
                  <a:ext uri="{0D108BD9-81ED-4DB2-BD59-A6C34878D82A}">
                    <a16:rowId xmlns:a16="http://schemas.microsoft.com/office/drawing/2014/main" val="10003"/>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Remove unnecessary VMs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3DDC97"/>
                          </a:solidFill>
                          <a:latin typeface="Calibri" pitchFamily="34" charset="0"/>
                          <a:ea typeface="Calibri" pitchFamily="34" charset="-122"/>
                          <a:cs typeface="Calibri" pitchFamily="34" charset="-120"/>
                        </a:rPr>
                        <a:t>$28,105</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extLst>
                  <a:ext uri="{0D108BD9-81ED-4DB2-BD59-A6C34878D82A}">
                    <a16:rowId xmlns:a16="http://schemas.microsoft.com/office/drawing/2014/main" val="10004"/>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Idle unattached disks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3DDC97"/>
                          </a:solidFill>
                          <a:latin typeface="Calibri" pitchFamily="34" charset="0"/>
                          <a:ea typeface="Calibri" pitchFamily="34" charset="-122"/>
                          <a:cs typeface="Calibri" pitchFamily="34" charset="-120"/>
                        </a:rPr>
                        <a:t>$20,576</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extLst>
                  <a:ext uri="{0D108BD9-81ED-4DB2-BD59-A6C34878D82A}">
                    <a16:rowId xmlns:a16="http://schemas.microsoft.com/office/drawing/2014/main" val="10005"/>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RI renewal, blob storage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3DDC97"/>
                          </a:solidFill>
                          <a:latin typeface="Calibri" pitchFamily="34" charset="0"/>
                          <a:ea typeface="Calibri" pitchFamily="34" charset="-122"/>
                          <a:cs typeface="Calibri" pitchFamily="34" charset="-120"/>
                        </a:rPr>
                        <a:t>$9,432</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extLst>
                  <a:ext uri="{0D108BD9-81ED-4DB2-BD59-A6C34878D82A}">
                    <a16:rowId xmlns:a16="http://schemas.microsoft.com/office/drawing/2014/main" val="10006"/>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RDS reserved instance purchase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3DDC97"/>
                          </a:solidFill>
                          <a:latin typeface="Calibri" pitchFamily="34" charset="0"/>
                          <a:ea typeface="Calibri" pitchFamily="34" charset="-122"/>
                          <a:cs typeface="Calibri" pitchFamily="34" charset="-120"/>
                        </a:rPr>
                        <a:t>$7,944</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extLst>
                  <a:ext uri="{0D108BD9-81ED-4DB2-BD59-A6C34878D82A}">
                    <a16:rowId xmlns:a16="http://schemas.microsoft.com/office/drawing/2014/main" val="10007"/>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Retire two unused SQL instances on expiring RI</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3DDC97"/>
                          </a:solidFill>
                          <a:latin typeface="Calibri" pitchFamily="34" charset="0"/>
                          <a:ea typeface="Calibri" pitchFamily="34" charset="-122"/>
                          <a:cs typeface="Calibri" pitchFamily="34" charset="-120"/>
                        </a:rPr>
                        <a:t>$4,563</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extLst>
                  <a:ext uri="{0D108BD9-81ED-4DB2-BD59-A6C34878D82A}">
                    <a16:rowId xmlns:a16="http://schemas.microsoft.com/office/drawing/2014/main" val="10008"/>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EKS extended support 1.33, preprod</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3DDC97"/>
                          </a:solidFill>
                          <a:latin typeface="Calibri" pitchFamily="34" charset="0"/>
                          <a:ea typeface="Calibri" pitchFamily="34" charset="-122"/>
                          <a:cs typeface="Calibri" pitchFamily="34" charset="-120"/>
                        </a:rPr>
                        <a:t>$4,526</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extLst>
                  <a:ext uri="{0D108BD9-81ED-4DB2-BD59-A6C34878D82A}">
                    <a16:rowId xmlns:a16="http://schemas.microsoft.com/office/drawing/2014/main" val="10009"/>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App Service, reserved instance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3DDC97"/>
                          </a:solidFill>
                          <a:latin typeface="Calibri" pitchFamily="34" charset="0"/>
                          <a:ea typeface="Calibri" pitchFamily="34" charset="-122"/>
                          <a:cs typeface="Calibri" pitchFamily="34" charset="-120"/>
                        </a:rPr>
                        <a:t>$712</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extLst>
                  <a:ext uri="{0D108BD9-81ED-4DB2-BD59-A6C34878D82A}">
                    <a16:rowId xmlns:a16="http://schemas.microsoft.com/office/drawing/2014/main" val="10010"/>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RI refund to reach 100% utilisation</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3DDC97"/>
                          </a:solidFill>
                          <a:latin typeface="Calibri" pitchFamily="34" charset="0"/>
                          <a:ea typeface="Calibri" pitchFamily="34" charset="-122"/>
                          <a:cs typeface="Calibri" pitchFamily="34" charset="-120"/>
                        </a:rPr>
                        <a:t>$440</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extLst>
                  <a:ext uri="{0D108BD9-81ED-4DB2-BD59-A6C34878D82A}">
                    <a16:rowId xmlns:a16="http://schemas.microsoft.com/office/drawing/2014/main" val="10011"/>
                  </a:ext>
                </a:extLst>
              </a:tr>
            </a:tbl>
          </a:graphicData>
        </a:graphic>
      </p:graphicFrame>
      <p:sp>
        <p:nvSpPr>
          <p:cNvPr id="10" name="Shape 7"/>
          <p:cNvSpPr/>
          <p:nvPr/>
        </p:nvSpPr>
        <p:spPr>
          <a:xfrm>
            <a:off x="6126480" y="1234440"/>
            <a:ext cx="5608015" cy="1097280"/>
          </a:xfrm>
          <a:prstGeom prst="roundRect">
            <a:avLst>
              <a:gd name="adj" fmla="val 5000"/>
            </a:avLst>
          </a:prstGeom>
          <a:solidFill>
            <a:srgbClr val="121B2D"/>
          </a:solidFill>
          <a:ln w="12700">
            <a:solidFill>
              <a:srgbClr val="23304A"/>
            </a:solidFill>
            <a:prstDash val="solid"/>
          </a:ln>
        </p:spPr>
        <p:txBody>
          <a:bodyPr/>
          <a:lstStyle/>
          <a:p>
            <a:endParaRPr lang="he-IL" dirty="0"/>
          </a:p>
        </p:txBody>
      </p:sp>
      <p:sp>
        <p:nvSpPr>
          <p:cNvPr id="11" name="Text 8"/>
          <p:cNvSpPr/>
          <p:nvPr/>
        </p:nvSpPr>
        <p:spPr>
          <a:xfrm>
            <a:off x="6327648" y="1325880"/>
            <a:ext cx="5205679"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TOTAL ANNUAL SAVINGS</a:t>
            </a:r>
            <a:endParaRPr lang="en-US" sz="1200" dirty="0"/>
          </a:p>
        </p:txBody>
      </p:sp>
      <p:sp>
        <p:nvSpPr>
          <p:cNvPr id="12" name="Text 9"/>
          <p:cNvSpPr/>
          <p:nvPr/>
        </p:nvSpPr>
        <p:spPr>
          <a:xfrm>
            <a:off x="6327648" y="1527048"/>
            <a:ext cx="5205679" cy="438912"/>
          </a:xfrm>
          <a:prstGeom prst="rect">
            <a:avLst/>
          </a:prstGeom>
          <a:noFill/>
          <a:ln/>
        </p:spPr>
        <p:txBody>
          <a:bodyPr wrap="square" lIns="0" tIns="0" rIns="0" bIns="0" rtlCol="0" anchor="ctr"/>
          <a:lstStyle/>
          <a:p>
            <a:pPr marL="0" indent="0">
              <a:buNone/>
            </a:pPr>
            <a:r>
              <a:rPr lang="en-US" sz="3000" b="1" dirty="0">
                <a:solidFill>
                  <a:srgbClr val="F4F7FB"/>
                </a:solidFill>
                <a:latin typeface="Calibri" pitchFamily="34" charset="0"/>
                <a:ea typeface="Calibri" pitchFamily="34" charset="-122"/>
                <a:cs typeface="Calibri" pitchFamily="34" charset="-120"/>
              </a:rPr>
              <a:t>$278,868</a:t>
            </a:r>
            <a:endParaRPr lang="en-US" sz="3000" dirty="0"/>
          </a:p>
        </p:txBody>
      </p:sp>
      <p:sp>
        <p:nvSpPr>
          <p:cNvPr id="13" name="Text 10"/>
          <p:cNvSpPr/>
          <p:nvPr/>
        </p:nvSpPr>
        <p:spPr>
          <a:xfrm>
            <a:off x="6327648" y="1929384"/>
            <a:ext cx="5205679" cy="329184"/>
          </a:xfrm>
          <a:prstGeom prst="rect">
            <a:avLst/>
          </a:prstGeom>
          <a:noFill/>
          <a:ln/>
        </p:spPr>
        <p:txBody>
          <a:bodyPr wrap="square" lIns="0" tIns="0" rIns="0" bIns="0" rtlCol="0" anchor="t"/>
          <a:lstStyle/>
          <a:p>
            <a:pPr marL="0" indent="0">
              <a:lnSpc>
                <a:spcPct val="105000"/>
              </a:lnSpc>
              <a:buNone/>
            </a:pPr>
            <a:r>
              <a:rPr lang="en-US" sz="1200" b="1" dirty="0">
                <a:solidFill>
                  <a:srgbClr val="3DDC97"/>
                </a:solidFill>
                <a:latin typeface="Calibri" pitchFamily="34" charset="0"/>
                <a:ea typeface="Calibri" pitchFamily="34" charset="-122"/>
                <a:cs typeface="Calibri" pitchFamily="34" charset="-120"/>
              </a:rPr>
              <a:t>already implemented</a:t>
            </a:r>
            <a:endParaRPr lang="en-US" sz="1200" dirty="0"/>
          </a:p>
        </p:txBody>
      </p:sp>
      <p:sp>
        <p:nvSpPr>
          <p:cNvPr id="14" name="Shape 11"/>
          <p:cNvSpPr/>
          <p:nvPr/>
        </p:nvSpPr>
        <p:spPr>
          <a:xfrm>
            <a:off x="6126480" y="2459736"/>
            <a:ext cx="5608015" cy="1097280"/>
          </a:xfrm>
          <a:prstGeom prst="roundRect">
            <a:avLst>
              <a:gd name="adj" fmla="val 5000"/>
            </a:avLst>
          </a:prstGeom>
          <a:solidFill>
            <a:srgbClr val="121B2D"/>
          </a:solidFill>
          <a:ln w="12700">
            <a:solidFill>
              <a:srgbClr val="23304A"/>
            </a:solidFill>
            <a:prstDash val="solid"/>
          </a:ln>
        </p:spPr>
        <p:txBody>
          <a:bodyPr/>
          <a:lstStyle/>
          <a:p>
            <a:endParaRPr lang="he-IL" dirty="0"/>
          </a:p>
        </p:txBody>
      </p:sp>
      <p:sp>
        <p:nvSpPr>
          <p:cNvPr id="15" name="Text 12"/>
          <p:cNvSpPr/>
          <p:nvPr/>
        </p:nvSpPr>
        <p:spPr>
          <a:xfrm>
            <a:off x="6327648" y="2551176"/>
            <a:ext cx="5205679"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AGAINST ANNUALISED SPEND</a:t>
            </a:r>
            <a:endParaRPr lang="en-US" sz="1200" dirty="0"/>
          </a:p>
        </p:txBody>
      </p:sp>
      <p:sp>
        <p:nvSpPr>
          <p:cNvPr id="16" name="Text 13"/>
          <p:cNvSpPr/>
          <p:nvPr/>
        </p:nvSpPr>
        <p:spPr>
          <a:xfrm>
            <a:off x="6327648" y="2752344"/>
            <a:ext cx="5205679"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9.4%</a:t>
            </a:r>
            <a:endParaRPr lang="en-US" sz="2800" dirty="0"/>
          </a:p>
        </p:txBody>
      </p:sp>
      <p:sp>
        <p:nvSpPr>
          <p:cNvPr id="17" name="Text 14"/>
          <p:cNvSpPr/>
          <p:nvPr/>
        </p:nvSpPr>
        <p:spPr>
          <a:xfrm>
            <a:off x="6327648" y="3154680"/>
            <a:ext cx="5205679" cy="329184"/>
          </a:xfrm>
          <a:prstGeom prst="rect">
            <a:avLst/>
          </a:prstGeom>
          <a:noFill/>
          <a:ln/>
        </p:spPr>
        <p:txBody>
          <a:bodyPr wrap="square" lIns="0" tIns="0" rIns="0" bIns="0" rtlCol="0" anchor="t"/>
          <a:lstStyle/>
          <a:p>
            <a:pPr marL="0" indent="0">
              <a:lnSpc>
                <a:spcPct val="105000"/>
              </a:lnSpc>
              <a:buNone/>
            </a:pPr>
            <a:r>
              <a:rPr lang="en-US" sz="1200" b="1" dirty="0">
                <a:solidFill>
                  <a:srgbClr val="3DD9EB"/>
                </a:solidFill>
                <a:latin typeface="Calibri" pitchFamily="34" charset="0"/>
                <a:ea typeface="Calibri" pitchFamily="34" charset="-122"/>
                <a:cs typeface="Calibri" pitchFamily="34" charset="-120"/>
              </a:rPr>
              <a:t>of ~$3.0M consumption</a:t>
            </a:r>
            <a:endParaRPr lang="en-US" sz="1200" dirty="0"/>
          </a:p>
        </p:txBody>
      </p:sp>
      <p:sp>
        <p:nvSpPr>
          <p:cNvPr id="9" name="Shape 15"/>
          <p:cNvSpPr/>
          <p:nvPr/>
        </p:nvSpPr>
        <p:spPr>
          <a:xfrm>
            <a:off x="6126480" y="3685032"/>
            <a:ext cx="5608015" cy="1097280"/>
          </a:xfrm>
          <a:prstGeom prst="roundRect">
            <a:avLst>
              <a:gd name="adj" fmla="val 5000"/>
            </a:avLst>
          </a:prstGeom>
          <a:solidFill>
            <a:srgbClr val="121B2D"/>
          </a:solidFill>
          <a:ln w="12700">
            <a:solidFill>
              <a:srgbClr val="23304A"/>
            </a:solidFill>
            <a:prstDash val="solid"/>
          </a:ln>
        </p:spPr>
        <p:txBody>
          <a:bodyPr/>
          <a:lstStyle/>
          <a:p>
            <a:endParaRPr lang="he-IL" dirty="0"/>
          </a:p>
        </p:txBody>
      </p:sp>
      <p:sp>
        <p:nvSpPr>
          <p:cNvPr id="19" name="Text 16"/>
          <p:cNvSpPr/>
          <p:nvPr/>
        </p:nvSpPr>
        <p:spPr>
          <a:xfrm>
            <a:off x="6327648" y="3776472"/>
            <a:ext cx="5205679"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LARGEST ACTION</a:t>
            </a:r>
            <a:endParaRPr lang="en-US" sz="1200" dirty="0"/>
          </a:p>
        </p:txBody>
      </p:sp>
      <p:sp>
        <p:nvSpPr>
          <p:cNvPr id="20" name="Text 17"/>
          <p:cNvSpPr/>
          <p:nvPr/>
        </p:nvSpPr>
        <p:spPr>
          <a:xfrm>
            <a:off x="6327648" y="3977640"/>
            <a:ext cx="5205679"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$70,452</a:t>
            </a:r>
            <a:endParaRPr lang="en-US" sz="2800" dirty="0"/>
          </a:p>
        </p:txBody>
      </p:sp>
      <p:sp>
        <p:nvSpPr>
          <p:cNvPr id="21" name="Text 18"/>
          <p:cNvSpPr/>
          <p:nvPr/>
        </p:nvSpPr>
        <p:spPr>
          <a:xfrm>
            <a:off x="6327648" y="4379976"/>
            <a:ext cx="5205679" cy="329184"/>
          </a:xfrm>
          <a:prstGeom prst="rect">
            <a:avLst/>
          </a:prstGeom>
          <a:noFill/>
          <a:ln/>
        </p:spPr>
        <p:txBody>
          <a:bodyPr wrap="square" lIns="0" tIns="0" rIns="0" bIns="0" rtlCol="0" anchor="t"/>
          <a:lstStyle/>
          <a:p>
            <a:pPr marL="0" indent="0">
              <a:lnSpc>
                <a:spcPct val="105000"/>
              </a:lnSpc>
              <a:buNone/>
            </a:pPr>
            <a:r>
              <a:rPr lang="en-US" sz="1200" b="1" dirty="0">
                <a:solidFill>
                  <a:srgbClr val="2F8CFF"/>
                </a:solidFill>
                <a:latin typeface="Calibri" pitchFamily="34" charset="0"/>
                <a:ea typeface="Calibri" pitchFamily="34" charset="-122"/>
                <a:cs typeface="Calibri" pitchFamily="34" charset="-120"/>
              </a:rPr>
              <a:t>North Europe, $5,871/mo removed</a:t>
            </a:r>
            <a:endParaRPr lang="en-US" sz="1200" dirty="0"/>
          </a:p>
        </p:txBody>
      </p:sp>
      <p:sp>
        <p:nvSpPr>
          <p:cNvPr id="22" name="Shape 19"/>
          <p:cNvSpPr/>
          <p:nvPr/>
        </p:nvSpPr>
        <p:spPr>
          <a:xfrm>
            <a:off x="6126480" y="4910328"/>
            <a:ext cx="5608015" cy="1097280"/>
          </a:xfrm>
          <a:prstGeom prst="roundRect">
            <a:avLst>
              <a:gd name="adj" fmla="val 5000"/>
            </a:avLst>
          </a:prstGeom>
          <a:solidFill>
            <a:srgbClr val="121B2D"/>
          </a:solidFill>
          <a:ln w="12700">
            <a:solidFill>
              <a:srgbClr val="23304A"/>
            </a:solidFill>
            <a:prstDash val="solid"/>
          </a:ln>
        </p:spPr>
        <p:txBody>
          <a:bodyPr/>
          <a:lstStyle/>
          <a:p>
            <a:endParaRPr lang="he-IL" dirty="0"/>
          </a:p>
        </p:txBody>
      </p:sp>
      <p:sp>
        <p:nvSpPr>
          <p:cNvPr id="23" name="Text 20"/>
          <p:cNvSpPr/>
          <p:nvPr/>
        </p:nvSpPr>
        <p:spPr>
          <a:xfrm>
            <a:off x="6327648" y="5001768"/>
            <a:ext cx="5205679"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COMMITMENT-BASED</a:t>
            </a:r>
            <a:endParaRPr lang="en-US" sz="1200" dirty="0"/>
          </a:p>
        </p:txBody>
      </p:sp>
      <p:sp>
        <p:nvSpPr>
          <p:cNvPr id="24" name="Text 21"/>
          <p:cNvSpPr/>
          <p:nvPr/>
        </p:nvSpPr>
        <p:spPr>
          <a:xfrm>
            <a:off x="6327648" y="5202936"/>
            <a:ext cx="5205679"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$132,118</a:t>
            </a:r>
            <a:endParaRPr lang="en-US" sz="2800" dirty="0"/>
          </a:p>
        </p:txBody>
      </p:sp>
      <p:sp>
        <p:nvSpPr>
          <p:cNvPr id="25" name="Text 22"/>
          <p:cNvSpPr/>
          <p:nvPr/>
        </p:nvSpPr>
        <p:spPr>
          <a:xfrm>
            <a:off x="6327648" y="5605272"/>
            <a:ext cx="5205679" cy="329184"/>
          </a:xfrm>
          <a:prstGeom prst="rect">
            <a:avLst/>
          </a:prstGeom>
          <a:noFill/>
          <a:ln/>
        </p:spPr>
        <p:txBody>
          <a:bodyPr wrap="square" lIns="0" tIns="0" rIns="0" bIns="0" rtlCol="0" anchor="t"/>
          <a:lstStyle/>
          <a:p>
            <a:pPr marL="0" indent="0">
              <a:lnSpc>
                <a:spcPct val="105000"/>
              </a:lnSpc>
              <a:buNone/>
            </a:pPr>
            <a:r>
              <a:rPr lang="en-US" sz="1200" b="1" dirty="0">
                <a:solidFill>
                  <a:srgbClr val="91A0B7"/>
                </a:solidFill>
                <a:latin typeface="Calibri" pitchFamily="34" charset="0"/>
                <a:ea typeface="Calibri" pitchFamily="34" charset="-122"/>
                <a:cs typeface="Calibri" pitchFamily="34" charset="-120"/>
              </a:rPr>
              <a:t>reservations and savings plans</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8">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txBody>
          <a:bodyPr/>
          <a:lstStyle/>
          <a:p>
            <a:endParaRPr lang="he-IL" dirty="0"/>
          </a:p>
        </p:txBody>
      </p:sp>
      <p:sp>
        <p:nvSpPr>
          <p:cNvPr id="3" name="Shape 1"/>
          <p:cNvSpPr/>
          <p:nvPr/>
        </p:nvSpPr>
        <p:spPr>
          <a:xfrm>
            <a:off x="457200" y="306324"/>
            <a:ext cx="109728" cy="109728"/>
          </a:xfrm>
          <a:prstGeom prst="ellipse">
            <a:avLst/>
          </a:prstGeom>
          <a:solidFill>
            <a:srgbClr val="E0A030"/>
          </a:solidFill>
          <a:ln w="12700">
            <a:solidFill>
              <a:srgbClr val="E0A030"/>
            </a:solidFill>
            <a:prstDash val="solid"/>
          </a:ln>
        </p:spPr>
        <p:txBody>
          <a:bodyPr/>
          <a:lstStyle/>
          <a:p>
            <a:endParaRPr lang="he-IL" dirty="0"/>
          </a:p>
        </p:txBody>
      </p:sp>
      <p:sp>
        <p:nvSpPr>
          <p:cNvPr id="4" name="Text 2"/>
          <p:cNvSpPr/>
          <p:nvPr/>
        </p:nvSpPr>
        <p:spPr>
          <a:xfrm>
            <a:off x="640080" y="274320"/>
            <a:ext cx="7315200" cy="237744"/>
          </a:xfrm>
          <a:prstGeom prst="rect">
            <a:avLst/>
          </a:prstGeom>
          <a:noFill/>
          <a:ln/>
        </p:spPr>
        <p:txBody>
          <a:bodyPr wrap="square" lIns="0" tIns="0" rIns="0" bIns="0" rtlCol="0" anchor="ctr"/>
          <a:lstStyle/>
          <a:p>
            <a:pPr marL="0" indent="0">
              <a:buNone/>
            </a:pPr>
            <a:r>
              <a:rPr lang="en-US" sz="1300" b="1" kern="0" spc="200" dirty="0">
                <a:solidFill>
                  <a:srgbClr val="E0A030"/>
                </a:solidFill>
                <a:latin typeface="Calibri" pitchFamily="34" charset="0"/>
                <a:ea typeface="Calibri" pitchFamily="34" charset="-122"/>
                <a:cs typeface="Calibri" pitchFamily="34" charset="-120"/>
              </a:rPr>
              <a:t>IDENTIFIED</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marL="0" indent="0">
              <a:buNone/>
            </a:pPr>
            <a:r>
              <a:rPr lang="en-US" sz="1800" b="1" dirty="0">
                <a:solidFill>
                  <a:srgbClr val="F4F7FB"/>
                </a:solidFill>
                <a:latin typeface="Calibri" pitchFamily="34" charset="0"/>
                <a:ea typeface="Calibri" pitchFamily="34" charset="-122"/>
                <a:cs typeface="Calibri" pitchFamily="34" charset="-120"/>
              </a:rPr>
              <a:t>$193,000 more, costed and waiting on a decision</a:t>
            </a:r>
            <a:endParaRPr lang="en-US" sz="1800" dirty="0"/>
          </a:p>
        </p:txBody>
      </p:sp>
      <p:sp>
        <p:nvSpPr>
          <p:cNvPr id="6" name="Text 4"/>
          <p:cNvSpPr/>
          <p:nvPr/>
        </p:nvSpPr>
        <p:spPr>
          <a:xfrm>
            <a:off x="8321040" y="493776"/>
            <a:ext cx="3413455" cy="658368"/>
          </a:xfrm>
          <a:prstGeom prst="rect">
            <a:avLst/>
          </a:prstGeom>
          <a:noFill/>
          <a:ln/>
        </p:spPr>
        <p:txBody>
          <a:bodyPr wrap="square" lIns="0" tIns="0" rIns="0" bIns="0" rtlCol="0" anchor="t"/>
          <a:lstStyle/>
          <a:p>
            <a:pPr marL="0" indent="0" algn="r">
              <a:lnSpc>
                <a:spcPct val="115000"/>
              </a:lnSpc>
              <a:buNone/>
            </a:pP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marL="0" indent="0">
              <a:lnSpc>
                <a:spcPct val="115000"/>
              </a:lnSpc>
              <a:buNone/>
            </a:pPr>
            <a:endParaRPr lang="en-US" sz="1200" dirty="0"/>
          </a:p>
        </p:txBody>
      </p:sp>
      <p:sp>
        <p:nvSpPr>
          <p:cNvPr id="8" name="Text 6"/>
          <p:cNvSpPr/>
          <p:nvPr/>
        </p:nvSpPr>
        <p:spPr>
          <a:xfrm>
            <a:off x="457200" y="1234440"/>
            <a:ext cx="4526280" cy="237744"/>
          </a:xfrm>
          <a:prstGeom prst="rect">
            <a:avLst/>
          </a:prstGeom>
          <a:noFill/>
          <a:ln/>
        </p:spPr>
        <p:txBody>
          <a:bodyPr wrap="square" lIns="0" tIns="0" rIns="0" bIns="0" rtlCol="0" anchor="ctr"/>
          <a:lstStyle/>
          <a:p>
            <a:pPr marL="0" indent="0">
              <a:buNone/>
            </a:pPr>
            <a:r>
              <a:rPr lang="en-US" sz="1500" b="1" dirty="0">
                <a:solidFill>
                  <a:srgbClr val="F4F7FB"/>
                </a:solidFill>
                <a:latin typeface="Calibri" pitchFamily="34" charset="0"/>
                <a:ea typeface="Calibri" pitchFamily="34" charset="-122"/>
                <a:cs typeface="Calibri" pitchFamily="34" charset="-120"/>
              </a:rPr>
              <a:t>Azure</a:t>
            </a:r>
            <a:endParaRPr lang="en-US" sz="1500" dirty="0"/>
          </a:p>
        </p:txBody>
      </p:sp>
      <p:sp>
        <p:nvSpPr>
          <p:cNvPr id="9" name="Text 7"/>
          <p:cNvSpPr/>
          <p:nvPr/>
        </p:nvSpPr>
        <p:spPr>
          <a:xfrm>
            <a:off x="457200" y="1508760"/>
            <a:ext cx="4526280" cy="219456"/>
          </a:xfrm>
          <a:prstGeom prst="rect">
            <a:avLst/>
          </a:prstGeom>
          <a:noFill/>
          <a:ln/>
        </p:spPr>
        <p:txBody>
          <a:bodyPr wrap="square" lIns="0" tIns="0" rIns="0" bIns="0" rtlCol="0" anchor="ctr"/>
          <a:lstStyle/>
          <a:p>
            <a:pPr marL="0" indent="0">
              <a:buNone/>
            </a:pPr>
            <a:r>
              <a:rPr lang="en-US" sz="1200" dirty="0">
                <a:solidFill>
                  <a:srgbClr val="91A0B7"/>
                </a:solidFill>
                <a:latin typeface="Calibri" pitchFamily="34" charset="0"/>
                <a:ea typeface="Calibri" pitchFamily="34" charset="-122"/>
                <a:cs typeface="Calibri" pitchFamily="34" charset="-120"/>
              </a:rPr>
              <a:t>Annual saving if implemented</a:t>
            </a:r>
            <a:endParaRPr lang="en-US" sz="1200" dirty="0"/>
          </a:p>
        </p:txBody>
      </p:sp>
      <p:graphicFrame>
        <p:nvGraphicFramePr>
          <p:cNvPr id="19" name="Table 0"/>
          <p:cNvGraphicFramePr>
            <a:graphicFrameLocks noGrp="1"/>
          </p:cNvGraphicFramePr>
          <p:nvPr>
            <p:extLst>
              <p:ext uri="{D42A27DB-BD31-4B8C-83A1-F6EECF244321}">
                <p14:modId xmlns:p14="http://schemas.microsoft.com/office/powerpoint/2010/main" val="601292036"/>
              </p:ext>
            </p:extLst>
          </p:nvPr>
        </p:nvGraphicFramePr>
        <p:xfrm>
          <a:off x="457200" y="1764792"/>
          <a:ext cx="4526280" cy="2633472"/>
        </p:xfrm>
        <a:graphic>
          <a:graphicData uri="http://schemas.openxmlformats.org/drawingml/2006/table">
            <a:tbl>
              <a:tblPr/>
              <a:tblGrid>
                <a:gridCol w="320040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tblGrid>
              <a:tr h="292608">
                <a:tc>
                  <a:txBody>
                    <a:bodyPr/>
                    <a:lstStyle/>
                    <a:p>
                      <a:pPr marL="0" indent="0" algn="l">
                        <a:buNone/>
                      </a:pPr>
                      <a:r>
                        <a:rPr lang="en-US" sz="1200" b="1" kern="0" spc="80" dirty="0">
                          <a:solidFill>
                            <a:srgbClr val="91A0B7"/>
                          </a:solidFill>
                          <a:latin typeface="Calibri" pitchFamily="34" charset="0"/>
                          <a:ea typeface="Calibri" pitchFamily="34" charset="-122"/>
                          <a:cs typeface="Calibri" pitchFamily="34" charset="-120"/>
                        </a:rPr>
                        <a:t>Recommendation</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b="1" kern="0" spc="80" dirty="0">
                          <a:solidFill>
                            <a:srgbClr val="91A0B7"/>
                          </a:solidFill>
                          <a:latin typeface="Calibri" pitchFamily="34" charset="0"/>
                          <a:ea typeface="Calibri" pitchFamily="34" charset="-122"/>
                          <a:cs typeface="Calibri" pitchFamily="34" charset="-120"/>
                        </a:rPr>
                        <a:t>Annual saving</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extLst>
                  <a:ext uri="{0D108BD9-81ED-4DB2-BD59-A6C34878D82A}">
                    <a16:rowId xmlns:a16="http://schemas.microsoft.com/office/drawing/2014/main" val="10000"/>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Premium disks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3DDC97"/>
                          </a:solidFill>
                          <a:latin typeface="Calibri" pitchFamily="34" charset="0"/>
                          <a:ea typeface="Calibri" pitchFamily="34" charset="-122"/>
                          <a:cs typeface="Calibri" pitchFamily="34" charset="-120"/>
                        </a:rPr>
                        <a:t>$44,592</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extLst>
                  <a:ext uri="{0D108BD9-81ED-4DB2-BD59-A6C34878D82A}">
                    <a16:rowId xmlns:a16="http://schemas.microsoft.com/office/drawing/2014/main" val="10001"/>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Schedule shutdown for 24/7 VMs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3DDC97"/>
                          </a:solidFill>
                          <a:latin typeface="Calibri" pitchFamily="34" charset="0"/>
                          <a:ea typeface="Calibri" pitchFamily="34" charset="-122"/>
                          <a:cs typeface="Calibri" pitchFamily="34" charset="-120"/>
                        </a:rPr>
                        <a:t>$36,741</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extLst>
                  <a:ext uri="{0D108BD9-81ED-4DB2-BD59-A6C34878D82A}">
                    <a16:rowId xmlns:a16="http://schemas.microsoft.com/office/drawing/2014/main" val="10002"/>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VM reserved instance purchase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3DDC97"/>
                          </a:solidFill>
                          <a:latin typeface="Calibri" pitchFamily="34" charset="0"/>
                          <a:ea typeface="Calibri" pitchFamily="34" charset="-122"/>
                          <a:cs typeface="Calibri" pitchFamily="34" charset="-120"/>
                        </a:rPr>
                        <a:t>$26,758</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extLst>
                  <a:ext uri="{0D108BD9-81ED-4DB2-BD59-A6C34878D82A}">
                    <a16:rowId xmlns:a16="http://schemas.microsoft.com/office/drawing/2014/main" val="10003"/>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VM right-size</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3DDC97"/>
                          </a:solidFill>
                          <a:latin typeface="Calibri" pitchFamily="34" charset="0"/>
                          <a:ea typeface="Calibri" pitchFamily="34" charset="-122"/>
                          <a:cs typeface="Calibri" pitchFamily="34" charset="-120"/>
                        </a:rPr>
                        <a:t>$19,854</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extLst>
                  <a:ext uri="{0D108BD9-81ED-4DB2-BD59-A6C34878D82A}">
                    <a16:rowId xmlns:a16="http://schemas.microsoft.com/office/drawing/2014/main" val="10004"/>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RI, PostgreSQL databases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3DDC97"/>
                          </a:solidFill>
                          <a:latin typeface="Calibri" pitchFamily="34" charset="0"/>
                          <a:ea typeface="Calibri" pitchFamily="34" charset="-122"/>
                          <a:cs typeface="Calibri" pitchFamily="34" charset="-120"/>
                        </a:rPr>
                        <a:t>$17,037</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extLst>
                  <a:ext uri="{0D108BD9-81ED-4DB2-BD59-A6C34878D82A}">
                    <a16:rowId xmlns:a16="http://schemas.microsoft.com/office/drawing/2014/main" val="10005"/>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Idle reserved disks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3DDC97"/>
                          </a:solidFill>
                          <a:latin typeface="Calibri" pitchFamily="34" charset="0"/>
                          <a:ea typeface="Calibri" pitchFamily="34" charset="-122"/>
                          <a:cs typeface="Calibri" pitchFamily="34" charset="-120"/>
                        </a:rPr>
                        <a:t>$13,464</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extLst>
                  <a:ext uri="{0D108BD9-81ED-4DB2-BD59-A6C34878D82A}">
                    <a16:rowId xmlns:a16="http://schemas.microsoft.com/office/drawing/2014/main" val="10006"/>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Remove unnecessary VMs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3DDC97"/>
                          </a:solidFill>
                          <a:latin typeface="Calibri" pitchFamily="34" charset="0"/>
                          <a:ea typeface="Calibri" pitchFamily="34" charset="-122"/>
                          <a:cs typeface="Calibri" pitchFamily="34" charset="-120"/>
                        </a:rPr>
                        <a:t>$13,147</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extLst>
                  <a:ext uri="{0D108BD9-81ED-4DB2-BD59-A6C34878D82A}">
                    <a16:rowId xmlns:a16="http://schemas.microsoft.com/office/drawing/2014/main" val="10007"/>
                  </a:ext>
                </a:extLst>
              </a:tr>
              <a:tr h="292608">
                <a:tc>
                  <a:txBody>
                    <a:bodyPr/>
                    <a:lstStyle/>
                    <a:p>
                      <a:pPr marL="0" indent="0" algn="l">
                        <a:buNone/>
                      </a:pPr>
                      <a:r>
                        <a:rPr lang="en-US" sz="1200" b="1" dirty="0">
                          <a:solidFill>
                            <a:srgbClr val="91A0B7"/>
                          </a:solidFill>
                          <a:latin typeface="Calibri" pitchFamily="34" charset="0"/>
                          <a:ea typeface="Calibri" pitchFamily="34" charset="-122"/>
                          <a:cs typeface="Calibri" pitchFamily="34" charset="-120"/>
                        </a:rPr>
                        <a:t>Four smaller items</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3DDC97"/>
                          </a:solidFill>
                          <a:latin typeface="Calibri" pitchFamily="34" charset="0"/>
                          <a:ea typeface="Calibri" pitchFamily="34" charset="-122"/>
                          <a:cs typeface="Calibri" pitchFamily="34" charset="-120"/>
                        </a:rPr>
                        <a:t>$13,243</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extLst>
                  <a:ext uri="{0D108BD9-81ED-4DB2-BD59-A6C34878D82A}">
                    <a16:rowId xmlns:a16="http://schemas.microsoft.com/office/drawing/2014/main" val="10008"/>
                  </a:ext>
                </a:extLst>
              </a:tr>
            </a:tbl>
          </a:graphicData>
        </a:graphic>
      </p:graphicFrame>
      <p:sp>
        <p:nvSpPr>
          <p:cNvPr id="11" name="Text 8"/>
          <p:cNvSpPr/>
          <p:nvPr/>
        </p:nvSpPr>
        <p:spPr>
          <a:xfrm>
            <a:off x="5349240" y="1234440"/>
            <a:ext cx="4526280" cy="237744"/>
          </a:xfrm>
          <a:prstGeom prst="rect">
            <a:avLst/>
          </a:prstGeom>
          <a:noFill/>
          <a:ln/>
        </p:spPr>
        <p:txBody>
          <a:bodyPr wrap="square" lIns="0" tIns="0" rIns="0" bIns="0" rtlCol="0" anchor="ctr"/>
          <a:lstStyle/>
          <a:p>
            <a:pPr marL="0" indent="0">
              <a:buNone/>
            </a:pPr>
            <a:r>
              <a:rPr lang="en-US" sz="1500" b="1" dirty="0">
                <a:solidFill>
                  <a:srgbClr val="F4F7FB"/>
                </a:solidFill>
                <a:latin typeface="Calibri" pitchFamily="34" charset="0"/>
                <a:ea typeface="Calibri" pitchFamily="34" charset="-122"/>
                <a:cs typeface="Calibri" pitchFamily="34" charset="-120"/>
              </a:rPr>
              <a:t>AWS</a:t>
            </a:r>
            <a:endParaRPr lang="en-US" sz="1500" dirty="0"/>
          </a:p>
        </p:txBody>
      </p:sp>
      <p:sp>
        <p:nvSpPr>
          <p:cNvPr id="12" name="Text 9"/>
          <p:cNvSpPr/>
          <p:nvPr/>
        </p:nvSpPr>
        <p:spPr>
          <a:xfrm>
            <a:off x="5349240" y="1508760"/>
            <a:ext cx="4526280" cy="219456"/>
          </a:xfrm>
          <a:prstGeom prst="rect">
            <a:avLst/>
          </a:prstGeom>
          <a:noFill/>
          <a:ln/>
        </p:spPr>
        <p:txBody>
          <a:bodyPr wrap="square" lIns="0" tIns="0" rIns="0" bIns="0" rtlCol="0" anchor="ctr"/>
          <a:lstStyle/>
          <a:p>
            <a:pPr marL="0" indent="0">
              <a:buNone/>
            </a:pPr>
            <a:r>
              <a:rPr lang="en-US" sz="1200" dirty="0">
                <a:solidFill>
                  <a:srgbClr val="91A0B7"/>
                </a:solidFill>
                <a:latin typeface="Calibri" pitchFamily="34" charset="0"/>
                <a:ea typeface="Calibri" pitchFamily="34" charset="-122"/>
                <a:cs typeface="Calibri" pitchFamily="34" charset="-120"/>
              </a:rPr>
              <a:t>Annual saving if implemented</a:t>
            </a:r>
            <a:endParaRPr lang="en-US" sz="1200" dirty="0"/>
          </a:p>
        </p:txBody>
      </p:sp>
      <p:graphicFrame>
        <p:nvGraphicFramePr>
          <p:cNvPr id="37" name="Table 1"/>
          <p:cNvGraphicFramePr>
            <a:graphicFrameLocks noGrp="1"/>
          </p:cNvGraphicFramePr>
          <p:nvPr>
            <p:extLst>
              <p:ext uri="{D42A27DB-BD31-4B8C-83A1-F6EECF244321}">
                <p14:modId xmlns:p14="http://schemas.microsoft.com/office/powerpoint/2010/main" val="2004530639"/>
              </p:ext>
            </p:extLst>
          </p:nvPr>
        </p:nvGraphicFramePr>
        <p:xfrm>
          <a:off x="5349240" y="1764792"/>
          <a:ext cx="4526280" cy="877824"/>
        </p:xfrm>
        <a:graphic>
          <a:graphicData uri="http://schemas.openxmlformats.org/drawingml/2006/table">
            <a:tbl>
              <a:tblPr/>
              <a:tblGrid>
                <a:gridCol w="320040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tblGrid>
              <a:tr h="292608">
                <a:tc>
                  <a:txBody>
                    <a:bodyPr/>
                    <a:lstStyle/>
                    <a:p>
                      <a:pPr marL="0" indent="0" algn="l">
                        <a:buNone/>
                      </a:pPr>
                      <a:r>
                        <a:rPr lang="en-US" sz="1200" b="1" kern="0" spc="80" dirty="0">
                          <a:solidFill>
                            <a:srgbClr val="91A0B7"/>
                          </a:solidFill>
                          <a:latin typeface="Calibri" pitchFamily="34" charset="0"/>
                          <a:ea typeface="Calibri" pitchFamily="34" charset="-122"/>
                          <a:cs typeface="Calibri" pitchFamily="34" charset="-120"/>
                        </a:rPr>
                        <a:t>Recommendation</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b="1" kern="0" spc="80" dirty="0">
                          <a:solidFill>
                            <a:srgbClr val="91A0B7"/>
                          </a:solidFill>
                          <a:latin typeface="Calibri" pitchFamily="34" charset="0"/>
                          <a:ea typeface="Calibri" pitchFamily="34" charset="-122"/>
                          <a:cs typeface="Calibri" pitchFamily="34" charset="-120"/>
                        </a:rPr>
                        <a:t>Annual saving</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extLst>
                  <a:ext uri="{0D108BD9-81ED-4DB2-BD59-A6C34878D82A}">
                    <a16:rowId xmlns:a16="http://schemas.microsoft.com/office/drawing/2014/main" val="10000"/>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EKS extended support 1.33, prod</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tc>
                  <a:txBody>
                    <a:bodyPr/>
                    <a:lstStyle/>
                    <a:p>
                      <a:pPr marL="0" indent="0" algn="r">
                        <a:buNone/>
                      </a:pPr>
                      <a:r>
                        <a:rPr lang="en-US" sz="1200" dirty="0">
                          <a:solidFill>
                            <a:srgbClr val="3DDC97"/>
                          </a:solidFill>
                          <a:latin typeface="Calibri" pitchFamily="34" charset="0"/>
                          <a:ea typeface="Calibri" pitchFamily="34" charset="-122"/>
                          <a:cs typeface="Calibri" pitchFamily="34" charset="-120"/>
                        </a:rPr>
                        <a:t>$4,526</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121B2D"/>
                    </a:solidFill>
                  </a:tcPr>
                </a:tc>
                <a:extLst>
                  <a:ext uri="{0D108BD9-81ED-4DB2-BD59-A6C34878D82A}">
                    <a16:rowId xmlns:a16="http://schemas.microsoft.com/office/drawing/2014/main" val="10001"/>
                  </a:ext>
                </a:extLst>
              </a:tr>
              <a:tr h="292608">
                <a:tc>
                  <a:txBody>
                    <a:bodyPr/>
                    <a:lstStyle/>
                    <a:p>
                      <a:pPr marL="0" indent="0" algn="l">
                        <a:buNone/>
                      </a:pPr>
                      <a:r>
                        <a:rPr lang="en-US" sz="1200" b="1" dirty="0">
                          <a:solidFill>
                            <a:srgbClr val="F4F7FB"/>
                          </a:solidFill>
                          <a:latin typeface="Calibri" pitchFamily="34" charset="0"/>
                          <a:ea typeface="Calibri" pitchFamily="34" charset="-122"/>
                          <a:cs typeface="Calibri" pitchFamily="34" charset="-120"/>
                        </a:rPr>
                        <a:t>SageMaker, check necessity</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tc>
                  <a:txBody>
                    <a:bodyPr/>
                    <a:lstStyle/>
                    <a:p>
                      <a:pPr marL="0" indent="0" algn="r">
                        <a:buNone/>
                      </a:pPr>
                      <a:r>
                        <a:rPr lang="en-US" sz="1200" dirty="0">
                          <a:solidFill>
                            <a:srgbClr val="3DDC97"/>
                          </a:solidFill>
                          <a:latin typeface="Calibri" pitchFamily="34" charset="0"/>
                          <a:ea typeface="Calibri" pitchFamily="34" charset="-122"/>
                          <a:cs typeface="Calibri" pitchFamily="34" charset="-120"/>
                        </a:rPr>
                        <a:t>$3,420</a:t>
                      </a:r>
                      <a:endParaRPr lang="en-US" sz="1200" dirty="0">
                        <a:latin typeface="Calibri" charset="0"/>
                        <a:ea typeface="Calibri" charset="0"/>
                        <a:cs typeface="Calibri" charset="0"/>
                      </a:endParaRPr>
                    </a:p>
                  </a:txBody>
                  <a:tcPr marL="76200" marR="76200" marT="25400" marB="25400" anchor="ctr">
                    <a:lnL w="6350" cap="flat" cmpd="sng" algn="ctr">
                      <a:solidFill>
                        <a:srgbClr val="23304A"/>
                      </a:solidFill>
                      <a:prstDash val="solid"/>
                      <a:round/>
                      <a:headEnd type="none" w="med" len="med"/>
                      <a:tailEnd type="none" w="med" len="med"/>
                    </a:lnL>
                    <a:lnR w="6350" cap="flat" cmpd="sng" algn="ctr">
                      <a:solidFill>
                        <a:srgbClr val="23304A"/>
                      </a:solidFill>
                      <a:prstDash val="solid"/>
                      <a:round/>
                      <a:headEnd type="none" w="med" len="med"/>
                      <a:tailEnd type="none" w="med" len="med"/>
                    </a:lnR>
                    <a:lnT w="6350" cap="flat" cmpd="sng" algn="ctr">
                      <a:solidFill>
                        <a:srgbClr val="23304A"/>
                      </a:solidFill>
                      <a:prstDash val="solid"/>
                      <a:round/>
                      <a:headEnd type="none" w="med" len="med"/>
                      <a:tailEnd type="none" w="med" len="med"/>
                    </a:lnT>
                    <a:lnB w="6350" cap="flat" cmpd="sng" algn="ctr">
                      <a:solidFill>
                        <a:srgbClr val="23304A"/>
                      </a:solidFill>
                      <a:prstDash val="solid"/>
                      <a:round/>
                      <a:headEnd type="none" w="med" len="med"/>
                      <a:tailEnd type="none" w="med" len="med"/>
                    </a:lnB>
                    <a:solidFill>
                      <a:srgbClr val="0E1422"/>
                    </a:solidFill>
                  </a:tcPr>
                </a:tc>
                <a:extLst>
                  <a:ext uri="{0D108BD9-81ED-4DB2-BD59-A6C34878D82A}">
                    <a16:rowId xmlns:a16="http://schemas.microsoft.com/office/drawing/2014/main" val="10002"/>
                  </a:ext>
                </a:extLst>
              </a:tr>
            </a:tbl>
          </a:graphicData>
        </a:graphic>
      </p:graphicFrame>
      <p:sp>
        <p:nvSpPr>
          <p:cNvPr id="14" name="Shape 10"/>
          <p:cNvSpPr/>
          <p:nvPr/>
        </p:nvSpPr>
        <p:spPr>
          <a:xfrm>
            <a:off x="457200" y="4997196"/>
            <a:ext cx="3606698" cy="1078992"/>
          </a:xfrm>
          <a:prstGeom prst="roundRect">
            <a:avLst>
              <a:gd name="adj" fmla="val 5085"/>
            </a:avLst>
          </a:prstGeom>
          <a:solidFill>
            <a:srgbClr val="121B2D"/>
          </a:solidFill>
          <a:ln w="12700">
            <a:solidFill>
              <a:srgbClr val="23304A"/>
            </a:solidFill>
            <a:prstDash val="solid"/>
          </a:ln>
        </p:spPr>
        <p:txBody>
          <a:bodyPr/>
          <a:lstStyle/>
          <a:p>
            <a:endParaRPr lang="he-IL" dirty="0"/>
          </a:p>
        </p:txBody>
      </p:sp>
      <p:sp>
        <p:nvSpPr>
          <p:cNvPr id="15" name="Text 11"/>
          <p:cNvSpPr/>
          <p:nvPr/>
        </p:nvSpPr>
        <p:spPr>
          <a:xfrm>
            <a:off x="658368" y="5088636"/>
            <a:ext cx="3204362"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TOTAL POTENTIAL</a:t>
            </a:r>
            <a:endParaRPr lang="en-US" sz="1200" dirty="0"/>
          </a:p>
        </p:txBody>
      </p:sp>
      <p:sp>
        <p:nvSpPr>
          <p:cNvPr id="16" name="Text 12"/>
          <p:cNvSpPr/>
          <p:nvPr/>
        </p:nvSpPr>
        <p:spPr>
          <a:xfrm>
            <a:off x="658368" y="5289804"/>
            <a:ext cx="3204362"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$193K</a:t>
            </a:r>
            <a:endParaRPr lang="en-US" sz="2800" dirty="0"/>
          </a:p>
        </p:txBody>
      </p:sp>
      <p:sp>
        <p:nvSpPr>
          <p:cNvPr id="17" name="Text 13"/>
          <p:cNvSpPr/>
          <p:nvPr/>
        </p:nvSpPr>
        <p:spPr>
          <a:xfrm>
            <a:off x="658368" y="5692140"/>
            <a:ext cx="3204362" cy="329184"/>
          </a:xfrm>
          <a:prstGeom prst="rect">
            <a:avLst/>
          </a:prstGeom>
          <a:noFill/>
          <a:ln/>
        </p:spPr>
        <p:txBody>
          <a:bodyPr wrap="square" lIns="0" tIns="0" rIns="0" bIns="0" rtlCol="0" anchor="t"/>
          <a:lstStyle/>
          <a:p>
            <a:pPr marL="0" indent="0">
              <a:lnSpc>
                <a:spcPct val="105000"/>
              </a:lnSpc>
              <a:buNone/>
            </a:pPr>
            <a:r>
              <a:rPr lang="en-US" sz="1200" b="1" dirty="0">
                <a:solidFill>
                  <a:srgbClr val="E0A030"/>
                </a:solidFill>
                <a:latin typeface="Calibri" pitchFamily="34" charset="0"/>
                <a:ea typeface="Calibri" pitchFamily="34" charset="-122"/>
                <a:cs typeface="Calibri" pitchFamily="34" charset="-120"/>
              </a:rPr>
              <a:t>annualised, both clouds</a:t>
            </a:r>
            <a:endParaRPr lang="en-US" sz="1200" dirty="0"/>
          </a:p>
        </p:txBody>
      </p:sp>
      <p:sp>
        <p:nvSpPr>
          <p:cNvPr id="18" name="Shape 14"/>
          <p:cNvSpPr/>
          <p:nvPr/>
        </p:nvSpPr>
        <p:spPr>
          <a:xfrm>
            <a:off x="4292498" y="4997196"/>
            <a:ext cx="3606698" cy="1078992"/>
          </a:xfrm>
          <a:prstGeom prst="roundRect">
            <a:avLst>
              <a:gd name="adj" fmla="val 5085"/>
            </a:avLst>
          </a:prstGeom>
          <a:solidFill>
            <a:srgbClr val="121B2D"/>
          </a:solidFill>
          <a:ln w="12700">
            <a:solidFill>
              <a:srgbClr val="23304A"/>
            </a:solidFill>
            <a:prstDash val="solid"/>
          </a:ln>
        </p:spPr>
        <p:txBody>
          <a:bodyPr/>
          <a:lstStyle/>
          <a:p>
            <a:endParaRPr lang="he-IL" dirty="0"/>
          </a:p>
        </p:txBody>
      </p:sp>
      <p:sp>
        <p:nvSpPr>
          <p:cNvPr id="10" name="Text 15"/>
          <p:cNvSpPr/>
          <p:nvPr/>
        </p:nvSpPr>
        <p:spPr>
          <a:xfrm>
            <a:off x="4493666" y="5088636"/>
            <a:ext cx="3204362"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PLUS THE COVERAGE GAP</a:t>
            </a:r>
            <a:endParaRPr lang="en-US" sz="1200" dirty="0"/>
          </a:p>
        </p:txBody>
      </p:sp>
      <p:sp>
        <p:nvSpPr>
          <p:cNvPr id="20" name="Text 16"/>
          <p:cNvSpPr/>
          <p:nvPr/>
        </p:nvSpPr>
        <p:spPr>
          <a:xfrm>
            <a:off x="4493666" y="5289804"/>
            <a:ext cx="3204362"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~$91K</a:t>
            </a:r>
            <a:endParaRPr lang="en-US" sz="2800" dirty="0"/>
          </a:p>
        </p:txBody>
      </p:sp>
      <p:sp>
        <p:nvSpPr>
          <p:cNvPr id="21" name="Text 17"/>
          <p:cNvSpPr/>
          <p:nvPr/>
        </p:nvSpPr>
        <p:spPr>
          <a:xfrm>
            <a:off x="4493666" y="5692140"/>
            <a:ext cx="3204362" cy="329184"/>
          </a:xfrm>
          <a:prstGeom prst="rect">
            <a:avLst/>
          </a:prstGeom>
          <a:noFill/>
          <a:ln/>
        </p:spPr>
        <p:txBody>
          <a:bodyPr wrap="square" lIns="0" tIns="0" rIns="0" bIns="0" rtlCol="0" anchor="t"/>
          <a:lstStyle/>
          <a:p>
            <a:pPr marL="0" indent="0">
              <a:lnSpc>
                <a:spcPct val="105000"/>
              </a:lnSpc>
              <a:buNone/>
            </a:pPr>
            <a:r>
              <a:rPr lang="en-US" sz="1200" b="1" dirty="0">
                <a:solidFill>
                  <a:srgbClr val="E0A030"/>
                </a:solidFill>
                <a:latin typeface="Calibri" pitchFamily="34" charset="0"/>
                <a:ea typeface="Calibri" pitchFamily="34" charset="-122"/>
                <a:cs typeface="Calibri" pitchFamily="34" charset="-120"/>
              </a:rPr>
              <a:t>Azure on-demand, at AWS rates</a:t>
            </a:r>
            <a:endParaRPr lang="en-US" sz="1200" dirty="0"/>
          </a:p>
        </p:txBody>
      </p:sp>
      <p:sp>
        <p:nvSpPr>
          <p:cNvPr id="22" name="Shape 18"/>
          <p:cNvSpPr/>
          <p:nvPr/>
        </p:nvSpPr>
        <p:spPr>
          <a:xfrm>
            <a:off x="8127797" y="4997196"/>
            <a:ext cx="3606698" cy="1078992"/>
          </a:xfrm>
          <a:prstGeom prst="roundRect">
            <a:avLst>
              <a:gd name="adj" fmla="val 5085"/>
            </a:avLst>
          </a:prstGeom>
          <a:solidFill>
            <a:srgbClr val="121B2D"/>
          </a:solidFill>
          <a:ln w="12700">
            <a:solidFill>
              <a:srgbClr val="23304A"/>
            </a:solidFill>
            <a:prstDash val="solid"/>
          </a:ln>
        </p:spPr>
        <p:txBody>
          <a:bodyPr/>
          <a:lstStyle/>
          <a:p>
            <a:endParaRPr lang="he-IL" dirty="0"/>
          </a:p>
        </p:txBody>
      </p:sp>
      <p:sp>
        <p:nvSpPr>
          <p:cNvPr id="23" name="Text 19"/>
          <p:cNvSpPr/>
          <p:nvPr/>
        </p:nvSpPr>
        <p:spPr>
          <a:xfrm>
            <a:off x="8328965" y="5088636"/>
            <a:ext cx="3204362"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BANKED PLUS IDENTIFIED</a:t>
            </a:r>
            <a:endParaRPr lang="en-US" sz="1200" dirty="0"/>
          </a:p>
        </p:txBody>
      </p:sp>
      <p:sp>
        <p:nvSpPr>
          <p:cNvPr id="24" name="Text 20"/>
          <p:cNvSpPr/>
          <p:nvPr/>
        </p:nvSpPr>
        <p:spPr>
          <a:xfrm>
            <a:off x="8328965" y="5289804"/>
            <a:ext cx="3204362"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$563K</a:t>
            </a:r>
            <a:endParaRPr lang="en-US" sz="2800" dirty="0"/>
          </a:p>
        </p:txBody>
      </p:sp>
      <p:sp>
        <p:nvSpPr>
          <p:cNvPr id="25" name="Text 21"/>
          <p:cNvSpPr/>
          <p:nvPr/>
        </p:nvSpPr>
        <p:spPr>
          <a:xfrm>
            <a:off x="8328965" y="5692140"/>
            <a:ext cx="3204362" cy="329184"/>
          </a:xfrm>
          <a:prstGeom prst="rect">
            <a:avLst/>
          </a:prstGeom>
          <a:noFill/>
          <a:ln/>
        </p:spPr>
        <p:txBody>
          <a:bodyPr wrap="square" lIns="0" tIns="0" rIns="0" bIns="0" rtlCol="0" anchor="t"/>
          <a:lstStyle/>
          <a:p>
            <a:pPr marL="0" indent="0">
              <a:lnSpc>
                <a:spcPct val="105000"/>
              </a:lnSpc>
              <a:buNone/>
            </a:pPr>
            <a:r>
              <a:rPr lang="en-US" sz="1200" b="1" dirty="0">
                <a:solidFill>
                  <a:srgbClr val="3DDC97"/>
                </a:solidFill>
                <a:latin typeface="Calibri" pitchFamily="34" charset="0"/>
                <a:ea typeface="Calibri" pitchFamily="34" charset="-122"/>
                <a:cs typeface="Calibri" pitchFamily="34" charset="-120"/>
              </a:rPr>
              <a:t>about 19% of annualised consumption</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7">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txBody>
          <a:bodyPr/>
          <a:lstStyle/>
          <a:p>
            <a:endParaRPr lang="he-IL"/>
          </a:p>
        </p:txBody>
      </p:sp>
      <p:sp>
        <p:nvSpPr>
          <p:cNvPr id="3" name="Shape 1"/>
          <p:cNvSpPr/>
          <p:nvPr/>
        </p:nvSpPr>
        <p:spPr>
          <a:xfrm>
            <a:off x="7863840" y="-1280160"/>
            <a:ext cx="5852160" cy="5852160"/>
          </a:xfrm>
          <a:prstGeom prst="ellipse">
            <a:avLst/>
          </a:prstGeom>
          <a:solidFill>
            <a:srgbClr val="91A0B7">
              <a:alpha val="8000"/>
            </a:srgbClr>
          </a:solidFill>
          <a:ln w="12700">
            <a:solidFill>
              <a:srgbClr val="91A0B7">
                <a:alpha val="0"/>
              </a:srgbClr>
            </a:solidFill>
            <a:prstDash val="solid"/>
          </a:ln>
        </p:spPr>
        <p:txBody>
          <a:bodyPr/>
          <a:lstStyle/>
          <a:p>
            <a:endParaRPr lang="he-IL"/>
          </a:p>
        </p:txBody>
      </p:sp>
      <p:sp>
        <p:nvSpPr>
          <p:cNvPr id="4" name="Shape 2"/>
          <p:cNvSpPr/>
          <p:nvPr/>
        </p:nvSpPr>
        <p:spPr>
          <a:xfrm>
            <a:off x="9144000" y="2377440"/>
            <a:ext cx="4754880" cy="4754880"/>
          </a:xfrm>
          <a:prstGeom prst="ellipse">
            <a:avLst/>
          </a:prstGeom>
          <a:solidFill>
            <a:srgbClr val="3DD9EB">
              <a:alpha val="7000"/>
            </a:srgbClr>
          </a:solidFill>
          <a:ln w="12700">
            <a:solidFill>
              <a:srgbClr val="3DD9EB">
                <a:alpha val="0"/>
              </a:srgbClr>
            </a:solidFill>
            <a:prstDash val="solid"/>
          </a:ln>
        </p:spPr>
        <p:txBody>
          <a:bodyPr/>
          <a:lstStyle/>
          <a:p>
            <a:endParaRPr lang="he-IL"/>
          </a:p>
        </p:txBody>
      </p:sp>
      <p:sp>
        <p:nvSpPr>
          <p:cNvPr id="5" name="Text 3"/>
          <p:cNvSpPr/>
          <p:nvPr/>
        </p:nvSpPr>
        <p:spPr>
          <a:xfrm>
            <a:off x="457200" y="2331720"/>
            <a:ext cx="8229600" cy="274320"/>
          </a:xfrm>
          <a:prstGeom prst="rect">
            <a:avLst/>
          </a:prstGeom>
          <a:noFill/>
          <a:ln/>
        </p:spPr>
        <p:txBody>
          <a:bodyPr wrap="square" lIns="0" tIns="0" rIns="0" bIns="0" rtlCol="0" anchor="ctr"/>
          <a:lstStyle/>
          <a:p>
            <a:pPr marL="0" indent="0">
              <a:buNone/>
            </a:pPr>
            <a:r>
              <a:rPr lang="en-US" sz="1300" b="1" kern="0" spc="300" dirty="0">
                <a:solidFill>
                  <a:srgbClr val="91A0B7"/>
                </a:solidFill>
                <a:latin typeface="Calibri" pitchFamily="34" charset="0"/>
                <a:ea typeface="Calibri" pitchFamily="34" charset="-122"/>
                <a:cs typeface="Calibri" pitchFamily="34" charset="-120"/>
              </a:rPr>
              <a:t>APPENDIX</a:t>
            </a:r>
            <a:endParaRPr lang="en-US" sz="1300" dirty="0"/>
          </a:p>
        </p:txBody>
      </p:sp>
      <p:sp>
        <p:nvSpPr>
          <p:cNvPr id="6" name="Text 4"/>
          <p:cNvSpPr/>
          <p:nvPr/>
        </p:nvSpPr>
        <p:spPr>
          <a:xfrm>
            <a:off x="457200" y="2651760"/>
            <a:ext cx="8412480" cy="1005840"/>
          </a:xfrm>
          <a:prstGeom prst="rect">
            <a:avLst/>
          </a:prstGeom>
          <a:noFill/>
          <a:ln/>
        </p:spPr>
        <p:txBody>
          <a:bodyPr wrap="square" lIns="0" tIns="0" rIns="0" bIns="0" rtlCol="0" anchor="ctr"/>
          <a:lstStyle/>
          <a:p>
            <a:pPr marL="0" indent="0">
              <a:buNone/>
            </a:pPr>
            <a:r>
              <a:rPr lang="en-US" sz="4000" b="1" dirty="0">
                <a:solidFill>
                  <a:srgbClr val="F4F7FB"/>
                </a:solidFill>
                <a:latin typeface="Calibri" pitchFamily="34" charset="0"/>
                <a:ea typeface="Calibri" pitchFamily="34" charset="-122"/>
                <a:cs typeface="Calibri" pitchFamily="34" charset="-120"/>
              </a:rPr>
              <a:t>The operational detail</a:t>
            </a:r>
            <a:endParaRPr lang="en-US" sz="4000" dirty="0"/>
          </a:p>
        </p:txBody>
      </p:sp>
      <p:sp>
        <p:nvSpPr>
          <p:cNvPr id="7" name="Text 5"/>
          <p:cNvSpPr/>
          <p:nvPr/>
        </p:nvSpPr>
        <p:spPr>
          <a:xfrm>
            <a:off x="457200" y="3703320"/>
            <a:ext cx="7863840" cy="457200"/>
          </a:xfrm>
          <a:prstGeom prst="rect">
            <a:avLst/>
          </a:prstGeom>
          <a:noFill/>
          <a:ln/>
        </p:spPr>
        <p:txBody>
          <a:bodyPr wrap="square" lIns="0" tIns="0" rIns="0" bIns="0" rtlCol="0" anchor="ctr"/>
          <a:lstStyle/>
          <a:p>
            <a:pPr marL="0" indent="0">
              <a:buNone/>
            </a:pPr>
            <a:r>
              <a:rPr lang="en-US" sz="1500" dirty="0">
                <a:solidFill>
                  <a:srgbClr val="91A0B7"/>
                </a:solidFill>
                <a:latin typeface="Calibri" pitchFamily="34" charset="0"/>
                <a:ea typeface="Calibri" pitchFamily="34" charset="-122"/>
                <a:cs typeface="Calibri" pitchFamily="34" charset="-120"/>
              </a:rPr>
              <a:t>Cost centre and project breakdowns, January to July 2026</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8">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txBody>
          <a:bodyPr/>
          <a:lstStyle/>
          <a:p>
            <a:endParaRPr lang="he-IL"/>
          </a:p>
        </p:txBody>
      </p:sp>
      <p:sp>
        <p:nvSpPr>
          <p:cNvPr id="3" name="Shape 1"/>
          <p:cNvSpPr/>
          <p:nvPr/>
        </p:nvSpPr>
        <p:spPr>
          <a:xfrm>
            <a:off x="457200" y="306324"/>
            <a:ext cx="109728" cy="109728"/>
          </a:xfrm>
          <a:prstGeom prst="ellipse">
            <a:avLst/>
          </a:prstGeom>
          <a:solidFill>
            <a:srgbClr val="FF9F43"/>
          </a:solidFill>
          <a:ln w="12700">
            <a:solidFill>
              <a:srgbClr val="FF9F43"/>
            </a:solidFill>
            <a:prstDash val="solid"/>
          </a:ln>
        </p:spPr>
        <p:txBody>
          <a:bodyPr/>
          <a:lstStyle/>
          <a:p>
            <a:endParaRPr lang="he-IL"/>
          </a:p>
        </p:txBody>
      </p:sp>
      <p:sp>
        <p:nvSpPr>
          <p:cNvPr id="4" name="Text 2"/>
          <p:cNvSpPr/>
          <p:nvPr/>
        </p:nvSpPr>
        <p:spPr>
          <a:xfrm>
            <a:off x="640080" y="274320"/>
            <a:ext cx="7315200" cy="237744"/>
          </a:xfrm>
          <a:prstGeom prst="rect">
            <a:avLst/>
          </a:prstGeom>
          <a:noFill/>
          <a:ln/>
        </p:spPr>
        <p:txBody>
          <a:bodyPr wrap="square" lIns="0" tIns="0" rIns="0" bIns="0" rtlCol="0" anchor="ctr"/>
          <a:lstStyle/>
          <a:p>
            <a:pPr marL="0" indent="0">
              <a:buNone/>
            </a:pPr>
            <a:r>
              <a:rPr lang="en-US" sz="1300" b="1" kern="0" spc="200" dirty="0">
                <a:solidFill>
                  <a:srgbClr val="FF9F43"/>
                </a:solidFill>
                <a:latin typeface="Calibri" pitchFamily="34" charset="0"/>
                <a:ea typeface="Calibri" pitchFamily="34" charset="-122"/>
                <a:cs typeface="Calibri" pitchFamily="34" charset="-120"/>
              </a:rPr>
              <a:t>AWS / ACCOUNTS</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Consumption by account name</a:t>
            </a:r>
            <a:endParaRPr lang="en-US" sz="2800" dirty="0"/>
          </a:p>
        </p:txBody>
      </p:sp>
      <p:sp>
        <p:nvSpPr>
          <p:cNvPr id="6" name="Text 4"/>
          <p:cNvSpPr/>
          <p:nvPr/>
        </p:nvSpPr>
        <p:spPr>
          <a:xfrm>
            <a:off x="8321040" y="493776"/>
            <a:ext cx="3413455" cy="658368"/>
          </a:xfrm>
          <a:prstGeom prst="rect">
            <a:avLst/>
          </a:prstGeom>
          <a:noFill/>
          <a:ln/>
        </p:spPr>
        <p:txBody>
          <a:bodyPr wrap="square" lIns="0" tIns="0" rIns="0" bIns="0" rtlCol="0" anchor="t"/>
          <a:lstStyle/>
          <a:p>
            <a:pPr marL="0" indent="0" algn="r">
              <a:lnSpc>
                <a:spcPct val="115000"/>
              </a:lnSpc>
              <a:buNone/>
            </a:pPr>
            <a:endParaRPr lang="en-US" sz="1200" dirty="0"/>
          </a:p>
        </p:txBody>
      </p:sp>
      <p:sp>
        <p:nvSpPr>
          <p:cNvPr id="7" name="Text 5"/>
          <p:cNvSpPr/>
          <p:nvPr/>
        </p:nvSpPr>
        <p:spPr>
          <a:xfrm>
            <a:off x="457200" y="1234440"/>
            <a:ext cx="7360920" cy="237744"/>
          </a:xfrm>
          <a:prstGeom prst="rect">
            <a:avLst/>
          </a:prstGeom>
          <a:noFill/>
          <a:ln/>
        </p:spPr>
        <p:txBody>
          <a:bodyPr wrap="square" lIns="0" tIns="0" rIns="0" bIns="0" rtlCol="0" anchor="ctr"/>
          <a:lstStyle/>
          <a:p>
            <a:pPr marL="0" indent="0">
              <a:buNone/>
            </a:pPr>
            <a:r>
              <a:rPr lang="en-US" sz="1500" b="1" dirty="0">
                <a:solidFill>
                  <a:srgbClr val="F4F7FB"/>
                </a:solidFill>
                <a:latin typeface="Calibri" pitchFamily="34" charset="0"/>
                <a:ea typeface="Calibri" pitchFamily="34" charset="-122"/>
                <a:cs typeface="Calibri" pitchFamily="34" charset="-120"/>
              </a:rPr>
              <a:t>Monthly spend by linked account</a:t>
            </a:r>
            <a:endParaRPr lang="en-US" sz="1500" dirty="0"/>
          </a:p>
        </p:txBody>
      </p:sp>
      <p:graphicFrame>
        <p:nvGraphicFramePr>
          <p:cNvPr id="8" name="Chart 0"/>
          <p:cNvGraphicFramePr/>
          <p:nvPr/>
        </p:nvGraphicFramePr>
        <p:xfrm>
          <a:off x="411480" y="1508760"/>
          <a:ext cx="736092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6"/>
          <p:cNvSpPr/>
          <p:nvPr/>
        </p:nvSpPr>
        <p:spPr>
          <a:xfrm>
            <a:off x="8092440" y="1234440"/>
            <a:ext cx="3642055" cy="1097280"/>
          </a:xfrm>
          <a:prstGeom prst="roundRect">
            <a:avLst>
              <a:gd name="adj" fmla="val 5000"/>
            </a:avLst>
          </a:prstGeom>
          <a:solidFill>
            <a:srgbClr val="121B2D"/>
          </a:solidFill>
          <a:ln w="12700">
            <a:solidFill>
              <a:srgbClr val="23304A"/>
            </a:solidFill>
            <a:prstDash val="solid"/>
          </a:ln>
        </p:spPr>
        <p:txBody>
          <a:bodyPr/>
          <a:lstStyle/>
          <a:p>
            <a:endParaRPr lang="he-IL"/>
          </a:p>
        </p:txBody>
      </p:sp>
      <p:sp>
        <p:nvSpPr>
          <p:cNvPr id="10" name="Text 7"/>
          <p:cNvSpPr/>
          <p:nvPr/>
        </p:nvSpPr>
        <p:spPr>
          <a:xfrm>
            <a:off x="8293608" y="1325880"/>
            <a:ext cx="3239719"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TOTAL, JAN-JUL</a:t>
            </a:r>
            <a:endParaRPr lang="en-US" sz="1200" dirty="0"/>
          </a:p>
        </p:txBody>
      </p:sp>
      <p:sp>
        <p:nvSpPr>
          <p:cNvPr id="11" name="Text 8"/>
          <p:cNvSpPr/>
          <p:nvPr/>
        </p:nvSpPr>
        <p:spPr>
          <a:xfrm>
            <a:off x="8293608" y="1527048"/>
            <a:ext cx="3239719"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$584K</a:t>
            </a:r>
            <a:endParaRPr lang="en-US" sz="2800" dirty="0"/>
          </a:p>
        </p:txBody>
      </p:sp>
      <p:sp>
        <p:nvSpPr>
          <p:cNvPr id="12" name="Text 9"/>
          <p:cNvSpPr/>
          <p:nvPr/>
        </p:nvSpPr>
        <p:spPr>
          <a:xfrm>
            <a:off x="8293608" y="1929384"/>
            <a:ext cx="3239719" cy="329184"/>
          </a:xfrm>
          <a:prstGeom prst="rect">
            <a:avLst/>
          </a:prstGeom>
          <a:noFill/>
          <a:ln/>
        </p:spPr>
        <p:txBody>
          <a:bodyPr wrap="square" lIns="0" tIns="0" rIns="0" bIns="0" rtlCol="0" anchor="t"/>
          <a:lstStyle/>
          <a:p>
            <a:pPr marL="0" indent="0">
              <a:lnSpc>
                <a:spcPct val="105000"/>
              </a:lnSpc>
              <a:buNone/>
            </a:pPr>
            <a:r>
              <a:rPr lang="en-US" sz="1200" b="1" dirty="0">
                <a:solidFill>
                  <a:srgbClr val="FF9F43"/>
                </a:solidFill>
                <a:latin typeface="Calibri" pitchFamily="34" charset="0"/>
                <a:ea typeface="Calibri" pitchFamily="34" charset="-122"/>
                <a:cs typeface="Calibri" pitchFamily="34" charset="-120"/>
              </a:rPr>
              <a:t>flat Jan to Jul</a:t>
            </a:r>
            <a:endParaRPr lang="en-US" sz="1200" dirty="0"/>
          </a:p>
        </p:txBody>
      </p:sp>
      <p:sp>
        <p:nvSpPr>
          <p:cNvPr id="13" name="Shape 10"/>
          <p:cNvSpPr/>
          <p:nvPr/>
        </p:nvSpPr>
        <p:spPr>
          <a:xfrm>
            <a:off x="8092440" y="2459736"/>
            <a:ext cx="3642055" cy="1097280"/>
          </a:xfrm>
          <a:prstGeom prst="roundRect">
            <a:avLst>
              <a:gd name="adj" fmla="val 5000"/>
            </a:avLst>
          </a:prstGeom>
          <a:solidFill>
            <a:srgbClr val="121B2D"/>
          </a:solidFill>
          <a:ln w="12700">
            <a:solidFill>
              <a:srgbClr val="23304A"/>
            </a:solidFill>
            <a:prstDash val="solid"/>
          </a:ln>
        </p:spPr>
        <p:txBody>
          <a:bodyPr/>
          <a:lstStyle/>
          <a:p>
            <a:endParaRPr lang="he-IL"/>
          </a:p>
        </p:txBody>
      </p:sp>
      <p:sp>
        <p:nvSpPr>
          <p:cNvPr id="14" name="Text 11"/>
          <p:cNvSpPr/>
          <p:nvPr/>
        </p:nvSpPr>
        <p:spPr>
          <a:xfrm>
            <a:off x="8293608" y="2551176"/>
            <a:ext cx="3239719"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JULY</a:t>
            </a:r>
            <a:endParaRPr lang="en-US" sz="1200" dirty="0"/>
          </a:p>
        </p:txBody>
      </p:sp>
      <p:sp>
        <p:nvSpPr>
          <p:cNvPr id="15" name="Text 12"/>
          <p:cNvSpPr/>
          <p:nvPr/>
        </p:nvSpPr>
        <p:spPr>
          <a:xfrm>
            <a:off x="8293608" y="2752344"/>
            <a:ext cx="3239719"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$77K</a:t>
            </a:r>
            <a:endParaRPr lang="en-US" sz="2800" dirty="0"/>
          </a:p>
        </p:txBody>
      </p:sp>
      <p:sp>
        <p:nvSpPr>
          <p:cNvPr id="16" name="Text 13"/>
          <p:cNvSpPr/>
          <p:nvPr/>
        </p:nvSpPr>
        <p:spPr>
          <a:xfrm>
            <a:off x="8293608" y="3154680"/>
            <a:ext cx="3239719" cy="329184"/>
          </a:xfrm>
          <a:prstGeom prst="rect">
            <a:avLst/>
          </a:prstGeom>
          <a:noFill/>
          <a:ln/>
        </p:spPr>
        <p:txBody>
          <a:bodyPr wrap="square" lIns="0" tIns="0" rIns="0" bIns="0" rtlCol="0" anchor="t"/>
          <a:lstStyle/>
          <a:p>
            <a:pPr marL="0" indent="0">
              <a:lnSpc>
                <a:spcPct val="105000"/>
              </a:lnSpc>
              <a:buNone/>
            </a:pPr>
            <a:r>
              <a:rPr lang="en-US" sz="1200" b="1" dirty="0">
                <a:solidFill>
                  <a:srgbClr val="91A0B7"/>
                </a:solidFill>
                <a:latin typeface="Calibri" pitchFamily="34" charset="0"/>
                <a:ea typeface="Calibri" pitchFamily="34" charset="-122"/>
                <a:cs typeface="Calibri" pitchFamily="34" charset="-120"/>
              </a:rPr>
              <a:t>after MAP credit</a:t>
            </a:r>
            <a:endParaRPr lang="en-US" sz="1200" dirty="0"/>
          </a:p>
        </p:txBody>
      </p:sp>
      <p:sp>
        <p:nvSpPr>
          <p:cNvPr id="17" name="Text 14"/>
          <p:cNvSpPr/>
          <p:nvPr/>
        </p:nvSpPr>
        <p:spPr>
          <a:xfrm>
            <a:off x="8110728" y="3822192"/>
            <a:ext cx="3605479" cy="219456"/>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WHAT MOVED</a:t>
            </a:r>
            <a:endParaRPr lang="en-US" sz="1200" dirty="0"/>
          </a:p>
        </p:txBody>
      </p:sp>
      <p:sp>
        <p:nvSpPr>
          <p:cNvPr id="18" name="Shape 15"/>
          <p:cNvSpPr/>
          <p:nvPr/>
        </p:nvSpPr>
        <p:spPr>
          <a:xfrm>
            <a:off x="8110728" y="4197096"/>
            <a:ext cx="64008" cy="64008"/>
          </a:xfrm>
          <a:prstGeom prst="rect">
            <a:avLst/>
          </a:prstGeom>
          <a:solidFill>
            <a:srgbClr val="FF9F43"/>
          </a:solidFill>
          <a:ln w="12700">
            <a:solidFill>
              <a:srgbClr val="FF9F43"/>
            </a:solidFill>
            <a:prstDash val="solid"/>
          </a:ln>
        </p:spPr>
        <p:txBody>
          <a:bodyPr/>
          <a:lstStyle/>
          <a:p>
            <a:endParaRPr lang="he-IL"/>
          </a:p>
        </p:txBody>
      </p:sp>
      <p:sp>
        <p:nvSpPr>
          <p:cNvPr id="19" name="Text 16"/>
          <p:cNvSpPr/>
          <p:nvPr/>
        </p:nvSpPr>
        <p:spPr>
          <a:xfrm>
            <a:off x="8284464" y="4114800"/>
            <a:ext cx="3431743" cy="365760"/>
          </a:xfrm>
          <a:prstGeom prst="rect">
            <a:avLst/>
          </a:prstGeom>
          <a:noFill/>
          <a:ln/>
        </p:spPr>
        <p:txBody>
          <a:bodyPr wrap="square" lIns="0" tIns="0" rIns="0" bIns="0" rtlCol="0" anchor="t"/>
          <a:lstStyle/>
          <a:p>
            <a:pPr marL="0" indent="0">
              <a:lnSpc>
                <a:spcPct val="110000"/>
              </a:lnSpc>
              <a:buNone/>
            </a:pPr>
            <a:r>
              <a:rPr lang="en-US" sz="1250" dirty="0">
                <a:solidFill>
                  <a:srgbClr val="F4F7FB"/>
                </a:solidFill>
                <a:latin typeface="Calibri" pitchFamily="34" charset="0"/>
                <a:ea typeface="Calibri" pitchFamily="34" charset="-122"/>
                <a:cs typeface="Calibri" pitchFamily="34" charset="-120"/>
              </a:rPr>
              <a:t>customers3-prod and horizon-prod both stepped up</a:t>
            </a:r>
            <a:endParaRPr lang="en-US" sz="1250" dirty="0"/>
          </a:p>
        </p:txBody>
      </p:sp>
      <p:sp>
        <p:nvSpPr>
          <p:cNvPr id="20" name="Shape 17"/>
          <p:cNvSpPr/>
          <p:nvPr/>
        </p:nvSpPr>
        <p:spPr>
          <a:xfrm>
            <a:off x="8110728" y="4764024"/>
            <a:ext cx="64008" cy="64008"/>
          </a:xfrm>
          <a:prstGeom prst="rect">
            <a:avLst/>
          </a:prstGeom>
          <a:solidFill>
            <a:srgbClr val="FF9F43"/>
          </a:solidFill>
          <a:ln w="12700">
            <a:solidFill>
              <a:srgbClr val="FF9F43"/>
            </a:solidFill>
            <a:prstDash val="solid"/>
          </a:ln>
        </p:spPr>
        <p:txBody>
          <a:bodyPr/>
          <a:lstStyle/>
          <a:p>
            <a:endParaRPr lang="he-IL"/>
          </a:p>
        </p:txBody>
      </p:sp>
      <p:sp>
        <p:nvSpPr>
          <p:cNvPr id="21" name="Text 18"/>
          <p:cNvSpPr/>
          <p:nvPr/>
        </p:nvSpPr>
        <p:spPr>
          <a:xfrm>
            <a:off x="8284464" y="4681728"/>
            <a:ext cx="3431743" cy="365760"/>
          </a:xfrm>
          <a:prstGeom prst="rect">
            <a:avLst/>
          </a:prstGeom>
          <a:noFill/>
          <a:ln/>
        </p:spPr>
        <p:txBody>
          <a:bodyPr wrap="square" lIns="0" tIns="0" rIns="0" bIns="0" rtlCol="0" anchor="t"/>
          <a:lstStyle/>
          <a:p>
            <a:pPr marL="0" indent="0">
              <a:lnSpc>
                <a:spcPct val="110000"/>
              </a:lnSpc>
              <a:buNone/>
            </a:pPr>
            <a:r>
              <a:rPr lang="en-US" sz="1250" dirty="0">
                <a:solidFill>
                  <a:srgbClr val="F4F7FB"/>
                </a:solidFill>
                <a:latin typeface="Calibri" pitchFamily="34" charset="0"/>
                <a:ea typeface="Calibri" pitchFamily="34" charset="-122"/>
                <a:cs typeface="Calibri" pitchFamily="34" charset="-120"/>
              </a:rPr>
              <a:t>harel-org-02-root and aws-devTest-digital grew on EC2 and S3</a:t>
            </a:r>
            <a:endParaRPr lang="en-US" sz="1250" dirty="0"/>
          </a:p>
        </p:txBody>
      </p:sp>
      <p:sp>
        <p:nvSpPr>
          <p:cNvPr id="22" name="Shape 19"/>
          <p:cNvSpPr/>
          <p:nvPr/>
        </p:nvSpPr>
        <p:spPr>
          <a:xfrm>
            <a:off x="8110728" y="5330952"/>
            <a:ext cx="64008" cy="64008"/>
          </a:xfrm>
          <a:prstGeom prst="rect">
            <a:avLst/>
          </a:prstGeom>
          <a:solidFill>
            <a:srgbClr val="FF9F43"/>
          </a:solidFill>
          <a:ln w="12700">
            <a:solidFill>
              <a:srgbClr val="FF9F43"/>
            </a:solidFill>
            <a:prstDash val="solid"/>
          </a:ln>
        </p:spPr>
        <p:txBody>
          <a:bodyPr/>
          <a:lstStyle/>
          <a:p>
            <a:endParaRPr lang="he-IL"/>
          </a:p>
        </p:txBody>
      </p:sp>
      <p:sp>
        <p:nvSpPr>
          <p:cNvPr id="23" name="Text 20"/>
          <p:cNvSpPr/>
          <p:nvPr/>
        </p:nvSpPr>
        <p:spPr>
          <a:xfrm>
            <a:off x="8284464" y="5248656"/>
            <a:ext cx="3431743" cy="365760"/>
          </a:xfrm>
          <a:prstGeom prst="rect">
            <a:avLst/>
          </a:prstGeom>
          <a:noFill/>
          <a:ln/>
        </p:spPr>
        <p:txBody>
          <a:bodyPr wrap="square" lIns="0" tIns="0" rIns="0" bIns="0" rtlCol="0" anchor="t"/>
          <a:lstStyle/>
          <a:p>
            <a:pPr marL="0" indent="0">
              <a:lnSpc>
                <a:spcPct val="110000"/>
              </a:lnSpc>
              <a:buNone/>
            </a:pPr>
            <a:r>
              <a:rPr lang="en-US" sz="1250" dirty="0">
                <a:solidFill>
                  <a:srgbClr val="F4F7FB"/>
                </a:solidFill>
                <a:latin typeface="Calibri" pitchFamily="34" charset="0"/>
                <a:ea typeface="Calibri" pitchFamily="34" charset="-122"/>
                <a:cs typeface="Calibri" pitchFamily="34" charset="-120"/>
              </a:rPr>
              <a:t>ai-factory-dev carries a MAP contract credit, which is why July nets down</a:t>
            </a:r>
            <a:endParaRPr lang="en-US" sz="12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9">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txBody>
          <a:bodyPr/>
          <a:lstStyle/>
          <a:p>
            <a:endParaRPr lang="he-IL"/>
          </a:p>
        </p:txBody>
      </p:sp>
      <p:sp>
        <p:nvSpPr>
          <p:cNvPr id="3" name="Shape 1"/>
          <p:cNvSpPr/>
          <p:nvPr/>
        </p:nvSpPr>
        <p:spPr>
          <a:xfrm>
            <a:off x="457200" y="306324"/>
            <a:ext cx="109728" cy="109728"/>
          </a:xfrm>
          <a:prstGeom prst="ellipse">
            <a:avLst/>
          </a:prstGeom>
          <a:solidFill>
            <a:srgbClr val="FF9F43"/>
          </a:solidFill>
          <a:ln w="12700">
            <a:solidFill>
              <a:srgbClr val="FF9F43"/>
            </a:solidFill>
            <a:prstDash val="solid"/>
          </a:ln>
        </p:spPr>
        <p:txBody>
          <a:bodyPr/>
          <a:lstStyle/>
          <a:p>
            <a:endParaRPr lang="he-IL"/>
          </a:p>
        </p:txBody>
      </p:sp>
      <p:sp>
        <p:nvSpPr>
          <p:cNvPr id="4" name="Text 2"/>
          <p:cNvSpPr/>
          <p:nvPr/>
        </p:nvSpPr>
        <p:spPr>
          <a:xfrm>
            <a:off x="640080" y="274320"/>
            <a:ext cx="7315200" cy="237744"/>
          </a:xfrm>
          <a:prstGeom prst="rect">
            <a:avLst/>
          </a:prstGeom>
          <a:noFill/>
          <a:ln/>
        </p:spPr>
        <p:txBody>
          <a:bodyPr wrap="square" lIns="0" tIns="0" rIns="0" bIns="0" rtlCol="0" anchor="ctr"/>
          <a:lstStyle/>
          <a:p>
            <a:pPr marL="0" indent="0">
              <a:buNone/>
            </a:pPr>
            <a:r>
              <a:rPr lang="en-US" sz="1300" b="1" kern="0" spc="200" dirty="0">
                <a:solidFill>
                  <a:srgbClr val="FF9F43"/>
                </a:solidFill>
                <a:latin typeface="Calibri" pitchFamily="34" charset="0"/>
                <a:ea typeface="Calibri" pitchFamily="34" charset="-122"/>
                <a:cs typeface="Calibri" pitchFamily="34" charset="-120"/>
              </a:rPr>
              <a:t>AWS / SERVICES</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Consumption by service name</a:t>
            </a:r>
            <a:endParaRPr lang="en-US" sz="2800" dirty="0"/>
          </a:p>
        </p:txBody>
      </p:sp>
      <p:sp>
        <p:nvSpPr>
          <p:cNvPr id="6" name="Text 4"/>
          <p:cNvSpPr/>
          <p:nvPr/>
        </p:nvSpPr>
        <p:spPr>
          <a:xfrm>
            <a:off x="8321040" y="493776"/>
            <a:ext cx="3413455" cy="658368"/>
          </a:xfrm>
          <a:prstGeom prst="rect">
            <a:avLst/>
          </a:prstGeom>
          <a:noFill/>
          <a:ln/>
        </p:spPr>
        <p:txBody>
          <a:bodyPr wrap="square" lIns="0" tIns="0" rIns="0" bIns="0" rtlCol="0" anchor="t"/>
          <a:lstStyle/>
          <a:p>
            <a:pPr marL="0" indent="0" algn="r">
              <a:lnSpc>
                <a:spcPct val="115000"/>
              </a:lnSpc>
              <a:buNone/>
            </a:pPr>
            <a:endParaRPr lang="en-US" sz="1200" dirty="0"/>
          </a:p>
        </p:txBody>
      </p:sp>
      <p:sp>
        <p:nvSpPr>
          <p:cNvPr id="7" name="Text 5"/>
          <p:cNvSpPr/>
          <p:nvPr/>
        </p:nvSpPr>
        <p:spPr>
          <a:xfrm>
            <a:off x="457200" y="1234440"/>
            <a:ext cx="7360920" cy="237744"/>
          </a:xfrm>
          <a:prstGeom prst="rect">
            <a:avLst/>
          </a:prstGeom>
          <a:noFill/>
          <a:ln/>
        </p:spPr>
        <p:txBody>
          <a:bodyPr wrap="square" lIns="0" tIns="0" rIns="0" bIns="0" rtlCol="0" anchor="ctr"/>
          <a:lstStyle/>
          <a:p>
            <a:pPr marL="0" indent="0">
              <a:buNone/>
            </a:pPr>
            <a:r>
              <a:rPr lang="en-US" sz="1500" b="1" dirty="0">
                <a:solidFill>
                  <a:srgbClr val="F4F7FB"/>
                </a:solidFill>
                <a:latin typeface="Calibri" pitchFamily="34" charset="0"/>
                <a:ea typeface="Calibri" pitchFamily="34" charset="-122"/>
                <a:cs typeface="Calibri" pitchFamily="34" charset="-120"/>
              </a:rPr>
              <a:t>Monthly spend by service</a:t>
            </a:r>
            <a:endParaRPr lang="en-US" sz="1500" dirty="0"/>
          </a:p>
        </p:txBody>
      </p:sp>
      <p:graphicFrame>
        <p:nvGraphicFramePr>
          <p:cNvPr id="8" name="Chart 0"/>
          <p:cNvGraphicFramePr/>
          <p:nvPr/>
        </p:nvGraphicFramePr>
        <p:xfrm>
          <a:off x="411480" y="1508760"/>
          <a:ext cx="736092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6"/>
          <p:cNvSpPr/>
          <p:nvPr/>
        </p:nvSpPr>
        <p:spPr>
          <a:xfrm>
            <a:off x="8092440" y="1234440"/>
            <a:ext cx="3642055" cy="1097280"/>
          </a:xfrm>
          <a:prstGeom prst="roundRect">
            <a:avLst>
              <a:gd name="adj" fmla="val 5000"/>
            </a:avLst>
          </a:prstGeom>
          <a:solidFill>
            <a:srgbClr val="121B2D"/>
          </a:solidFill>
          <a:ln w="12700">
            <a:solidFill>
              <a:srgbClr val="23304A"/>
            </a:solidFill>
            <a:prstDash val="solid"/>
          </a:ln>
        </p:spPr>
        <p:txBody>
          <a:bodyPr/>
          <a:lstStyle/>
          <a:p>
            <a:endParaRPr lang="he-IL"/>
          </a:p>
        </p:txBody>
      </p:sp>
      <p:sp>
        <p:nvSpPr>
          <p:cNvPr id="10" name="Text 7"/>
          <p:cNvSpPr/>
          <p:nvPr/>
        </p:nvSpPr>
        <p:spPr>
          <a:xfrm>
            <a:off x="8293608" y="1325880"/>
            <a:ext cx="3239719"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TOTAL, JAN-JUL</a:t>
            </a:r>
            <a:endParaRPr lang="en-US" sz="1200" dirty="0"/>
          </a:p>
        </p:txBody>
      </p:sp>
      <p:sp>
        <p:nvSpPr>
          <p:cNvPr id="11" name="Text 8"/>
          <p:cNvSpPr/>
          <p:nvPr/>
        </p:nvSpPr>
        <p:spPr>
          <a:xfrm>
            <a:off x="8293608" y="1527048"/>
            <a:ext cx="3239719"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$584K</a:t>
            </a:r>
            <a:endParaRPr lang="en-US" sz="2800" dirty="0"/>
          </a:p>
        </p:txBody>
      </p:sp>
      <p:sp>
        <p:nvSpPr>
          <p:cNvPr id="12" name="Text 9"/>
          <p:cNvSpPr/>
          <p:nvPr/>
        </p:nvSpPr>
        <p:spPr>
          <a:xfrm>
            <a:off x="8293608" y="1929384"/>
            <a:ext cx="3239719" cy="329184"/>
          </a:xfrm>
          <a:prstGeom prst="rect">
            <a:avLst/>
          </a:prstGeom>
          <a:noFill/>
          <a:ln/>
        </p:spPr>
        <p:txBody>
          <a:bodyPr wrap="square" lIns="0" tIns="0" rIns="0" bIns="0" rtlCol="0" anchor="t"/>
          <a:lstStyle/>
          <a:p>
            <a:pPr marL="0" indent="0">
              <a:lnSpc>
                <a:spcPct val="105000"/>
              </a:lnSpc>
              <a:buNone/>
            </a:pPr>
            <a:r>
              <a:rPr lang="en-US" sz="1200" b="1" dirty="0">
                <a:solidFill>
                  <a:srgbClr val="FF9F43"/>
                </a:solidFill>
                <a:latin typeface="Calibri" pitchFamily="34" charset="0"/>
                <a:ea typeface="Calibri" pitchFamily="34" charset="-122"/>
                <a:cs typeface="Calibri" pitchFamily="34" charset="-120"/>
              </a:rPr>
              <a:t>flat Jan to Jul</a:t>
            </a:r>
            <a:endParaRPr lang="en-US" sz="1200" dirty="0"/>
          </a:p>
        </p:txBody>
      </p:sp>
      <p:sp>
        <p:nvSpPr>
          <p:cNvPr id="13" name="Shape 10"/>
          <p:cNvSpPr/>
          <p:nvPr/>
        </p:nvSpPr>
        <p:spPr>
          <a:xfrm>
            <a:off x="8092440" y="2459736"/>
            <a:ext cx="3642055" cy="1097280"/>
          </a:xfrm>
          <a:prstGeom prst="roundRect">
            <a:avLst>
              <a:gd name="adj" fmla="val 5000"/>
            </a:avLst>
          </a:prstGeom>
          <a:solidFill>
            <a:srgbClr val="121B2D"/>
          </a:solidFill>
          <a:ln w="12700">
            <a:solidFill>
              <a:srgbClr val="23304A"/>
            </a:solidFill>
            <a:prstDash val="solid"/>
          </a:ln>
        </p:spPr>
        <p:txBody>
          <a:bodyPr/>
          <a:lstStyle/>
          <a:p>
            <a:endParaRPr lang="he-IL"/>
          </a:p>
        </p:txBody>
      </p:sp>
      <p:sp>
        <p:nvSpPr>
          <p:cNvPr id="14" name="Text 11"/>
          <p:cNvSpPr/>
          <p:nvPr/>
        </p:nvSpPr>
        <p:spPr>
          <a:xfrm>
            <a:off x="8293608" y="2551176"/>
            <a:ext cx="3239719"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LARGEST SERVICE</a:t>
            </a:r>
            <a:endParaRPr lang="en-US" sz="1200" dirty="0"/>
          </a:p>
        </p:txBody>
      </p:sp>
      <p:sp>
        <p:nvSpPr>
          <p:cNvPr id="15" name="Text 12"/>
          <p:cNvSpPr/>
          <p:nvPr/>
        </p:nvSpPr>
        <p:spPr>
          <a:xfrm>
            <a:off x="8293608" y="2752344"/>
            <a:ext cx="3239719"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EC2 - Compute</a:t>
            </a:r>
            <a:endParaRPr lang="en-US" sz="2800" dirty="0"/>
          </a:p>
        </p:txBody>
      </p:sp>
      <p:sp>
        <p:nvSpPr>
          <p:cNvPr id="16" name="Text 13"/>
          <p:cNvSpPr/>
          <p:nvPr/>
        </p:nvSpPr>
        <p:spPr>
          <a:xfrm>
            <a:off x="8293608" y="3154680"/>
            <a:ext cx="3239719" cy="329184"/>
          </a:xfrm>
          <a:prstGeom prst="rect">
            <a:avLst/>
          </a:prstGeom>
          <a:noFill/>
          <a:ln/>
        </p:spPr>
        <p:txBody>
          <a:bodyPr wrap="square" lIns="0" tIns="0" rIns="0" bIns="0" rtlCol="0" anchor="t"/>
          <a:lstStyle/>
          <a:p>
            <a:pPr marL="0" indent="0">
              <a:lnSpc>
                <a:spcPct val="105000"/>
              </a:lnSpc>
              <a:buNone/>
            </a:pPr>
            <a:r>
              <a:rPr lang="en-US" sz="1200" b="1" dirty="0">
                <a:solidFill>
                  <a:srgbClr val="3DD9EB"/>
                </a:solidFill>
                <a:latin typeface="Calibri" pitchFamily="34" charset="0"/>
                <a:ea typeface="Calibri" pitchFamily="34" charset="-122"/>
                <a:cs typeface="Calibri" pitchFamily="34" charset="-120"/>
              </a:rPr>
              <a:t>39% of the total</a:t>
            </a:r>
            <a:endParaRPr lang="en-US" sz="1200" dirty="0"/>
          </a:p>
        </p:txBody>
      </p:sp>
      <p:sp>
        <p:nvSpPr>
          <p:cNvPr id="17" name="Text 14"/>
          <p:cNvSpPr/>
          <p:nvPr/>
        </p:nvSpPr>
        <p:spPr>
          <a:xfrm>
            <a:off x="8110728" y="3822192"/>
            <a:ext cx="3605479" cy="219456"/>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WHAT MOVED</a:t>
            </a:r>
            <a:endParaRPr lang="en-US" sz="1200" dirty="0"/>
          </a:p>
        </p:txBody>
      </p:sp>
      <p:sp>
        <p:nvSpPr>
          <p:cNvPr id="18" name="Shape 15"/>
          <p:cNvSpPr/>
          <p:nvPr/>
        </p:nvSpPr>
        <p:spPr>
          <a:xfrm>
            <a:off x="8110728" y="4197096"/>
            <a:ext cx="64008" cy="64008"/>
          </a:xfrm>
          <a:prstGeom prst="rect">
            <a:avLst/>
          </a:prstGeom>
          <a:solidFill>
            <a:srgbClr val="FF9F43"/>
          </a:solidFill>
          <a:ln w="12700">
            <a:solidFill>
              <a:srgbClr val="FF9F43"/>
            </a:solidFill>
            <a:prstDash val="solid"/>
          </a:ln>
        </p:spPr>
        <p:txBody>
          <a:bodyPr/>
          <a:lstStyle/>
          <a:p>
            <a:endParaRPr lang="he-IL"/>
          </a:p>
        </p:txBody>
      </p:sp>
      <p:sp>
        <p:nvSpPr>
          <p:cNvPr id="19" name="Text 16"/>
          <p:cNvSpPr/>
          <p:nvPr/>
        </p:nvSpPr>
        <p:spPr>
          <a:xfrm>
            <a:off x="8284464" y="4114800"/>
            <a:ext cx="3431743" cy="182880"/>
          </a:xfrm>
          <a:prstGeom prst="rect">
            <a:avLst/>
          </a:prstGeom>
          <a:noFill/>
          <a:ln/>
        </p:spPr>
        <p:txBody>
          <a:bodyPr wrap="square" lIns="0" tIns="0" rIns="0" bIns="0" rtlCol="0" anchor="t"/>
          <a:lstStyle/>
          <a:p>
            <a:pPr marL="0" indent="0">
              <a:lnSpc>
                <a:spcPct val="110000"/>
              </a:lnSpc>
              <a:buNone/>
            </a:pPr>
            <a:r>
              <a:rPr lang="en-US" sz="1250" dirty="0">
                <a:solidFill>
                  <a:srgbClr val="F4F7FB"/>
                </a:solidFill>
                <a:latin typeface="Calibri" pitchFamily="34" charset="0"/>
                <a:ea typeface="Calibri" pitchFamily="34" charset="-122"/>
                <a:cs typeface="Calibri" pitchFamily="34" charset="-120"/>
              </a:rPr>
              <a:t>EC2 compute keeps rising month over month</a:t>
            </a:r>
            <a:endParaRPr lang="en-US" sz="1250" dirty="0"/>
          </a:p>
        </p:txBody>
      </p:sp>
      <p:sp>
        <p:nvSpPr>
          <p:cNvPr id="20" name="Shape 17"/>
          <p:cNvSpPr/>
          <p:nvPr/>
        </p:nvSpPr>
        <p:spPr>
          <a:xfrm>
            <a:off x="8110728" y="4544568"/>
            <a:ext cx="64008" cy="64008"/>
          </a:xfrm>
          <a:prstGeom prst="rect">
            <a:avLst/>
          </a:prstGeom>
          <a:solidFill>
            <a:srgbClr val="FF9F43"/>
          </a:solidFill>
          <a:ln w="12700">
            <a:solidFill>
              <a:srgbClr val="FF9F43"/>
            </a:solidFill>
            <a:prstDash val="solid"/>
          </a:ln>
        </p:spPr>
        <p:txBody>
          <a:bodyPr/>
          <a:lstStyle/>
          <a:p>
            <a:endParaRPr lang="he-IL"/>
          </a:p>
        </p:txBody>
      </p:sp>
      <p:sp>
        <p:nvSpPr>
          <p:cNvPr id="21" name="Text 18"/>
          <p:cNvSpPr/>
          <p:nvPr/>
        </p:nvSpPr>
        <p:spPr>
          <a:xfrm>
            <a:off x="8284464" y="4462272"/>
            <a:ext cx="3431743" cy="365760"/>
          </a:xfrm>
          <a:prstGeom prst="rect">
            <a:avLst/>
          </a:prstGeom>
          <a:noFill/>
          <a:ln/>
        </p:spPr>
        <p:txBody>
          <a:bodyPr wrap="square" lIns="0" tIns="0" rIns="0" bIns="0" rtlCol="0" anchor="t"/>
          <a:lstStyle/>
          <a:p>
            <a:pPr marL="0" indent="0">
              <a:lnSpc>
                <a:spcPct val="110000"/>
              </a:lnSpc>
              <a:buNone/>
            </a:pPr>
            <a:r>
              <a:rPr lang="en-US" sz="1250" dirty="0">
                <a:solidFill>
                  <a:srgbClr val="F4F7FB"/>
                </a:solidFill>
                <a:latin typeface="Calibri" pitchFamily="34" charset="0"/>
                <a:ea typeface="Calibri" pitchFamily="34" charset="-122"/>
                <a:cs typeface="Calibri" pitchFamily="34" charset="-120"/>
              </a:rPr>
              <a:t>S3 storage and Glacier Deep Archive both up sharply</a:t>
            </a:r>
            <a:endParaRPr lang="en-US" sz="1250" dirty="0"/>
          </a:p>
        </p:txBody>
      </p:sp>
      <p:sp>
        <p:nvSpPr>
          <p:cNvPr id="22" name="Shape 19"/>
          <p:cNvSpPr/>
          <p:nvPr/>
        </p:nvSpPr>
        <p:spPr>
          <a:xfrm>
            <a:off x="8110728" y="5111496"/>
            <a:ext cx="64008" cy="64008"/>
          </a:xfrm>
          <a:prstGeom prst="rect">
            <a:avLst/>
          </a:prstGeom>
          <a:solidFill>
            <a:srgbClr val="FF9F43"/>
          </a:solidFill>
          <a:ln w="12700">
            <a:solidFill>
              <a:srgbClr val="FF9F43"/>
            </a:solidFill>
            <a:prstDash val="solid"/>
          </a:ln>
        </p:spPr>
        <p:txBody>
          <a:bodyPr/>
          <a:lstStyle/>
          <a:p>
            <a:endParaRPr lang="he-IL"/>
          </a:p>
        </p:txBody>
      </p:sp>
      <p:sp>
        <p:nvSpPr>
          <p:cNvPr id="23" name="Text 20"/>
          <p:cNvSpPr/>
          <p:nvPr/>
        </p:nvSpPr>
        <p:spPr>
          <a:xfrm>
            <a:off x="8284464" y="5029200"/>
            <a:ext cx="3431743" cy="365760"/>
          </a:xfrm>
          <a:prstGeom prst="rect">
            <a:avLst/>
          </a:prstGeom>
          <a:noFill/>
          <a:ln/>
        </p:spPr>
        <p:txBody>
          <a:bodyPr wrap="square" lIns="0" tIns="0" rIns="0" bIns="0" rtlCol="0" anchor="t"/>
          <a:lstStyle/>
          <a:p>
            <a:pPr marL="0" indent="0">
              <a:lnSpc>
                <a:spcPct val="110000"/>
              </a:lnSpc>
              <a:buNone/>
            </a:pPr>
            <a:r>
              <a:rPr lang="en-US" sz="1250" dirty="0">
                <a:solidFill>
                  <a:srgbClr val="F4F7FB"/>
                </a:solidFill>
                <a:latin typeface="Calibri" pitchFamily="34" charset="0"/>
                <a:ea typeface="Calibri" pitchFamily="34" charset="-122"/>
                <a:cs typeface="Calibri" pitchFamily="34" charset="-120"/>
              </a:rPr>
              <a:t>The July dip in 'Other' is the MAP credit, not a usage change</a:t>
            </a:r>
            <a:endParaRPr lang="en-US" sz="12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0">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txBody>
          <a:bodyPr/>
          <a:lstStyle/>
          <a:p>
            <a:endParaRPr lang="he-IL"/>
          </a:p>
        </p:txBody>
      </p:sp>
      <p:sp>
        <p:nvSpPr>
          <p:cNvPr id="3" name="Shape 1"/>
          <p:cNvSpPr/>
          <p:nvPr/>
        </p:nvSpPr>
        <p:spPr>
          <a:xfrm>
            <a:off x="457200" y="306324"/>
            <a:ext cx="109728" cy="109728"/>
          </a:xfrm>
          <a:prstGeom prst="ellipse">
            <a:avLst/>
          </a:prstGeom>
          <a:solidFill>
            <a:srgbClr val="2F8CFF"/>
          </a:solidFill>
          <a:ln w="12700">
            <a:solidFill>
              <a:srgbClr val="2F8CFF"/>
            </a:solidFill>
            <a:prstDash val="solid"/>
          </a:ln>
        </p:spPr>
        <p:txBody>
          <a:bodyPr/>
          <a:lstStyle/>
          <a:p>
            <a:endParaRPr lang="he-IL"/>
          </a:p>
        </p:txBody>
      </p:sp>
      <p:sp>
        <p:nvSpPr>
          <p:cNvPr id="4" name="Text 2"/>
          <p:cNvSpPr/>
          <p:nvPr/>
        </p:nvSpPr>
        <p:spPr>
          <a:xfrm>
            <a:off x="640080" y="274320"/>
            <a:ext cx="7315200" cy="237744"/>
          </a:xfrm>
          <a:prstGeom prst="rect">
            <a:avLst/>
          </a:prstGeom>
          <a:noFill/>
          <a:ln/>
        </p:spPr>
        <p:txBody>
          <a:bodyPr wrap="square" lIns="0" tIns="0" rIns="0" bIns="0" rtlCol="0" anchor="ctr"/>
          <a:lstStyle/>
          <a:p>
            <a:pPr marL="0" indent="0">
              <a:buNone/>
            </a:pPr>
            <a:r>
              <a:rPr lang="en-US" sz="1300" b="1" kern="0" spc="200" dirty="0">
                <a:solidFill>
                  <a:srgbClr val="2F8CFF"/>
                </a:solidFill>
                <a:latin typeface="Calibri" pitchFamily="34" charset="0"/>
                <a:ea typeface="Calibri" pitchFamily="34" charset="-122"/>
                <a:cs typeface="Calibri" pitchFamily="34" charset="-120"/>
              </a:rPr>
              <a:t>AZURE / COST CENTRES</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Consumption by cost centre</a:t>
            </a:r>
            <a:endParaRPr lang="en-US" sz="2800" dirty="0"/>
          </a:p>
        </p:txBody>
      </p:sp>
      <p:sp>
        <p:nvSpPr>
          <p:cNvPr id="6" name="Text 4"/>
          <p:cNvSpPr/>
          <p:nvPr/>
        </p:nvSpPr>
        <p:spPr>
          <a:xfrm>
            <a:off x="8321040" y="493776"/>
            <a:ext cx="3413455" cy="658368"/>
          </a:xfrm>
          <a:prstGeom prst="rect">
            <a:avLst/>
          </a:prstGeom>
          <a:noFill/>
          <a:ln/>
        </p:spPr>
        <p:txBody>
          <a:bodyPr wrap="square" lIns="0" tIns="0" rIns="0" bIns="0" rtlCol="0" anchor="t"/>
          <a:lstStyle/>
          <a:p>
            <a:pPr marL="0" indent="0" algn="r">
              <a:lnSpc>
                <a:spcPct val="115000"/>
              </a:lnSpc>
              <a:buNone/>
            </a:pPr>
            <a:r>
              <a:rPr lang="en-US" sz="1200" dirty="0">
                <a:solidFill>
                  <a:srgbClr val="91A0B7"/>
                </a:solidFill>
                <a:latin typeface="Calibri" pitchFamily="34" charset="0"/>
                <a:ea typeface="Calibri" pitchFamily="34" charset="-122"/>
                <a:cs typeface="Calibri" pitchFamily="34" charset="-120"/>
              </a:rPr>
              <a:t>From the CostCenter tag. Charges exclude Marketplace purchases.</a:t>
            </a:r>
            <a:endParaRPr lang="en-US" sz="1200" dirty="0"/>
          </a:p>
        </p:txBody>
      </p:sp>
      <p:sp>
        <p:nvSpPr>
          <p:cNvPr id="7" name="Text 5"/>
          <p:cNvSpPr/>
          <p:nvPr/>
        </p:nvSpPr>
        <p:spPr>
          <a:xfrm>
            <a:off x="457200" y="1234440"/>
            <a:ext cx="7360920" cy="237744"/>
          </a:xfrm>
          <a:prstGeom prst="rect">
            <a:avLst/>
          </a:prstGeom>
          <a:noFill/>
          <a:ln/>
        </p:spPr>
        <p:txBody>
          <a:bodyPr wrap="square" lIns="0" tIns="0" rIns="0" bIns="0" rtlCol="0" anchor="ctr"/>
          <a:lstStyle/>
          <a:p>
            <a:pPr marL="0" indent="0">
              <a:buNone/>
            </a:pPr>
            <a:r>
              <a:rPr lang="en-US" sz="1500" b="1" dirty="0">
                <a:solidFill>
                  <a:srgbClr val="F4F7FB"/>
                </a:solidFill>
                <a:latin typeface="Calibri" pitchFamily="34" charset="0"/>
                <a:ea typeface="Calibri" pitchFamily="34" charset="-122"/>
                <a:cs typeface="Calibri" pitchFamily="34" charset="-120"/>
              </a:rPr>
              <a:t>Monthly spend by cost centre</a:t>
            </a:r>
            <a:endParaRPr lang="en-US" sz="1500" dirty="0"/>
          </a:p>
        </p:txBody>
      </p:sp>
      <p:graphicFrame>
        <p:nvGraphicFramePr>
          <p:cNvPr id="8" name="Chart 0"/>
          <p:cNvGraphicFramePr/>
          <p:nvPr/>
        </p:nvGraphicFramePr>
        <p:xfrm>
          <a:off x="411480" y="1508760"/>
          <a:ext cx="736092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6"/>
          <p:cNvSpPr/>
          <p:nvPr/>
        </p:nvSpPr>
        <p:spPr>
          <a:xfrm>
            <a:off x="8092440" y="1234440"/>
            <a:ext cx="3642055" cy="1097280"/>
          </a:xfrm>
          <a:prstGeom prst="roundRect">
            <a:avLst>
              <a:gd name="adj" fmla="val 5000"/>
            </a:avLst>
          </a:prstGeom>
          <a:solidFill>
            <a:srgbClr val="121B2D"/>
          </a:solidFill>
          <a:ln w="12700">
            <a:solidFill>
              <a:srgbClr val="23304A"/>
            </a:solidFill>
            <a:prstDash val="solid"/>
          </a:ln>
        </p:spPr>
        <p:txBody>
          <a:bodyPr/>
          <a:lstStyle/>
          <a:p>
            <a:endParaRPr lang="he-IL"/>
          </a:p>
        </p:txBody>
      </p:sp>
      <p:sp>
        <p:nvSpPr>
          <p:cNvPr id="10" name="Text 7"/>
          <p:cNvSpPr/>
          <p:nvPr/>
        </p:nvSpPr>
        <p:spPr>
          <a:xfrm>
            <a:off x="8293608" y="1325880"/>
            <a:ext cx="3239719"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TOTAL, JAN-JUL</a:t>
            </a:r>
            <a:endParaRPr lang="en-US" sz="1200" dirty="0"/>
          </a:p>
        </p:txBody>
      </p:sp>
      <p:sp>
        <p:nvSpPr>
          <p:cNvPr id="11" name="Text 8"/>
          <p:cNvSpPr/>
          <p:nvPr/>
        </p:nvSpPr>
        <p:spPr>
          <a:xfrm>
            <a:off x="8293608" y="1527048"/>
            <a:ext cx="3239719"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$1.12M</a:t>
            </a:r>
            <a:endParaRPr lang="en-US" sz="2800" dirty="0"/>
          </a:p>
        </p:txBody>
      </p:sp>
      <p:sp>
        <p:nvSpPr>
          <p:cNvPr id="12" name="Text 9"/>
          <p:cNvSpPr/>
          <p:nvPr/>
        </p:nvSpPr>
        <p:spPr>
          <a:xfrm>
            <a:off x="8293608" y="1929384"/>
            <a:ext cx="3239719" cy="329184"/>
          </a:xfrm>
          <a:prstGeom prst="rect">
            <a:avLst/>
          </a:prstGeom>
          <a:noFill/>
          <a:ln/>
        </p:spPr>
        <p:txBody>
          <a:bodyPr wrap="square" lIns="0" tIns="0" rIns="0" bIns="0" rtlCol="0" anchor="t"/>
          <a:lstStyle/>
          <a:p>
            <a:pPr marL="0" indent="0">
              <a:lnSpc>
                <a:spcPct val="105000"/>
              </a:lnSpc>
              <a:buNone/>
            </a:pPr>
            <a:r>
              <a:rPr lang="en-US" sz="1200" b="1" dirty="0">
                <a:solidFill>
                  <a:srgbClr val="2F8CFF"/>
                </a:solidFill>
                <a:latin typeface="Calibri" pitchFamily="34" charset="0"/>
                <a:ea typeface="Calibri" pitchFamily="34" charset="-122"/>
                <a:cs typeface="Calibri" pitchFamily="34" charset="-120"/>
              </a:rPr>
              <a:t>+19% Jan to Jul</a:t>
            </a:r>
            <a:endParaRPr lang="en-US" sz="1200" dirty="0"/>
          </a:p>
        </p:txBody>
      </p:sp>
      <p:sp>
        <p:nvSpPr>
          <p:cNvPr id="13" name="Shape 10"/>
          <p:cNvSpPr/>
          <p:nvPr/>
        </p:nvSpPr>
        <p:spPr>
          <a:xfrm>
            <a:off x="8092440" y="2459736"/>
            <a:ext cx="3642055" cy="1097280"/>
          </a:xfrm>
          <a:prstGeom prst="roundRect">
            <a:avLst>
              <a:gd name="adj" fmla="val 5000"/>
            </a:avLst>
          </a:prstGeom>
          <a:solidFill>
            <a:srgbClr val="121B2D"/>
          </a:solidFill>
          <a:ln w="12700">
            <a:solidFill>
              <a:srgbClr val="23304A"/>
            </a:solidFill>
            <a:prstDash val="solid"/>
          </a:ln>
        </p:spPr>
        <p:txBody>
          <a:bodyPr/>
          <a:lstStyle/>
          <a:p>
            <a:endParaRPr lang="he-IL"/>
          </a:p>
        </p:txBody>
      </p:sp>
      <p:sp>
        <p:nvSpPr>
          <p:cNvPr id="14" name="Text 11"/>
          <p:cNvSpPr/>
          <p:nvPr/>
        </p:nvSpPr>
        <p:spPr>
          <a:xfrm>
            <a:off x="8293608" y="2551176"/>
            <a:ext cx="3239719"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LARGEST COST CENTRE</a:t>
            </a:r>
            <a:endParaRPr lang="en-US" sz="1200" dirty="0"/>
          </a:p>
        </p:txBody>
      </p:sp>
      <p:sp>
        <p:nvSpPr>
          <p:cNvPr id="15" name="Text 12"/>
          <p:cNvSpPr/>
          <p:nvPr/>
        </p:nvSpPr>
        <p:spPr>
          <a:xfrm>
            <a:off x="8293608" y="2752344"/>
            <a:ext cx="3239719"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datacloud</a:t>
            </a:r>
            <a:endParaRPr lang="en-US" sz="2800" dirty="0"/>
          </a:p>
        </p:txBody>
      </p:sp>
      <p:sp>
        <p:nvSpPr>
          <p:cNvPr id="16" name="Text 13"/>
          <p:cNvSpPr/>
          <p:nvPr/>
        </p:nvSpPr>
        <p:spPr>
          <a:xfrm>
            <a:off x="8293608" y="3154680"/>
            <a:ext cx="3239719" cy="329184"/>
          </a:xfrm>
          <a:prstGeom prst="rect">
            <a:avLst/>
          </a:prstGeom>
          <a:noFill/>
          <a:ln/>
        </p:spPr>
        <p:txBody>
          <a:bodyPr wrap="square" lIns="0" tIns="0" rIns="0" bIns="0" rtlCol="0" anchor="t"/>
          <a:lstStyle/>
          <a:p>
            <a:pPr marL="0" indent="0">
              <a:lnSpc>
                <a:spcPct val="105000"/>
              </a:lnSpc>
              <a:buNone/>
            </a:pPr>
            <a:r>
              <a:rPr lang="en-US" sz="1200" b="1" dirty="0">
                <a:solidFill>
                  <a:srgbClr val="3DD9EB"/>
                </a:solidFill>
                <a:latin typeface="Calibri" pitchFamily="34" charset="0"/>
                <a:ea typeface="Calibri" pitchFamily="34" charset="-122"/>
                <a:cs typeface="Calibri" pitchFamily="34" charset="-120"/>
              </a:rPr>
              <a:t>30% of the total</a:t>
            </a:r>
            <a:endParaRPr lang="en-US" sz="1200" dirty="0"/>
          </a:p>
        </p:txBody>
      </p:sp>
      <p:sp>
        <p:nvSpPr>
          <p:cNvPr id="17" name="Text 14"/>
          <p:cNvSpPr/>
          <p:nvPr/>
        </p:nvSpPr>
        <p:spPr>
          <a:xfrm>
            <a:off x="8110728" y="3822192"/>
            <a:ext cx="3605479" cy="219456"/>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WHAT MOVED</a:t>
            </a:r>
            <a:endParaRPr lang="en-US" sz="1200" dirty="0"/>
          </a:p>
        </p:txBody>
      </p:sp>
      <p:sp>
        <p:nvSpPr>
          <p:cNvPr id="18" name="Shape 15"/>
          <p:cNvSpPr/>
          <p:nvPr/>
        </p:nvSpPr>
        <p:spPr>
          <a:xfrm>
            <a:off x="8110728" y="4197096"/>
            <a:ext cx="64008" cy="64008"/>
          </a:xfrm>
          <a:prstGeom prst="rect">
            <a:avLst/>
          </a:prstGeom>
          <a:solidFill>
            <a:srgbClr val="2F8CFF"/>
          </a:solidFill>
          <a:ln w="12700">
            <a:solidFill>
              <a:srgbClr val="2F8CFF"/>
            </a:solidFill>
            <a:prstDash val="solid"/>
          </a:ln>
        </p:spPr>
        <p:txBody>
          <a:bodyPr/>
          <a:lstStyle/>
          <a:p>
            <a:endParaRPr lang="he-IL"/>
          </a:p>
        </p:txBody>
      </p:sp>
      <p:sp>
        <p:nvSpPr>
          <p:cNvPr id="19" name="Text 16"/>
          <p:cNvSpPr/>
          <p:nvPr/>
        </p:nvSpPr>
        <p:spPr>
          <a:xfrm>
            <a:off x="8284464" y="4114800"/>
            <a:ext cx="3431743" cy="182880"/>
          </a:xfrm>
          <a:prstGeom prst="rect">
            <a:avLst/>
          </a:prstGeom>
          <a:noFill/>
          <a:ln/>
        </p:spPr>
        <p:txBody>
          <a:bodyPr wrap="square" lIns="0" tIns="0" rIns="0" bIns="0" rtlCol="0" anchor="t"/>
          <a:lstStyle/>
          <a:p>
            <a:pPr marL="0" indent="0">
              <a:lnSpc>
                <a:spcPct val="110000"/>
              </a:lnSpc>
              <a:buNone/>
            </a:pPr>
            <a:r>
              <a:rPr lang="en-US" sz="1250" dirty="0">
                <a:solidFill>
                  <a:srgbClr val="F4F7FB"/>
                </a:solidFill>
                <a:latin typeface="Calibri" pitchFamily="34" charset="0"/>
                <a:ea typeface="Calibri" pitchFamily="34" charset="-122"/>
                <a:cs typeface="Calibri" pitchFamily="34" charset="-120"/>
              </a:rPr>
              <a:t>cloudops, datacloud and cloudit all up</a:t>
            </a:r>
            <a:endParaRPr lang="en-US" sz="1250" dirty="0"/>
          </a:p>
        </p:txBody>
      </p:sp>
      <p:sp>
        <p:nvSpPr>
          <p:cNvPr id="20" name="Shape 17"/>
          <p:cNvSpPr/>
          <p:nvPr/>
        </p:nvSpPr>
        <p:spPr>
          <a:xfrm>
            <a:off x="8110728" y="4544568"/>
            <a:ext cx="64008" cy="64008"/>
          </a:xfrm>
          <a:prstGeom prst="rect">
            <a:avLst/>
          </a:prstGeom>
          <a:solidFill>
            <a:srgbClr val="2F8CFF"/>
          </a:solidFill>
          <a:ln w="12700">
            <a:solidFill>
              <a:srgbClr val="2F8CFF"/>
            </a:solidFill>
            <a:prstDash val="solid"/>
          </a:ln>
        </p:spPr>
        <p:txBody>
          <a:bodyPr/>
          <a:lstStyle/>
          <a:p>
            <a:endParaRPr lang="he-IL"/>
          </a:p>
        </p:txBody>
      </p:sp>
      <p:sp>
        <p:nvSpPr>
          <p:cNvPr id="21" name="Text 18"/>
          <p:cNvSpPr/>
          <p:nvPr/>
        </p:nvSpPr>
        <p:spPr>
          <a:xfrm>
            <a:off x="8284464" y="4462272"/>
            <a:ext cx="3431743" cy="365760"/>
          </a:xfrm>
          <a:prstGeom prst="rect">
            <a:avLst/>
          </a:prstGeom>
          <a:noFill/>
          <a:ln/>
        </p:spPr>
        <p:txBody>
          <a:bodyPr wrap="square" lIns="0" tIns="0" rIns="0" bIns="0" rtlCol="0" anchor="t"/>
          <a:lstStyle/>
          <a:p>
            <a:pPr marL="0" indent="0">
              <a:lnSpc>
                <a:spcPct val="110000"/>
              </a:lnSpc>
              <a:buNone/>
            </a:pPr>
            <a:r>
              <a:rPr lang="en-US" sz="1250" dirty="0">
                <a:solidFill>
                  <a:srgbClr val="F4F7FB"/>
                </a:solidFill>
                <a:latin typeface="Calibri" pitchFamily="34" charset="0"/>
                <a:ea typeface="Calibri" pitchFamily="34" charset="-122"/>
                <a:cs typeface="Calibri" pitchFamily="34" charset="-120"/>
              </a:rPr>
              <a:t>AI Factory is the fastest-growing centre in the period</a:t>
            </a:r>
            <a:endParaRPr lang="en-US" sz="1250" dirty="0"/>
          </a:p>
        </p:txBody>
      </p:sp>
      <p:sp>
        <p:nvSpPr>
          <p:cNvPr id="22" name="Shape 19"/>
          <p:cNvSpPr/>
          <p:nvPr/>
        </p:nvSpPr>
        <p:spPr>
          <a:xfrm>
            <a:off x="8110728" y="5111496"/>
            <a:ext cx="64008" cy="64008"/>
          </a:xfrm>
          <a:prstGeom prst="rect">
            <a:avLst/>
          </a:prstGeom>
          <a:solidFill>
            <a:srgbClr val="2F8CFF"/>
          </a:solidFill>
          <a:ln w="12700">
            <a:solidFill>
              <a:srgbClr val="2F8CFF"/>
            </a:solidFill>
            <a:prstDash val="solid"/>
          </a:ln>
        </p:spPr>
        <p:txBody>
          <a:bodyPr/>
          <a:lstStyle/>
          <a:p>
            <a:endParaRPr lang="he-IL"/>
          </a:p>
        </p:txBody>
      </p:sp>
      <p:sp>
        <p:nvSpPr>
          <p:cNvPr id="23" name="Text 20"/>
          <p:cNvSpPr/>
          <p:nvPr/>
        </p:nvSpPr>
        <p:spPr>
          <a:xfrm>
            <a:off x="8284464" y="5029200"/>
            <a:ext cx="3431743" cy="365760"/>
          </a:xfrm>
          <a:prstGeom prst="rect">
            <a:avLst/>
          </a:prstGeom>
          <a:noFill/>
          <a:ln/>
        </p:spPr>
        <p:txBody>
          <a:bodyPr wrap="square" lIns="0" tIns="0" rIns="0" bIns="0" rtlCol="0" anchor="t"/>
          <a:lstStyle/>
          <a:p>
            <a:pPr marL="0" indent="0">
              <a:lnSpc>
                <a:spcPct val="110000"/>
              </a:lnSpc>
              <a:buNone/>
            </a:pPr>
            <a:r>
              <a:rPr lang="en-US" sz="1250" dirty="0">
                <a:solidFill>
                  <a:srgbClr val="F4F7FB"/>
                </a:solidFill>
                <a:latin typeface="Calibri" pitchFamily="34" charset="0"/>
                <a:ea typeface="Calibri" pitchFamily="34" charset="-122"/>
                <a:cs typeface="Calibri" pitchFamily="34" charset="-120"/>
              </a:rPr>
              <a:t>Risk Agility and Actuary fell back after Q1</a:t>
            </a:r>
            <a:endParaRPr lang="en-US" sz="12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1">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txBody>
          <a:bodyPr/>
          <a:lstStyle/>
          <a:p>
            <a:endParaRPr lang="he-IL"/>
          </a:p>
        </p:txBody>
      </p:sp>
      <p:sp>
        <p:nvSpPr>
          <p:cNvPr id="3" name="Shape 1"/>
          <p:cNvSpPr/>
          <p:nvPr/>
        </p:nvSpPr>
        <p:spPr>
          <a:xfrm>
            <a:off x="457200" y="306324"/>
            <a:ext cx="109728" cy="109728"/>
          </a:xfrm>
          <a:prstGeom prst="ellipse">
            <a:avLst/>
          </a:prstGeom>
          <a:solidFill>
            <a:srgbClr val="2F8CFF"/>
          </a:solidFill>
          <a:ln w="12700">
            <a:solidFill>
              <a:srgbClr val="2F8CFF"/>
            </a:solidFill>
            <a:prstDash val="solid"/>
          </a:ln>
        </p:spPr>
        <p:txBody>
          <a:bodyPr/>
          <a:lstStyle/>
          <a:p>
            <a:endParaRPr lang="he-IL"/>
          </a:p>
        </p:txBody>
      </p:sp>
      <p:sp>
        <p:nvSpPr>
          <p:cNvPr id="4" name="Text 2"/>
          <p:cNvSpPr/>
          <p:nvPr/>
        </p:nvSpPr>
        <p:spPr>
          <a:xfrm>
            <a:off x="640080" y="274320"/>
            <a:ext cx="7315200" cy="237744"/>
          </a:xfrm>
          <a:prstGeom prst="rect">
            <a:avLst/>
          </a:prstGeom>
          <a:noFill/>
          <a:ln/>
        </p:spPr>
        <p:txBody>
          <a:bodyPr wrap="square" lIns="0" tIns="0" rIns="0" bIns="0" rtlCol="0" anchor="ctr"/>
          <a:lstStyle/>
          <a:p>
            <a:pPr marL="0" indent="0">
              <a:buNone/>
            </a:pPr>
            <a:r>
              <a:rPr lang="en-US" sz="1300" b="1" kern="0" spc="200" dirty="0">
                <a:solidFill>
                  <a:srgbClr val="2F8CFF"/>
                </a:solidFill>
                <a:latin typeface="Calibri" pitchFamily="34" charset="0"/>
                <a:ea typeface="Calibri" pitchFamily="34" charset="-122"/>
                <a:cs typeface="Calibri" pitchFamily="34" charset="-120"/>
              </a:rPr>
              <a:t>AZURE / SERVICES</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Consumption by service name</a:t>
            </a:r>
            <a:endParaRPr lang="en-US" sz="2800" dirty="0"/>
          </a:p>
        </p:txBody>
      </p:sp>
      <p:sp>
        <p:nvSpPr>
          <p:cNvPr id="6" name="Text 4"/>
          <p:cNvSpPr/>
          <p:nvPr/>
        </p:nvSpPr>
        <p:spPr>
          <a:xfrm>
            <a:off x="8321040" y="493776"/>
            <a:ext cx="3413455" cy="658368"/>
          </a:xfrm>
          <a:prstGeom prst="rect">
            <a:avLst/>
          </a:prstGeom>
          <a:noFill/>
          <a:ln/>
        </p:spPr>
        <p:txBody>
          <a:bodyPr wrap="square" lIns="0" tIns="0" rIns="0" bIns="0" rtlCol="0" anchor="t"/>
          <a:lstStyle/>
          <a:p>
            <a:pPr marL="0" indent="0" algn="r">
              <a:lnSpc>
                <a:spcPct val="115000"/>
              </a:lnSpc>
              <a:buNone/>
            </a:pPr>
            <a:r>
              <a:rPr lang="en-US" sz="1200" dirty="0">
                <a:solidFill>
                  <a:srgbClr val="91A0B7"/>
                </a:solidFill>
                <a:latin typeface="Calibri" pitchFamily="34" charset="0"/>
                <a:ea typeface="Calibri" pitchFamily="34" charset="-122"/>
                <a:cs typeface="Calibri" pitchFamily="34" charset="-120"/>
              </a:rPr>
              <a:t>Same total, cut by service. Charges exclude Marketplace purchases.</a:t>
            </a:r>
            <a:endParaRPr lang="en-US" sz="1200" dirty="0"/>
          </a:p>
        </p:txBody>
      </p:sp>
      <p:sp>
        <p:nvSpPr>
          <p:cNvPr id="7" name="Text 5"/>
          <p:cNvSpPr/>
          <p:nvPr/>
        </p:nvSpPr>
        <p:spPr>
          <a:xfrm>
            <a:off x="457200" y="1234440"/>
            <a:ext cx="7360920" cy="237744"/>
          </a:xfrm>
          <a:prstGeom prst="rect">
            <a:avLst/>
          </a:prstGeom>
          <a:noFill/>
          <a:ln/>
        </p:spPr>
        <p:txBody>
          <a:bodyPr wrap="square" lIns="0" tIns="0" rIns="0" bIns="0" rtlCol="0" anchor="ctr"/>
          <a:lstStyle/>
          <a:p>
            <a:pPr marL="0" indent="0">
              <a:buNone/>
            </a:pPr>
            <a:r>
              <a:rPr lang="en-US" sz="1500" b="1" dirty="0">
                <a:solidFill>
                  <a:srgbClr val="F4F7FB"/>
                </a:solidFill>
                <a:latin typeface="Calibri" pitchFamily="34" charset="0"/>
                <a:ea typeface="Calibri" pitchFamily="34" charset="-122"/>
                <a:cs typeface="Calibri" pitchFamily="34" charset="-120"/>
              </a:rPr>
              <a:t>Monthly spend by service</a:t>
            </a:r>
            <a:endParaRPr lang="en-US" sz="1500" dirty="0"/>
          </a:p>
        </p:txBody>
      </p:sp>
      <p:graphicFrame>
        <p:nvGraphicFramePr>
          <p:cNvPr id="8" name="Chart 0"/>
          <p:cNvGraphicFramePr/>
          <p:nvPr/>
        </p:nvGraphicFramePr>
        <p:xfrm>
          <a:off x="411480" y="1508760"/>
          <a:ext cx="736092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9" name="Shape 6"/>
          <p:cNvSpPr/>
          <p:nvPr/>
        </p:nvSpPr>
        <p:spPr>
          <a:xfrm>
            <a:off x="8092440" y="1234440"/>
            <a:ext cx="3642055" cy="1097280"/>
          </a:xfrm>
          <a:prstGeom prst="roundRect">
            <a:avLst>
              <a:gd name="adj" fmla="val 5000"/>
            </a:avLst>
          </a:prstGeom>
          <a:solidFill>
            <a:srgbClr val="121B2D"/>
          </a:solidFill>
          <a:ln w="12700">
            <a:solidFill>
              <a:srgbClr val="23304A"/>
            </a:solidFill>
            <a:prstDash val="solid"/>
          </a:ln>
        </p:spPr>
        <p:txBody>
          <a:bodyPr/>
          <a:lstStyle/>
          <a:p>
            <a:endParaRPr lang="he-IL"/>
          </a:p>
        </p:txBody>
      </p:sp>
      <p:sp>
        <p:nvSpPr>
          <p:cNvPr id="10" name="Text 7"/>
          <p:cNvSpPr/>
          <p:nvPr/>
        </p:nvSpPr>
        <p:spPr>
          <a:xfrm>
            <a:off x="8293608" y="1325880"/>
            <a:ext cx="3239719"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TOTAL, JAN-JUL</a:t>
            </a:r>
            <a:endParaRPr lang="en-US" sz="1200" dirty="0"/>
          </a:p>
        </p:txBody>
      </p:sp>
      <p:sp>
        <p:nvSpPr>
          <p:cNvPr id="11" name="Text 8"/>
          <p:cNvSpPr/>
          <p:nvPr/>
        </p:nvSpPr>
        <p:spPr>
          <a:xfrm>
            <a:off x="8293608" y="1527048"/>
            <a:ext cx="3239719"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$1.12M</a:t>
            </a:r>
            <a:endParaRPr lang="en-US" sz="2800" dirty="0"/>
          </a:p>
        </p:txBody>
      </p:sp>
      <p:sp>
        <p:nvSpPr>
          <p:cNvPr id="12" name="Text 9"/>
          <p:cNvSpPr/>
          <p:nvPr/>
        </p:nvSpPr>
        <p:spPr>
          <a:xfrm>
            <a:off x="8293608" y="1929384"/>
            <a:ext cx="3239719" cy="329184"/>
          </a:xfrm>
          <a:prstGeom prst="rect">
            <a:avLst/>
          </a:prstGeom>
          <a:noFill/>
          <a:ln/>
        </p:spPr>
        <p:txBody>
          <a:bodyPr wrap="square" lIns="0" tIns="0" rIns="0" bIns="0" rtlCol="0" anchor="t"/>
          <a:lstStyle/>
          <a:p>
            <a:pPr marL="0" indent="0">
              <a:lnSpc>
                <a:spcPct val="105000"/>
              </a:lnSpc>
              <a:buNone/>
            </a:pPr>
            <a:r>
              <a:rPr lang="en-US" sz="1200" b="1" dirty="0">
                <a:solidFill>
                  <a:srgbClr val="2F8CFF"/>
                </a:solidFill>
                <a:latin typeface="Calibri" pitchFamily="34" charset="0"/>
                <a:ea typeface="Calibri" pitchFamily="34" charset="-122"/>
                <a:cs typeface="Calibri" pitchFamily="34" charset="-120"/>
              </a:rPr>
              <a:t>+19% Jan to Jul</a:t>
            </a:r>
            <a:endParaRPr lang="en-US" sz="1200" dirty="0"/>
          </a:p>
        </p:txBody>
      </p:sp>
      <p:sp>
        <p:nvSpPr>
          <p:cNvPr id="13" name="Shape 10"/>
          <p:cNvSpPr/>
          <p:nvPr/>
        </p:nvSpPr>
        <p:spPr>
          <a:xfrm>
            <a:off x="8092440" y="2459736"/>
            <a:ext cx="3642055" cy="1097280"/>
          </a:xfrm>
          <a:prstGeom prst="roundRect">
            <a:avLst>
              <a:gd name="adj" fmla="val 5000"/>
            </a:avLst>
          </a:prstGeom>
          <a:solidFill>
            <a:srgbClr val="121B2D"/>
          </a:solidFill>
          <a:ln w="12700">
            <a:solidFill>
              <a:srgbClr val="23304A"/>
            </a:solidFill>
            <a:prstDash val="solid"/>
          </a:ln>
        </p:spPr>
        <p:txBody>
          <a:bodyPr/>
          <a:lstStyle/>
          <a:p>
            <a:endParaRPr lang="he-IL"/>
          </a:p>
        </p:txBody>
      </p:sp>
      <p:sp>
        <p:nvSpPr>
          <p:cNvPr id="14" name="Text 11"/>
          <p:cNvSpPr/>
          <p:nvPr/>
        </p:nvSpPr>
        <p:spPr>
          <a:xfrm>
            <a:off x="8293608" y="2551176"/>
            <a:ext cx="3239719"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LARGEST SERVICE</a:t>
            </a:r>
            <a:endParaRPr lang="en-US" sz="1200" dirty="0"/>
          </a:p>
        </p:txBody>
      </p:sp>
      <p:sp>
        <p:nvSpPr>
          <p:cNvPr id="15" name="Text 12"/>
          <p:cNvSpPr/>
          <p:nvPr/>
        </p:nvSpPr>
        <p:spPr>
          <a:xfrm>
            <a:off x="8293608" y="2752344"/>
            <a:ext cx="3239719" cy="438912"/>
          </a:xfrm>
          <a:prstGeom prst="rect">
            <a:avLst/>
          </a:prstGeom>
          <a:noFill/>
          <a:ln/>
        </p:spPr>
        <p:txBody>
          <a:bodyPr wrap="square" lIns="0" tIns="0" rIns="0" bIns="0" rtlCol="0" anchor="ctr"/>
          <a:lstStyle/>
          <a:p>
            <a:pPr marL="0" indent="0">
              <a:buNone/>
            </a:pPr>
            <a:r>
              <a:rPr lang="en-US" sz="2613" b="1" dirty="0">
                <a:solidFill>
                  <a:srgbClr val="F4F7FB"/>
                </a:solidFill>
                <a:latin typeface="Calibri" pitchFamily="34" charset="0"/>
                <a:ea typeface="Calibri" pitchFamily="34" charset="-122"/>
                <a:cs typeface="Calibri" pitchFamily="34" charset="-120"/>
              </a:rPr>
              <a:t>Virtual Machines</a:t>
            </a:r>
            <a:endParaRPr lang="en-US" sz="2613" dirty="0"/>
          </a:p>
        </p:txBody>
      </p:sp>
      <p:sp>
        <p:nvSpPr>
          <p:cNvPr id="16" name="Text 13"/>
          <p:cNvSpPr/>
          <p:nvPr/>
        </p:nvSpPr>
        <p:spPr>
          <a:xfrm>
            <a:off x="8293608" y="3154680"/>
            <a:ext cx="3239719" cy="329184"/>
          </a:xfrm>
          <a:prstGeom prst="rect">
            <a:avLst/>
          </a:prstGeom>
          <a:noFill/>
          <a:ln/>
        </p:spPr>
        <p:txBody>
          <a:bodyPr wrap="square" lIns="0" tIns="0" rIns="0" bIns="0" rtlCol="0" anchor="t"/>
          <a:lstStyle/>
          <a:p>
            <a:pPr marL="0" indent="0">
              <a:lnSpc>
                <a:spcPct val="105000"/>
              </a:lnSpc>
              <a:buNone/>
            </a:pPr>
            <a:r>
              <a:rPr lang="en-US" sz="1200" b="1" dirty="0">
                <a:solidFill>
                  <a:srgbClr val="3DD9EB"/>
                </a:solidFill>
                <a:latin typeface="Calibri" pitchFamily="34" charset="0"/>
                <a:ea typeface="Calibri" pitchFamily="34" charset="-122"/>
                <a:cs typeface="Calibri" pitchFamily="34" charset="-120"/>
              </a:rPr>
              <a:t>33% of the total</a:t>
            </a:r>
            <a:endParaRPr lang="en-US" sz="1200" dirty="0"/>
          </a:p>
        </p:txBody>
      </p:sp>
      <p:sp>
        <p:nvSpPr>
          <p:cNvPr id="17" name="Text 14"/>
          <p:cNvSpPr/>
          <p:nvPr/>
        </p:nvSpPr>
        <p:spPr>
          <a:xfrm>
            <a:off x="8110728" y="3822192"/>
            <a:ext cx="3605479" cy="219456"/>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WHAT MOVED</a:t>
            </a:r>
            <a:endParaRPr lang="en-US" sz="1200" dirty="0"/>
          </a:p>
        </p:txBody>
      </p:sp>
      <p:sp>
        <p:nvSpPr>
          <p:cNvPr id="18" name="Shape 15"/>
          <p:cNvSpPr/>
          <p:nvPr/>
        </p:nvSpPr>
        <p:spPr>
          <a:xfrm>
            <a:off x="8110728" y="4197096"/>
            <a:ext cx="64008" cy="64008"/>
          </a:xfrm>
          <a:prstGeom prst="rect">
            <a:avLst/>
          </a:prstGeom>
          <a:solidFill>
            <a:srgbClr val="2F8CFF"/>
          </a:solidFill>
          <a:ln w="12700">
            <a:solidFill>
              <a:srgbClr val="2F8CFF"/>
            </a:solidFill>
            <a:prstDash val="solid"/>
          </a:ln>
        </p:spPr>
        <p:txBody>
          <a:bodyPr/>
          <a:lstStyle/>
          <a:p>
            <a:endParaRPr lang="he-IL"/>
          </a:p>
        </p:txBody>
      </p:sp>
      <p:sp>
        <p:nvSpPr>
          <p:cNvPr id="19" name="Text 16"/>
          <p:cNvSpPr/>
          <p:nvPr/>
        </p:nvSpPr>
        <p:spPr>
          <a:xfrm>
            <a:off x="8284464" y="4114800"/>
            <a:ext cx="3431743" cy="365760"/>
          </a:xfrm>
          <a:prstGeom prst="rect">
            <a:avLst/>
          </a:prstGeom>
          <a:noFill/>
          <a:ln/>
        </p:spPr>
        <p:txBody>
          <a:bodyPr wrap="square" lIns="0" tIns="0" rIns="0" bIns="0" rtlCol="0" anchor="t"/>
          <a:lstStyle/>
          <a:p>
            <a:pPr marL="0" indent="0">
              <a:lnSpc>
                <a:spcPct val="110000"/>
              </a:lnSpc>
              <a:buNone/>
            </a:pPr>
            <a:r>
              <a:rPr lang="en-US" sz="1250" dirty="0">
                <a:solidFill>
                  <a:srgbClr val="F4F7FB"/>
                </a:solidFill>
                <a:latin typeface="Calibri" pitchFamily="34" charset="0"/>
                <a:ea typeface="Calibri" pitchFamily="34" charset="-122"/>
                <a:cs typeface="Calibri" pitchFamily="34" charset="-120"/>
              </a:rPr>
              <a:t>GitHub and Cowork drive most of the July step-up</a:t>
            </a:r>
            <a:endParaRPr lang="en-US" sz="1250" dirty="0"/>
          </a:p>
        </p:txBody>
      </p:sp>
      <p:sp>
        <p:nvSpPr>
          <p:cNvPr id="20" name="Shape 17"/>
          <p:cNvSpPr/>
          <p:nvPr/>
        </p:nvSpPr>
        <p:spPr>
          <a:xfrm>
            <a:off x="8110728" y="4764024"/>
            <a:ext cx="64008" cy="64008"/>
          </a:xfrm>
          <a:prstGeom prst="rect">
            <a:avLst/>
          </a:prstGeom>
          <a:solidFill>
            <a:srgbClr val="2F8CFF"/>
          </a:solidFill>
          <a:ln w="12700">
            <a:solidFill>
              <a:srgbClr val="2F8CFF"/>
            </a:solidFill>
            <a:prstDash val="solid"/>
          </a:ln>
        </p:spPr>
        <p:txBody>
          <a:bodyPr/>
          <a:lstStyle/>
          <a:p>
            <a:endParaRPr lang="he-IL"/>
          </a:p>
        </p:txBody>
      </p:sp>
      <p:sp>
        <p:nvSpPr>
          <p:cNvPr id="21" name="Text 18"/>
          <p:cNvSpPr/>
          <p:nvPr/>
        </p:nvSpPr>
        <p:spPr>
          <a:xfrm>
            <a:off x="8284464" y="4681728"/>
            <a:ext cx="3431743" cy="365760"/>
          </a:xfrm>
          <a:prstGeom prst="rect">
            <a:avLst/>
          </a:prstGeom>
          <a:noFill/>
          <a:ln/>
        </p:spPr>
        <p:txBody>
          <a:bodyPr wrap="square" lIns="0" tIns="0" rIns="0" bIns="0" rtlCol="0" anchor="t"/>
          <a:lstStyle/>
          <a:p>
            <a:pPr marL="0" indent="0">
              <a:lnSpc>
                <a:spcPct val="110000"/>
              </a:lnSpc>
              <a:buNone/>
            </a:pPr>
            <a:r>
              <a:rPr lang="en-US" sz="1250" dirty="0">
                <a:solidFill>
                  <a:srgbClr val="F4F7FB"/>
                </a:solidFill>
                <a:latin typeface="Calibri" pitchFamily="34" charset="0"/>
                <a:ea typeface="Calibri" pitchFamily="34" charset="-122"/>
                <a:cs typeface="Calibri" pitchFamily="34" charset="-120"/>
              </a:rPr>
              <a:t>Foundry Models and Foundry Tools rise every month from April</a:t>
            </a:r>
            <a:endParaRPr lang="en-US" sz="1250" dirty="0"/>
          </a:p>
        </p:txBody>
      </p:sp>
      <p:sp>
        <p:nvSpPr>
          <p:cNvPr id="22" name="Shape 19"/>
          <p:cNvSpPr/>
          <p:nvPr/>
        </p:nvSpPr>
        <p:spPr>
          <a:xfrm>
            <a:off x="8110728" y="5330952"/>
            <a:ext cx="64008" cy="64008"/>
          </a:xfrm>
          <a:prstGeom prst="rect">
            <a:avLst/>
          </a:prstGeom>
          <a:solidFill>
            <a:srgbClr val="2F8CFF"/>
          </a:solidFill>
          <a:ln w="12700">
            <a:solidFill>
              <a:srgbClr val="2F8CFF"/>
            </a:solidFill>
            <a:prstDash val="solid"/>
          </a:ln>
        </p:spPr>
        <p:txBody>
          <a:bodyPr/>
          <a:lstStyle/>
          <a:p>
            <a:endParaRPr lang="he-IL"/>
          </a:p>
        </p:txBody>
      </p:sp>
      <p:sp>
        <p:nvSpPr>
          <p:cNvPr id="23" name="Text 20"/>
          <p:cNvSpPr/>
          <p:nvPr/>
        </p:nvSpPr>
        <p:spPr>
          <a:xfrm>
            <a:off x="8284464" y="5248656"/>
            <a:ext cx="3431743" cy="365760"/>
          </a:xfrm>
          <a:prstGeom prst="rect">
            <a:avLst/>
          </a:prstGeom>
          <a:noFill/>
          <a:ln/>
        </p:spPr>
        <p:txBody>
          <a:bodyPr wrap="square" lIns="0" tIns="0" rIns="0" bIns="0" rtlCol="0" anchor="t"/>
          <a:lstStyle/>
          <a:p>
            <a:pPr marL="0" indent="0">
              <a:lnSpc>
                <a:spcPct val="110000"/>
              </a:lnSpc>
              <a:buNone/>
            </a:pPr>
            <a:r>
              <a:rPr lang="en-US" sz="1250" dirty="0">
                <a:solidFill>
                  <a:srgbClr val="F4F7FB"/>
                </a:solidFill>
                <a:latin typeface="Calibri" pitchFamily="34" charset="0"/>
                <a:ea typeface="Calibri" pitchFamily="34" charset="-122"/>
                <a:cs typeface="Calibri" pitchFamily="34" charset="-120"/>
              </a:rPr>
              <a:t>Virtual Network, Log Analytics and Sentinel add to the base</a:t>
            </a:r>
            <a:endParaRPr lang="en-US" sz="12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2">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txBody>
          <a:bodyPr/>
          <a:lstStyle/>
          <a:p>
            <a:endParaRPr lang="he-IL"/>
          </a:p>
        </p:txBody>
      </p:sp>
      <p:sp>
        <p:nvSpPr>
          <p:cNvPr id="3" name="Shape 1"/>
          <p:cNvSpPr/>
          <p:nvPr/>
        </p:nvSpPr>
        <p:spPr>
          <a:xfrm>
            <a:off x="457200" y="306324"/>
            <a:ext cx="109728" cy="109728"/>
          </a:xfrm>
          <a:prstGeom prst="ellipse">
            <a:avLst/>
          </a:prstGeom>
          <a:solidFill>
            <a:srgbClr val="2F8CFF"/>
          </a:solidFill>
          <a:ln w="12700">
            <a:solidFill>
              <a:srgbClr val="2F8CFF"/>
            </a:solidFill>
            <a:prstDash val="solid"/>
          </a:ln>
        </p:spPr>
        <p:txBody>
          <a:bodyPr/>
          <a:lstStyle/>
          <a:p>
            <a:endParaRPr lang="he-IL"/>
          </a:p>
        </p:txBody>
      </p:sp>
      <p:sp>
        <p:nvSpPr>
          <p:cNvPr id="4" name="Text 2"/>
          <p:cNvSpPr/>
          <p:nvPr/>
        </p:nvSpPr>
        <p:spPr>
          <a:xfrm>
            <a:off x="640080" y="274320"/>
            <a:ext cx="7315200" cy="237744"/>
          </a:xfrm>
          <a:prstGeom prst="rect">
            <a:avLst/>
          </a:prstGeom>
          <a:noFill/>
          <a:ln/>
        </p:spPr>
        <p:txBody>
          <a:bodyPr wrap="square" lIns="0" tIns="0" rIns="0" bIns="0" rtlCol="0" anchor="ctr"/>
          <a:lstStyle/>
          <a:p>
            <a:pPr marL="0" indent="0">
              <a:buNone/>
            </a:pPr>
            <a:r>
              <a:rPr lang="en-US" sz="1300" b="1" kern="0" spc="200" dirty="0">
                <a:solidFill>
                  <a:srgbClr val="2F8CFF"/>
                </a:solidFill>
                <a:latin typeface="Calibri" pitchFamily="34" charset="0"/>
                <a:ea typeface="Calibri" pitchFamily="34" charset="-122"/>
                <a:cs typeface="Calibri" pitchFamily="34" charset="-120"/>
              </a:rPr>
              <a:t>AZURE / DATACLOUD</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Cost centre: DataCloud</a:t>
            </a:r>
            <a:endParaRPr lang="en-US" sz="2800" dirty="0"/>
          </a:p>
        </p:txBody>
      </p:sp>
      <p:sp>
        <p:nvSpPr>
          <p:cNvPr id="6" name="Text 4"/>
          <p:cNvSpPr/>
          <p:nvPr/>
        </p:nvSpPr>
        <p:spPr>
          <a:xfrm>
            <a:off x="8321040" y="493776"/>
            <a:ext cx="3413455" cy="658368"/>
          </a:xfrm>
          <a:prstGeom prst="rect">
            <a:avLst/>
          </a:prstGeom>
          <a:noFill/>
          <a:ln/>
        </p:spPr>
        <p:txBody>
          <a:bodyPr wrap="square" lIns="0" tIns="0" rIns="0" bIns="0" rtlCol="0" anchor="t"/>
          <a:lstStyle/>
          <a:p>
            <a:pPr marL="0" indent="0" algn="r">
              <a:lnSpc>
                <a:spcPct val="115000"/>
              </a:lnSpc>
              <a:buNone/>
            </a:pPr>
            <a:r>
              <a:rPr lang="en-US" sz="1200" dirty="0">
                <a:solidFill>
                  <a:srgbClr val="91A0B7"/>
                </a:solidFill>
                <a:latin typeface="Calibri" pitchFamily="34" charset="0"/>
                <a:ea typeface="Calibri" pitchFamily="34" charset="-122"/>
                <a:cs typeface="Calibri" pitchFamily="34" charset="-120"/>
              </a:rPr>
              <a:t>The largest Azure cost centre, by service and by subscription.</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marL="0" indent="0">
              <a:lnSpc>
                <a:spcPct val="115000"/>
              </a:lnSpc>
              <a:buNone/>
            </a:pPr>
            <a:r>
              <a:rPr lang="en-US" sz="1200" dirty="0">
                <a:solidFill>
                  <a:srgbClr val="536078"/>
                </a:solidFill>
                <a:latin typeface="Calibri" pitchFamily="34" charset="0"/>
                <a:ea typeface="Calibri" pitchFamily="34" charset="-122"/>
                <a:cs typeface="Calibri" pitchFamily="34" charset="-120"/>
              </a:rPr>
              <a:t>Databricks drops to zero from May. That is the reserved capacity purchase taking over, not a workload stopping. Foundry Models and Foundry Tools take its place as the growth line.</a:t>
            </a:r>
            <a:endParaRPr lang="en-US" sz="1200" dirty="0"/>
          </a:p>
        </p:txBody>
      </p:sp>
      <p:sp>
        <p:nvSpPr>
          <p:cNvPr id="8" name="Shape 6"/>
          <p:cNvSpPr/>
          <p:nvPr/>
        </p:nvSpPr>
        <p:spPr>
          <a:xfrm>
            <a:off x="457200" y="1188720"/>
            <a:ext cx="3606698" cy="1078992"/>
          </a:xfrm>
          <a:prstGeom prst="roundRect">
            <a:avLst>
              <a:gd name="adj" fmla="val 5085"/>
            </a:avLst>
          </a:prstGeom>
          <a:solidFill>
            <a:srgbClr val="121B2D"/>
          </a:solidFill>
          <a:ln w="12700">
            <a:solidFill>
              <a:srgbClr val="23304A"/>
            </a:solidFill>
            <a:prstDash val="solid"/>
          </a:ln>
        </p:spPr>
        <p:txBody>
          <a:bodyPr/>
          <a:lstStyle/>
          <a:p>
            <a:endParaRPr lang="he-IL"/>
          </a:p>
        </p:txBody>
      </p:sp>
      <p:sp>
        <p:nvSpPr>
          <p:cNvPr id="9" name="Text 7"/>
          <p:cNvSpPr/>
          <p:nvPr/>
        </p:nvSpPr>
        <p:spPr>
          <a:xfrm>
            <a:off x="658368" y="1280160"/>
            <a:ext cx="3204362"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TOTAL, JAN-JUL</a:t>
            </a:r>
            <a:endParaRPr lang="en-US" sz="1200" dirty="0"/>
          </a:p>
        </p:txBody>
      </p:sp>
      <p:sp>
        <p:nvSpPr>
          <p:cNvPr id="10" name="Text 8"/>
          <p:cNvSpPr/>
          <p:nvPr/>
        </p:nvSpPr>
        <p:spPr>
          <a:xfrm>
            <a:off x="658368" y="1481328"/>
            <a:ext cx="3204362"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$339K</a:t>
            </a:r>
            <a:endParaRPr lang="en-US" sz="2800" dirty="0"/>
          </a:p>
        </p:txBody>
      </p:sp>
      <p:sp>
        <p:nvSpPr>
          <p:cNvPr id="11" name="Text 9"/>
          <p:cNvSpPr/>
          <p:nvPr/>
        </p:nvSpPr>
        <p:spPr>
          <a:xfrm>
            <a:off x="658368" y="1883664"/>
            <a:ext cx="3204362" cy="329184"/>
          </a:xfrm>
          <a:prstGeom prst="rect">
            <a:avLst/>
          </a:prstGeom>
          <a:noFill/>
          <a:ln/>
        </p:spPr>
        <p:txBody>
          <a:bodyPr wrap="square" lIns="0" tIns="0" rIns="0" bIns="0" rtlCol="0" anchor="t"/>
          <a:lstStyle/>
          <a:p>
            <a:pPr marL="0" indent="0">
              <a:lnSpc>
                <a:spcPct val="105000"/>
              </a:lnSpc>
              <a:buNone/>
            </a:pPr>
            <a:r>
              <a:rPr lang="en-US" sz="1200" b="1" dirty="0">
                <a:solidFill>
                  <a:srgbClr val="2F8CFF"/>
                </a:solidFill>
                <a:latin typeface="Calibri" pitchFamily="34" charset="0"/>
                <a:ea typeface="Calibri" pitchFamily="34" charset="-122"/>
                <a:cs typeface="Calibri" pitchFamily="34" charset="-120"/>
              </a:rPr>
              <a:t>+3% Jan to Jul</a:t>
            </a:r>
            <a:endParaRPr lang="en-US" sz="1200" dirty="0"/>
          </a:p>
        </p:txBody>
      </p:sp>
      <p:sp>
        <p:nvSpPr>
          <p:cNvPr id="12" name="Shape 10"/>
          <p:cNvSpPr/>
          <p:nvPr/>
        </p:nvSpPr>
        <p:spPr>
          <a:xfrm>
            <a:off x="4292498" y="1188720"/>
            <a:ext cx="3606698" cy="1078992"/>
          </a:xfrm>
          <a:prstGeom prst="roundRect">
            <a:avLst>
              <a:gd name="adj" fmla="val 5085"/>
            </a:avLst>
          </a:prstGeom>
          <a:solidFill>
            <a:srgbClr val="121B2D"/>
          </a:solidFill>
          <a:ln w="12700">
            <a:solidFill>
              <a:srgbClr val="23304A"/>
            </a:solidFill>
            <a:prstDash val="solid"/>
          </a:ln>
        </p:spPr>
        <p:txBody>
          <a:bodyPr/>
          <a:lstStyle/>
          <a:p>
            <a:endParaRPr lang="he-IL"/>
          </a:p>
        </p:txBody>
      </p:sp>
      <p:sp>
        <p:nvSpPr>
          <p:cNvPr id="13" name="Text 11"/>
          <p:cNvSpPr/>
          <p:nvPr/>
        </p:nvSpPr>
        <p:spPr>
          <a:xfrm>
            <a:off x="4493666" y="1280160"/>
            <a:ext cx="3204362"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LARGEST SUBSCRIPTION</a:t>
            </a:r>
            <a:endParaRPr lang="en-US" sz="1200" dirty="0"/>
          </a:p>
        </p:txBody>
      </p:sp>
      <p:sp>
        <p:nvSpPr>
          <p:cNvPr id="14" name="Text 12"/>
          <p:cNvSpPr/>
          <p:nvPr/>
        </p:nvSpPr>
        <p:spPr>
          <a:xfrm>
            <a:off x="4493666" y="1481328"/>
            <a:ext cx="3204362"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DataCloud prod</a:t>
            </a:r>
            <a:endParaRPr lang="en-US" sz="2800" dirty="0"/>
          </a:p>
        </p:txBody>
      </p:sp>
      <p:sp>
        <p:nvSpPr>
          <p:cNvPr id="15" name="Text 13"/>
          <p:cNvSpPr/>
          <p:nvPr/>
        </p:nvSpPr>
        <p:spPr>
          <a:xfrm>
            <a:off x="4493666" y="1883664"/>
            <a:ext cx="3204362" cy="329184"/>
          </a:xfrm>
          <a:prstGeom prst="rect">
            <a:avLst/>
          </a:prstGeom>
          <a:noFill/>
          <a:ln/>
        </p:spPr>
        <p:txBody>
          <a:bodyPr wrap="square" lIns="0" tIns="0" rIns="0" bIns="0" rtlCol="0" anchor="t"/>
          <a:lstStyle/>
          <a:p>
            <a:pPr marL="0" indent="0">
              <a:lnSpc>
                <a:spcPct val="105000"/>
              </a:lnSpc>
              <a:buNone/>
            </a:pPr>
            <a:r>
              <a:rPr lang="en-US" sz="1200" b="1" dirty="0">
                <a:solidFill>
                  <a:srgbClr val="3DD9EB"/>
                </a:solidFill>
                <a:latin typeface="Calibri" pitchFamily="34" charset="0"/>
                <a:ea typeface="Calibri" pitchFamily="34" charset="-122"/>
                <a:cs typeface="Calibri" pitchFamily="34" charset="-120"/>
              </a:rPr>
              <a:t>80% of the total</a:t>
            </a:r>
            <a:endParaRPr lang="en-US" sz="1200" dirty="0"/>
          </a:p>
        </p:txBody>
      </p:sp>
      <p:sp>
        <p:nvSpPr>
          <p:cNvPr id="16" name="Shape 14"/>
          <p:cNvSpPr/>
          <p:nvPr/>
        </p:nvSpPr>
        <p:spPr>
          <a:xfrm>
            <a:off x="8127797" y="1188720"/>
            <a:ext cx="3606698" cy="1078992"/>
          </a:xfrm>
          <a:prstGeom prst="roundRect">
            <a:avLst>
              <a:gd name="adj" fmla="val 5085"/>
            </a:avLst>
          </a:prstGeom>
          <a:solidFill>
            <a:srgbClr val="121B2D"/>
          </a:solidFill>
          <a:ln w="12700">
            <a:solidFill>
              <a:srgbClr val="23304A"/>
            </a:solidFill>
            <a:prstDash val="solid"/>
          </a:ln>
        </p:spPr>
        <p:txBody>
          <a:bodyPr/>
          <a:lstStyle/>
          <a:p>
            <a:endParaRPr lang="he-IL"/>
          </a:p>
        </p:txBody>
      </p:sp>
      <p:sp>
        <p:nvSpPr>
          <p:cNvPr id="17" name="Text 15"/>
          <p:cNvSpPr/>
          <p:nvPr/>
        </p:nvSpPr>
        <p:spPr>
          <a:xfrm>
            <a:off x="8328965" y="1280160"/>
            <a:ext cx="3204362"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LARGEST SERVICE</a:t>
            </a:r>
            <a:endParaRPr lang="en-US" sz="1200" dirty="0"/>
          </a:p>
        </p:txBody>
      </p:sp>
      <p:sp>
        <p:nvSpPr>
          <p:cNvPr id="18" name="Text 16"/>
          <p:cNvSpPr/>
          <p:nvPr/>
        </p:nvSpPr>
        <p:spPr>
          <a:xfrm>
            <a:off x="8328965" y="1481328"/>
            <a:ext cx="3204362" cy="438912"/>
          </a:xfrm>
          <a:prstGeom prst="rect">
            <a:avLst/>
          </a:prstGeom>
          <a:noFill/>
          <a:ln/>
        </p:spPr>
        <p:txBody>
          <a:bodyPr wrap="square" lIns="0" tIns="0" rIns="0" bIns="0" rtlCol="0" anchor="ctr"/>
          <a:lstStyle/>
          <a:p>
            <a:pPr marL="0" indent="0">
              <a:buNone/>
            </a:pPr>
            <a:r>
              <a:rPr lang="en-US" sz="2584" b="1" dirty="0">
                <a:solidFill>
                  <a:srgbClr val="F4F7FB"/>
                </a:solidFill>
                <a:latin typeface="Calibri" pitchFamily="34" charset="0"/>
                <a:ea typeface="Calibri" pitchFamily="34" charset="-122"/>
                <a:cs typeface="Calibri" pitchFamily="34" charset="-120"/>
              </a:rPr>
              <a:t>Virtual Machines</a:t>
            </a:r>
            <a:endParaRPr lang="en-US" sz="2584" dirty="0"/>
          </a:p>
        </p:txBody>
      </p:sp>
      <p:sp>
        <p:nvSpPr>
          <p:cNvPr id="19" name="Text 17"/>
          <p:cNvSpPr/>
          <p:nvPr/>
        </p:nvSpPr>
        <p:spPr>
          <a:xfrm>
            <a:off x="8328965" y="1883664"/>
            <a:ext cx="3204362" cy="329184"/>
          </a:xfrm>
          <a:prstGeom prst="rect">
            <a:avLst/>
          </a:prstGeom>
          <a:noFill/>
          <a:ln/>
        </p:spPr>
        <p:txBody>
          <a:bodyPr wrap="square" lIns="0" tIns="0" rIns="0" bIns="0" rtlCol="0" anchor="t"/>
          <a:lstStyle/>
          <a:p>
            <a:pPr marL="0" indent="0">
              <a:lnSpc>
                <a:spcPct val="105000"/>
              </a:lnSpc>
              <a:buNone/>
            </a:pPr>
            <a:r>
              <a:rPr lang="en-US" sz="1200" b="1" dirty="0">
                <a:solidFill>
                  <a:srgbClr val="3DD9EB"/>
                </a:solidFill>
                <a:latin typeface="Calibri" pitchFamily="34" charset="0"/>
                <a:ea typeface="Calibri" pitchFamily="34" charset="-122"/>
                <a:cs typeface="Calibri" pitchFamily="34" charset="-120"/>
              </a:rPr>
              <a:t>20% of the total</a:t>
            </a:r>
            <a:endParaRPr lang="en-US" sz="1200" dirty="0"/>
          </a:p>
        </p:txBody>
      </p:sp>
      <p:sp>
        <p:nvSpPr>
          <p:cNvPr id="20" name="Text 18"/>
          <p:cNvSpPr/>
          <p:nvPr/>
        </p:nvSpPr>
        <p:spPr>
          <a:xfrm>
            <a:off x="457200" y="2423160"/>
            <a:ext cx="5478628" cy="237744"/>
          </a:xfrm>
          <a:prstGeom prst="rect">
            <a:avLst/>
          </a:prstGeom>
          <a:noFill/>
          <a:ln/>
        </p:spPr>
        <p:txBody>
          <a:bodyPr wrap="square" lIns="0" tIns="0" rIns="0" bIns="0" rtlCol="0" anchor="ctr"/>
          <a:lstStyle/>
          <a:p>
            <a:pPr marL="0" indent="0">
              <a:buNone/>
            </a:pPr>
            <a:r>
              <a:rPr lang="en-US" sz="1500" b="1" dirty="0">
                <a:solidFill>
                  <a:srgbClr val="F4F7FB"/>
                </a:solidFill>
                <a:latin typeface="Calibri" pitchFamily="34" charset="0"/>
                <a:ea typeface="Calibri" pitchFamily="34" charset="-122"/>
                <a:cs typeface="Calibri" pitchFamily="34" charset="-120"/>
              </a:rPr>
              <a:t>By service</a:t>
            </a:r>
            <a:endParaRPr lang="en-US" sz="1500" dirty="0"/>
          </a:p>
        </p:txBody>
      </p:sp>
      <p:graphicFrame>
        <p:nvGraphicFramePr>
          <p:cNvPr id="21" name="Chart 0"/>
          <p:cNvGraphicFramePr/>
          <p:nvPr/>
        </p:nvGraphicFramePr>
        <p:xfrm>
          <a:off x="411480" y="2697480"/>
          <a:ext cx="5478628" cy="3337560"/>
        </p:xfrm>
        <a:graphic>
          <a:graphicData uri="http://schemas.openxmlformats.org/drawingml/2006/chart">
            <c:chart xmlns:c="http://schemas.openxmlformats.org/drawingml/2006/chart" xmlns:r="http://schemas.openxmlformats.org/officeDocument/2006/relationships" r:id="rId3"/>
          </a:graphicData>
        </a:graphic>
      </p:graphicFrame>
      <p:sp>
        <p:nvSpPr>
          <p:cNvPr id="22" name="Text 19"/>
          <p:cNvSpPr/>
          <p:nvPr/>
        </p:nvSpPr>
        <p:spPr>
          <a:xfrm>
            <a:off x="6255868" y="2423160"/>
            <a:ext cx="5478628" cy="237744"/>
          </a:xfrm>
          <a:prstGeom prst="rect">
            <a:avLst/>
          </a:prstGeom>
          <a:noFill/>
          <a:ln/>
        </p:spPr>
        <p:txBody>
          <a:bodyPr wrap="square" lIns="0" tIns="0" rIns="0" bIns="0" rtlCol="0" anchor="ctr"/>
          <a:lstStyle/>
          <a:p>
            <a:pPr marL="0" indent="0">
              <a:buNone/>
            </a:pPr>
            <a:r>
              <a:rPr lang="en-US" sz="1500" b="1" dirty="0">
                <a:solidFill>
                  <a:srgbClr val="F4F7FB"/>
                </a:solidFill>
                <a:latin typeface="Calibri" pitchFamily="34" charset="0"/>
                <a:ea typeface="Calibri" pitchFamily="34" charset="-122"/>
                <a:cs typeface="Calibri" pitchFamily="34" charset="-120"/>
              </a:rPr>
              <a:t>By subscription</a:t>
            </a:r>
            <a:endParaRPr lang="en-US" sz="1500" dirty="0"/>
          </a:p>
        </p:txBody>
      </p:sp>
      <p:graphicFrame>
        <p:nvGraphicFramePr>
          <p:cNvPr id="23" name="Chart 1"/>
          <p:cNvGraphicFramePr/>
          <p:nvPr/>
        </p:nvGraphicFramePr>
        <p:xfrm>
          <a:off x="6210148" y="2697480"/>
          <a:ext cx="5478628" cy="333756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3">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txBody>
          <a:bodyPr/>
          <a:lstStyle/>
          <a:p>
            <a:endParaRPr lang="he-IL"/>
          </a:p>
        </p:txBody>
      </p:sp>
      <p:sp>
        <p:nvSpPr>
          <p:cNvPr id="3" name="Shape 1"/>
          <p:cNvSpPr/>
          <p:nvPr/>
        </p:nvSpPr>
        <p:spPr>
          <a:xfrm>
            <a:off x="457200" y="306324"/>
            <a:ext cx="109728" cy="109728"/>
          </a:xfrm>
          <a:prstGeom prst="ellipse">
            <a:avLst/>
          </a:prstGeom>
          <a:solidFill>
            <a:srgbClr val="2F8CFF"/>
          </a:solidFill>
          <a:ln w="12700">
            <a:solidFill>
              <a:srgbClr val="2F8CFF"/>
            </a:solidFill>
            <a:prstDash val="solid"/>
          </a:ln>
        </p:spPr>
        <p:txBody>
          <a:bodyPr/>
          <a:lstStyle/>
          <a:p>
            <a:endParaRPr lang="he-IL"/>
          </a:p>
        </p:txBody>
      </p:sp>
      <p:sp>
        <p:nvSpPr>
          <p:cNvPr id="4" name="Text 2"/>
          <p:cNvSpPr/>
          <p:nvPr/>
        </p:nvSpPr>
        <p:spPr>
          <a:xfrm>
            <a:off x="640080" y="274320"/>
            <a:ext cx="7315200" cy="237744"/>
          </a:xfrm>
          <a:prstGeom prst="rect">
            <a:avLst/>
          </a:prstGeom>
          <a:noFill/>
          <a:ln/>
        </p:spPr>
        <p:txBody>
          <a:bodyPr wrap="square" lIns="0" tIns="0" rIns="0" bIns="0" rtlCol="0" anchor="ctr"/>
          <a:lstStyle/>
          <a:p>
            <a:pPr marL="0" indent="0">
              <a:buNone/>
            </a:pPr>
            <a:r>
              <a:rPr lang="en-US" sz="1300" b="1" kern="0" spc="200" dirty="0">
                <a:solidFill>
                  <a:srgbClr val="2F8CFF"/>
                </a:solidFill>
                <a:latin typeface="Calibri" pitchFamily="34" charset="0"/>
                <a:ea typeface="Calibri" pitchFamily="34" charset="-122"/>
                <a:cs typeface="Calibri" pitchFamily="34" charset="-120"/>
              </a:rPr>
              <a:t>AZURE / SAP</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Cost centre: SAP</a:t>
            </a:r>
            <a:endParaRPr lang="en-US" sz="2800" dirty="0"/>
          </a:p>
        </p:txBody>
      </p:sp>
      <p:sp>
        <p:nvSpPr>
          <p:cNvPr id="6" name="Text 4"/>
          <p:cNvSpPr/>
          <p:nvPr/>
        </p:nvSpPr>
        <p:spPr>
          <a:xfrm>
            <a:off x="8321040" y="493776"/>
            <a:ext cx="3413455" cy="658368"/>
          </a:xfrm>
          <a:prstGeom prst="rect">
            <a:avLst/>
          </a:prstGeom>
          <a:noFill/>
          <a:ln/>
        </p:spPr>
        <p:txBody>
          <a:bodyPr wrap="square" lIns="0" tIns="0" rIns="0" bIns="0" rtlCol="0" anchor="t"/>
          <a:lstStyle/>
          <a:p>
            <a:pPr marL="0" indent="0" algn="r">
              <a:lnSpc>
                <a:spcPct val="115000"/>
              </a:lnSpc>
              <a:buNone/>
            </a:pPr>
            <a:r>
              <a:rPr lang="en-US" sz="1200" dirty="0">
                <a:solidFill>
                  <a:srgbClr val="91A0B7"/>
                </a:solidFill>
                <a:latin typeface="Calibri" pitchFamily="34" charset="0"/>
                <a:ea typeface="Calibri" pitchFamily="34" charset="-122"/>
                <a:cs typeface="Calibri" pitchFamily="34" charset="-120"/>
              </a:rPr>
              <a:t>The most stable large workload in the estate, and the best candidate for reservations.</a:t>
            </a:r>
            <a:endParaRPr lang="en-US" sz="1200" dirty="0"/>
          </a:p>
        </p:txBody>
      </p:sp>
      <p:sp>
        <p:nvSpPr>
          <p:cNvPr id="7" name="Text 5"/>
          <p:cNvSpPr/>
          <p:nvPr/>
        </p:nvSpPr>
        <p:spPr>
          <a:xfrm>
            <a:off x="457200" y="6345936"/>
            <a:ext cx="11277295" cy="402336"/>
          </a:xfrm>
          <a:prstGeom prst="rect">
            <a:avLst/>
          </a:prstGeom>
          <a:noFill/>
          <a:ln/>
        </p:spPr>
        <p:txBody>
          <a:bodyPr wrap="square" lIns="0" tIns="0" rIns="0" bIns="0" rtlCol="0" anchor="t"/>
          <a:lstStyle/>
          <a:p>
            <a:pPr marL="0" indent="0">
              <a:lnSpc>
                <a:spcPct val="115000"/>
              </a:lnSpc>
              <a:buNone/>
            </a:pPr>
            <a:r>
              <a:rPr lang="en-US" sz="1200" dirty="0">
                <a:solidFill>
                  <a:srgbClr val="536078"/>
                </a:solidFill>
                <a:latin typeface="Calibri" pitchFamily="34" charset="0"/>
                <a:ea typeface="Calibri" pitchFamily="34" charset="-122"/>
                <a:cs typeface="Calibri" pitchFamily="34" charset="-120"/>
              </a:rPr>
              <a:t>Dev/Test costs more than Production every month of the period. Virtual machines are roughly three quarters of the bill and barely vary, a flat and reservable profile.</a:t>
            </a:r>
            <a:endParaRPr lang="en-US" sz="1200" dirty="0"/>
          </a:p>
        </p:txBody>
      </p:sp>
      <p:sp>
        <p:nvSpPr>
          <p:cNvPr id="8" name="Shape 6"/>
          <p:cNvSpPr/>
          <p:nvPr/>
        </p:nvSpPr>
        <p:spPr>
          <a:xfrm>
            <a:off x="457200" y="1188720"/>
            <a:ext cx="3606698" cy="1078992"/>
          </a:xfrm>
          <a:prstGeom prst="roundRect">
            <a:avLst>
              <a:gd name="adj" fmla="val 5085"/>
            </a:avLst>
          </a:prstGeom>
          <a:solidFill>
            <a:srgbClr val="121B2D"/>
          </a:solidFill>
          <a:ln w="12700">
            <a:solidFill>
              <a:srgbClr val="23304A"/>
            </a:solidFill>
            <a:prstDash val="solid"/>
          </a:ln>
        </p:spPr>
        <p:txBody>
          <a:bodyPr/>
          <a:lstStyle/>
          <a:p>
            <a:endParaRPr lang="he-IL"/>
          </a:p>
        </p:txBody>
      </p:sp>
      <p:sp>
        <p:nvSpPr>
          <p:cNvPr id="9" name="Text 7"/>
          <p:cNvSpPr/>
          <p:nvPr/>
        </p:nvSpPr>
        <p:spPr>
          <a:xfrm>
            <a:off x="658368" y="1280160"/>
            <a:ext cx="3204362"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TOTAL, JAN-JUL</a:t>
            </a:r>
            <a:endParaRPr lang="en-US" sz="1200" dirty="0"/>
          </a:p>
        </p:txBody>
      </p:sp>
      <p:sp>
        <p:nvSpPr>
          <p:cNvPr id="10" name="Text 8"/>
          <p:cNvSpPr/>
          <p:nvPr/>
        </p:nvSpPr>
        <p:spPr>
          <a:xfrm>
            <a:off x="658368" y="1481328"/>
            <a:ext cx="3204362"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$294K</a:t>
            </a:r>
            <a:endParaRPr lang="en-US" sz="2800" dirty="0"/>
          </a:p>
        </p:txBody>
      </p:sp>
      <p:sp>
        <p:nvSpPr>
          <p:cNvPr id="11" name="Text 9"/>
          <p:cNvSpPr/>
          <p:nvPr/>
        </p:nvSpPr>
        <p:spPr>
          <a:xfrm>
            <a:off x="658368" y="1883664"/>
            <a:ext cx="3204362" cy="329184"/>
          </a:xfrm>
          <a:prstGeom prst="rect">
            <a:avLst/>
          </a:prstGeom>
          <a:noFill/>
          <a:ln/>
        </p:spPr>
        <p:txBody>
          <a:bodyPr wrap="square" lIns="0" tIns="0" rIns="0" bIns="0" rtlCol="0" anchor="t"/>
          <a:lstStyle/>
          <a:p>
            <a:pPr marL="0" indent="0">
              <a:lnSpc>
                <a:spcPct val="105000"/>
              </a:lnSpc>
              <a:buNone/>
            </a:pPr>
            <a:r>
              <a:rPr lang="en-US" sz="1200" b="1" dirty="0">
                <a:solidFill>
                  <a:srgbClr val="2F8CFF"/>
                </a:solidFill>
                <a:latin typeface="Calibri" pitchFamily="34" charset="0"/>
                <a:ea typeface="Calibri" pitchFamily="34" charset="-122"/>
                <a:cs typeface="Calibri" pitchFamily="34" charset="-120"/>
              </a:rPr>
              <a:t>-3% Jan to Jul</a:t>
            </a:r>
            <a:endParaRPr lang="en-US" sz="1200" dirty="0"/>
          </a:p>
        </p:txBody>
      </p:sp>
      <p:sp>
        <p:nvSpPr>
          <p:cNvPr id="12" name="Shape 10"/>
          <p:cNvSpPr/>
          <p:nvPr/>
        </p:nvSpPr>
        <p:spPr>
          <a:xfrm>
            <a:off x="4292498" y="1188720"/>
            <a:ext cx="3606698" cy="1078992"/>
          </a:xfrm>
          <a:prstGeom prst="roundRect">
            <a:avLst>
              <a:gd name="adj" fmla="val 5085"/>
            </a:avLst>
          </a:prstGeom>
          <a:solidFill>
            <a:srgbClr val="121B2D"/>
          </a:solidFill>
          <a:ln w="12700">
            <a:solidFill>
              <a:srgbClr val="23304A"/>
            </a:solidFill>
            <a:prstDash val="solid"/>
          </a:ln>
        </p:spPr>
        <p:txBody>
          <a:bodyPr/>
          <a:lstStyle/>
          <a:p>
            <a:endParaRPr lang="he-IL"/>
          </a:p>
        </p:txBody>
      </p:sp>
      <p:sp>
        <p:nvSpPr>
          <p:cNvPr id="13" name="Text 11"/>
          <p:cNvSpPr/>
          <p:nvPr/>
        </p:nvSpPr>
        <p:spPr>
          <a:xfrm>
            <a:off x="4493666" y="1280160"/>
            <a:ext cx="3204362"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LARGEST SUBSCRIPTION</a:t>
            </a:r>
            <a:endParaRPr lang="en-US" sz="1200" dirty="0"/>
          </a:p>
        </p:txBody>
      </p:sp>
      <p:sp>
        <p:nvSpPr>
          <p:cNvPr id="14" name="Text 12"/>
          <p:cNvSpPr/>
          <p:nvPr/>
        </p:nvSpPr>
        <p:spPr>
          <a:xfrm>
            <a:off x="4493666" y="1481328"/>
            <a:ext cx="3204362"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SAP Dev/Test</a:t>
            </a:r>
            <a:endParaRPr lang="en-US" sz="2800" dirty="0"/>
          </a:p>
        </p:txBody>
      </p:sp>
      <p:sp>
        <p:nvSpPr>
          <p:cNvPr id="15" name="Text 13"/>
          <p:cNvSpPr/>
          <p:nvPr/>
        </p:nvSpPr>
        <p:spPr>
          <a:xfrm>
            <a:off x="4493666" y="1883664"/>
            <a:ext cx="3204362" cy="329184"/>
          </a:xfrm>
          <a:prstGeom prst="rect">
            <a:avLst/>
          </a:prstGeom>
          <a:noFill/>
          <a:ln/>
        </p:spPr>
        <p:txBody>
          <a:bodyPr wrap="square" lIns="0" tIns="0" rIns="0" bIns="0" rtlCol="0" anchor="t"/>
          <a:lstStyle/>
          <a:p>
            <a:pPr marL="0" indent="0">
              <a:lnSpc>
                <a:spcPct val="105000"/>
              </a:lnSpc>
              <a:buNone/>
            </a:pPr>
            <a:r>
              <a:rPr lang="en-US" sz="1200" b="1" dirty="0">
                <a:solidFill>
                  <a:srgbClr val="3DD9EB"/>
                </a:solidFill>
                <a:latin typeface="Calibri" pitchFamily="34" charset="0"/>
                <a:ea typeface="Calibri" pitchFamily="34" charset="-122"/>
                <a:cs typeface="Calibri" pitchFamily="34" charset="-120"/>
              </a:rPr>
              <a:t>57% of the total</a:t>
            </a:r>
            <a:endParaRPr lang="en-US" sz="1200" dirty="0"/>
          </a:p>
        </p:txBody>
      </p:sp>
      <p:sp>
        <p:nvSpPr>
          <p:cNvPr id="16" name="Shape 14"/>
          <p:cNvSpPr/>
          <p:nvPr/>
        </p:nvSpPr>
        <p:spPr>
          <a:xfrm>
            <a:off x="8127797" y="1188720"/>
            <a:ext cx="3606698" cy="1078992"/>
          </a:xfrm>
          <a:prstGeom prst="roundRect">
            <a:avLst>
              <a:gd name="adj" fmla="val 5085"/>
            </a:avLst>
          </a:prstGeom>
          <a:solidFill>
            <a:srgbClr val="121B2D"/>
          </a:solidFill>
          <a:ln w="12700">
            <a:solidFill>
              <a:srgbClr val="23304A"/>
            </a:solidFill>
            <a:prstDash val="solid"/>
          </a:ln>
        </p:spPr>
        <p:txBody>
          <a:bodyPr/>
          <a:lstStyle/>
          <a:p>
            <a:endParaRPr lang="he-IL"/>
          </a:p>
        </p:txBody>
      </p:sp>
      <p:sp>
        <p:nvSpPr>
          <p:cNvPr id="17" name="Text 15"/>
          <p:cNvSpPr/>
          <p:nvPr/>
        </p:nvSpPr>
        <p:spPr>
          <a:xfrm>
            <a:off x="8328965" y="1280160"/>
            <a:ext cx="3204362"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LARGEST SERVICE</a:t>
            </a:r>
            <a:endParaRPr lang="en-US" sz="1200" dirty="0"/>
          </a:p>
        </p:txBody>
      </p:sp>
      <p:sp>
        <p:nvSpPr>
          <p:cNvPr id="18" name="Text 16"/>
          <p:cNvSpPr/>
          <p:nvPr/>
        </p:nvSpPr>
        <p:spPr>
          <a:xfrm>
            <a:off x="8328965" y="1481328"/>
            <a:ext cx="3204362" cy="438912"/>
          </a:xfrm>
          <a:prstGeom prst="rect">
            <a:avLst/>
          </a:prstGeom>
          <a:noFill/>
          <a:ln/>
        </p:spPr>
        <p:txBody>
          <a:bodyPr wrap="square" lIns="0" tIns="0" rIns="0" bIns="0" rtlCol="0" anchor="ctr"/>
          <a:lstStyle/>
          <a:p>
            <a:pPr marL="0" indent="0">
              <a:buNone/>
            </a:pPr>
            <a:r>
              <a:rPr lang="en-US" sz="2584" b="1" dirty="0">
                <a:solidFill>
                  <a:srgbClr val="F4F7FB"/>
                </a:solidFill>
                <a:latin typeface="Calibri" pitchFamily="34" charset="0"/>
                <a:ea typeface="Calibri" pitchFamily="34" charset="-122"/>
                <a:cs typeface="Calibri" pitchFamily="34" charset="-120"/>
              </a:rPr>
              <a:t>Virtual Machines</a:t>
            </a:r>
            <a:endParaRPr lang="en-US" sz="2584" dirty="0"/>
          </a:p>
        </p:txBody>
      </p:sp>
      <p:sp>
        <p:nvSpPr>
          <p:cNvPr id="19" name="Text 17"/>
          <p:cNvSpPr/>
          <p:nvPr/>
        </p:nvSpPr>
        <p:spPr>
          <a:xfrm>
            <a:off x="8328965" y="1883664"/>
            <a:ext cx="3204362" cy="329184"/>
          </a:xfrm>
          <a:prstGeom prst="rect">
            <a:avLst/>
          </a:prstGeom>
          <a:noFill/>
          <a:ln/>
        </p:spPr>
        <p:txBody>
          <a:bodyPr wrap="square" lIns="0" tIns="0" rIns="0" bIns="0" rtlCol="0" anchor="t"/>
          <a:lstStyle/>
          <a:p>
            <a:pPr marL="0" indent="0">
              <a:lnSpc>
                <a:spcPct val="105000"/>
              </a:lnSpc>
              <a:buNone/>
            </a:pPr>
            <a:r>
              <a:rPr lang="en-US" sz="1200" b="1" dirty="0">
                <a:solidFill>
                  <a:srgbClr val="3DD9EB"/>
                </a:solidFill>
                <a:latin typeface="Calibri" pitchFamily="34" charset="0"/>
                <a:ea typeface="Calibri" pitchFamily="34" charset="-122"/>
                <a:cs typeface="Calibri" pitchFamily="34" charset="-120"/>
              </a:rPr>
              <a:t>74% of the total</a:t>
            </a:r>
            <a:endParaRPr lang="en-US" sz="1200" dirty="0"/>
          </a:p>
        </p:txBody>
      </p:sp>
      <p:sp>
        <p:nvSpPr>
          <p:cNvPr id="20" name="Text 18"/>
          <p:cNvSpPr/>
          <p:nvPr/>
        </p:nvSpPr>
        <p:spPr>
          <a:xfrm>
            <a:off x="457200" y="2423160"/>
            <a:ext cx="5478628" cy="237744"/>
          </a:xfrm>
          <a:prstGeom prst="rect">
            <a:avLst/>
          </a:prstGeom>
          <a:noFill/>
          <a:ln/>
        </p:spPr>
        <p:txBody>
          <a:bodyPr wrap="square" lIns="0" tIns="0" rIns="0" bIns="0" rtlCol="0" anchor="ctr"/>
          <a:lstStyle/>
          <a:p>
            <a:pPr marL="0" indent="0">
              <a:buNone/>
            </a:pPr>
            <a:r>
              <a:rPr lang="en-US" sz="1500" b="1" dirty="0">
                <a:solidFill>
                  <a:srgbClr val="F4F7FB"/>
                </a:solidFill>
                <a:latin typeface="Calibri" pitchFamily="34" charset="0"/>
                <a:ea typeface="Calibri" pitchFamily="34" charset="-122"/>
                <a:cs typeface="Calibri" pitchFamily="34" charset="-120"/>
              </a:rPr>
              <a:t>By service</a:t>
            </a:r>
            <a:endParaRPr lang="en-US" sz="1500" dirty="0"/>
          </a:p>
        </p:txBody>
      </p:sp>
      <p:graphicFrame>
        <p:nvGraphicFramePr>
          <p:cNvPr id="21" name="Chart 0"/>
          <p:cNvGraphicFramePr/>
          <p:nvPr/>
        </p:nvGraphicFramePr>
        <p:xfrm>
          <a:off x="411480" y="2697480"/>
          <a:ext cx="5478628" cy="3337560"/>
        </p:xfrm>
        <a:graphic>
          <a:graphicData uri="http://schemas.openxmlformats.org/drawingml/2006/chart">
            <c:chart xmlns:c="http://schemas.openxmlformats.org/drawingml/2006/chart" xmlns:r="http://schemas.openxmlformats.org/officeDocument/2006/relationships" r:id="rId3"/>
          </a:graphicData>
        </a:graphic>
      </p:graphicFrame>
      <p:sp>
        <p:nvSpPr>
          <p:cNvPr id="22" name="Text 19"/>
          <p:cNvSpPr/>
          <p:nvPr/>
        </p:nvSpPr>
        <p:spPr>
          <a:xfrm>
            <a:off x="6255868" y="2423160"/>
            <a:ext cx="5478628" cy="237744"/>
          </a:xfrm>
          <a:prstGeom prst="rect">
            <a:avLst/>
          </a:prstGeom>
          <a:noFill/>
          <a:ln/>
        </p:spPr>
        <p:txBody>
          <a:bodyPr wrap="square" lIns="0" tIns="0" rIns="0" bIns="0" rtlCol="0" anchor="ctr"/>
          <a:lstStyle/>
          <a:p>
            <a:pPr marL="0" indent="0">
              <a:buNone/>
            </a:pPr>
            <a:r>
              <a:rPr lang="en-US" sz="1500" b="1" dirty="0">
                <a:solidFill>
                  <a:srgbClr val="F4F7FB"/>
                </a:solidFill>
                <a:latin typeface="Calibri" pitchFamily="34" charset="0"/>
                <a:ea typeface="Calibri" pitchFamily="34" charset="-122"/>
                <a:cs typeface="Calibri" pitchFamily="34" charset="-120"/>
              </a:rPr>
              <a:t>By subscription</a:t>
            </a:r>
            <a:endParaRPr lang="en-US" sz="1500" dirty="0"/>
          </a:p>
        </p:txBody>
      </p:sp>
      <p:graphicFrame>
        <p:nvGraphicFramePr>
          <p:cNvPr id="23" name="Chart 1"/>
          <p:cNvGraphicFramePr/>
          <p:nvPr/>
        </p:nvGraphicFramePr>
        <p:xfrm>
          <a:off x="6210148" y="2697480"/>
          <a:ext cx="5478628" cy="333756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4">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txBody>
          <a:bodyPr/>
          <a:lstStyle/>
          <a:p>
            <a:endParaRPr lang="he-IL"/>
          </a:p>
        </p:txBody>
      </p:sp>
      <p:sp>
        <p:nvSpPr>
          <p:cNvPr id="3" name="Shape 1"/>
          <p:cNvSpPr/>
          <p:nvPr/>
        </p:nvSpPr>
        <p:spPr>
          <a:xfrm>
            <a:off x="457200" y="306324"/>
            <a:ext cx="109728" cy="109728"/>
          </a:xfrm>
          <a:prstGeom prst="ellipse">
            <a:avLst/>
          </a:prstGeom>
          <a:solidFill>
            <a:srgbClr val="2F8CFF"/>
          </a:solidFill>
          <a:ln w="12700">
            <a:solidFill>
              <a:srgbClr val="2F8CFF"/>
            </a:solidFill>
            <a:prstDash val="solid"/>
          </a:ln>
        </p:spPr>
        <p:txBody>
          <a:bodyPr/>
          <a:lstStyle/>
          <a:p>
            <a:endParaRPr lang="he-IL"/>
          </a:p>
        </p:txBody>
      </p:sp>
      <p:sp>
        <p:nvSpPr>
          <p:cNvPr id="4" name="Text 2"/>
          <p:cNvSpPr/>
          <p:nvPr/>
        </p:nvSpPr>
        <p:spPr>
          <a:xfrm>
            <a:off x="640080" y="274320"/>
            <a:ext cx="7315200" cy="237744"/>
          </a:xfrm>
          <a:prstGeom prst="rect">
            <a:avLst/>
          </a:prstGeom>
          <a:noFill/>
          <a:ln/>
        </p:spPr>
        <p:txBody>
          <a:bodyPr wrap="square" lIns="0" tIns="0" rIns="0" bIns="0" rtlCol="0" anchor="ctr"/>
          <a:lstStyle/>
          <a:p>
            <a:pPr marL="0" indent="0">
              <a:buNone/>
            </a:pPr>
            <a:r>
              <a:rPr lang="en-US" sz="1300" b="1" kern="0" spc="200" dirty="0">
                <a:solidFill>
                  <a:srgbClr val="2F8CFF"/>
                </a:solidFill>
                <a:latin typeface="Calibri" pitchFamily="34" charset="0"/>
                <a:ea typeface="Calibri" pitchFamily="34" charset="-122"/>
                <a:cs typeface="Calibri" pitchFamily="34" charset="-120"/>
              </a:rPr>
              <a:t>AZURE / CLOUD IT</a:t>
            </a:r>
            <a:endParaRPr lang="en-US" sz="1300" dirty="0"/>
          </a:p>
        </p:txBody>
      </p:sp>
      <p:sp>
        <p:nvSpPr>
          <p:cNvPr id="5" name="Text 3"/>
          <p:cNvSpPr/>
          <p:nvPr/>
        </p:nvSpPr>
        <p:spPr>
          <a:xfrm>
            <a:off x="457200" y="548640"/>
            <a:ext cx="7680960" cy="566928"/>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Cost centre: Cloud IT</a:t>
            </a:r>
            <a:endParaRPr lang="en-US" sz="2800" dirty="0"/>
          </a:p>
        </p:txBody>
      </p:sp>
      <p:sp>
        <p:nvSpPr>
          <p:cNvPr id="6" name="Text 4"/>
          <p:cNvSpPr/>
          <p:nvPr/>
        </p:nvSpPr>
        <p:spPr>
          <a:xfrm>
            <a:off x="8321040" y="493776"/>
            <a:ext cx="3413455" cy="658368"/>
          </a:xfrm>
          <a:prstGeom prst="rect">
            <a:avLst/>
          </a:prstGeom>
          <a:noFill/>
          <a:ln/>
        </p:spPr>
        <p:txBody>
          <a:bodyPr wrap="square" lIns="0" tIns="0" rIns="0" bIns="0" rtlCol="0" anchor="t"/>
          <a:lstStyle/>
          <a:p>
            <a:pPr marL="0" indent="0" algn="r">
              <a:lnSpc>
                <a:spcPct val="115000"/>
              </a:lnSpc>
              <a:buNone/>
            </a:pPr>
            <a:r>
              <a:rPr lang="en-US" sz="1200" dirty="0">
                <a:solidFill>
                  <a:srgbClr val="91A0B7"/>
                </a:solidFill>
                <a:latin typeface="Calibri" pitchFamily="34" charset="0"/>
                <a:ea typeface="Calibri" pitchFamily="34" charset="-122"/>
                <a:cs typeface="Calibri" pitchFamily="34" charset="-120"/>
              </a:rPr>
              <a:t>Shared platform services: network, monitoring and security for everyone else.</a:t>
            </a:r>
            <a:endParaRPr lang="en-US" sz="1200" dirty="0"/>
          </a:p>
        </p:txBody>
      </p:sp>
      <p:sp>
        <p:nvSpPr>
          <p:cNvPr id="7" name="Text 5"/>
          <p:cNvSpPr/>
          <p:nvPr/>
        </p:nvSpPr>
        <p:spPr>
          <a:xfrm>
            <a:off x="457200" y="6355080"/>
            <a:ext cx="11277295" cy="228600"/>
          </a:xfrm>
          <a:prstGeom prst="rect">
            <a:avLst/>
          </a:prstGeom>
          <a:noFill/>
          <a:ln/>
        </p:spPr>
        <p:txBody>
          <a:bodyPr wrap="square" lIns="0" tIns="0" rIns="0" bIns="0" rtlCol="0" anchor="t"/>
          <a:lstStyle/>
          <a:p>
            <a:pPr marL="0" indent="0">
              <a:lnSpc>
                <a:spcPct val="115000"/>
              </a:lnSpc>
              <a:buNone/>
            </a:pPr>
            <a:r>
              <a:rPr lang="en-US" sz="1200" dirty="0">
                <a:solidFill>
                  <a:srgbClr val="536078"/>
                </a:solidFill>
                <a:latin typeface="Calibri" pitchFamily="34" charset="0"/>
                <a:ea typeface="Calibri" pitchFamily="34" charset="-122"/>
                <a:cs typeface="Calibri" pitchFamily="34" charset="-120"/>
              </a:rPr>
              <a:t>Log Analytics and Sentinel drive the March spike; virtual network and storage carry the underlying growth.</a:t>
            </a:r>
            <a:endParaRPr lang="en-US" sz="1200" dirty="0"/>
          </a:p>
        </p:txBody>
      </p:sp>
      <p:sp>
        <p:nvSpPr>
          <p:cNvPr id="8" name="Shape 6"/>
          <p:cNvSpPr/>
          <p:nvPr/>
        </p:nvSpPr>
        <p:spPr>
          <a:xfrm>
            <a:off x="457200" y="1188720"/>
            <a:ext cx="3606698" cy="1078992"/>
          </a:xfrm>
          <a:prstGeom prst="roundRect">
            <a:avLst>
              <a:gd name="adj" fmla="val 5085"/>
            </a:avLst>
          </a:prstGeom>
          <a:solidFill>
            <a:srgbClr val="121B2D"/>
          </a:solidFill>
          <a:ln w="12700">
            <a:solidFill>
              <a:srgbClr val="23304A"/>
            </a:solidFill>
            <a:prstDash val="solid"/>
          </a:ln>
        </p:spPr>
        <p:txBody>
          <a:bodyPr/>
          <a:lstStyle/>
          <a:p>
            <a:endParaRPr lang="he-IL"/>
          </a:p>
        </p:txBody>
      </p:sp>
      <p:sp>
        <p:nvSpPr>
          <p:cNvPr id="9" name="Text 7"/>
          <p:cNvSpPr/>
          <p:nvPr/>
        </p:nvSpPr>
        <p:spPr>
          <a:xfrm>
            <a:off x="658368" y="1280160"/>
            <a:ext cx="3204362"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TOTAL, JAN-JUL</a:t>
            </a:r>
            <a:endParaRPr lang="en-US" sz="1200" dirty="0"/>
          </a:p>
        </p:txBody>
      </p:sp>
      <p:sp>
        <p:nvSpPr>
          <p:cNvPr id="10" name="Text 8"/>
          <p:cNvSpPr/>
          <p:nvPr/>
        </p:nvSpPr>
        <p:spPr>
          <a:xfrm>
            <a:off x="658368" y="1481328"/>
            <a:ext cx="3204362" cy="438912"/>
          </a:xfrm>
          <a:prstGeom prst="rect">
            <a:avLst/>
          </a:prstGeom>
          <a:noFill/>
          <a:ln/>
        </p:spPr>
        <p:txBody>
          <a:bodyPr wrap="square" lIns="0" tIns="0" rIns="0" bIns="0" rtlCol="0" anchor="ctr"/>
          <a:lstStyle/>
          <a:p>
            <a:pPr marL="0" indent="0">
              <a:buNone/>
            </a:pPr>
            <a:r>
              <a:rPr lang="en-US" sz="2800" b="1" dirty="0">
                <a:solidFill>
                  <a:srgbClr val="F4F7FB"/>
                </a:solidFill>
                <a:latin typeface="Calibri" pitchFamily="34" charset="0"/>
                <a:ea typeface="Calibri" pitchFamily="34" charset="-122"/>
                <a:cs typeface="Calibri" pitchFamily="34" charset="-120"/>
              </a:rPr>
              <a:t>$216K</a:t>
            </a:r>
            <a:endParaRPr lang="en-US" sz="2800" dirty="0"/>
          </a:p>
        </p:txBody>
      </p:sp>
      <p:sp>
        <p:nvSpPr>
          <p:cNvPr id="11" name="Text 9"/>
          <p:cNvSpPr/>
          <p:nvPr/>
        </p:nvSpPr>
        <p:spPr>
          <a:xfrm>
            <a:off x="658368" y="1883664"/>
            <a:ext cx="3204362" cy="329184"/>
          </a:xfrm>
          <a:prstGeom prst="rect">
            <a:avLst/>
          </a:prstGeom>
          <a:noFill/>
          <a:ln/>
        </p:spPr>
        <p:txBody>
          <a:bodyPr wrap="square" lIns="0" tIns="0" rIns="0" bIns="0" rtlCol="0" anchor="t"/>
          <a:lstStyle/>
          <a:p>
            <a:pPr marL="0" indent="0">
              <a:lnSpc>
                <a:spcPct val="105000"/>
              </a:lnSpc>
              <a:buNone/>
            </a:pPr>
            <a:r>
              <a:rPr lang="en-US" sz="1200" b="1" dirty="0">
                <a:solidFill>
                  <a:srgbClr val="2F8CFF"/>
                </a:solidFill>
                <a:latin typeface="Calibri" pitchFamily="34" charset="0"/>
                <a:ea typeface="Calibri" pitchFamily="34" charset="-122"/>
                <a:cs typeface="Calibri" pitchFamily="34" charset="-120"/>
              </a:rPr>
              <a:t>+8% Jan to Jul</a:t>
            </a:r>
            <a:endParaRPr lang="en-US" sz="1200" dirty="0"/>
          </a:p>
        </p:txBody>
      </p:sp>
      <p:sp>
        <p:nvSpPr>
          <p:cNvPr id="12" name="Shape 10"/>
          <p:cNvSpPr/>
          <p:nvPr/>
        </p:nvSpPr>
        <p:spPr>
          <a:xfrm>
            <a:off x="4292498" y="1188720"/>
            <a:ext cx="3606698" cy="1078992"/>
          </a:xfrm>
          <a:prstGeom prst="roundRect">
            <a:avLst>
              <a:gd name="adj" fmla="val 5085"/>
            </a:avLst>
          </a:prstGeom>
          <a:solidFill>
            <a:srgbClr val="121B2D"/>
          </a:solidFill>
          <a:ln w="12700">
            <a:solidFill>
              <a:srgbClr val="23304A"/>
            </a:solidFill>
            <a:prstDash val="solid"/>
          </a:ln>
        </p:spPr>
        <p:txBody>
          <a:bodyPr/>
          <a:lstStyle/>
          <a:p>
            <a:endParaRPr lang="he-IL"/>
          </a:p>
        </p:txBody>
      </p:sp>
      <p:sp>
        <p:nvSpPr>
          <p:cNvPr id="13" name="Text 11"/>
          <p:cNvSpPr/>
          <p:nvPr/>
        </p:nvSpPr>
        <p:spPr>
          <a:xfrm>
            <a:off x="4493666" y="1280160"/>
            <a:ext cx="3204362"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LARGEST SUBSCRIPTION</a:t>
            </a:r>
            <a:endParaRPr lang="en-US" sz="1200" dirty="0"/>
          </a:p>
        </p:txBody>
      </p:sp>
      <p:sp>
        <p:nvSpPr>
          <p:cNvPr id="14" name="Text 12"/>
          <p:cNvSpPr/>
          <p:nvPr/>
        </p:nvSpPr>
        <p:spPr>
          <a:xfrm>
            <a:off x="4493666" y="1481328"/>
            <a:ext cx="3204362" cy="438912"/>
          </a:xfrm>
          <a:prstGeom prst="rect">
            <a:avLst/>
          </a:prstGeom>
          <a:noFill/>
          <a:ln/>
        </p:spPr>
        <p:txBody>
          <a:bodyPr wrap="square" lIns="0" tIns="0" rIns="0" bIns="0" rtlCol="0" anchor="ctr"/>
          <a:lstStyle/>
          <a:p>
            <a:pPr marL="0" indent="0">
              <a:buNone/>
            </a:pPr>
            <a:r>
              <a:rPr lang="en-US" sz="2584" b="1" dirty="0">
                <a:solidFill>
                  <a:srgbClr val="F4F7FB"/>
                </a:solidFill>
                <a:latin typeface="Calibri" pitchFamily="34" charset="0"/>
                <a:ea typeface="Calibri" pitchFamily="34" charset="-122"/>
                <a:cs typeface="Calibri" pitchFamily="34" charset="-120"/>
              </a:rPr>
              <a:t>Shared Resources</a:t>
            </a:r>
            <a:endParaRPr lang="en-US" sz="2584" dirty="0"/>
          </a:p>
        </p:txBody>
      </p:sp>
      <p:sp>
        <p:nvSpPr>
          <p:cNvPr id="15" name="Text 13"/>
          <p:cNvSpPr/>
          <p:nvPr/>
        </p:nvSpPr>
        <p:spPr>
          <a:xfrm>
            <a:off x="4493666" y="1883664"/>
            <a:ext cx="3204362" cy="329184"/>
          </a:xfrm>
          <a:prstGeom prst="rect">
            <a:avLst/>
          </a:prstGeom>
          <a:noFill/>
          <a:ln/>
        </p:spPr>
        <p:txBody>
          <a:bodyPr wrap="square" lIns="0" tIns="0" rIns="0" bIns="0" rtlCol="0" anchor="t"/>
          <a:lstStyle/>
          <a:p>
            <a:pPr marL="0" indent="0">
              <a:lnSpc>
                <a:spcPct val="105000"/>
              </a:lnSpc>
              <a:buNone/>
            </a:pPr>
            <a:r>
              <a:rPr lang="en-US" sz="1200" b="1" dirty="0">
                <a:solidFill>
                  <a:srgbClr val="3DD9EB"/>
                </a:solidFill>
                <a:latin typeface="Calibri" pitchFamily="34" charset="0"/>
                <a:ea typeface="Calibri" pitchFamily="34" charset="-122"/>
                <a:cs typeface="Calibri" pitchFamily="34" charset="-120"/>
              </a:rPr>
              <a:t>48% of the total</a:t>
            </a:r>
            <a:endParaRPr lang="en-US" sz="1200" dirty="0"/>
          </a:p>
        </p:txBody>
      </p:sp>
      <p:sp>
        <p:nvSpPr>
          <p:cNvPr id="16" name="Shape 14"/>
          <p:cNvSpPr/>
          <p:nvPr/>
        </p:nvSpPr>
        <p:spPr>
          <a:xfrm>
            <a:off x="8127797" y="1188720"/>
            <a:ext cx="3606698" cy="1078992"/>
          </a:xfrm>
          <a:prstGeom prst="roundRect">
            <a:avLst>
              <a:gd name="adj" fmla="val 5085"/>
            </a:avLst>
          </a:prstGeom>
          <a:solidFill>
            <a:srgbClr val="121B2D"/>
          </a:solidFill>
          <a:ln w="12700">
            <a:solidFill>
              <a:srgbClr val="23304A"/>
            </a:solidFill>
            <a:prstDash val="solid"/>
          </a:ln>
        </p:spPr>
        <p:txBody>
          <a:bodyPr/>
          <a:lstStyle/>
          <a:p>
            <a:endParaRPr lang="he-IL"/>
          </a:p>
        </p:txBody>
      </p:sp>
      <p:sp>
        <p:nvSpPr>
          <p:cNvPr id="17" name="Text 15"/>
          <p:cNvSpPr/>
          <p:nvPr/>
        </p:nvSpPr>
        <p:spPr>
          <a:xfrm>
            <a:off x="8328965" y="1280160"/>
            <a:ext cx="3204362" cy="237744"/>
          </a:xfrm>
          <a:prstGeom prst="rect">
            <a:avLst/>
          </a:prstGeom>
          <a:noFill/>
          <a:ln/>
        </p:spPr>
        <p:txBody>
          <a:bodyPr wrap="square" lIns="0" tIns="0" rIns="0" bIns="0" rtlCol="0" anchor="ctr"/>
          <a:lstStyle/>
          <a:p>
            <a:pPr marL="0" indent="0">
              <a:buNone/>
            </a:pPr>
            <a:r>
              <a:rPr lang="en-US" sz="1200" b="1" kern="0" spc="120" dirty="0">
                <a:solidFill>
                  <a:srgbClr val="91A0B7"/>
                </a:solidFill>
                <a:latin typeface="Calibri" pitchFamily="34" charset="0"/>
                <a:ea typeface="Calibri" pitchFamily="34" charset="-122"/>
                <a:cs typeface="Calibri" pitchFamily="34" charset="-120"/>
              </a:rPr>
              <a:t>LARGEST SERVICE</a:t>
            </a:r>
            <a:endParaRPr lang="en-US" sz="1200" dirty="0"/>
          </a:p>
        </p:txBody>
      </p:sp>
      <p:sp>
        <p:nvSpPr>
          <p:cNvPr id="18" name="Text 16"/>
          <p:cNvSpPr/>
          <p:nvPr/>
        </p:nvSpPr>
        <p:spPr>
          <a:xfrm>
            <a:off x="8328965" y="1481328"/>
            <a:ext cx="3204362" cy="438912"/>
          </a:xfrm>
          <a:prstGeom prst="rect">
            <a:avLst/>
          </a:prstGeom>
          <a:noFill/>
          <a:ln/>
        </p:spPr>
        <p:txBody>
          <a:bodyPr wrap="square" lIns="0" tIns="0" rIns="0" bIns="0" rtlCol="0" anchor="ctr"/>
          <a:lstStyle/>
          <a:p>
            <a:pPr marL="0" indent="0">
              <a:buNone/>
            </a:pPr>
            <a:r>
              <a:rPr lang="en-US" sz="2757" b="1" dirty="0">
                <a:solidFill>
                  <a:srgbClr val="F4F7FB"/>
                </a:solidFill>
                <a:latin typeface="Calibri" pitchFamily="34" charset="0"/>
                <a:ea typeface="Calibri" pitchFamily="34" charset="-122"/>
                <a:cs typeface="Calibri" pitchFamily="34" charset="-120"/>
              </a:rPr>
              <a:t>Virtual Network</a:t>
            </a:r>
            <a:endParaRPr lang="en-US" sz="2757" dirty="0"/>
          </a:p>
        </p:txBody>
      </p:sp>
      <p:sp>
        <p:nvSpPr>
          <p:cNvPr id="19" name="Text 17"/>
          <p:cNvSpPr/>
          <p:nvPr/>
        </p:nvSpPr>
        <p:spPr>
          <a:xfrm>
            <a:off x="8328965" y="1883664"/>
            <a:ext cx="3204362" cy="329184"/>
          </a:xfrm>
          <a:prstGeom prst="rect">
            <a:avLst/>
          </a:prstGeom>
          <a:noFill/>
          <a:ln/>
        </p:spPr>
        <p:txBody>
          <a:bodyPr wrap="square" lIns="0" tIns="0" rIns="0" bIns="0" rtlCol="0" anchor="t"/>
          <a:lstStyle/>
          <a:p>
            <a:pPr marL="0" indent="0">
              <a:lnSpc>
                <a:spcPct val="105000"/>
              </a:lnSpc>
              <a:buNone/>
            </a:pPr>
            <a:r>
              <a:rPr lang="en-US" sz="1200" b="1" dirty="0">
                <a:solidFill>
                  <a:srgbClr val="3DD9EB"/>
                </a:solidFill>
                <a:latin typeface="Calibri" pitchFamily="34" charset="0"/>
                <a:ea typeface="Calibri" pitchFamily="34" charset="-122"/>
                <a:cs typeface="Calibri" pitchFamily="34" charset="-120"/>
              </a:rPr>
              <a:t>24% of the total</a:t>
            </a:r>
            <a:endParaRPr lang="en-US" sz="1200" dirty="0"/>
          </a:p>
        </p:txBody>
      </p:sp>
      <p:sp>
        <p:nvSpPr>
          <p:cNvPr id="20" name="Text 18"/>
          <p:cNvSpPr/>
          <p:nvPr/>
        </p:nvSpPr>
        <p:spPr>
          <a:xfrm>
            <a:off x="457200" y="2423160"/>
            <a:ext cx="5478628" cy="237744"/>
          </a:xfrm>
          <a:prstGeom prst="rect">
            <a:avLst/>
          </a:prstGeom>
          <a:noFill/>
          <a:ln/>
        </p:spPr>
        <p:txBody>
          <a:bodyPr wrap="square" lIns="0" tIns="0" rIns="0" bIns="0" rtlCol="0" anchor="ctr"/>
          <a:lstStyle/>
          <a:p>
            <a:pPr marL="0" indent="0">
              <a:buNone/>
            </a:pPr>
            <a:r>
              <a:rPr lang="en-US" sz="1500" b="1" dirty="0">
                <a:solidFill>
                  <a:srgbClr val="F4F7FB"/>
                </a:solidFill>
                <a:latin typeface="Calibri" pitchFamily="34" charset="0"/>
                <a:ea typeface="Calibri" pitchFamily="34" charset="-122"/>
                <a:cs typeface="Calibri" pitchFamily="34" charset="-120"/>
              </a:rPr>
              <a:t>By service</a:t>
            </a:r>
            <a:endParaRPr lang="en-US" sz="1500" dirty="0"/>
          </a:p>
        </p:txBody>
      </p:sp>
      <p:graphicFrame>
        <p:nvGraphicFramePr>
          <p:cNvPr id="21" name="Chart 0"/>
          <p:cNvGraphicFramePr/>
          <p:nvPr/>
        </p:nvGraphicFramePr>
        <p:xfrm>
          <a:off x="411480" y="2697480"/>
          <a:ext cx="5478628" cy="3337560"/>
        </p:xfrm>
        <a:graphic>
          <a:graphicData uri="http://schemas.openxmlformats.org/drawingml/2006/chart">
            <c:chart xmlns:c="http://schemas.openxmlformats.org/drawingml/2006/chart" xmlns:r="http://schemas.openxmlformats.org/officeDocument/2006/relationships" r:id="rId3"/>
          </a:graphicData>
        </a:graphic>
      </p:graphicFrame>
      <p:sp>
        <p:nvSpPr>
          <p:cNvPr id="22" name="Text 19"/>
          <p:cNvSpPr/>
          <p:nvPr/>
        </p:nvSpPr>
        <p:spPr>
          <a:xfrm>
            <a:off x="6255868" y="2423160"/>
            <a:ext cx="5478628" cy="237744"/>
          </a:xfrm>
          <a:prstGeom prst="rect">
            <a:avLst/>
          </a:prstGeom>
          <a:noFill/>
          <a:ln/>
        </p:spPr>
        <p:txBody>
          <a:bodyPr wrap="square" lIns="0" tIns="0" rIns="0" bIns="0" rtlCol="0" anchor="ctr"/>
          <a:lstStyle/>
          <a:p>
            <a:pPr marL="0" indent="0">
              <a:buNone/>
            </a:pPr>
            <a:r>
              <a:rPr lang="en-US" sz="1500" b="1" dirty="0">
                <a:solidFill>
                  <a:srgbClr val="F4F7FB"/>
                </a:solidFill>
                <a:latin typeface="Calibri" pitchFamily="34" charset="0"/>
                <a:ea typeface="Calibri" pitchFamily="34" charset="-122"/>
                <a:cs typeface="Calibri" pitchFamily="34" charset="-120"/>
              </a:rPr>
              <a:t>By subscription</a:t>
            </a:r>
            <a:endParaRPr lang="en-US" sz="1500" dirty="0"/>
          </a:p>
        </p:txBody>
      </p:sp>
      <p:graphicFrame>
        <p:nvGraphicFramePr>
          <p:cNvPr id="23" name="Chart 1"/>
          <p:cNvGraphicFramePr/>
          <p:nvPr/>
        </p:nvGraphicFramePr>
        <p:xfrm>
          <a:off x="6210148" y="2697480"/>
          <a:ext cx="5478628" cy="333756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40">
    <p:bg>
      <p:bgPr>
        <a:solidFill>
          <a:srgbClr val="070A12"/>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70A12"/>
          </a:solidFill>
          <a:ln w="12700">
            <a:solidFill>
              <a:srgbClr val="070A12"/>
            </a:solidFill>
            <a:prstDash val="solid"/>
          </a:ln>
        </p:spPr>
        <p:txBody>
          <a:bodyPr/>
          <a:lstStyle/>
          <a:p>
            <a:endParaRPr lang="he-IL"/>
          </a:p>
        </p:txBody>
      </p:sp>
      <p:sp>
        <p:nvSpPr>
          <p:cNvPr id="3" name="Shape 1"/>
          <p:cNvSpPr/>
          <p:nvPr/>
        </p:nvSpPr>
        <p:spPr>
          <a:xfrm>
            <a:off x="7863840" y="-1280160"/>
            <a:ext cx="5852160" cy="5852160"/>
          </a:xfrm>
          <a:prstGeom prst="ellipse">
            <a:avLst/>
          </a:prstGeom>
          <a:solidFill>
            <a:srgbClr val="3DD9EB">
              <a:alpha val="8000"/>
            </a:srgbClr>
          </a:solidFill>
          <a:ln w="12700">
            <a:solidFill>
              <a:srgbClr val="3DD9EB">
                <a:alpha val="0"/>
              </a:srgbClr>
            </a:solidFill>
            <a:prstDash val="solid"/>
          </a:ln>
        </p:spPr>
        <p:txBody>
          <a:bodyPr/>
          <a:lstStyle/>
          <a:p>
            <a:endParaRPr lang="he-IL"/>
          </a:p>
        </p:txBody>
      </p:sp>
      <p:sp>
        <p:nvSpPr>
          <p:cNvPr id="4" name="Shape 2"/>
          <p:cNvSpPr/>
          <p:nvPr/>
        </p:nvSpPr>
        <p:spPr>
          <a:xfrm>
            <a:off x="9144000" y="2377440"/>
            <a:ext cx="4754880" cy="4754880"/>
          </a:xfrm>
          <a:prstGeom prst="ellipse">
            <a:avLst/>
          </a:prstGeom>
          <a:solidFill>
            <a:srgbClr val="3DD9EB">
              <a:alpha val="7000"/>
            </a:srgbClr>
          </a:solidFill>
          <a:ln w="12700">
            <a:solidFill>
              <a:srgbClr val="3DD9EB">
                <a:alpha val="0"/>
              </a:srgbClr>
            </a:solidFill>
            <a:prstDash val="solid"/>
          </a:ln>
        </p:spPr>
        <p:txBody>
          <a:bodyPr/>
          <a:lstStyle/>
          <a:p>
            <a:endParaRPr lang="he-IL"/>
          </a:p>
        </p:txBody>
      </p:sp>
      <p:sp>
        <p:nvSpPr>
          <p:cNvPr id="5" name="Text 3"/>
          <p:cNvSpPr/>
          <p:nvPr/>
        </p:nvSpPr>
        <p:spPr>
          <a:xfrm>
            <a:off x="0" y="2514600"/>
            <a:ext cx="12191695" cy="1828800"/>
          </a:xfrm>
          <a:prstGeom prst="rect">
            <a:avLst/>
          </a:prstGeom>
          <a:noFill/>
          <a:ln/>
        </p:spPr>
        <p:txBody>
          <a:bodyPr wrap="square" lIns="0" tIns="0" rIns="0" bIns="0" rtlCol="0" anchor="ctr"/>
          <a:lstStyle/>
          <a:p>
            <a:pPr marL="0" indent="0" algn="ctr">
              <a:buNone/>
            </a:pPr>
            <a:r>
              <a:rPr lang="en-US" sz="11000" b="1" dirty="0">
                <a:solidFill>
                  <a:srgbClr val="3DD9EB"/>
                </a:solidFill>
                <a:latin typeface="Calibri" pitchFamily="34" charset="0"/>
                <a:ea typeface="Calibri" pitchFamily="34" charset="-122"/>
                <a:cs typeface="Calibri" pitchFamily="34" charset="-120"/>
              </a:rPr>
              <a:t>Thank you</a:t>
            </a:r>
            <a:endParaRPr lang="en-US" sz="1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1495</TotalTime>
  <Words>5685</Words>
  <Application>Microsoft Office PowerPoint</Application>
  <PresentationFormat>מסך רחב</PresentationFormat>
  <Paragraphs>905</Paragraphs>
  <Slides>38</Slides>
  <Notes>38</Notes>
  <HiddenSlides>1</HiddenSlides>
  <MMClips>0</MMClips>
  <ScaleCrop>false</ScaleCrop>
  <HeadingPairs>
    <vt:vector size="6" baseType="variant">
      <vt:variant>
        <vt:lpstr>גופנים בשימוש</vt:lpstr>
      </vt:variant>
      <vt:variant>
        <vt:i4>4</vt:i4>
      </vt:variant>
      <vt:variant>
        <vt:lpstr>ערכת נושא</vt:lpstr>
      </vt:variant>
      <vt:variant>
        <vt:i4>1</vt:i4>
      </vt:variant>
      <vt:variant>
        <vt:lpstr>כותרות שקופיות</vt:lpstr>
      </vt:variant>
      <vt:variant>
        <vt:i4>38</vt:i4>
      </vt:variant>
    </vt:vector>
  </HeadingPairs>
  <TitlesOfParts>
    <vt:vector size="43" baseType="lpstr">
      <vt:lpstr>Aptos</vt:lpstr>
      <vt:lpstr>Arial</vt:lpstr>
      <vt:lpstr>Calibri</vt:lpstr>
      <vt:lpstr>Cambria</vt:lpstr>
      <vt:lpstr>Office Theme</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Company>Harel Insurance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Harel Cloud Cost — CIO briefing, v34</dc:title>
  <dc:subject>PptxGenJS Presentation</dc:subject>
  <dc:creator>Cloud Infrastructure, DevOps &amp; Databases</dc:creator>
  <cp:lastModifiedBy>אריאל גזית</cp:lastModifiedBy>
  <cp:revision>23</cp:revision>
  <dcterms:created xsi:type="dcterms:W3CDTF">2026-08-17T09:02:17Z</dcterms:created>
  <dcterms:modified xsi:type="dcterms:W3CDTF">2026-08-18T15:19:28Z</dcterms:modified>
</cp:coreProperties>
</file>