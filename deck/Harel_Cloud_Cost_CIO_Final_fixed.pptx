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9.xml" ContentType="application/vnd.openxmlformats-officedocument.presentationml.notesSlide+xml"/>
  <Override PartName="/ppt/charts/chart5.xml" ContentType="application/vnd.openxmlformats-officedocument.drawingml.chart+xml"/>
  <Override PartName="/ppt/notesSlides/notesSlide10.xml" ContentType="application/vnd.openxmlformats-officedocument.presentationml.notesSlide+xml"/>
  <Override PartName="/ppt/charts/chart6.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7.xml" ContentType="application/vnd.openxmlformats-officedocument.drawingml.chart+xml"/>
  <Override PartName="/ppt/notesSlides/notesSlide13.xml" ContentType="application/vnd.openxmlformats-officedocument.presentationml.notesSlide+xml"/>
  <Override PartName="/ppt/charts/chart8.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rts/chart9.xml" ContentType="application/vnd.openxmlformats-officedocument.drawingml.chart+xml"/>
  <Override PartName="/ppt/notesSlides/notesSlide32.xml" ContentType="application/vnd.openxmlformats-officedocument.presentationml.notesSlide+xml"/>
  <Override PartName="/ppt/charts/chart10.xml" ContentType="application/vnd.openxmlformats-officedocument.drawingml.chart+xml"/>
  <Override PartName="/ppt/notesSlides/notesSlide33.xml" ContentType="application/vnd.openxmlformats-officedocument.presentationml.notesSlide+xml"/>
  <Override PartName="/ppt/charts/chart11.xml" ContentType="application/vnd.openxmlformats-officedocument.drawingml.chart+xml"/>
  <Override PartName="/ppt/notesSlides/notesSlide34.xml" ContentType="application/vnd.openxmlformats-officedocument.presentationml.notesSlide+xml"/>
  <Override PartName="/ppt/charts/chart12.xml" ContentType="application/vnd.openxmlformats-officedocument.drawingml.chart+xml"/>
  <Override PartName="/ppt/notesSlides/notesSlide35.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notesSlides/notesSlide36.xml" ContentType="application/vnd.openxmlformats-officedocument.presentationml.notesSlide+xml"/>
  <Override PartName="/ppt/charts/chart15.xml" ContentType="application/vnd.openxmlformats-officedocument.drawingml.chart+xml"/>
  <Override PartName="/ppt/charts/chart16.xml" ContentType="application/vnd.openxmlformats-officedocument.drawingml.chart+xml"/>
  <Override PartName="/ppt/notesSlides/notesSlide37.xml" ContentType="application/vnd.openxmlformats-officedocument.presentationml.notesSlide+xml"/>
  <Override PartName="/ppt/charts/chart17.xml" ContentType="application/vnd.openxmlformats-officedocument.drawingml.chart+xml"/>
  <Override PartName="/ppt/charts/chart18.xml" ContentType="application/vnd.openxmlformats-officedocument.drawingml.chart+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charts/chart19.xml" ContentType="application/vnd.openxmlformats-officedocument.drawingml.chart+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9" r:id="rId4"/>
    <p:sldId id="260" r:id="rId5"/>
    <p:sldId id="296" r:id="rId6"/>
    <p:sldId id="297" r:id="rId7"/>
    <p:sldId id="290" r:id="rId8"/>
    <p:sldId id="291" r:id="rId9"/>
    <p:sldId id="292" r:id="rId10"/>
    <p:sldId id="293" r:id="rId11"/>
    <p:sldId id="264" r:id="rId12"/>
    <p:sldId id="266" r:id="rId13"/>
    <p:sldId id="265" r:id="rId14"/>
    <p:sldId id="274" r:id="rId15"/>
    <p:sldId id="298" r:id="rId16"/>
    <p:sldId id="276" r:id="rId17"/>
    <p:sldId id="275" r:id="rId18"/>
    <p:sldId id="277" r:id="rId19"/>
    <p:sldId id="278" r:id="rId20"/>
    <p:sldId id="279" r:id="rId21"/>
    <p:sldId id="280" r:id="rId22"/>
    <p:sldId id="267" r:id="rId23"/>
    <p:sldId id="269" r:id="rId24"/>
    <p:sldId id="281" r:id="rId25"/>
    <p:sldId id="268" r:id="rId26"/>
    <p:sldId id="270" r:id="rId27"/>
    <p:sldId id="271" r:id="rId28"/>
    <p:sldId id="272" r:id="rId29"/>
    <p:sldId id="273" r:id="rId30"/>
    <p:sldId id="282" r:id="rId31"/>
    <p:sldId id="283" r:id="rId32"/>
    <p:sldId id="284" r:id="rId33"/>
    <p:sldId id="285" r:id="rId34"/>
    <p:sldId id="286" r:id="rId35"/>
    <p:sldId id="287" r:id="rId36"/>
    <p:sldId id="288" r:id="rId37"/>
    <p:sldId id="289"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4C844F-8BDE-4D8A-B526-6E9C34F9C055}" v="4" dt="2026-08-18T12:01:17.1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533" autoAdjust="0"/>
    <p:restoredTop sz="96247" autoAdjust="0"/>
  </p:normalViewPr>
  <p:slideViewPr>
    <p:cSldViewPr snapToGrid="0" snapToObjects="1">
      <p:cViewPr varScale="1">
        <p:scale>
          <a:sx n="114" d="100"/>
          <a:sy n="114" d="100"/>
        </p:scale>
        <p:origin x="156" y="10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אריאל גזית" userId="ab0a39ea-8878-4fcc-a857-5afbe9cb9050" providerId="ADAL" clId="{8AF1E48A-3E39-4A45-9543-E35A5CD44E8F}"/>
    <pc:docChg chg="undo custSel addSld delSld modSld sldOrd">
      <pc:chgData name="אריאל גזית" userId="ab0a39ea-8878-4fcc-a857-5afbe9cb9050" providerId="ADAL" clId="{8AF1E48A-3E39-4A45-9543-E35A5CD44E8F}" dt="2026-08-18T12:01:39.741" v="47"/>
      <pc:docMkLst>
        <pc:docMk/>
      </pc:docMkLst>
      <pc:sldChg chg="del">
        <pc:chgData name="אריאל גזית" userId="ab0a39ea-8878-4fcc-a857-5afbe9cb9050" providerId="ADAL" clId="{8AF1E48A-3E39-4A45-9543-E35A5CD44E8F}" dt="2026-08-18T08:51:46.069" v="0" actId="2696"/>
        <pc:sldMkLst>
          <pc:docMk/>
          <pc:sldMk cId="0" sldId="258"/>
        </pc:sldMkLst>
      </pc:sldChg>
      <pc:sldChg chg="del">
        <pc:chgData name="אריאל גזית" userId="ab0a39ea-8878-4fcc-a857-5afbe9cb9050" providerId="ADAL" clId="{8AF1E48A-3E39-4A45-9543-E35A5CD44E8F}" dt="2026-08-18T11:44:49.566" v="2" actId="2696"/>
        <pc:sldMkLst>
          <pc:docMk/>
          <pc:sldMk cId="0" sldId="263"/>
        </pc:sldMkLst>
      </pc:sldChg>
      <pc:sldChg chg="ord">
        <pc:chgData name="אריאל גזית" userId="ab0a39ea-8878-4fcc-a857-5afbe9cb9050" providerId="ADAL" clId="{8AF1E48A-3E39-4A45-9543-E35A5CD44E8F}" dt="2026-08-18T11:46:38.652" v="5"/>
        <pc:sldMkLst>
          <pc:docMk/>
          <pc:sldMk cId="0" sldId="265"/>
        </pc:sldMkLst>
      </pc:sldChg>
      <pc:sldChg chg="ord">
        <pc:chgData name="אריאל גזית" userId="ab0a39ea-8878-4fcc-a857-5afbe9cb9050" providerId="ADAL" clId="{8AF1E48A-3E39-4A45-9543-E35A5CD44E8F}" dt="2026-08-18T12:01:39.741" v="47"/>
        <pc:sldMkLst>
          <pc:docMk/>
          <pc:sldMk cId="0" sldId="268"/>
        </pc:sldMkLst>
      </pc:sldChg>
      <pc:sldChg chg="add setBg">
        <pc:chgData name="אריאל גזית" userId="ab0a39ea-8878-4fcc-a857-5afbe9cb9050" providerId="ADAL" clId="{8AF1E48A-3E39-4A45-9543-E35A5CD44E8F}" dt="2026-08-18T12:01:17.163" v="45"/>
        <pc:sldMkLst>
          <pc:docMk/>
          <pc:sldMk cId="4164748938" sldId="274"/>
        </pc:sldMkLst>
      </pc:sldChg>
      <pc:sldChg chg="add setBg">
        <pc:chgData name="אריאל גזית" userId="ab0a39ea-8878-4fcc-a857-5afbe9cb9050" providerId="ADAL" clId="{8AF1E48A-3E39-4A45-9543-E35A5CD44E8F}" dt="2026-08-18T12:01:17.163" v="45"/>
        <pc:sldMkLst>
          <pc:docMk/>
          <pc:sldMk cId="3730409472" sldId="276"/>
        </pc:sldMkLst>
      </pc:sldChg>
      <pc:sldChg chg="add setBg">
        <pc:chgData name="אריאל גזית" userId="ab0a39ea-8878-4fcc-a857-5afbe9cb9050" providerId="ADAL" clId="{8AF1E48A-3E39-4A45-9543-E35A5CD44E8F}" dt="2026-08-18T12:01:17.163" v="45"/>
        <pc:sldMkLst>
          <pc:docMk/>
          <pc:sldMk cId="638208443" sldId="277"/>
        </pc:sldMkLst>
      </pc:sldChg>
      <pc:sldChg chg="add setBg">
        <pc:chgData name="אריאל גזית" userId="ab0a39ea-8878-4fcc-a857-5afbe9cb9050" providerId="ADAL" clId="{8AF1E48A-3E39-4A45-9543-E35A5CD44E8F}" dt="2026-08-18T12:01:17.163" v="45"/>
        <pc:sldMkLst>
          <pc:docMk/>
          <pc:sldMk cId="1326744587" sldId="278"/>
        </pc:sldMkLst>
      </pc:sldChg>
      <pc:sldChg chg="add setBg">
        <pc:chgData name="אריאל גזית" userId="ab0a39ea-8878-4fcc-a857-5afbe9cb9050" providerId="ADAL" clId="{8AF1E48A-3E39-4A45-9543-E35A5CD44E8F}" dt="2026-08-18T12:01:17.163" v="45"/>
        <pc:sldMkLst>
          <pc:docMk/>
          <pc:sldMk cId="4120224329" sldId="279"/>
        </pc:sldMkLst>
      </pc:sldChg>
      <pc:sldChg chg="add setBg">
        <pc:chgData name="אריאל גזית" userId="ab0a39ea-8878-4fcc-a857-5afbe9cb9050" providerId="ADAL" clId="{8AF1E48A-3E39-4A45-9543-E35A5CD44E8F}" dt="2026-08-18T12:01:17.163" v="45"/>
        <pc:sldMkLst>
          <pc:docMk/>
          <pc:sldMk cId="3672353744" sldId="280"/>
        </pc:sldMkLst>
      </pc:sldChg>
      <pc:sldChg chg="del">
        <pc:chgData name="אריאל גזית" userId="ab0a39ea-8878-4fcc-a857-5afbe9cb9050" providerId="ADAL" clId="{8AF1E48A-3E39-4A45-9543-E35A5CD44E8F}" dt="2026-08-18T12:01:08.494" v="44" actId="2696"/>
        <pc:sldMkLst>
          <pc:docMk/>
          <pc:sldMk cId="2888196944" sldId="281"/>
        </pc:sldMkLst>
      </pc:sldChg>
      <pc:sldChg chg="mod modShow">
        <pc:chgData name="אריאל גזית" userId="ab0a39ea-8878-4fcc-a857-5afbe9cb9050" providerId="ADAL" clId="{8AF1E48A-3E39-4A45-9543-E35A5CD44E8F}" dt="2026-08-18T11:44:37.235" v="1" actId="729"/>
        <pc:sldMkLst>
          <pc:docMk/>
          <pc:sldMk cId="2277920120" sldId="292"/>
        </pc:sldMkLst>
      </pc:sldChg>
      <pc:sldChg chg="modSp add mod ord setBg">
        <pc:chgData name="אריאל גזית" userId="ab0a39ea-8878-4fcc-a857-5afbe9cb9050" providerId="ADAL" clId="{8AF1E48A-3E39-4A45-9543-E35A5CD44E8F}" dt="2026-08-18T11:53:44.014" v="41" actId="20577"/>
        <pc:sldMkLst>
          <pc:docMk/>
          <pc:sldMk cId="0" sldId="296"/>
        </pc:sldMkLst>
        <pc:spChg chg="mod">
          <ac:chgData name="אריאל גזית" userId="ab0a39ea-8878-4fcc-a857-5afbe9cb9050" providerId="ADAL" clId="{8AF1E48A-3E39-4A45-9543-E35A5CD44E8F}" dt="2026-08-18T11:52:16.826" v="21" actId="6549"/>
          <ac:spMkLst>
            <pc:docMk/>
            <pc:sldMk cId="0" sldId="296"/>
            <ac:spMk id="28" creationId="{00000000-0000-0000-0000-000000000000}"/>
          </ac:spMkLst>
        </pc:spChg>
        <pc:spChg chg="mod">
          <ac:chgData name="אריאל גזית" userId="ab0a39ea-8878-4fcc-a857-5afbe9cb9050" providerId="ADAL" clId="{8AF1E48A-3E39-4A45-9543-E35A5CD44E8F}" dt="2026-08-18T11:52:05.128" v="13" actId="1076"/>
          <ac:spMkLst>
            <pc:docMk/>
            <pc:sldMk cId="0" sldId="296"/>
            <ac:spMk id="34" creationId="{00000000-0000-0000-0000-000000000000}"/>
          </ac:spMkLst>
        </pc:spChg>
        <pc:spChg chg="mod">
          <ac:chgData name="אריאל גזית" userId="ab0a39ea-8878-4fcc-a857-5afbe9cb9050" providerId="ADAL" clId="{8AF1E48A-3E39-4A45-9543-E35A5CD44E8F}" dt="2026-08-18T11:52:31.120" v="34" actId="20577"/>
          <ac:spMkLst>
            <pc:docMk/>
            <pc:sldMk cId="0" sldId="296"/>
            <ac:spMk id="36" creationId="{00000000-0000-0000-0000-000000000000}"/>
          </ac:spMkLst>
        </pc:spChg>
        <pc:spChg chg="mod">
          <ac:chgData name="אריאל גזית" userId="ab0a39ea-8878-4fcc-a857-5afbe9cb9050" providerId="ADAL" clId="{8AF1E48A-3E39-4A45-9543-E35A5CD44E8F}" dt="2026-08-18T11:53:44.014" v="41" actId="20577"/>
          <ac:spMkLst>
            <pc:docMk/>
            <pc:sldMk cId="0" sldId="296"/>
            <ac:spMk id="704" creationId="{00000000-0000-0000-0000-000000000000}"/>
          </ac:spMkLst>
        </pc:spChg>
        <pc:spChg chg="mod">
          <ac:chgData name="אריאל גזית" userId="ab0a39ea-8878-4fcc-a857-5afbe9cb9050" providerId="ADAL" clId="{8AF1E48A-3E39-4A45-9543-E35A5CD44E8F}" dt="2026-08-18T11:52:37.857" v="35" actId="6549"/>
          <ac:spMkLst>
            <pc:docMk/>
            <pc:sldMk cId="0" sldId="296"/>
            <ac:spMk id="708" creationId="{00000000-0000-0000-0000-000000000000}"/>
          </ac:spMkLst>
        </pc:spChg>
      </pc:sldChg>
      <pc:sldChg chg="add setBg">
        <pc:chgData name="אריאל גזית" userId="ab0a39ea-8878-4fcc-a857-5afbe9cb9050" providerId="ADAL" clId="{8AF1E48A-3E39-4A45-9543-E35A5CD44E8F}" dt="2026-08-18T11:49:25.503" v="6"/>
        <pc:sldMkLst>
          <pc:docMk/>
          <pc:sldMk cId="0" sldId="297"/>
        </pc:sldMkLst>
      </pc:sldChg>
      <pc:sldChg chg="add del ord setBg">
        <pc:chgData name="אריאל גזית" userId="ab0a39ea-8878-4fcc-a857-5afbe9cb9050" providerId="ADAL" clId="{8AF1E48A-3E39-4A45-9543-E35A5CD44E8F}" dt="2026-08-18T12:01:08.494" v="44" actId="2696"/>
        <pc:sldMkLst>
          <pc:docMk/>
          <pc:sldMk cId="0" sldId="298"/>
        </pc:sldMkLst>
      </pc:sldChg>
      <pc:sldChg chg="add">
        <pc:chgData name="אריאל גזית" userId="ab0a39ea-8878-4fcc-a857-5afbe9cb9050" providerId="ADAL" clId="{8AF1E48A-3E39-4A45-9543-E35A5CD44E8F}" dt="2026-08-18T12:01:17.163" v="45"/>
        <pc:sldMkLst>
          <pc:docMk/>
          <pc:sldMk cId="494707938" sldId="29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lineChart>
        <c:grouping val="standard"/>
        <c:varyColors val="0"/>
        <c:ser>
          <c:idx val="0"/>
          <c:order val="0"/>
          <c:tx>
            <c:strRef>
              <c:f>Sheet1!$B$1</c:f>
              <c:strCache>
                <c:ptCount val="1"/>
                <c:pt idx="0">
                  <c:v>Actual</c:v>
                </c:pt>
              </c:strCache>
            </c:strRef>
          </c:tx>
          <c:spPr>
            <a:ln w="31750" cap="flat">
              <a:solidFill>
                <a:srgbClr val="F4F7FB"/>
              </a:solidFill>
              <a:prstDash val="solid"/>
              <a:round/>
            </a:ln>
            <a:effectLst/>
          </c:spPr>
          <c:marker>
            <c:symbol val="circle"/>
            <c:size val="6"/>
            <c:spPr>
              <a:solidFill>
                <a:srgbClr val="F4F7FB"/>
              </a:solidFill>
              <a:ln w="9525" cap="flat">
                <a:solidFill>
                  <a:srgbClr val="F4F7FB"/>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234115</c:v>
                </c:pt>
                <c:pt idx="1">
                  <c:v>218324</c:v>
                </c:pt>
                <c:pt idx="2">
                  <c:v>261455</c:v>
                </c:pt>
                <c:pt idx="3">
                  <c:v>234947</c:v>
                </c:pt>
                <c:pt idx="4">
                  <c:v>236775</c:v>
                </c:pt>
                <c:pt idx="5">
                  <c:v>256207</c:v>
                </c:pt>
                <c:pt idx="6">
                  <c:v>283554</c:v>
                </c:pt>
              </c:numCache>
            </c:numRef>
          </c:val>
          <c:smooth val="0"/>
          <c:extLst>
            <c:ext xmlns:c16="http://schemas.microsoft.com/office/drawing/2014/chart" uri="{C3380CC4-5D6E-409C-BE32-E72D297353CC}">
              <c16:uniqueId val="{00000000-0BE4-45F5-A8B0-F27D1EBF969A}"/>
            </c:ext>
          </c:extLst>
        </c:ser>
        <c:ser>
          <c:idx val="1"/>
          <c:order val="1"/>
          <c:tx>
            <c:strRef>
              <c:f>Sheet1!$C$1</c:f>
              <c:strCache>
                <c:ptCount val="1"/>
                <c:pt idx="0">
                  <c:v>Jan-Jul pace / +3.2%/mo</c:v>
                </c:pt>
              </c:strCache>
            </c:strRef>
          </c:tx>
          <c:spPr>
            <a:ln w="31750" cap="flat">
              <a:solidFill>
                <a:srgbClr val="E0A030"/>
              </a:solidFill>
              <a:prstDash val="solid"/>
              <a:round/>
            </a:ln>
            <a:effectLst/>
          </c:spPr>
          <c:marker>
            <c:symbol val="circle"/>
            <c:size val="6"/>
            <c:spPr>
              <a:solidFill>
                <a:srgbClr val="E0A030"/>
              </a:solidFill>
              <a:ln w="9525" cap="flat">
                <a:solidFill>
                  <a:srgbClr val="E0A030"/>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6">
                  <c:v>283554</c:v>
                </c:pt>
                <c:pt idx="7">
                  <c:v>293160</c:v>
                </c:pt>
                <c:pt idx="8">
                  <c:v>303026</c:v>
                </c:pt>
                <c:pt idx="9">
                  <c:v>313158</c:v>
                </c:pt>
                <c:pt idx="10">
                  <c:v>323566</c:v>
                </c:pt>
                <c:pt idx="11">
                  <c:v>334256</c:v>
                </c:pt>
              </c:numCache>
            </c:numRef>
          </c:val>
          <c:smooth val="0"/>
          <c:extLst>
            <c:ext xmlns:c16="http://schemas.microsoft.com/office/drawing/2014/chart" uri="{C3380CC4-5D6E-409C-BE32-E72D297353CC}">
              <c16:uniqueId val="{00000001-0BE4-45F5-A8B0-F27D1EBF969A}"/>
            </c:ext>
          </c:extLst>
        </c:ser>
        <c:ser>
          <c:idx val="2"/>
          <c:order val="2"/>
          <c:tx>
            <c:strRef>
              <c:f>Sheet1!$D$1</c:f>
              <c:strCache>
                <c:ptCount val="1"/>
                <c:pt idx="0">
                  <c:v>May-Jul pace / Azure +13.3%/mo</c:v>
                </c:pt>
              </c:strCache>
            </c:strRef>
          </c:tx>
          <c:spPr>
            <a:ln w="31750" cap="flat">
              <a:solidFill>
                <a:srgbClr val="FF6B7A"/>
              </a:solidFill>
              <a:prstDash val="solid"/>
              <a:round/>
            </a:ln>
            <a:effectLst/>
          </c:spPr>
          <c:marker>
            <c:symbol val="circle"/>
            <c:size val="6"/>
            <c:spPr>
              <a:solidFill>
                <a:srgbClr val="FF6B7A"/>
              </a:solidFill>
              <a:ln w="9525" cap="flat">
                <a:solidFill>
                  <a:srgbClr val="FF6B7A"/>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6">
                  <c:v>283554</c:v>
                </c:pt>
                <c:pt idx="7">
                  <c:v>314904</c:v>
                </c:pt>
                <c:pt idx="8">
                  <c:v>349873</c:v>
                </c:pt>
                <c:pt idx="9">
                  <c:v>388919</c:v>
                </c:pt>
                <c:pt idx="10">
                  <c:v>432559</c:v>
                </c:pt>
                <c:pt idx="11">
                  <c:v>481378</c:v>
                </c:pt>
              </c:numCache>
            </c:numRef>
          </c:val>
          <c:smooth val="0"/>
          <c:extLst>
            <c:ext xmlns:c16="http://schemas.microsoft.com/office/drawing/2014/chart" uri="{C3380CC4-5D6E-409C-BE32-E72D297353CC}">
              <c16:uniqueId val="{00000002-0BE4-45F5-A8B0-F27D1EBF969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0</c:v>
                </c:pt>
                <c:pt idx="1">
                  <c:v>406</c:v>
                </c:pt>
                <c:pt idx="2">
                  <c:v>2848.78</c:v>
                </c:pt>
                <c:pt idx="3">
                  <c:v>3097.66</c:v>
                </c:pt>
                <c:pt idx="4">
                  <c:v>5693.72</c:v>
                </c:pt>
                <c:pt idx="5">
                  <c:v>5513.76</c:v>
                </c:pt>
                <c:pt idx="6">
                  <c:v>6103.43</c:v>
                </c:pt>
              </c:numCache>
            </c:numRef>
          </c:val>
          <c:extLst>
            <c:ext xmlns:c16="http://schemas.microsoft.com/office/drawing/2014/chart" uri="{C3380CC4-5D6E-409C-BE32-E72D297353CC}">
              <c16:uniqueId val="{00000000-319D-41A8-9887-F92F3F3C0EB3}"/>
            </c:ext>
          </c:extLst>
        </c:ser>
        <c:ser>
          <c:idx val="1"/>
          <c:order val="1"/>
          <c:tx>
            <c:strRef>
              <c:f>Sheet1!$C$1</c:f>
              <c:strCache>
                <c:ptCount val="1"/>
                <c:pt idx="0">
                  <c:v>Foundry Models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6</c:v>
                </c:pt>
                <c:pt idx="2">
                  <c:v>2961.34</c:v>
                </c:pt>
                <c:pt idx="3">
                  <c:v>4151.25</c:v>
                </c:pt>
                <c:pt idx="4">
                  <c:v>1183.0999999999999</c:v>
                </c:pt>
                <c:pt idx="5">
                  <c:v>9682.7999999999993</c:v>
                </c:pt>
                <c:pt idx="6">
                  <c:v>5641.2</c:v>
                </c:pt>
              </c:numCache>
            </c:numRef>
          </c:val>
          <c:extLst>
            <c:ext xmlns:c16="http://schemas.microsoft.com/office/drawing/2014/chart" uri="{C3380CC4-5D6E-409C-BE32-E72D297353CC}">
              <c16:uniqueId val="{00000001-319D-41A8-9887-F92F3F3C0EB3}"/>
            </c:ext>
          </c:extLst>
        </c:ser>
        <c:ser>
          <c:idx val="2"/>
          <c:order val="2"/>
          <c:tx>
            <c:strRef>
              <c:f>Sheet1!$D$1</c:f>
              <c:strCache>
                <c:ptCount val="1"/>
                <c:pt idx="0">
                  <c:v>Virtual Machines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487.69</c:v>
                </c:pt>
                <c:pt idx="1">
                  <c:v>1951</c:v>
                </c:pt>
                <c:pt idx="2">
                  <c:v>4361.8999999999996</c:v>
                </c:pt>
                <c:pt idx="3">
                  <c:v>1724.33</c:v>
                </c:pt>
                <c:pt idx="4">
                  <c:v>2887.44</c:v>
                </c:pt>
                <c:pt idx="5">
                  <c:v>4556.63</c:v>
                </c:pt>
                <c:pt idx="6">
                  <c:v>4865.47</c:v>
                </c:pt>
              </c:numCache>
            </c:numRef>
          </c:val>
          <c:extLst>
            <c:ext xmlns:c16="http://schemas.microsoft.com/office/drawing/2014/chart" uri="{C3380CC4-5D6E-409C-BE32-E72D297353CC}">
              <c16:uniqueId val="{00000002-319D-41A8-9887-F92F3F3C0EB3}"/>
            </c:ext>
          </c:extLst>
        </c:ser>
        <c:ser>
          <c:idx val="3"/>
          <c:order val="3"/>
          <c:tx>
            <c:strRef>
              <c:f>Sheet1!$E$1</c:f>
              <c:strCache>
                <c:ptCount val="1"/>
                <c:pt idx="0">
                  <c:v>Azure Cognitive Search</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23.43</c:v>
                </c:pt>
                <c:pt idx="1">
                  <c:v>68</c:v>
                </c:pt>
                <c:pt idx="2">
                  <c:v>305.51</c:v>
                </c:pt>
                <c:pt idx="3">
                  <c:v>629.28</c:v>
                </c:pt>
                <c:pt idx="4">
                  <c:v>1166.49</c:v>
                </c:pt>
                <c:pt idx="5">
                  <c:v>1582.03</c:v>
                </c:pt>
                <c:pt idx="6">
                  <c:v>1825.03</c:v>
                </c:pt>
              </c:numCache>
            </c:numRef>
          </c:val>
          <c:extLst>
            <c:ext xmlns:c16="http://schemas.microsoft.com/office/drawing/2014/chart" uri="{C3380CC4-5D6E-409C-BE32-E72D297353CC}">
              <c16:uniqueId val="{00000003-319D-41A8-9887-F92F3F3C0EB3}"/>
            </c:ext>
          </c:extLst>
        </c:ser>
        <c:ser>
          <c:idx val="4"/>
          <c:order val="4"/>
          <c:tx>
            <c:strRef>
              <c:f>Sheet1!$F$1</c:f>
              <c:strCache>
                <c:ptCount val="1"/>
                <c:pt idx="0">
                  <c:v>Microsoft Defender for Cloud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83.58</c:v>
                </c:pt>
                <c:pt idx="1">
                  <c:v>237</c:v>
                </c:pt>
                <c:pt idx="2">
                  <c:v>535.5</c:v>
                </c:pt>
                <c:pt idx="3">
                  <c:v>143.21</c:v>
                </c:pt>
                <c:pt idx="4">
                  <c:v>401.16</c:v>
                </c:pt>
                <c:pt idx="5">
                  <c:v>1574.44</c:v>
                </c:pt>
                <c:pt idx="6">
                  <c:v>1166.17</c:v>
                </c:pt>
              </c:numCache>
            </c:numRef>
          </c:val>
          <c:extLst>
            <c:ext xmlns:c16="http://schemas.microsoft.com/office/drawing/2014/chart" uri="{C3380CC4-5D6E-409C-BE32-E72D297353CC}">
              <c16:uniqueId val="{00000004-319D-41A8-9887-F92F3F3C0EB3}"/>
            </c:ext>
          </c:extLst>
        </c:ser>
        <c:ser>
          <c:idx val="5"/>
          <c:order val="5"/>
          <c:tx>
            <c:strRef>
              <c:f>Sheet1!$G$1</c:f>
              <c:strCache>
                <c:ptCount val="1"/>
                <c:pt idx="0">
                  <c:v>Azure Database for PostgreSQL</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46.79</c:v>
                </c:pt>
                <c:pt idx="1">
                  <c:v>141</c:v>
                </c:pt>
                <c:pt idx="2">
                  <c:v>356.15</c:v>
                </c:pt>
                <c:pt idx="3">
                  <c:v>489.68</c:v>
                </c:pt>
                <c:pt idx="4">
                  <c:v>790.07</c:v>
                </c:pt>
                <c:pt idx="5">
                  <c:v>1068.76</c:v>
                </c:pt>
                <c:pt idx="6">
                  <c:v>1101.71</c:v>
                </c:pt>
              </c:numCache>
            </c:numRef>
          </c:val>
          <c:extLst>
            <c:ext xmlns:c16="http://schemas.microsoft.com/office/drawing/2014/chart" uri="{C3380CC4-5D6E-409C-BE32-E72D297353CC}">
              <c16:uniqueId val="{00000005-319D-41A8-9887-F92F3F3C0EB3}"/>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extLst>
            <c:ext xmlns:c16="http://schemas.microsoft.com/office/drawing/2014/chart" uri="{C3380CC4-5D6E-409C-BE32-E72D297353CC}">
              <c16:uniqueId val="{00000006-319D-41A8-9887-F92F3F3C0EB3}"/>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798.75</c:v>
                </c:pt>
                <c:pt idx="1">
                  <c:v>2844</c:v>
                </c:pt>
                <c:pt idx="2">
                  <c:v>10910</c:v>
                </c:pt>
                <c:pt idx="3">
                  <c:v>9522</c:v>
                </c:pt>
                <c:pt idx="4">
                  <c:v>7610.56</c:v>
                </c:pt>
                <c:pt idx="5">
                  <c:v>17286</c:v>
                </c:pt>
                <c:pt idx="6">
                  <c:v>13714</c:v>
                </c:pt>
              </c:numCache>
            </c:numRef>
          </c:val>
          <c:extLst>
            <c:ext xmlns:c16="http://schemas.microsoft.com/office/drawing/2014/chart" uri="{C3380CC4-5D6E-409C-BE32-E72D297353CC}">
              <c16:uniqueId val="{00000000-1AAB-45A1-9AE2-1194C1E415F8}"/>
            </c:ext>
          </c:extLst>
        </c:ser>
        <c:ser>
          <c:idx val="1"/>
          <c:order val="1"/>
          <c:tx>
            <c:strRef>
              <c:f>Sheet1!$C$1</c:f>
              <c:strCache>
                <c:ptCount val="1"/>
                <c:pt idx="0">
                  <c:v>Dev/Test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464</c:v>
                </c:pt>
                <c:pt idx="2">
                  <c:v>1031</c:v>
                </c:pt>
                <c:pt idx="3">
                  <c:v>1368</c:v>
                </c:pt>
                <c:pt idx="4">
                  <c:v>4874.3900000000003</c:v>
                </c:pt>
                <c:pt idx="5">
                  <c:v>7063</c:v>
                </c:pt>
                <c:pt idx="6">
                  <c:v>6454</c:v>
                </c:pt>
              </c:numCache>
            </c:numRef>
          </c:val>
          <c:extLst>
            <c:ext xmlns:c16="http://schemas.microsoft.com/office/drawing/2014/chart" uri="{C3380CC4-5D6E-409C-BE32-E72D297353CC}">
              <c16:uniqueId val="{00000001-1AAB-45A1-9AE2-1194C1E415F8}"/>
            </c:ext>
          </c:extLst>
        </c:ser>
        <c:ser>
          <c:idx val="2"/>
          <c:order val="2"/>
          <c:tx>
            <c:strRef>
              <c:f>Sheet1!$D$1</c:f>
              <c:strCache>
                <c:ptCount val="1"/>
                <c:pt idx="0">
                  <c:v>AI Factory prod</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55.56</c:v>
                </c:pt>
                <c:pt idx="1">
                  <c:v>169</c:v>
                </c:pt>
                <c:pt idx="2">
                  <c:v>460</c:v>
                </c:pt>
                <c:pt idx="3">
                  <c:v>454</c:v>
                </c:pt>
                <c:pt idx="4">
                  <c:v>575.07000000000005</c:v>
                </c:pt>
                <c:pt idx="5">
                  <c:v>814</c:v>
                </c:pt>
                <c:pt idx="6">
                  <c:v>1160</c:v>
                </c:pt>
              </c:numCache>
            </c:numRef>
          </c:val>
          <c:extLst>
            <c:ext xmlns:c16="http://schemas.microsoft.com/office/drawing/2014/chart" uri="{C3380CC4-5D6E-409C-BE32-E72D297353CC}">
              <c16:uniqueId val="{00000002-1AAB-45A1-9AE2-1194C1E415F8}"/>
            </c:ext>
          </c:extLst>
        </c:ser>
        <c:ser>
          <c:idx val="3"/>
          <c:order val="3"/>
          <c:tx>
            <c:strRef>
              <c:f>Sheet1!$E$1</c:f>
              <c:strCache>
                <c:ptCount val="1"/>
                <c:pt idx="0">
                  <c:v>AI Factory dev</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231</c:v>
                </c:pt>
                <c:pt idx="3">
                  <c:v>332</c:v>
                </c:pt>
                <c:pt idx="4">
                  <c:v>347.57</c:v>
                </c:pt>
                <c:pt idx="5">
                  <c:v>497</c:v>
                </c:pt>
                <c:pt idx="6">
                  <c:v>458</c:v>
                </c:pt>
              </c:numCache>
            </c:numRef>
          </c:val>
          <c:extLst>
            <c:ext xmlns:c16="http://schemas.microsoft.com/office/drawing/2014/chart" uri="{C3380CC4-5D6E-409C-BE32-E72D297353CC}">
              <c16:uniqueId val="{00000003-1AAB-45A1-9AE2-1194C1E415F8}"/>
            </c:ext>
          </c:extLst>
        </c:ser>
        <c:ser>
          <c:idx val="4"/>
          <c:order val="4"/>
          <c:tx>
            <c:strRef>
              <c:f>Sheet1!$F$1</c:f>
              <c:strCache>
                <c:ptCount val="1"/>
                <c:pt idx="0">
                  <c:v>INSAIT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193.18</c:v>
                </c:pt>
                <c:pt idx="5">
                  <c:v>239</c:v>
                </c:pt>
                <c:pt idx="6">
                  <c:v>1339</c:v>
                </c:pt>
              </c:numCache>
            </c:numRef>
          </c:val>
          <c:extLst>
            <c:ext xmlns:c16="http://schemas.microsoft.com/office/drawing/2014/chart" uri="{C3380CC4-5D6E-409C-BE32-E72D297353CC}">
              <c16:uniqueId val="{00000004-1AAB-45A1-9AE2-1194C1E415F8}"/>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0</c:v>
                </c:pt>
                <c:pt idx="1">
                  <c:v>0</c:v>
                </c:pt>
                <c:pt idx="2">
                  <c:v>0</c:v>
                </c:pt>
                <c:pt idx="3">
                  <c:v>0</c:v>
                </c:pt>
                <c:pt idx="4">
                  <c:v>55.57</c:v>
                </c:pt>
                <c:pt idx="5">
                  <c:v>443</c:v>
                </c:pt>
                <c:pt idx="6">
                  <c:v>485</c:v>
                </c:pt>
              </c:numCache>
            </c:numRef>
          </c:val>
          <c:extLst>
            <c:ext xmlns:c16="http://schemas.microsoft.com/office/drawing/2014/chart" uri="{C3380CC4-5D6E-409C-BE32-E72D297353CC}">
              <c16:uniqueId val="{00000005-1AAB-45A1-9AE2-1194C1E415F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3312</c:v>
                </c:pt>
                <c:pt idx="1">
                  <c:v>3720</c:v>
                </c:pt>
                <c:pt idx="2">
                  <c:v>2846</c:v>
                </c:pt>
                <c:pt idx="3">
                  <c:v>1523.49</c:v>
                </c:pt>
                <c:pt idx="4">
                  <c:v>2246.94</c:v>
                </c:pt>
                <c:pt idx="5">
                  <c:v>2764.98</c:v>
                </c:pt>
                <c:pt idx="6">
                  <c:v>2392.3200000000002</c:v>
                </c:pt>
              </c:numCache>
            </c:numRef>
          </c:val>
          <c:extLst>
            <c:ext xmlns:c16="http://schemas.microsoft.com/office/drawing/2014/chart" uri="{C3380CC4-5D6E-409C-BE32-E72D297353CC}">
              <c16:uniqueId val="{00000000-23A4-44DC-A9AD-11A330C60FB0}"/>
            </c:ext>
          </c:extLst>
        </c:ser>
        <c:ser>
          <c:idx val="1"/>
          <c:order val="1"/>
          <c:tx>
            <c:strRef>
              <c:f>Sheet1!$C$1</c:f>
              <c:strCache>
                <c:ptCount val="1"/>
                <c:pt idx="0">
                  <c:v>5.4 opt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0</c:v>
                </c:pt>
                <c:pt idx="2">
                  <c:v>0</c:v>
                </c:pt>
                <c:pt idx="3">
                  <c:v>0</c:v>
                </c:pt>
                <c:pt idx="4">
                  <c:v>941.41</c:v>
                </c:pt>
                <c:pt idx="5">
                  <c:v>6273.8</c:v>
                </c:pt>
                <c:pt idx="6">
                  <c:v>3893</c:v>
                </c:pt>
              </c:numCache>
            </c:numRef>
          </c:val>
          <c:extLst>
            <c:ext xmlns:c16="http://schemas.microsoft.com/office/drawing/2014/chart" uri="{C3380CC4-5D6E-409C-BE32-E72D297353CC}">
              <c16:uniqueId val="{00000001-23A4-44DC-A9AD-11A330C60FB0}"/>
            </c:ext>
          </c:extLst>
        </c:ser>
        <c:ser>
          <c:idx val="2"/>
          <c:order val="2"/>
          <c:tx>
            <c:strRef>
              <c:f>Sheet1!$D$1</c:f>
              <c:strCache>
                <c:ptCount val="1"/>
                <c:pt idx="0">
                  <c:v>5.4 inp</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0</c:v>
                </c:pt>
                <c:pt idx="1">
                  <c:v>0</c:v>
                </c:pt>
                <c:pt idx="2">
                  <c:v>0</c:v>
                </c:pt>
                <c:pt idx="3">
                  <c:v>0</c:v>
                </c:pt>
                <c:pt idx="4">
                  <c:v>1056.29</c:v>
                </c:pt>
                <c:pt idx="5">
                  <c:v>4877.16</c:v>
                </c:pt>
                <c:pt idx="6">
                  <c:v>4947</c:v>
                </c:pt>
              </c:numCache>
            </c:numRef>
          </c:val>
          <c:extLst>
            <c:ext xmlns:c16="http://schemas.microsoft.com/office/drawing/2014/chart" uri="{C3380CC4-5D6E-409C-BE32-E72D297353CC}">
              <c16:uniqueId val="{00000002-23A4-44DC-A9AD-11A330C60FB0}"/>
            </c:ext>
          </c:extLst>
        </c:ser>
        <c:ser>
          <c:idx val="3"/>
          <c:order val="3"/>
          <c:tx>
            <c:strRef>
              <c:f>Sheet1!$E$1</c:f>
              <c:strCache>
                <c:ptCount val="1"/>
                <c:pt idx="0">
                  <c:v>S0 Pre-built Pages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804</c:v>
                </c:pt>
                <c:pt idx="1">
                  <c:v>385</c:v>
                </c:pt>
                <c:pt idx="2">
                  <c:v>521</c:v>
                </c:pt>
                <c:pt idx="3">
                  <c:v>336.11</c:v>
                </c:pt>
                <c:pt idx="4">
                  <c:v>627.22</c:v>
                </c:pt>
                <c:pt idx="5">
                  <c:v>2035.82</c:v>
                </c:pt>
                <c:pt idx="6">
                  <c:v>3385.11</c:v>
                </c:pt>
              </c:numCache>
            </c:numRef>
          </c:val>
          <c:extLst>
            <c:ext xmlns:c16="http://schemas.microsoft.com/office/drawing/2014/chart" uri="{C3380CC4-5D6E-409C-BE32-E72D297353CC}">
              <c16:uniqueId val="{00000003-23A4-44DC-A9AD-11A330C60FB0}"/>
            </c:ext>
          </c:extLst>
        </c:ser>
        <c:ser>
          <c:idx val="4"/>
          <c:order val="4"/>
          <c:tx>
            <c:strRef>
              <c:f>Sheet1!$F$1</c:f>
              <c:strCache>
                <c:ptCount val="1"/>
                <c:pt idx="0">
                  <c:v>gpt 4o 0513</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1145</c:v>
                </c:pt>
                <c:pt idx="1">
                  <c:v>1300</c:v>
                </c:pt>
                <c:pt idx="2">
                  <c:v>1060.02</c:v>
                </c:pt>
                <c:pt idx="3">
                  <c:v>3220.28</c:v>
                </c:pt>
                <c:pt idx="4">
                  <c:v>917</c:v>
                </c:pt>
                <c:pt idx="5">
                  <c:v>261</c:v>
                </c:pt>
                <c:pt idx="6">
                  <c:v>188</c:v>
                </c:pt>
              </c:numCache>
            </c:numRef>
          </c:val>
          <c:extLst>
            <c:ext xmlns:c16="http://schemas.microsoft.com/office/drawing/2014/chart" uri="{C3380CC4-5D6E-409C-BE32-E72D297353CC}">
              <c16:uniqueId val="{00000004-23A4-44DC-A9AD-11A330C60FB0}"/>
            </c:ext>
          </c:extLst>
        </c:ser>
        <c:ser>
          <c:idx val="5"/>
          <c:order val="5"/>
          <c:tx>
            <c:strRef>
              <c:f>Sheet1!$G$1</c:f>
              <c:strCache>
                <c:ptCount val="1"/>
                <c:pt idx="0">
                  <c:v>gpt 4o 1120</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6.11</c:v>
                </c:pt>
                <c:pt idx="1">
                  <c:v>524</c:v>
                </c:pt>
                <c:pt idx="2">
                  <c:v>2563.7600000000002</c:v>
                </c:pt>
                <c:pt idx="3">
                  <c:v>3081.82</c:v>
                </c:pt>
                <c:pt idx="4">
                  <c:v>253</c:v>
                </c:pt>
                <c:pt idx="5">
                  <c:v>663</c:v>
                </c:pt>
                <c:pt idx="6">
                  <c:v>107</c:v>
                </c:pt>
              </c:numCache>
            </c:numRef>
          </c:val>
          <c:extLst>
            <c:ext xmlns:c16="http://schemas.microsoft.com/office/drawing/2014/chart" uri="{C3380CC4-5D6E-409C-BE32-E72D297353CC}">
              <c16:uniqueId val="{00000005-23A4-44DC-A9AD-11A330C60FB0}"/>
            </c:ext>
          </c:extLst>
        </c:ser>
        <c:ser>
          <c:idx val="6"/>
          <c:order val="6"/>
          <c:tx>
            <c:strRef>
              <c:f>Sheet1!$H$1</c:f>
              <c:strCache>
                <c:ptCount val="1"/>
                <c:pt idx="0">
                  <c:v>GPT 5</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13.65</c:v>
                </c:pt>
                <c:pt idx="1">
                  <c:v>17</c:v>
                </c:pt>
                <c:pt idx="2">
                  <c:v>272.95</c:v>
                </c:pt>
                <c:pt idx="3">
                  <c:v>971.26</c:v>
                </c:pt>
                <c:pt idx="4">
                  <c:v>5056</c:v>
                </c:pt>
                <c:pt idx="5">
                  <c:v>494</c:v>
                </c:pt>
                <c:pt idx="6">
                  <c:v>1</c:v>
                </c:pt>
              </c:numCache>
            </c:numRef>
          </c:val>
          <c:extLst>
            <c:ext xmlns:c16="http://schemas.microsoft.com/office/drawing/2014/chart" uri="{C3380CC4-5D6E-409C-BE32-E72D297353CC}">
              <c16:uniqueId val="{00000006-23A4-44DC-A9AD-11A330C60FB0}"/>
            </c:ext>
          </c:extLst>
        </c:ser>
        <c:ser>
          <c:idx val="7"/>
          <c:order val="7"/>
          <c:tx>
            <c:strRef>
              <c:f>Sheet1!$I$1</c:f>
              <c:strCache>
                <c:ptCount val="1"/>
                <c:pt idx="0">
                  <c:v>GPT 5.1</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0</c:v>
                </c:pt>
                <c:pt idx="1">
                  <c:v>0</c:v>
                </c:pt>
                <c:pt idx="2">
                  <c:v>22.62</c:v>
                </c:pt>
                <c:pt idx="3">
                  <c:v>0.21</c:v>
                </c:pt>
                <c:pt idx="4">
                  <c:v>220</c:v>
                </c:pt>
                <c:pt idx="5">
                  <c:v>1946</c:v>
                </c:pt>
                <c:pt idx="6">
                  <c:v>1204</c:v>
                </c:pt>
              </c:numCache>
            </c:numRef>
          </c:val>
          <c:extLst>
            <c:ext xmlns:c16="http://schemas.microsoft.com/office/drawing/2014/chart" uri="{C3380CC4-5D6E-409C-BE32-E72D297353CC}">
              <c16:uniqueId val="{00000007-23A4-44DC-A9AD-11A330C60FB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481.32</c:v>
                </c:pt>
                <c:pt idx="1">
                  <c:v>846</c:v>
                </c:pt>
                <c:pt idx="2">
                  <c:v>552.17999999999995</c:v>
                </c:pt>
                <c:pt idx="3">
                  <c:v>1410.55</c:v>
                </c:pt>
                <c:pt idx="4">
                  <c:v>3611.5500000000006</c:v>
                </c:pt>
                <c:pt idx="5">
                  <c:v>2292.8399999999997</c:v>
                </c:pt>
                <c:pt idx="6">
                  <c:v>3491.7999999999997</c:v>
                </c:pt>
              </c:numCache>
            </c:numRef>
          </c:val>
          <c:extLst>
            <c:ext xmlns:c16="http://schemas.microsoft.com/office/drawing/2014/chart" uri="{C3380CC4-5D6E-409C-BE32-E72D297353CC}">
              <c16:uniqueId val="{00000008-23A4-44DC-A9AD-11A330C60FB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c:v>
                </c:pt>
                <c:pt idx="2">
                  <c:v>2866.65</c:v>
                </c:pt>
                <c:pt idx="3">
                  <c:v>4806.49</c:v>
                </c:pt>
                <c:pt idx="4">
                  <c:v>9873.2199999999993</c:v>
                </c:pt>
              </c:numCache>
            </c:numRef>
          </c:val>
          <c:extLst>
            <c:ext xmlns:c16="http://schemas.microsoft.com/office/drawing/2014/chart" uri="{C3380CC4-5D6E-409C-BE32-E72D297353CC}">
              <c16:uniqueId val="{00000000-A0FD-45DB-9477-45B977C906D2}"/>
            </c:ext>
          </c:extLst>
        </c:ser>
        <c:ser>
          <c:idx val="1"/>
          <c:order val="1"/>
          <c:tx>
            <c:strRef>
              <c:f>Sheet1!$C$1</c:f>
              <c:strCache>
                <c:ptCount val="1"/>
                <c:pt idx="0">
                  <c:v>Claude Opus 4.8</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0</c:v>
                </c:pt>
                <c:pt idx="2">
                  <c:v>76.7</c:v>
                </c:pt>
                <c:pt idx="3">
                  <c:v>2024.12</c:v>
                </c:pt>
                <c:pt idx="4">
                  <c:v>11361.86</c:v>
                </c:pt>
              </c:numCache>
            </c:numRef>
          </c:val>
          <c:extLst>
            <c:ext xmlns:c16="http://schemas.microsoft.com/office/drawing/2014/chart" uri="{C3380CC4-5D6E-409C-BE32-E72D297353CC}">
              <c16:uniqueId val="{00000001-A0FD-45DB-9477-45B977C906D2}"/>
            </c:ext>
          </c:extLst>
        </c:ser>
        <c:ser>
          <c:idx val="2"/>
          <c:order val="2"/>
          <c:tx>
            <c:strRef>
              <c:f>Sheet1!$D$1</c:f>
              <c:strCache>
                <c:ptCount val="1"/>
                <c:pt idx="0">
                  <c:v>Claude Opus 4.7</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0</c:v>
                </c:pt>
                <c:pt idx="2">
                  <c:v>786.79</c:v>
                </c:pt>
                <c:pt idx="3">
                  <c:v>2917.83</c:v>
                </c:pt>
                <c:pt idx="4">
                  <c:v>2438.48</c:v>
                </c:pt>
              </c:numCache>
            </c:numRef>
          </c:val>
          <c:extLst>
            <c:ext xmlns:c16="http://schemas.microsoft.com/office/drawing/2014/chart" uri="{C3380CC4-5D6E-409C-BE32-E72D297353CC}">
              <c16:uniqueId val="{00000002-A0FD-45DB-9477-45B977C906D2}"/>
            </c:ext>
          </c:extLst>
        </c:ser>
        <c:ser>
          <c:idx val="3"/>
          <c:order val="3"/>
          <c:tx>
            <c:strRef>
              <c:f>Sheet1!$E$1</c:f>
              <c:strCache>
                <c:ptCount val="1"/>
                <c:pt idx="0">
                  <c:v>Amazon Bedrock Edition</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841</c:v>
                </c:pt>
                <c:pt idx="1">
                  <c:v>1609</c:v>
                </c:pt>
                <c:pt idx="2">
                  <c:v>0</c:v>
                </c:pt>
                <c:pt idx="3">
                  <c:v>0</c:v>
                </c:pt>
                <c:pt idx="4">
                  <c:v>0</c:v>
                </c:pt>
              </c:numCache>
            </c:numRef>
          </c:val>
          <c:extLst>
            <c:ext xmlns:c16="http://schemas.microsoft.com/office/drawing/2014/chart" uri="{C3380CC4-5D6E-409C-BE32-E72D297353CC}">
              <c16:uniqueId val="{00000003-A0FD-45DB-9477-45B977C906D2}"/>
            </c:ext>
          </c:extLst>
        </c:ser>
        <c:ser>
          <c:idx val="4"/>
          <c:order val="4"/>
          <c:tx>
            <c:strRef>
              <c:f>Sheet1!$F$1</c:f>
              <c:strCache>
                <c:ptCount val="1"/>
                <c:pt idx="0">
                  <c:v>Claude Sonnet 4.6</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14.53</c:v>
                </c:pt>
                <c:pt idx="3">
                  <c:v>540.41</c:v>
                </c:pt>
                <c:pt idx="4">
                  <c:v>688.26</c:v>
                </c:pt>
              </c:numCache>
            </c:numRef>
          </c:val>
          <c:extLst>
            <c:ext xmlns:c16="http://schemas.microsoft.com/office/drawing/2014/chart" uri="{C3380CC4-5D6E-409C-BE32-E72D297353CC}">
              <c16:uniqueId val="{00000004-A0FD-45DB-9477-45B977C906D2}"/>
            </c:ext>
          </c:extLst>
        </c:ser>
        <c:ser>
          <c:idx val="5"/>
          <c:order val="5"/>
          <c:tx>
            <c:strRef>
              <c:f>Sheet1!$G$1</c:f>
              <c:strCache>
                <c:ptCount val="1"/>
                <c:pt idx="0">
                  <c:v>Claude Opus 5</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c:v>
                </c:pt>
                <c:pt idx="1">
                  <c:v>0</c:v>
                </c:pt>
                <c:pt idx="2">
                  <c:v>0</c:v>
                </c:pt>
                <c:pt idx="3">
                  <c:v>0</c:v>
                </c:pt>
                <c:pt idx="4">
                  <c:v>691.45</c:v>
                </c:pt>
              </c:numCache>
            </c:numRef>
          </c:val>
          <c:extLst>
            <c:ext xmlns:c16="http://schemas.microsoft.com/office/drawing/2014/chart" uri="{C3380CC4-5D6E-409C-BE32-E72D297353CC}">
              <c16:uniqueId val="{00000005-A0FD-45DB-9477-45B977C906D2}"/>
            </c:ext>
          </c:extLst>
        </c:ser>
        <c:ser>
          <c:idx val="6"/>
          <c:order val="6"/>
          <c:tx>
            <c:strRef>
              <c:f>Sheet1!$H$1</c:f>
              <c:strCache>
                <c:ptCount val="1"/>
                <c:pt idx="0">
                  <c:v>Claude Haiku 4.5</c:v>
                </c:pt>
              </c:strCache>
            </c:strRef>
          </c:tx>
          <c:spPr>
            <a:solidFill>
              <a:srgbClr val="2AD38C"/>
            </a:solidFill>
            <a:effectLst/>
          </c:spPr>
          <c:invertIfNegative val="0"/>
          <c:cat>
            <c:strRef>
              <c:f>Sheet1!$A$2:$A$6</c:f>
              <c:strCache>
                <c:ptCount val="5"/>
                <c:pt idx="0">
                  <c:v>Mar</c:v>
                </c:pt>
                <c:pt idx="1">
                  <c:v>Apr</c:v>
                </c:pt>
                <c:pt idx="2">
                  <c:v>May</c:v>
                </c:pt>
                <c:pt idx="3">
                  <c:v>Jun</c:v>
                </c:pt>
                <c:pt idx="4">
                  <c:v>Jul</c:v>
                </c:pt>
              </c:strCache>
            </c:strRef>
          </c:cat>
          <c:val>
            <c:numRef>
              <c:f>Sheet1!$H$2:$H$6</c:f>
              <c:numCache>
                <c:formatCode>General</c:formatCode>
                <c:ptCount val="5"/>
                <c:pt idx="0">
                  <c:v>0</c:v>
                </c:pt>
                <c:pt idx="1">
                  <c:v>0</c:v>
                </c:pt>
                <c:pt idx="2">
                  <c:v>57.15</c:v>
                </c:pt>
                <c:pt idx="3">
                  <c:v>159.32</c:v>
                </c:pt>
                <c:pt idx="4">
                  <c:v>157.37</c:v>
                </c:pt>
              </c:numCache>
            </c:numRef>
          </c:val>
          <c:extLst>
            <c:ext xmlns:c16="http://schemas.microsoft.com/office/drawing/2014/chart" uri="{C3380CC4-5D6E-409C-BE32-E72D297353CC}">
              <c16:uniqueId val="{00000006-A0FD-45DB-9477-45B977C906D2}"/>
            </c:ext>
          </c:extLst>
        </c:ser>
        <c:ser>
          <c:idx val="7"/>
          <c:order val="7"/>
          <c:tx>
            <c:strRef>
              <c:f>Sheet1!$I$1</c:f>
              <c:strCache>
                <c:ptCount val="1"/>
                <c:pt idx="0">
                  <c:v>Claude Sonnet 4.5</c:v>
                </c:pt>
              </c:strCache>
            </c:strRef>
          </c:tx>
          <c:spPr>
            <a:solidFill>
              <a:srgbClr val="FFB84D"/>
            </a:solidFill>
            <a:effectLst/>
          </c:spPr>
          <c:invertIfNegative val="0"/>
          <c:cat>
            <c:strRef>
              <c:f>Sheet1!$A$2:$A$6</c:f>
              <c:strCache>
                <c:ptCount val="5"/>
                <c:pt idx="0">
                  <c:v>Mar</c:v>
                </c:pt>
                <c:pt idx="1">
                  <c:v>Apr</c:v>
                </c:pt>
                <c:pt idx="2">
                  <c:v>May</c:v>
                </c:pt>
                <c:pt idx="3">
                  <c:v>Jun</c:v>
                </c:pt>
                <c:pt idx="4">
                  <c:v>Jul</c:v>
                </c:pt>
              </c:strCache>
            </c:strRef>
          </c:cat>
          <c:val>
            <c:numRef>
              <c:f>Sheet1!$I$2:$I$6</c:f>
              <c:numCache>
                <c:formatCode>General</c:formatCode>
                <c:ptCount val="5"/>
                <c:pt idx="0">
                  <c:v>0</c:v>
                </c:pt>
                <c:pt idx="1">
                  <c:v>0</c:v>
                </c:pt>
                <c:pt idx="2">
                  <c:v>9.6300000000000008</c:v>
                </c:pt>
                <c:pt idx="3">
                  <c:v>58.63</c:v>
                </c:pt>
                <c:pt idx="4">
                  <c:v>77.41</c:v>
                </c:pt>
              </c:numCache>
            </c:numRef>
          </c:val>
          <c:extLst>
            <c:ext xmlns:c16="http://schemas.microsoft.com/office/drawing/2014/chart" uri="{C3380CC4-5D6E-409C-BE32-E72D297353CC}">
              <c16:uniqueId val="{00000007-A0FD-45DB-9477-45B977C906D2}"/>
            </c:ext>
          </c:extLst>
        </c:ser>
        <c:ser>
          <c:idx val="8"/>
          <c:order val="8"/>
          <c:tx>
            <c:strRef>
              <c:f>Sheet1!$J$1</c:f>
              <c:strCache>
                <c:ptCount val="1"/>
                <c:pt idx="0">
                  <c:v>All other</c:v>
                </c:pt>
              </c:strCache>
            </c:strRef>
          </c:tx>
          <c:spPr>
            <a:solidFill>
              <a:srgbClr val="6C8CFF"/>
            </a:solidFill>
            <a:effectLst/>
          </c:spPr>
          <c:invertIfNegative val="0"/>
          <c:cat>
            <c:strRef>
              <c:f>Sheet1!$A$2:$A$6</c:f>
              <c:strCache>
                <c:ptCount val="5"/>
                <c:pt idx="0">
                  <c:v>Mar</c:v>
                </c:pt>
                <c:pt idx="1">
                  <c:v>Apr</c:v>
                </c:pt>
                <c:pt idx="2">
                  <c:v>May</c:v>
                </c:pt>
                <c:pt idx="3">
                  <c:v>Jun</c:v>
                </c:pt>
                <c:pt idx="4">
                  <c:v>Jul</c:v>
                </c:pt>
              </c:strCache>
            </c:strRef>
          </c:cat>
          <c:val>
            <c:numRef>
              <c:f>Sheet1!$J$2:$J$6</c:f>
              <c:numCache>
                <c:formatCode>General</c:formatCode>
                <c:ptCount val="5"/>
                <c:pt idx="0">
                  <c:v>0</c:v>
                </c:pt>
                <c:pt idx="1">
                  <c:v>0</c:v>
                </c:pt>
                <c:pt idx="2">
                  <c:v>0.01</c:v>
                </c:pt>
                <c:pt idx="3">
                  <c:v>0</c:v>
                </c:pt>
                <c:pt idx="4">
                  <c:v>0.28000000000000003</c:v>
                </c:pt>
              </c:numCache>
            </c:numRef>
          </c:val>
          <c:extLst>
            <c:ext xmlns:c16="http://schemas.microsoft.com/office/drawing/2014/chart" uri="{C3380CC4-5D6E-409C-BE32-E72D297353CC}">
              <c16:uniqueId val="{00000008-A0FD-45DB-9477-45B977C906D2}"/>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0.01</c:v>
                </c:pt>
                <c:pt idx="2">
                  <c:v>378.84</c:v>
                </c:pt>
                <c:pt idx="3">
                  <c:v>957.52</c:v>
                </c:pt>
                <c:pt idx="4">
                  <c:v>2359</c:v>
                </c:pt>
              </c:numCache>
            </c:numRef>
          </c:val>
          <c:extLst>
            <c:ext xmlns:c16="http://schemas.microsoft.com/office/drawing/2014/chart" uri="{C3380CC4-5D6E-409C-BE32-E72D297353CC}">
              <c16:uniqueId val="{00000000-1CE6-47BE-AEDC-98C6021259A6}"/>
            </c:ext>
          </c:extLst>
        </c:ser>
        <c:ser>
          <c:idx val="1"/>
          <c:order val="1"/>
          <c:tx>
            <c:strRef>
              <c:f>Sheet1!$C$1</c:f>
              <c:strCache>
                <c:ptCount val="1"/>
                <c:pt idx="0">
                  <c:v>Compute Engine</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221.73</c:v>
                </c:pt>
                <c:pt idx="2">
                  <c:v>714.24</c:v>
                </c:pt>
                <c:pt idx="3">
                  <c:v>977.33</c:v>
                </c:pt>
                <c:pt idx="4">
                  <c:v>1011.51</c:v>
                </c:pt>
              </c:numCache>
            </c:numRef>
          </c:val>
          <c:extLst>
            <c:ext xmlns:c16="http://schemas.microsoft.com/office/drawing/2014/chart" uri="{C3380CC4-5D6E-409C-BE32-E72D297353CC}">
              <c16:uniqueId val="{00000001-1CE6-47BE-AEDC-98C6021259A6}"/>
            </c:ext>
          </c:extLst>
        </c:ser>
        <c:ser>
          <c:idx val="2"/>
          <c:order val="2"/>
          <c:tx>
            <c:strRef>
              <c:f>Sheet1!$D$1</c:f>
              <c:strCache>
                <c:ptCount val="1"/>
                <c:pt idx="0">
                  <c:v>Networking</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74.48</c:v>
                </c:pt>
                <c:pt idx="2">
                  <c:v>311.42</c:v>
                </c:pt>
                <c:pt idx="3">
                  <c:v>303.73</c:v>
                </c:pt>
                <c:pt idx="4">
                  <c:v>310</c:v>
                </c:pt>
              </c:numCache>
            </c:numRef>
          </c:val>
          <c:extLst>
            <c:ext xmlns:c16="http://schemas.microsoft.com/office/drawing/2014/chart" uri="{C3380CC4-5D6E-409C-BE32-E72D297353CC}">
              <c16:uniqueId val="{00000002-1CE6-47BE-AEDC-98C6021259A6}"/>
            </c:ext>
          </c:extLst>
        </c:ser>
        <c:ser>
          <c:idx val="3"/>
          <c:order val="3"/>
          <c:tx>
            <c:strRef>
              <c:f>Sheet1!$E$1</c:f>
              <c:strCache>
                <c:ptCount val="1"/>
                <c:pt idx="0">
                  <c:v>Gemini API</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395.81</c:v>
                </c:pt>
                <c:pt idx="1">
                  <c:v>134.71</c:v>
                </c:pt>
                <c:pt idx="2">
                  <c:v>92.38</c:v>
                </c:pt>
                <c:pt idx="3">
                  <c:v>0</c:v>
                </c:pt>
                <c:pt idx="4">
                  <c:v>0</c:v>
                </c:pt>
              </c:numCache>
            </c:numRef>
          </c:val>
          <c:extLst>
            <c:ext xmlns:c16="http://schemas.microsoft.com/office/drawing/2014/chart" uri="{C3380CC4-5D6E-409C-BE32-E72D297353CC}">
              <c16:uniqueId val="{00000003-1CE6-47BE-AEDC-98C6021259A6}"/>
            </c:ext>
          </c:extLst>
        </c:ser>
        <c:ser>
          <c:idx val="4"/>
          <c:order val="4"/>
          <c:tx>
            <c:strRef>
              <c:f>Sheet1!$F$1</c:f>
              <c:strCache>
                <c:ptCount val="1"/>
                <c:pt idx="0">
                  <c:v>Support</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26.43</c:v>
                </c:pt>
                <c:pt idx="3">
                  <c:v>98.24</c:v>
                </c:pt>
                <c:pt idx="4">
                  <c:v>141.65</c:v>
                </c:pt>
              </c:numCache>
            </c:numRef>
          </c:val>
          <c:extLst>
            <c:ext xmlns:c16="http://schemas.microsoft.com/office/drawing/2014/chart" uri="{C3380CC4-5D6E-409C-BE32-E72D297353CC}">
              <c16:uniqueId val="{00000004-1CE6-47BE-AEDC-98C6021259A6}"/>
            </c:ext>
          </c:extLst>
        </c:ser>
        <c:ser>
          <c:idx val="5"/>
          <c:order val="5"/>
          <c:tx>
            <c:strRef>
              <c:f>Sheet1!$G$1</c:f>
              <c:strCache>
                <c:ptCount val="1"/>
                <c:pt idx="0">
                  <c:v>other services</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0.06</c:v>
                </c:pt>
                <c:pt idx="1">
                  <c:v>9.23</c:v>
                </c:pt>
                <c:pt idx="2">
                  <c:v>-73.959999999999994</c:v>
                </c:pt>
                <c:pt idx="3">
                  <c:v>-117.27</c:v>
                </c:pt>
                <c:pt idx="4">
                  <c:v>-115.11</c:v>
                </c:pt>
              </c:numCache>
            </c:numRef>
          </c:val>
          <c:extLst>
            <c:ext xmlns:c16="http://schemas.microsoft.com/office/drawing/2014/chart" uri="{C3380CC4-5D6E-409C-BE32-E72D297353CC}">
              <c16:uniqueId val="{00000005-1CE6-47BE-AEDC-98C6021259A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Pt>
            <c:idx val="0"/>
            <c:invertIfNegative val="0"/>
            <c:bubble3D val="0"/>
            <c:extLst>
              <c:ext xmlns:c16="http://schemas.microsoft.com/office/drawing/2014/chart" uri="{C3380CC4-5D6E-409C-BE32-E72D297353CC}">
                <c16:uniqueId val="{00000001-06E1-475D-A14C-86EE7B8AFA70}"/>
              </c:ext>
            </c:extLst>
          </c:dPt>
          <c:dPt>
            <c:idx val="1"/>
            <c:invertIfNegative val="0"/>
            <c:bubble3D val="0"/>
            <c:spPr>
              <a:solidFill>
                <a:srgbClr val="3DD9EB"/>
              </a:solidFill>
              <a:effectLst/>
            </c:spPr>
            <c:extLst>
              <c:ext xmlns:c16="http://schemas.microsoft.com/office/drawing/2014/chart" uri="{C3380CC4-5D6E-409C-BE32-E72D297353CC}">
                <c16:uniqueId val="{00000003-06E1-475D-A14C-86EE7B8AFA70}"/>
              </c:ext>
            </c:extLst>
          </c:dPt>
          <c:dPt>
            <c:idx val="2"/>
            <c:invertIfNegative val="0"/>
            <c:bubble3D val="0"/>
            <c:spPr>
              <a:solidFill>
                <a:srgbClr val="FF9F43"/>
              </a:solidFill>
              <a:effectLst/>
            </c:spPr>
            <c:extLst>
              <c:ext xmlns:c16="http://schemas.microsoft.com/office/drawing/2014/chart" uri="{C3380CC4-5D6E-409C-BE32-E72D297353CC}">
                <c16:uniqueId val="{00000005-06E1-475D-A14C-86EE7B8AFA70}"/>
              </c:ext>
            </c:extLst>
          </c:dPt>
          <c:dPt>
            <c:idx val="3"/>
            <c:invertIfNegative val="0"/>
            <c:bubble3D val="0"/>
            <c:spPr>
              <a:solidFill>
                <a:srgbClr val="B07CFF"/>
              </a:solidFill>
              <a:effectLst/>
            </c:spPr>
            <c:extLst>
              <c:ext xmlns:c16="http://schemas.microsoft.com/office/drawing/2014/chart" uri="{C3380CC4-5D6E-409C-BE32-E72D297353CC}">
                <c16:uniqueId val="{00000007-06E1-475D-A14C-86EE7B8AFA70}"/>
              </c:ext>
            </c:extLst>
          </c:dPt>
          <c:dPt>
            <c:idx val="4"/>
            <c:invertIfNegative val="0"/>
            <c:bubble3D val="0"/>
            <c:spPr>
              <a:solidFill>
                <a:srgbClr val="3DDC97"/>
              </a:solidFill>
              <a:effectLst/>
            </c:spPr>
            <c:extLst>
              <c:ext xmlns:c16="http://schemas.microsoft.com/office/drawing/2014/chart" uri="{C3380CC4-5D6E-409C-BE32-E72D297353CC}">
                <c16:uniqueId val="{00000009-06E1-475D-A14C-86EE7B8AFA70}"/>
              </c:ext>
            </c:extLst>
          </c:dPt>
          <c:dPt>
            <c:idx val="5"/>
            <c:invertIfNegative val="0"/>
            <c:bubble3D val="0"/>
            <c:spPr>
              <a:solidFill>
                <a:srgbClr val="FF6B7A"/>
              </a:solidFill>
              <a:effectLst/>
            </c:spPr>
            <c:extLst>
              <c:ext xmlns:c16="http://schemas.microsoft.com/office/drawing/2014/chart" uri="{C3380CC4-5D6E-409C-BE32-E72D297353CC}">
                <c16:uniqueId val="{0000000B-06E1-475D-A14C-86EE7B8AFA70}"/>
              </c:ext>
            </c:extLst>
          </c:dPt>
          <c:dPt>
            <c:idx val="6"/>
            <c:invertIfNegative val="0"/>
            <c:bubble3D val="0"/>
            <c:spPr>
              <a:solidFill>
                <a:srgbClr val="2AD38C"/>
              </a:solidFill>
              <a:effectLst/>
            </c:spPr>
            <c:extLst>
              <c:ext xmlns:c16="http://schemas.microsoft.com/office/drawing/2014/chart" uri="{C3380CC4-5D6E-409C-BE32-E72D297353CC}">
                <c16:uniqueId val="{0000000D-06E1-475D-A14C-86EE7B8AFA70}"/>
              </c:ext>
            </c:extLst>
          </c:dPt>
          <c:dPt>
            <c:idx val="7"/>
            <c:invertIfNegative val="0"/>
            <c:bubble3D val="0"/>
            <c:spPr>
              <a:solidFill>
                <a:srgbClr val="FFB84D"/>
              </a:solidFill>
              <a:effectLst/>
            </c:spPr>
            <c:extLst>
              <c:ext xmlns:c16="http://schemas.microsoft.com/office/drawing/2014/chart" uri="{C3380CC4-5D6E-409C-BE32-E72D297353CC}">
                <c16:uniqueId val="{0000000F-06E1-475D-A14C-86EE7B8AFA70}"/>
              </c:ext>
            </c:extLst>
          </c:dPt>
          <c:dPt>
            <c:idx val="8"/>
            <c:invertIfNegative val="0"/>
            <c:bubble3D val="0"/>
            <c:spPr>
              <a:solidFill>
                <a:srgbClr val="6C8CFF"/>
              </a:solidFill>
              <a:effectLst/>
            </c:spPr>
            <c:extLst>
              <c:ext xmlns:c16="http://schemas.microsoft.com/office/drawing/2014/chart" uri="{C3380CC4-5D6E-409C-BE32-E72D297353CC}">
                <c16:uniqueId val="{00000011-06E1-475D-A14C-86EE7B8AFA70}"/>
              </c:ext>
            </c:extLst>
          </c:dPt>
          <c:dPt>
            <c:idx val="9"/>
            <c:invertIfNegative val="0"/>
            <c:bubble3D val="0"/>
            <c:spPr>
              <a:solidFill>
                <a:srgbClr val="8FD8E8"/>
              </a:solidFill>
              <a:effectLst/>
            </c:spPr>
            <c:extLst>
              <c:ext xmlns:c16="http://schemas.microsoft.com/office/drawing/2014/chart" uri="{C3380CC4-5D6E-409C-BE32-E72D297353CC}">
                <c16:uniqueId val="{00000013-06E1-475D-A14C-86EE7B8AFA70}"/>
              </c:ext>
            </c:extLst>
          </c:dPt>
          <c:dLbls>
            <c:numFmt formatCode="&quot;$&quot;#,##0" sourceLinked="0"/>
            <c:spPr>
              <a:noFill/>
              <a:ln>
                <a:noFill/>
              </a:ln>
              <a:effectLst/>
            </c:spPr>
            <c:txPr>
              <a:bodyPr/>
              <a:lstStyle/>
              <a:p>
                <a:pPr>
                  <a:defRPr sz="1100" b="0" i="0" u="none" strike="noStrike">
                    <a:solidFill>
                      <a:srgbClr val="F4F7FB"/>
                    </a:solidFill>
                    <a:latin typeface="Calibri"/>
                  </a:defRPr>
                </a:pPr>
                <a:endParaRPr lang="he-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strCache>
            </c:strRef>
          </c:cat>
          <c:val>
            <c:numRef>
              <c:f>Sheet1!$B$2:$B$11</c:f>
              <c:numCache>
                <c:formatCode>General</c:formatCode>
                <c:ptCount val="10"/>
                <c:pt idx="0">
                  <c:v>43307.51</c:v>
                </c:pt>
                <c:pt idx="1">
                  <c:v>61998.34</c:v>
                </c:pt>
                <c:pt idx="2">
                  <c:v>70680</c:v>
                </c:pt>
                <c:pt idx="3">
                  <c:v>101662.59</c:v>
                </c:pt>
                <c:pt idx="4">
                  <c:v>142960.14000000001</c:v>
                </c:pt>
                <c:pt idx="5">
                  <c:v>163240.16999999998</c:v>
                </c:pt>
                <c:pt idx="6">
                  <c:v>166293</c:v>
                </c:pt>
                <c:pt idx="7">
                  <c:v>171303</c:v>
                </c:pt>
                <c:pt idx="8">
                  <c:v>257323</c:v>
                </c:pt>
                <c:pt idx="9">
                  <c:v>365018</c:v>
                </c:pt>
              </c:numCache>
            </c:numRef>
          </c:val>
          <c:extLst>
            <c:ext xmlns:c16="http://schemas.microsoft.com/office/drawing/2014/chart" uri="{C3380CC4-5D6E-409C-BE32-E72D297353CC}">
              <c16:uniqueId val="{00000014-06E1-475D-A14C-86EE7B8AFA70}"/>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plotVisOnly val="1"/>
    <c:dispBlanksAs val="span"/>
    <c:showDLblsOverMax val="1"/>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extLst>
            <c:ext xmlns:c16="http://schemas.microsoft.com/office/drawing/2014/chart" uri="{C3380CC4-5D6E-409C-BE32-E72D297353CC}">
              <c16:uniqueId val="{00000000-F41E-41A5-BF8C-F81052B10E2A}"/>
            </c:ext>
          </c:extLst>
        </c:ser>
        <c:ser>
          <c:idx val="1"/>
          <c:order val="1"/>
          <c:tx>
            <c:strRef>
              <c:f>Sheet1!$C$1</c:f>
              <c:strCache>
                <c:ptCount val="1"/>
                <c:pt idx="0">
                  <c:v>aws-devTest-digital</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extLst>
            <c:ext xmlns:c16="http://schemas.microsoft.com/office/drawing/2014/chart" uri="{C3380CC4-5D6E-409C-BE32-E72D297353CC}">
              <c16:uniqueId val="{00000001-F41E-41A5-BF8C-F81052B10E2A}"/>
            </c:ext>
          </c:extLst>
        </c:ser>
        <c:ser>
          <c:idx val="2"/>
          <c:order val="2"/>
          <c:tx>
            <c:strRef>
              <c:f>Sheet1!$D$1</c:f>
              <c:strCache>
                <c:ptCount val="1"/>
                <c:pt idx="0">
                  <c:v>aws-preProd-digital</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extLst>
            <c:ext xmlns:c16="http://schemas.microsoft.com/office/drawing/2014/chart" uri="{C3380CC4-5D6E-409C-BE32-E72D297353CC}">
              <c16:uniqueId val="{00000002-F41E-41A5-BF8C-F81052B10E2A}"/>
            </c:ext>
          </c:extLst>
        </c:ser>
        <c:ser>
          <c:idx val="3"/>
          <c:order val="3"/>
          <c:tx>
            <c:strRef>
              <c:f>Sheet1!$E$1</c:f>
              <c:strCache>
                <c:ptCount val="1"/>
                <c:pt idx="0">
                  <c:v>aws-foundation-security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8241.01</c:v>
                </c:pt>
                <c:pt idx="1">
                  <c:v>7426.22</c:v>
                </c:pt>
                <c:pt idx="2">
                  <c:v>8018.52</c:v>
                </c:pt>
                <c:pt idx="3">
                  <c:v>7844.99</c:v>
                </c:pt>
                <c:pt idx="4">
                  <c:v>8595.7999999999993</c:v>
                </c:pt>
                <c:pt idx="5">
                  <c:v>8586.64</c:v>
                </c:pt>
                <c:pt idx="6">
                  <c:v>8752.36</c:v>
                </c:pt>
              </c:numCache>
            </c:numRef>
          </c:val>
          <c:extLst>
            <c:ext xmlns:c16="http://schemas.microsoft.com/office/drawing/2014/chart" uri="{C3380CC4-5D6E-409C-BE32-E72D297353CC}">
              <c16:uniqueId val="{00000003-F41E-41A5-BF8C-F81052B10E2A}"/>
            </c:ext>
          </c:extLst>
        </c:ser>
        <c:ser>
          <c:idx val="4"/>
          <c:order val="4"/>
          <c:tx>
            <c:strRef>
              <c:f>Sheet1!$F$1</c:f>
              <c:strCache>
                <c:ptCount val="1"/>
                <c:pt idx="0">
                  <c:v>customers3-prod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extLst>
            <c:ext xmlns:c16="http://schemas.microsoft.com/office/drawing/2014/chart" uri="{C3380CC4-5D6E-409C-BE32-E72D297353CC}">
              <c16:uniqueId val="{00000004-F41E-41A5-BF8C-F81052B10E2A}"/>
            </c:ext>
          </c:extLst>
        </c:ser>
        <c:ser>
          <c:idx val="5"/>
          <c:order val="5"/>
          <c:tx>
            <c:strRef>
              <c:f>Sheet1!$G$1</c:f>
              <c:strCache>
                <c:ptCount val="1"/>
                <c:pt idx="0">
                  <c:v>cloudops-network</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extLst>
            <c:ext xmlns:c16="http://schemas.microsoft.com/office/drawing/2014/chart" uri="{C3380CC4-5D6E-409C-BE32-E72D297353CC}">
              <c16:uniqueId val="{00000005-F41E-41A5-BF8C-F81052B10E2A}"/>
            </c:ext>
          </c:extLst>
        </c:ser>
        <c:ser>
          <c:idx val="6"/>
          <c:order val="6"/>
          <c:tx>
            <c:strRef>
              <c:f>Sheet1!$H$1</c:f>
              <c:strCache>
                <c:ptCount val="1"/>
                <c:pt idx="0">
                  <c:v>aws-foundation-sharedservices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extLst>
            <c:ext xmlns:c16="http://schemas.microsoft.com/office/drawing/2014/chart" uri="{C3380CC4-5D6E-409C-BE32-E72D297353CC}">
              <c16:uniqueId val="{00000006-F41E-41A5-BF8C-F81052B10E2A}"/>
            </c:ext>
          </c:extLst>
        </c:ser>
        <c:ser>
          <c:idx val="7"/>
          <c:order val="7"/>
          <c:tx>
            <c:strRef>
              <c:f>Sheet1!$I$1</c:f>
              <c:strCache>
                <c:ptCount val="1"/>
                <c:pt idx="0">
                  <c:v>Harel Insurance</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6065.71</c:v>
                </c:pt>
                <c:pt idx="1">
                  <c:v>3782.04</c:v>
                </c:pt>
                <c:pt idx="2">
                  <c:v>6397.95</c:v>
                </c:pt>
                <c:pt idx="3">
                  <c:v>8584.51</c:v>
                </c:pt>
                <c:pt idx="4">
                  <c:v>3830.37</c:v>
                </c:pt>
                <c:pt idx="5">
                  <c:v>6197.57</c:v>
                </c:pt>
                <c:pt idx="6">
                  <c:v>5139.8599999999997</c:v>
                </c:pt>
              </c:numCache>
            </c:numRef>
          </c:val>
          <c:extLst>
            <c:ext xmlns:c16="http://schemas.microsoft.com/office/drawing/2014/chart" uri="{C3380CC4-5D6E-409C-BE32-E72D297353CC}">
              <c16:uniqueId val="{00000007-F41E-41A5-BF8C-F81052B10E2A}"/>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6260.39</c:v>
                </c:pt>
                <c:pt idx="1">
                  <c:v>7002.8999999999987</c:v>
                </c:pt>
                <c:pt idx="2">
                  <c:v>12141.12</c:v>
                </c:pt>
                <c:pt idx="3">
                  <c:v>5862.0499999999993</c:v>
                </c:pt>
                <c:pt idx="4">
                  <c:v>5790.1100000000015</c:v>
                </c:pt>
                <c:pt idx="5">
                  <c:v>7274.5199999999995</c:v>
                </c:pt>
                <c:pt idx="6">
                  <c:v>-6323.6400000000012</c:v>
                </c:pt>
              </c:numCache>
            </c:numRef>
          </c:val>
          <c:extLst>
            <c:ext xmlns:c16="http://schemas.microsoft.com/office/drawing/2014/chart" uri="{C3380CC4-5D6E-409C-BE32-E72D297353CC}">
              <c16:uniqueId val="{00000008-F41E-41A5-BF8C-F81052B10E2A}"/>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31180.69</c:v>
                </c:pt>
                <c:pt idx="1">
                  <c:v>28236.720000000001</c:v>
                </c:pt>
                <c:pt idx="2">
                  <c:v>32994.93</c:v>
                </c:pt>
                <c:pt idx="3">
                  <c:v>32045.93</c:v>
                </c:pt>
                <c:pt idx="4">
                  <c:v>35082.639999999999</c:v>
                </c:pt>
                <c:pt idx="5">
                  <c:v>33427.89</c:v>
                </c:pt>
                <c:pt idx="6">
                  <c:v>35426.33</c:v>
                </c:pt>
              </c:numCache>
            </c:numRef>
          </c:val>
          <c:extLst>
            <c:ext xmlns:c16="http://schemas.microsoft.com/office/drawing/2014/chart" uri="{C3380CC4-5D6E-409C-BE32-E72D297353CC}">
              <c16:uniqueId val="{00000000-FE8D-498B-BF3C-41B5FEC9E780}"/>
            </c:ext>
          </c:extLst>
        </c:ser>
        <c:ser>
          <c:idx val="1"/>
          <c:order val="1"/>
          <c:tx>
            <c:strRef>
              <c:f>Sheet1!$C$1</c:f>
              <c:strCache>
                <c:ptCount val="1"/>
                <c:pt idx="0">
                  <c:v>Business Support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3876.88</c:v>
                </c:pt>
                <c:pt idx="1">
                  <c:v>4268.96</c:v>
                </c:pt>
                <c:pt idx="2">
                  <c:v>4581.17</c:v>
                </c:pt>
                <c:pt idx="3">
                  <c:v>4108.04</c:v>
                </c:pt>
                <c:pt idx="4">
                  <c:v>4478.1000000000004</c:v>
                </c:pt>
                <c:pt idx="5">
                  <c:v>4839.1400000000003</c:v>
                </c:pt>
                <c:pt idx="6">
                  <c:v>5893.49</c:v>
                </c:pt>
              </c:numCache>
            </c:numRef>
          </c:val>
          <c:extLst>
            <c:ext xmlns:c16="http://schemas.microsoft.com/office/drawing/2014/chart" uri="{C3380CC4-5D6E-409C-BE32-E72D297353CC}">
              <c16:uniqueId val="{00000001-FE8D-498B-BF3C-41B5FEC9E780}"/>
            </c:ext>
          </c:extLst>
        </c:ser>
        <c:ser>
          <c:idx val="2"/>
          <c:order val="2"/>
          <c:tx>
            <c:strRef>
              <c:f>Sheet1!$D$1</c:f>
              <c:strCache>
                <c:ptCount val="1"/>
                <c:pt idx="0">
                  <c:v>S3 - 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1978.49</c:v>
                </c:pt>
                <c:pt idx="1">
                  <c:v>13276.31</c:v>
                </c:pt>
                <c:pt idx="2">
                  <c:v>5868.01</c:v>
                </c:pt>
                <c:pt idx="3">
                  <c:v>2134.4699999999998</c:v>
                </c:pt>
                <c:pt idx="4">
                  <c:v>2249.46</c:v>
                </c:pt>
                <c:pt idx="5">
                  <c:v>2370.09</c:v>
                </c:pt>
                <c:pt idx="6">
                  <c:v>2324.71</c:v>
                </c:pt>
              </c:numCache>
            </c:numRef>
          </c:val>
          <c:extLst>
            <c:ext xmlns:c16="http://schemas.microsoft.com/office/drawing/2014/chart" uri="{C3380CC4-5D6E-409C-BE32-E72D297353CC}">
              <c16:uniqueId val="{00000002-FE8D-498B-BF3C-41B5FEC9E780}"/>
            </c:ext>
          </c:extLst>
        </c:ser>
        <c:ser>
          <c:idx val="3"/>
          <c:order val="3"/>
          <c:tx>
            <c:strRef>
              <c:f>Sheet1!$E$1</c:f>
              <c:strCache>
                <c:ptCount val="1"/>
                <c:pt idx="0">
                  <c:v>Virtual Private Cloud - Transit Gateway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3925.73</c:v>
                </c:pt>
                <c:pt idx="1">
                  <c:v>3570.88</c:v>
                </c:pt>
                <c:pt idx="2">
                  <c:v>3963.99</c:v>
                </c:pt>
                <c:pt idx="3">
                  <c:v>3878.04</c:v>
                </c:pt>
                <c:pt idx="4">
                  <c:v>4428.68</c:v>
                </c:pt>
                <c:pt idx="5">
                  <c:v>4573.6000000000004</c:v>
                </c:pt>
                <c:pt idx="6">
                  <c:v>4657.2700000000004</c:v>
                </c:pt>
              </c:numCache>
            </c:numRef>
          </c:val>
          <c:extLst>
            <c:ext xmlns:c16="http://schemas.microsoft.com/office/drawing/2014/chart" uri="{C3380CC4-5D6E-409C-BE32-E72D297353CC}">
              <c16:uniqueId val="{00000003-FE8D-498B-BF3C-41B5FEC9E780}"/>
            </c:ext>
          </c:extLst>
        </c:ser>
        <c:ser>
          <c:idx val="4"/>
          <c:order val="4"/>
          <c:tx>
            <c:strRef>
              <c:f>Sheet1!$F$1</c:f>
              <c:strCache>
                <c:ptCount val="1"/>
                <c:pt idx="0">
                  <c:v>RDS - Compute</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extLst>
            <c:ext xmlns:c16="http://schemas.microsoft.com/office/drawing/2014/chart" uri="{C3380CC4-5D6E-409C-BE32-E72D297353CC}">
              <c16:uniqueId val="{00000004-FE8D-498B-BF3C-41B5FEC9E780}"/>
            </c:ext>
          </c:extLst>
        </c:ser>
        <c:ser>
          <c:idx val="5"/>
          <c:order val="5"/>
          <c:tx>
            <c:strRef>
              <c:f>Sheet1!$G$1</c:f>
              <c:strCache>
                <c:ptCount val="1"/>
                <c:pt idx="0">
                  <c:v>Direct Connect - Port Hours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3794.4</c:v>
                </c:pt>
                <c:pt idx="1">
                  <c:v>3427.2</c:v>
                </c:pt>
                <c:pt idx="2">
                  <c:v>3794.4</c:v>
                </c:pt>
                <c:pt idx="3">
                  <c:v>3672</c:v>
                </c:pt>
                <c:pt idx="4">
                  <c:v>3794.4</c:v>
                </c:pt>
                <c:pt idx="5">
                  <c:v>3672</c:v>
                </c:pt>
                <c:pt idx="6">
                  <c:v>3794.4</c:v>
                </c:pt>
              </c:numCache>
            </c:numRef>
          </c:val>
          <c:extLst>
            <c:ext xmlns:c16="http://schemas.microsoft.com/office/drawing/2014/chart" uri="{C3380CC4-5D6E-409C-BE32-E72D297353CC}">
              <c16:uniqueId val="{00000005-FE8D-498B-BF3C-41B5FEC9E780}"/>
            </c:ext>
          </c:extLst>
        </c:ser>
        <c:ser>
          <c:idx val="6"/>
          <c:order val="6"/>
          <c:tx>
            <c:strRef>
              <c:f>Sheet1!$H$1</c:f>
              <c:strCache>
                <c:ptCount val="1"/>
                <c:pt idx="0">
                  <c:v>CloudWatch Log Groups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extLst>
            <c:ext xmlns:c16="http://schemas.microsoft.com/office/drawing/2014/chart" uri="{C3380CC4-5D6E-409C-BE32-E72D297353CC}">
              <c16:uniqueId val="{00000006-FE8D-498B-BF3C-41B5FEC9E780}"/>
            </c:ext>
          </c:extLst>
        </c:ser>
        <c:ser>
          <c:idx val="7"/>
          <c:order val="7"/>
          <c:tx>
            <c:strRef>
              <c:f>Sheet1!$I$1</c:f>
              <c:strCache>
                <c:ptCount val="1"/>
                <c:pt idx="0">
                  <c:v>all other services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extLst>
            <c:ext xmlns:c16="http://schemas.microsoft.com/office/drawing/2014/chart" uri="{C3380CC4-5D6E-409C-BE32-E72D297353CC}">
              <c16:uniqueId val="{00000007-FE8D-498B-BF3C-41B5FEC9E78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21656.71000000001</c:v>
                </c:pt>
                <c:pt idx="1">
                  <c:v>19648.099999999999</c:v>
                </c:pt>
                <c:pt idx="2">
                  <c:v>34523.78</c:v>
                </c:pt>
                <c:pt idx="3">
                  <c:v>27513.360000000008</c:v>
                </c:pt>
                <c:pt idx="4">
                  <c:v>24430.3</c:v>
                </c:pt>
                <c:pt idx="5">
                  <c:v>28735.639999999996</c:v>
                </c:pt>
                <c:pt idx="6">
                  <c:v>16111.090000000006</c:v>
                </c:pt>
              </c:numCache>
            </c:numRef>
          </c:val>
          <c:extLst>
            <c:ext xmlns:c16="http://schemas.microsoft.com/office/drawing/2014/chart" uri="{C3380CC4-5D6E-409C-BE32-E72D297353CC}">
              <c16:uniqueId val="{00000008-FE8D-498B-BF3C-41B5FEC9E78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extLst>
            <c:ext xmlns:c16="http://schemas.microsoft.com/office/drawing/2014/chart" uri="{C3380CC4-5D6E-409C-BE32-E72D297353CC}">
              <c16:uniqueId val="{00000000-F341-4A39-8380-354D4962DC58}"/>
            </c:ext>
          </c:extLst>
        </c:ser>
        <c:ser>
          <c:idx val="1"/>
          <c:order val="1"/>
          <c:tx>
            <c:strRef>
              <c:f>Sheet1!$C$1</c:f>
              <c:strCache>
                <c:ptCount val="1"/>
                <c:pt idx="0">
                  <c:v>sap</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extLst>
            <c:ext xmlns:c16="http://schemas.microsoft.com/office/drawing/2014/chart" uri="{C3380CC4-5D6E-409C-BE32-E72D297353CC}">
              <c16:uniqueId val="{00000001-F341-4A39-8380-354D4962DC58}"/>
            </c:ext>
          </c:extLst>
        </c:ser>
        <c:ser>
          <c:idx val="2"/>
          <c:order val="2"/>
          <c:tx>
            <c:strRef>
              <c:f>Sheet1!$D$1</c:f>
              <c:strCache>
                <c:ptCount val="1"/>
                <c:pt idx="0">
                  <c:v>cloudit</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extLst>
            <c:ext xmlns:c16="http://schemas.microsoft.com/office/drawing/2014/chart" uri="{C3380CC4-5D6E-409C-BE32-E72D297353CC}">
              <c16:uniqueId val="{00000002-F341-4A39-8380-354D4962DC58}"/>
            </c:ext>
          </c:extLst>
        </c:ser>
        <c:ser>
          <c:idx val="3"/>
          <c:order val="3"/>
          <c:tx>
            <c:strRef>
              <c:f>Sheet1!$E$1</c:f>
              <c:strCache>
                <c:ptCount val="1"/>
                <c:pt idx="0">
                  <c:v>aifactory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extLst>
            <c:ext xmlns:c16="http://schemas.microsoft.com/office/drawing/2014/chart" uri="{C3380CC4-5D6E-409C-BE32-E72D297353CC}">
              <c16:uniqueId val="{00000003-F341-4A39-8380-354D4962DC58}"/>
            </c:ext>
          </c:extLst>
        </c:ser>
        <c:ser>
          <c:idx val="4"/>
          <c:order val="4"/>
          <c:tx>
            <c:strRef>
              <c:f>Sheet1!$F$1</c:f>
              <c:strCache>
                <c:ptCount val="1"/>
                <c:pt idx="0">
                  <c:v>other</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4371</c:v>
                </c:pt>
                <c:pt idx="1">
                  <c:v>5240</c:v>
                </c:pt>
                <c:pt idx="2">
                  <c:v>5614</c:v>
                </c:pt>
                <c:pt idx="3">
                  <c:v>5760</c:v>
                </c:pt>
                <c:pt idx="4">
                  <c:v>8681.34</c:v>
                </c:pt>
                <c:pt idx="5">
                  <c:v>18094</c:v>
                </c:pt>
                <c:pt idx="6">
                  <c:v>22410</c:v>
                </c:pt>
              </c:numCache>
            </c:numRef>
          </c:val>
          <c:extLst>
            <c:ext xmlns:c16="http://schemas.microsoft.com/office/drawing/2014/chart" uri="{C3380CC4-5D6E-409C-BE32-E72D297353CC}">
              <c16:uniqueId val="{00000004-F341-4A39-8380-354D4962DC58}"/>
            </c:ext>
          </c:extLst>
        </c:ser>
        <c:ser>
          <c:idx val="5"/>
          <c:order val="5"/>
          <c:tx>
            <c:strRef>
              <c:f>Sheet1!$G$1</c:f>
              <c:strCache>
                <c:ptCount val="1"/>
                <c:pt idx="0">
                  <c:v>actuary</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15102</c:v>
                </c:pt>
                <c:pt idx="1">
                  <c:v>4959.24</c:v>
                </c:pt>
                <c:pt idx="2">
                  <c:v>3549</c:v>
                </c:pt>
                <c:pt idx="3">
                  <c:v>5341</c:v>
                </c:pt>
                <c:pt idx="4">
                  <c:v>4672</c:v>
                </c:pt>
                <c:pt idx="5">
                  <c:v>2733</c:v>
                </c:pt>
                <c:pt idx="6">
                  <c:v>4058</c:v>
                </c:pt>
              </c:numCache>
            </c:numRef>
          </c:val>
          <c:extLst>
            <c:ext xmlns:c16="http://schemas.microsoft.com/office/drawing/2014/chart" uri="{C3380CC4-5D6E-409C-BE32-E72D297353CC}">
              <c16:uniqueId val="{00000005-F341-4A39-8380-354D4962DC58}"/>
            </c:ext>
          </c:extLst>
        </c:ser>
        <c:ser>
          <c:idx val="6"/>
          <c:order val="6"/>
          <c:tx>
            <c:strRef>
              <c:f>Sheet1!$H$1</c:f>
              <c:strCache>
                <c:ptCount val="1"/>
                <c:pt idx="0">
                  <c:v>Risk Agility</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13063</c:v>
                </c:pt>
                <c:pt idx="1">
                  <c:v>5274</c:v>
                </c:pt>
                <c:pt idx="2">
                  <c:v>2617</c:v>
                </c:pt>
                <c:pt idx="3">
                  <c:v>5768</c:v>
                </c:pt>
                <c:pt idx="4">
                  <c:v>2842</c:v>
                </c:pt>
                <c:pt idx="5">
                  <c:v>1031</c:v>
                </c:pt>
                <c:pt idx="6">
                  <c:v>1032</c:v>
                </c:pt>
              </c:numCache>
            </c:numRef>
          </c:val>
          <c:extLst>
            <c:ext xmlns:c16="http://schemas.microsoft.com/office/drawing/2014/chart" uri="{C3380CC4-5D6E-409C-BE32-E72D297353CC}">
              <c16:uniqueId val="{00000006-F341-4A39-8380-354D4962DC58}"/>
            </c:ext>
          </c:extLst>
        </c:ser>
        <c:ser>
          <c:idx val="7"/>
          <c:order val="7"/>
          <c:tx>
            <c:strRef>
              <c:f>Sheet1!$I$1</c:f>
              <c:strCache>
                <c:ptCount val="1"/>
                <c:pt idx="0">
                  <c:v>itsec</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2082</c:v>
                </c:pt>
                <c:pt idx="1">
                  <c:v>1733.66</c:v>
                </c:pt>
                <c:pt idx="2">
                  <c:v>1908</c:v>
                </c:pt>
                <c:pt idx="3">
                  <c:v>1897.79</c:v>
                </c:pt>
                <c:pt idx="4">
                  <c:v>2047</c:v>
                </c:pt>
                <c:pt idx="5">
                  <c:v>2059</c:v>
                </c:pt>
                <c:pt idx="6">
                  <c:v>2221</c:v>
                </c:pt>
              </c:numCache>
            </c:numRef>
          </c:val>
          <c:extLst>
            <c:ext xmlns:c16="http://schemas.microsoft.com/office/drawing/2014/chart" uri="{C3380CC4-5D6E-409C-BE32-E72D297353CC}">
              <c16:uniqueId val="{00000007-F341-4A39-8380-354D4962DC58}"/>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extLst>
            <c:ext xmlns:c16="http://schemas.microsoft.com/office/drawing/2014/chart" uri="{C3380CC4-5D6E-409C-BE32-E72D297353CC}">
              <c16:uniqueId val="{00000008-F341-4A39-8380-354D4962DC5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extLst>
            <c:ext xmlns:c16="http://schemas.microsoft.com/office/drawing/2014/chart" uri="{C3380CC4-5D6E-409C-BE32-E72D297353CC}">
              <c16:uniqueId val="{00000000-B0DC-427D-8A55-1FFDC572EFE1}"/>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24139.41</c:v>
                </c:pt>
                <c:pt idx="1">
                  <c:v>22951</c:v>
                </c:pt>
                <c:pt idx="2">
                  <c:v>22458.080000000002</c:v>
                </c:pt>
                <c:pt idx="3">
                  <c:v>22680.51</c:v>
                </c:pt>
                <c:pt idx="4">
                  <c:v>24615.18</c:v>
                </c:pt>
                <c:pt idx="5">
                  <c:v>25022.53</c:v>
                </c:pt>
                <c:pt idx="6">
                  <c:v>26364.22</c:v>
                </c:pt>
              </c:numCache>
            </c:numRef>
          </c:val>
          <c:extLst>
            <c:ext xmlns:c16="http://schemas.microsoft.com/office/drawing/2014/chart" uri="{C3380CC4-5D6E-409C-BE32-E72D297353CC}">
              <c16:uniqueId val="{00000001-B0DC-427D-8A55-1FFDC572EFE1}"/>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12726.23</c:v>
                </c:pt>
                <c:pt idx="1">
                  <c:v>12145</c:v>
                </c:pt>
                <c:pt idx="2">
                  <c:v>14087.61</c:v>
                </c:pt>
                <c:pt idx="3">
                  <c:v>15311.83</c:v>
                </c:pt>
                <c:pt idx="4">
                  <c:v>18338.27</c:v>
                </c:pt>
                <c:pt idx="5">
                  <c:v>18564.990000000002</c:v>
                </c:pt>
                <c:pt idx="6">
                  <c:v>21999.599999999999</c:v>
                </c:pt>
              </c:numCache>
            </c:numRef>
          </c:val>
          <c:extLst>
            <c:ext xmlns:c16="http://schemas.microsoft.com/office/drawing/2014/chart" uri="{C3380CC4-5D6E-409C-BE32-E72D297353CC}">
              <c16:uniqueId val="{00000002-B0DC-427D-8A55-1FFDC572EFE1}"/>
            </c:ext>
          </c:extLst>
        </c:ser>
        <c:ser>
          <c:idx val="3"/>
          <c:order val="3"/>
          <c:tx>
            <c:strRef>
              <c:f>Sheet1!$E$1</c:f>
              <c:strCache>
                <c:ptCount val="1"/>
                <c:pt idx="0">
                  <c:v>Other services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11748.56</c:v>
                </c:pt>
                <c:pt idx="1">
                  <c:v>10773</c:v>
                </c:pt>
                <c:pt idx="2">
                  <c:v>12318.12</c:v>
                </c:pt>
                <c:pt idx="3">
                  <c:v>12412.59</c:v>
                </c:pt>
                <c:pt idx="4">
                  <c:v>15149.61</c:v>
                </c:pt>
                <c:pt idx="5">
                  <c:v>18338.580000000002</c:v>
                </c:pt>
                <c:pt idx="6">
                  <c:v>20600.18</c:v>
                </c:pt>
              </c:numCache>
            </c:numRef>
          </c:val>
          <c:extLst>
            <c:ext xmlns:c16="http://schemas.microsoft.com/office/drawing/2014/chart" uri="{C3380CC4-5D6E-409C-BE32-E72D297353CC}">
              <c16:uniqueId val="{00000003-B0DC-427D-8A55-1FFDC572EFE1}"/>
            </c:ext>
          </c:extLst>
        </c:ser>
        <c:ser>
          <c:idx val="4"/>
          <c:order val="4"/>
          <c:tx>
            <c:strRef>
              <c:f>Sheet1!$F$1</c:f>
              <c:strCache>
                <c:ptCount val="1"/>
                <c:pt idx="0">
                  <c:v>Azure Databricks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24556.13</c:v>
                </c:pt>
                <c:pt idx="1">
                  <c:v>18645</c:v>
                </c:pt>
                <c:pt idx="2">
                  <c:v>22427.89</c:v>
                </c:pt>
                <c:pt idx="3">
                  <c:v>19936.330000000002</c:v>
                </c:pt>
                <c:pt idx="4">
                  <c:v>0</c:v>
                </c:pt>
                <c:pt idx="5">
                  <c:v>0</c:v>
                </c:pt>
                <c:pt idx="6">
                  <c:v>0</c:v>
                </c:pt>
              </c:numCache>
            </c:numRef>
          </c:val>
          <c:extLst>
            <c:ext xmlns:c16="http://schemas.microsoft.com/office/drawing/2014/chart" uri="{C3380CC4-5D6E-409C-BE32-E72D297353CC}">
              <c16:uniqueId val="{00000004-B0DC-427D-8A55-1FFDC572EFE1}"/>
            </c:ext>
          </c:extLst>
        </c:ser>
        <c:ser>
          <c:idx val="5"/>
          <c:order val="5"/>
          <c:tx>
            <c:strRef>
              <c:f>Sheet1!$G$1</c:f>
              <c:strCache>
                <c:ptCount val="1"/>
                <c:pt idx="0">
                  <c:v>GitHub</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extLst>
            <c:ext xmlns:c16="http://schemas.microsoft.com/office/drawing/2014/chart" uri="{C3380CC4-5D6E-409C-BE32-E72D297353CC}">
              <c16:uniqueId val="{00000005-B0DC-427D-8A55-1FFDC572EFE1}"/>
            </c:ext>
          </c:extLst>
        </c:ser>
        <c:ser>
          <c:idx val="6"/>
          <c:order val="6"/>
          <c:tx>
            <c:strRef>
              <c:f>Sheet1!$H$1</c:f>
              <c:strCache>
                <c:ptCount val="1"/>
                <c:pt idx="0">
                  <c:v>Foundry Models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1353.37</c:v>
                </c:pt>
                <c:pt idx="1">
                  <c:v>2260</c:v>
                </c:pt>
                <c:pt idx="2">
                  <c:v>4236.3500000000004</c:v>
                </c:pt>
                <c:pt idx="3">
                  <c:v>8369.39</c:v>
                </c:pt>
                <c:pt idx="4">
                  <c:v>11512.76</c:v>
                </c:pt>
                <c:pt idx="5">
                  <c:v>15453.34</c:v>
                </c:pt>
                <c:pt idx="6">
                  <c:v>12291.25</c:v>
                </c:pt>
              </c:numCache>
            </c:numRef>
          </c:val>
          <c:extLst>
            <c:ext xmlns:c16="http://schemas.microsoft.com/office/drawing/2014/chart" uri="{C3380CC4-5D6E-409C-BE32-E72D297353CC}">
              <c16:uniqueId val="{00000006-B0DC-427D-8A55-1FFDC572EFE1}"/>
            </c:ext>
          </c:extLst>
        </c:ser>
        <c:ser>
          <c:idx val="7"/>
          <c:order val="7"/>
          <c:tx>
            <c:strRef>
              <c:f>Sheet1!$I$1</c:f>
              <c:strCache>
                <c:ptCount val="1"/>
                <c:pt idx="0">
                  <c:v>Log Analytics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extLst>
            <c:ext xmlns:c16="http://schemas.microsoft.com/office/drawing/2014/chart" uri="{C3380CC4-5D6E-409C-BE32-E72D297353CC}">
              <c16:uniqueId val="{00000007-B0DC-427D-8A55-1FFDC572EFE1}"/>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13619.52</c:v>
                </c:pt>
                <c:pt idx="1">
                  <c:v>13118</c:v>
                </c:pt>
                <c:pt idx="2">
                  <c:v>21913.22</c:v>
                </c:pt>
                <c:pt idx="3">
                  <c:v>14372.410000000002</c:v>
                </c:pt>
                <c:pt idx="4">
                  <c:v>16509.63</c:v>
                </c:pt>
                <c:pt idx="5">
                  <c:v>18865.080000000005</c:v>
                </c:pt>
                <c:pt idx="6">
                  <c:v>30407.200000000001</c:v>
                </c:pt>
              </c:numCache>
            </c:numRef>
          </c:val>
          <c:extLst>
            <c:ext xmlns:c16="http://schemas.microsoft.com/office/drawing/2014/chart" uri="{C3380CC4-5D6E-409C-BE32-E72D297353CC}">
              <c16:uniqueId val="{00000008-B0DC-427D-8A55-1FFDC572EFE1}"/>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extLst>
            <c:ext xmlns:c16="http://schemas.microsoft.com/office/drawing/2014/chart" uri="{C3380CC4-5D6E-409C-BE32-E72D297353CC}">
              <c16:uniqueId val="{00000000-A580-483C-B42E-F9A018373946}"/>
            </c:ext>
          </c:extLst>
        </c:ser>
        <c:ser>
          <c:idx val="1"/>
          <c:order val="1"/>
          <c:tx>
            <c:strRef>
              <c:f>Sheet1!$C$1</c:f>
              <c:strCache>
                <c:ptCount val="1"/>
                <c:pt idx="0">
                  <c:v>Azure Databricks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13661.81</c:v>
                </c:pt>
                <c:pt idx="1">
                  <c:v>14023</c:v>
                </c:pt>
                <c:pt idx="2">
                  <c:v>19412</c:v>
                </c:pt>
                <c:pt idx="3">
                  <c:v>16633.53</c:v>
                </c:pt>
                <c:pt idx="4">
                  <c:v>0</c:v>
                </c:pt>
                <c:pt idx="5">
                  <c:v>0</c:v>
                </c:pt>
                <c:pt idx="6">
                  <c:v>0</c:v>
                </c:pt>
              </c:numCache>
            </c:numRef>
          </c:val>
          <c:extLst>
            <c:ext xmlns:c16="http://schemas.microsoft.com/office/drawing/2014/chart" uri="{C3380CC4-5D6E-409C-BE32-E72D297353CC}">
              <c16:uniqueId val="{00000001-A580-483C-B42E-F9A018373946}"/>
            </c:ext>
          </c:extLst>
        </c:ser>
        <c:ser>
          <c:idx val="2"/>
          <c:order val="2"/>
          <c:tx>
            <c:strRef>
              <c:f>Sheet1!$D$1</c:f>
              <c:strCache>
                <c:ptCount val="1"/>
                <c:pt idx="0">
                  <c:v>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5134.3100000000004</c:v>
                </c:pt>
                <c:pt idx="1">
                  <c:v>5630</c:v>
                </c:pt>
                <c:pt idx="2">
                  <c:v>5747</c:v>
                </c:pt>
                <c:pt idx="3">
                  <c:v>5515.42</c:v>
                </c:pt>
                <c:pt idx="4">
                  <c:v>6124.59</c:v>
                </c:pt>
                <c:pt idx="5">
                  <c:v>6488.31</c:v>
                </c:pt>
                <c:pt idx="6">
                  <c:v>6847.08</c:v>
                </c:pt>
              </c:numCache>
            </c:numRef>
          </c:val>
          <c:extLst>
            <c:ext xmlns:c16="http://schemas.microsoft.com/office/drawing/2014/chart" uri="{C3380CC4-5D6E-409C-BE32-E72D297353CC}">
              <c16:uniqueId val="{00000002-A580-483C-B42E-F9A018373946}"/>
            </c:ext>
          </c:extLst>
        </c:ser>
        <c:ser>
          <c:idx val="3"/>
          <c:order val="3"/>
          <c:tx>
            <c:strRef>
              <c:f>Sheet1!$E$1</c:f>
              <c:strCache>
                <c:ptCount val="1"/>
                <c:pt idx="0">
                  <c:v>Virtual Network</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extLst>
            <c:ext xmlns:c16="http://schemas.microsoft.com/office/drawing/2014/chart" uri="{C3380CC4-5D6E-409C-BE32-E72D297353CC}">
              <c16:uniqueId val="{00000003-A580-483C-B42E-F9A018373946}"/>
            </c:ext>
          </c:extLst>
        </c:ser>
        <c:ser>
          <c:idx val="4"/>
          <c:order val="4"/>
          <c:tx>
            <c:strRef>
              <c:f>Sheet1!$F$1</c:f>
              <c:strCache>
                <c:ptCount val="1"/>
                <c:pt idx="0">
                  <c:v>Foundry Models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1347.06</c:v>
                </c:pt>
                <c:pt idx="1">
                  <c:v>2243</c:v>
                </c:pt>
                <c:pt idx="2">
                  <c:v>1274.47</c:v>
                </c:pt>
                <c:pt idx="3">
                  <c:v>4218.08</c:v>
                </c:pt>
                <c:pt idx="4">
                  <c:v>10329.629999999999</c:v>
                </c:pt>
                <c:pt idx="5">
                  <c:v>5769.96</c:v>
                </c:pt>
                <c:pt idx="6">
                  <c:v>6649.77</c:v>
                </c:pt>
              </c:numCache>
            </c:numRef>
          </c:val>
          <c:extLst>
            <c:ext xmlns:c16="http://schemas.microsoft.com/office/drawing/2014/chart" uri="{C3380CC4-5D6E-409C-BE32-E72D297353CC}">
              <c16:uniqueId val="{00000004-A580-483C-B42E-F9A018373946}"/>
            </c:ext>
          </c:extLst>
        </c:ser>
        <c:ser>
          <c:idx val="5"/>
          <c:order val="5"/>
          <c:tx>
            <c:strRef>
              <c:f>Sheet1!$G$1</c:f>
              <c:strCache>
                <c:ptCount val="1"/>
                <c:pt idx="0">
                  <c:v>Foundry Tools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extLst>
            <c:ext xmlns:c16="http://schemas.microsoft.com/office/drawing/2014/chart" uri="{C3380CC4-5D6E-409C-BE32-E72D297353CC}">
              <c16:uniqueId val="{00000005-A580-483C-B42E-F9A018373946}"/>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10289.35</c:v>
                </c:pt>
                <c:pt idx="1">
                  <c:v>9126</c:v>
                </c:pt>
                <c:pt idx="2">
                  <c:v>8921.9800000000014</c:v>
                </c:pt>
                <c:pt idx="3">
                  <c:v>7970.0800000000008</c:v>
                </c:pt>
                <c:pt idx="4">
                  <c:v>8905.24</c:v>
                </c:pt>
                <c:pt idx="5">
                  <c:v>9392.630000000001</c:v>
                </c:pt>
                <c:pt idx="6">
                  <c:v>10538.439999999999</c:v>
                </c:pt>
              </c:numCache>
            </c:numRef>
          </c:val>
          <c:extLst>
            <c:ext xmlns:c16="http://schemas.microsoft.com/office/drawing/2014/chart" uri="{C3380CC4-5D6E-409C-BE32-E72D297353CC}">
              <c16:uniqueId val="{00000006-A580-483C-B42E-F9A01837394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40269.800000000003</c:v>
                </c:pt>
                <c:pt idx="1">
                  <c:v>41870.089999999997</c:v>
                </c:pt>
                <c:pt idx="2">
                  <c:v>48649</c:v>
                </c:pt>
                <c:pt idx="3">
                  <c:v>42196.41</c:v>
                </c:pt>
                <c:pt idx="4">
                  <c:v>29317.96</c:v>
                </c:pt>
                <c:pt idx="5">
                  <c:v>33038.949999999997</c:v>
                </c:pt>
                <c:pt idx="6">
                  <c:v>36010.25</c:v>
                </c:pt>
              </c:numCache>
            </c:numRef>
          </c:val>
          <c:extLst>
            <c:ext xmlns:c16="http://schemas.microsoft.com/office/drawing/2014/chart" uri="{C3380CC4-5D6E-409C-BE32-E72D297353CC}">
              <c16:uniqueId val="{00000000-90D1-4C4B-840C-4C96612F5768}"/>
            </c:ext>
          </c:extLst>
        </c:ser>
        <c:ser>
          <c:idx val="1"/>
          <c:order val="1"/>
          <c:tx>
            <c:strRef>
              <c:f>Sheet1!$C$1</c:f>
              <c:strCache>
                <c:ptCount val="1"/>
                <c:pt idx="0">
                  <c:v>Solugen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854.16</c:v>
                </c:pt>
                <c:pt idx="1">
                  <c:v>702.78</c:v>
                </c:pt>
                <c:pt idx="2">
                  <c:v>620.89</c:v>
                </c:pt>
                <c:pt idx="3">
                  <c:v>1545.48</c:v>
                </c:pt>
                <c:pt idx="4">
                  <c:v>10021.98</c:v>
                </c:pt>
                <c:pt idx="5">
                  <c:v>6749.23</c:v>
                </c:pt>
                <c:pt idx="6">
                  <c:v>8415.8700000000008</c:v>
                </c:pt>
              </c:numCache>
            </c:numRef>
          </c:val>
          <c:extLst>
            <c:ext xmlns:c16="http://schemas.microsoft.com/office/drawing/2014/chart" uri="{C3380CC4-5D6E-409C-BE32-E72D297353CC}">
              <c16:uniqueId val="{00000001-90D1-4C4B-840C-4C96612F5768}"/>
            </c:ext>
          </c:extLst>
        </c:ser>
        <c:ser>
          <c:idx val="2"/>
          <c:order val="2"/>
          <c:tx>
            <c:strRef>
              <c:f>Sheet1!$D$1</c:f>
              <c:strCache>
                <c:ptCount val="1"/>
                <c:pt idx="0">
                  <c:v>DataCloud dev</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extLst>
            <c:ext xmlns:c16="http://schemas.microsoft.com/office/drawing/2014/chart" uri="{C3380CC4-5D6E-409C-BE32-E72D297353CC}">
              <c16:uniqueId val="{00000002-90D1-4C4B-840C-4C96612F5768}"/>
            </c:ext>
          </c:extLst>
        </c:ser>
        <c:ser>
          <c:idx val="3"/>
          <c:order val="3"/>
          <c:tx>
            <c:strRef>
              <c:f>Sheet1!$E$1</c:f>
              <c:strCache>
                <c:ptCount val="1"/>
                <c:pt idx="0">
                  <c:v>INSAIT Production</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1914.41</c:v>
                </c:pt>
                <c:pt idx="2">
                  <c:v>1364.48</c:v>
                </c:pt>
                <c:pt idx="3">
                  <c:v>1354.4</c:v>
                </c:pt>
                <c:pt idx="4">
                  <c:v>1456.6</c:v>
                </c:pt>
                <c:pt idx="5">
                  <c:v>1604.48</c:v>
                </c:pt>
                <c:pt idx="6">
                  <c:v>1983.38</c:v>
                </c:pt>
              </c:numCache>
            </c:numRef>
          </c:val>
          <c:extLst>
            <c:ext xmlns:c16="http://schemas.microsoft.com/office/drawing/2014/chart" uri="{C3380CC4-5D6E-409C-BE32-E72D297353CC}">
              <c16:uniqueId val="{00000003-90D1-4C4B-840C-4C96612F5768}"/>
            </c:ext>
          </c:extLst>
        </c:ser>
        <c:ser>
          <c:idx val="4"/>
          <c:order val="4"/>
          <c:tx>
            <c:strRef>
              <c:f>Sheet1!$F$1</c:f>
              <c:strCache>
                <c:ptCount val="1"/>
                <c:pt idx="0">
                  <c:v>DataCloud dev 1</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324.17</c:v>
                </c:pt>
                <c:pt idx="1">
                  <c:v>275</c:v>
                </c:pt>
                <c:pt idx="2">
                  <c:v>285.86</c:v>
                </c:pt>
                <c:pt idx="3">
                  <c:v>269.83999999999997</c:v>
                </c:pt>
                <c:pt idx="4">
                  <c:v>281.57</c:v>
                </c:pt>
                <c:pt idx="5">
                  <c:v>269.20999999999998</c:v>
                </c:pt>
                <c:pt idx="6">
                  <c:v>278.23</c:v>
                </c:pt>
              </c:numCache>
            </c:numRef>
          </c:val>
          <c:extLst>
            <c:ext xmlns:c16="http://schemas.microsoft.com/office/drawing/2014/chart" uri="{C3380CC4-5D6E-409C-BE32-E72D297353CC}">
              <c16:uniqueId val="{00000004-90D1-4C4B-840C-4C96612F5768}"/>
            </c:ext>
          </c:extLst>
        </c:ser>
        <c:ser>
          <c:idx val="5"/>
          <c:order val="5"/>
          <c:tx>
            <c:strRef>
              <c:f>Sheet1!$G$1</c:f>
              <c:strCache>
                <c:ptCount val="1"/>
                <c:pt idx="0">
                  <c:v>Sandbox System</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263.89</c:v>
                </c:pt>
                <c:pt idx="1">
                  <c:v>308.02999999999997</c:v>
                </c:pt>
                <c:pt idx="2">
                  <c:v>265</c:v>
                </c:pt>
                <c:pt idx="3">
                  <c:v>260.07</c:v>
                </c:pt>
                <c:pt idx="4">
                  <c:v>335.75</c:v>
                </c:pt>
                <c:pt idx="5">
                  <c:v>256.14</c:v>
                </c:pt>
                <c:pt idx="6">
                  <c:v>267.43</c:v>
                </c:pt>
              </c:numCache>
            </c:numRef>
          </c:val>
          <c:extLst>
            <c:ext xmlns:c16="http://schemas.microsoft.com/office/drawing/2014/chart" uri="{C3380CC4-5D6E-409C-BE32-E72D297353CC}">
              <c16:uniqueId val="{00000005-90D1-4C4B-840C-4C96612F5768}"/>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1443.54</c:v>
                </c:pt>
                <c:pt idx="1">
                  <c:v>1132.52</c:v>
                </c:pt>
                <c:pt idx="2">
                  <c:v>971.12000000000012</c:v>
                </c:pt>
                <c:pt idx="3">
                  <c:v>623.18999999999983</c:v>
                </c:pt>
                <c:pt idx="4">
                  <c:v>796.06999999999994</c:v>
                </c:pt>
                <c:pt idx="5">
                  <c:v>633.94999999999993</c:v>
                </c:pt>
                <c:pt idx="6">
                  <c:v>583.62</c:v>
                </c:pt>
              </c:numCache>
            </c:numRef>
          </c:val>
          <c:extLst>
            <c:ext xmlns:c16="http://schemas.microsoft.com/office/drawing/2014/chart" uri="{C3380CC4-5D6E-409C-BE32-E72D297353CC}">
              <c16:uniqueId val="{00000006-90D1-4C4B-840C-4C96612F576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extLst>
            <c:ext xmlns:c16="http://schemas.microsoft.com/office/drawing/2014/chart" uri="{C3380CC4-5D6E-409C-BE32-E72D297353CC}">
              <c16:uniqueId val="{00000000-B5B3-415D-8B37-41E08BF57B07}"/>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extLst>
            <c:ext xmlns:c16="http://schemas.microsoft.com/office/drawing/2014/chart" uri="{C3380CC4-5D6E-409C-BE32-E72D297353CC}">
              <c16:uniqueId val="{00000001-B5B3-415D-8B37-41E08BF57B07}"/>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195.78</c:v>
                </c:pt>
                <c:pt idx="1">
                  <c:v>112</c:v>
                </c:pt>
                <c:pt idx="2">
                  <c:v>124</c:v>
                </c:pt>
                <c:pt idx="3">
                  <c:v>153</c:v>
                </c:pt>
                <c:pt idx="4">
                  <c:v>166.67</c:v>
                </c:pt>
                <c:pt idx="5">
                  <c:v>134</c:v>
                </c:pt>
                <c:pt idx="6">
                  <c:v>238</c:v>
                </c:pt>
              </c:numCache>
            </c:numRef>
          </c:val>
          <c:extLst>
            <c:ext xmlns:c16="http://schemas.microsoft.com/office/drawing/2014/chart" uri="{C3380CC4-5D6E-409C-BE32-E72D297353CC}">
              <c16:uniqueId val="{00000002-B5B3-415D-8B37-41E08BF57B07}"/>
            </c:ext>
          </c:extLst>
        </c:ser>
        <c:ser>
          <c:idx val="3"/>
          <c:order val="3"/>
          <c:tx>
            <c:strRef>
              <c:f>Sheet1!$E$1</c:f>
              <c:strCache>
                <c:ptCount val="1"/>
                <c:pt idx="0">
                  <c:v>Virtual Machines Licenses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0</c:v>
                </c:pt>
                <c:pt idx="3">
                  <c:v>0</c:v>
                </c:pt>
                <c:pt idx="4">
                  <c:v>36.53</c:v>
                </c:pt>
                <c:pt idx="5">
                  <c:v>41</c:v>
                </c:pt>
                <c:pt idx="6">
                  <c:v>43</c:v>
                </c:pt>
              </c:numCache>
            </c:numRef>
          </c:val>
          <c:extLst>
            <c:ext xmlns:c16="http://schemas.microsoft.com/office/drawing/2014/chart" uri="{C3380CC4-5D6E-409C-BE32-E72D297353CC}">
              <c16:uniqueId val="{00000003-B5B3-415D-8B37-41E08BF57B07}"/>
            </c:ext>
          </c:extLst>
        </c:ser>
        <c:ser>
          <c:idx val="4"/>
          <c:order val="4"/>
          <c:tx>
            <c:strRef>
              <c:f>Sheet1!$F$1</c:f>
              <c:strCache>
                <c:ptCount val="1"/>
                <c:pt idx="0">
                  <c:v>Bandwidth</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0.01</c:v>
                </c:pt>
                <c:pt idx="5">
                  <c:v>0</c:v>
                </c:pt>
                <c:pt idx="6">
                  <c:v>0</c:v>
                </c:pt>
              </c:numCache>
            </c:numRef>
          </c:val>
          <c:extLst>
            <c:ext xmlns:c16="http://schemas.microsoft.com/office/drawing/2014/chart" uri="{C3380CC4-5D6E-409C-BE32-E72D297353CC}">
              <c16:uniqueId val="{00000004-B5B3-415D-8B37-41E08BF57B0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extLst>
            <c:ext xmlns:c16="http://schemas.microsoft.com/office/drawing/2014/chart" uri="{C3380CC4-5D6E-409C-BE32-E72D297353CC}">
              <c16:uniqueId val="{00000000-4E75-4989-B5B5-0376CA53C9B4}"/>
            </c:ext>
          </c:extLst>
        </c:ser>
        <c:ser>
          <c:idx val="1"/>
          <c:order val="1"/>
          <c:tx>
            <c:strRef>
              <c:f>Sheet1!$C$1</c:f>
              <c:strCache>
                <c:ptCount val="1"/>
                <c:pt idx="0">
                  <c:v>SAP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extLst>
            <c:ext xmlns:c16="http://schemas.microsoft.com/office/drawing/2014/chart" uri="{C3380CC4-5D6E-409C-BE32-E72D297353CC}">
              <c16:uniqueId val="{00000001-4E75-4989-B5B5-0376CA53C9B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extLst>
            <c:ext xmlns:c16="http://schemas.microsoft.com/office/drawing/2014/chart" uri="{C3380CC4-5D6E-409C-BE32-E72D297353CC}">
              <c16:uniqueId val="{00000000-7307-4381-8B90-67A7378595E5}"/>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5000.41</c:v>
                </c:pt>
                <c:pt idx="1">
                  <c:v>4756</c:v>
                </c:pt>
                <c:pt idx="2">
                  <c:v>4679.66</c:v>
                </c:pt>
                <c:pt idx="3">
                  <c:v>4663.37</c:v>
                </c:pt>
                <c:pt idx="4">
                  <c:v>4758.84</c:v>
                </c:pt>
                <c:pt idx="5">
                  <c:v>4887.1499999999996</c:v>
                </c:pt>
                <c:pt idx="6">
                  <c:v>6077.62</c:v>
                </c:pt>
              </c:numCache>
            </c:numRef>
          </c:val>
          <c:extLst>
            <c:ext xmlns:c16="http://schemas.microsoft.com/office/drawing/2014/chart" uri="{C3380CC4-5D6E-409C-BE32-E72D297353CC}">
              <c16:uniqueId val="{00000001-7307-4381-8B90-67A7378595E5}"/>
            </c:ext>
          </c:extLst>
        </c:ser>
        <c:ser>
          <c:idx val="2"/>
          <c:order val="2"/>
          <c:tx>
            <c:strRef>
              <c:f>Sheet1!$D$1</c:f>
              <c:strCache>
                <c:ptCount val="1"/>
                <c:pt idx="0">
                  <c:v>Log Analytics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7300.46</c:v>
                </c:pt>
                <c:pt idx="1">
                  <c:v>3692</c:v>
                </c:pt>
                <c:pt idx="2">
                  <c:v>10596.09</c:v>
                </c:pt>
                <c:pt idx="3">
                  <c:v>3911.97</c:v>
                </c:pt>
                <c:pt idx="4">
                  <c:v>1966.89</c:v>
                </c:pt>
                <c:pt idx="5">
                  <c:v>2066.6999999999998</c:v>
                </c:pt>
                <c:pt idx="6">
                  <c:v>2306.0500000000002</c:v>
                </c:pt>
              </c:numCache>
            </c:numRef>
          </c:val>
          <c:extLst>
            <c:ext xmlns:c16="http://schemas.microsoft.com/office/drawing/2014/chart" uri="{C3380CC4-5D6E-409C-BE32-E72D297353CC}">
              <c16:uniqueId val="{00000002-7307-4381-8B90-67A7378595E5}"/>
            </c:ext>
          </c:extLst>
        </c:ser>
        <c:ser>
          <c:idx val="3"/>
          <c:order val="3"/>
          <c:tx>
            <c:strRef>
              <c:f>Sheet1!$E$1</c:f>
              <c:strCache>
                <c:ptCount val="1"/>
                <c:pt idx="0">
                  <c:v>Virtual Machines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extLst>
            <c:ext xmlns:c16="http://schemas.microsoft.com/office/drawing/2014/chart" uri="{C3380CC4-5D6E-409C-BE32-E72D297353CC}">
              <c16:uniqueId val="{00000003-7307-4381-8B90-67A7378595E5}"/>
            </c:ext>
          </c:extLst>
        </c:ser>
        <c:ser>
          <c:idx val="4"/>
          <c:order val="4"/>
          <c:tx>
            <c:strRef>
              <c:f>Sheet1!$F$1</c:f>
              <c:strCache>
                <c:ptCount val="1"/>
                <c:pt idx="0">
                  <c:v>Sentinel</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extLst>
            <c:ext xmlns:c16="http://schemas.microsoft.com/office/drawing/2014/chart" uri="{C3380CC4-5D6E-409C-BE32-E72D297353CC}">
              <c16:uniqueId val="{00000004-7307-4381-8B90-67A7378595E5}"/>
            </c:ext>
          </c:extLst>
        </c:ser>
        <c:ser>
          <c:idx val="5"/>
          <c:order val="5"/>
          <c:tx>
            <c:strRef>
              <c:f>Sheet1!$G$1</c:f>
              <c:strCache>
                <c:ptCount val="1"/>
                <c:pt idx="0">
                  <c:v>Other services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2265</c:v>
                </c:pt>
                <c:pt idx="1">
                  <c:v>1965</c:v>
                </c:pt>
                <c:pt idx="2">
                  <c:v>2206</c:v>
                </c:pt>
                <c:pt idx="3">
                  <c:v>2059</c:v>
                </c:pt>
                <c:pt idx="4">
                  <c:v>2253.46</c:v>
                </c:pt>
                <c:pt idx="5">
                  <c:v>2467.09</c:v>
                </c:pt>
                <c:pt idx="6">
                  <c:v>2528.4699999999998</c:v>
                </c:pt>
              </c:numCache>
            </c:numRef>
          </c:val>
          <c:extLst>
            <c:ext xmlns:c16="http://schemas.microsoft.com/office/drawing/2014/chart" uri="{C3380CC4-5D6E-409C-BE32-E72D297353CC}">
              <c16:uniqueId val="{00000005-7307-4381-8B90-67A7378595E5}"/>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4634.13</c:v>
                </c:pt>
                <c:pt idx="1">
                  <c:v>3962</c:v>
                </c:pt>
                <c:pt idx="2">
                  <c:v>4345.76</c:v>
                </c:pt>
                <c:pt idx="3">
                  <c:v>4241.6400000000003</c:v>
                </c:pt>
                <c:pt idx="4">
                  <c:v>4862.66</c:v>
                </c:pt>
                <c:pt idx="5">
                  <c:v>4595.34</c:v>
                </c:pt>
                <c:pt idx="6">
                  <c:v>5280.59</c:v>
                </c:pt>
              </c:numCache>
            </c:numRef>
          </c:val>
          <c:extLst>
            <c:ext xmlns:c16="http://schemas.microsoft.com/office/drawing/2014/chart" uri="{C3380CC4-5D6E-409C-BE32-E72D297353CC}">
              <c16:uniqueId val="{00000006-7307-4381-8B90-67A7378595E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16903.740000000002</c:v>
                </c:pt>
                <c:pt idx="1">
                  <c:v>12321</c:v>
                </c:pt>
                <c:pt idx="2">
                  <c:v>26897.08</c:v>
                </c:pt>
                <c:pt idx="3">
                  <c:v>14231</c:v>
                </c:pt>
                <c:pt idx="4">
                  <c:v>10755.39</c:v>
                </c:pt>
                <c:pt idx="5">
                  <c:v>10557</c:v>
                </c:pt>
                <c:pt idx="6">
                  <c:v>11092.99</c:v>
                </c:pt>
              </c:numCache>
            </c:numRef>
          </c:val>
          <c:extLst>
            <c:ext xmlns:c16="http://schemas.microsoft.com/office/drawing/2014/chart" uri="{C3380CC4-5D6E-409C-BE32-E72D297353CC}">
              <c16:uniqueId val="{00000000-1222-4A91-9CF9-FEC89B2CB5F5}"/>
            </c:ext>
          </c:extLst>
        </c:ser>
        <c:ser>
          <c:idx val="1"/>
          <c:order val="1"/>
          <c:tx>
            <c:strRef>
              <c:f>Sheet1!$C$1</c:f>
              <c:strCache>
                <c:ptCount val="1"/>
                <c:pt idx="0">
                  <c:v>Prod</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extLst>
            <c:ext xmlns:c16="http://schemas.microsoft.com/office/drawing/2014/chart" uri="{C3380CC4-5D6E-409C-BE32-E72D297353CC}">
              <c16:uniqueId val="{00000001-1222-4A91-9CF9-FEC89B2CB5F5}"/>
            </c:ext>
          </c:extLst>
        </c:ser>
        <c:ser>
          <c:idx val="2"/>
          <c:order val="2"/>
          <c:tx>
            <c:strRef>
              <c:f>Sheet1!$D$1</c:f>
              <c:strCache>
                <c:ptCount val="1"/>
                <c:pt idx="0">
                  <c:v>CloudOps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872.66</c:v>
                </c:pt>
                <c:pt idx="1">
                  <c:v>555</c:v>
                </c:pt>
                <c:pt idx="2">
                  <c:v>768.67</c:v>
                </c:pt>
                <c:pt idx="3">
                  <c:v>737</c:v>
                </c:pt>
                <c:pt idx="4">
                  <c:v>971.96</c:v>
                </c:pt>
                <c:pt idx="5">
                  <c:v>1089</c:v>
                </c:pt>
                <c:pt idx="6">
                  <c:v>1225.74</c:v>
                </c:pt>
              </c:numCache>
            </c:numRef>
          </c:val>
          <c:extLst>
            <c:ext xmlns:c16="http://schemas.microsoft.com/office/drawing/2014/chart" uri="{C3380CC4-5D6E-409C-BE32-E72D297353CC}">
              <c16:uniqueId val="{00000002-1222-4A91-9CF9-FEC89B2CB5F5}"/>
            </c:ext>
          </c:extLst>
        </c:ser>
        <c:ser>
          <c:idx val="3"/>
          <c:order val="3"/>
          <c:tx>
            <c:strRef>
              <c:f>Sheet1!$E$1</c:f>
              <c:strCache>
                <c:ptCount val="1"/>
                <c:pt idx="0">
                  <c:v>DataCloud prod</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363.16</c:v>
                </c:pt>
                <c:pt idx="1">
                  <c:v>357</c:v>
                </c:pt>
                <c:pt idx="2">
                  <c:v>397.3</c:v>
                </c:pt>
                <c:pt idx="3">
                  <c:v>336</c:v>
                </c:pt>
                <c:pt idx="4">
                  <c:v>370.22</c:v>
                </c:pt>
                <c:pt idx="5">
                  <c:v>550</c:v>
                </c:pt>
                <c:pt idx="6">
                  <c:v>818.11</c:v>
                </c:pt>
              </c:numCache>
            </c:numRef>
          </c:val>
          <c:extLst>
            <c:ext xmlns:c16="http://schemas.microsoft.com/office/drawing/2014/chart" uri="{C3380CC4-5D6E-409C-BE32-E72D297353CC}">
              <c16:uniqueId val="{00000003-1222-4A91-9CF9-FEC89B2CB5F5}"/>
            </c:ext>
          </c:extLst>
        </c:ser>
        <c:ser>
          <c:idx val="4"/>
          <c:order val="4"/>
          <c:tx>
            <c:strRef>
              <c:f>Sheet1!$F$1</c:f>
              <c:strCache>
                <c:ptCount val="1"/>
                <c:pt idx="0">
                  <c:v>DataCloud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188.97</c:v>
                </c:pt>
                <c:pt idx="1">
                  <c:v>169</c:v>
                </c:pt>
                <c:pt idx="2">
                  <c:v>189.53</c:v>
                </c:pt>
                <c:pt idx="3">
                  <c:v>184</c:v>
                </c:pt>
                <c:pt idx="4">
                  <c:v>506.65</c:v>
                </c:pt>
                <c:pt idx="5">
                  <c:v>582</c:v>
                </c:pt>
                <c:pt idx="6">
                  <c:v>573.9</c:v>
                </c:pt>
              </c:numCache>
            </c:numRef>
          </c:val>
          <c:extLst>
            <c:ext xmlns:c16="http://schemas.microsoft.com/office/drawing/2014/chart" uri="{C3380CC4-5D6E-409C-BE32-E72D297353CC}">
              <c16:uniqueId val="{00000004-1222-4A91-9CF9-FEC89B2CB5F5}"/>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extLst>
            <c:ext xmlns:c16="http://schemas.microsoft.com/office/drawing/2014/chart" uri="{C3380CC4-5D6E-409C-BE32-E72D297353CC}">
              <c16:uniqueId val="{00000005-1222-4A91-9CF9-FEC89B2CB5F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lt;2000]&quot;&quot;;&quot;$&quot;#,##0,&quot;K&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lt;2000]&quot;&quot;;&quot;$&quot;#,##0,&quot;K&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lt;2000]&quot;&quot;;&quot;$&quot;#,##0,&quot;K&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lt;2000]&quot;&quot;;&quot;$&quot;#,##0,&quot;K&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lt;2000]&quot;&quot;;&quot;$&quot;#,##0,&quot;K&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6445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GCP     +$1 Azure  +13.3% per month
  AWS     +5.8% per month.1K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cut of the slide that follows. Same basis, same total:
  $199,531 of billed AI, January to July 2026.
  Azure AI Foundry             $87,158  43.7%  +240% Jan to Jul
  GitHub Copilot               $57,177  28.7%  +593% Jan to Jul
  AWS Bedrock (Claude)         $42,056  21.1%  First billed in Mar
  Cowork                        $9,444  4.7%  $97 to $8,920
  Google Vertex AI              $3,696  1.9%  First billed in May
WHAT IS NOT HERE
Databricks. It draws down the 600,000 DBU pre-purchase paid in April and
bills at $0, so it would show as the largest platform while costing nothing
this month. It has its own slide.
AWS July is gross of the $16,100 MAP credit, same footing as the rest of
the deck, and that credit has its own slide too.
IF ASKED WHY THIS DIFFERS FROM THE v33 VERSION: v33 showed the May-July
invoiced window. This is the full seven months, on the deck's one basis.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NUMBER OFF THIS SLIDE: for every dollar of AI meters under the AI Factory
tag, there is $1.84 of platform underneath it.
  Platform   $41,236   64.8%
  AI         $22,373   35.2%
  ---------------------------------
  Tag total  $63,609   May-Jul invoiced
Blue is platform, purple is AI, the same as everywhere else in the deck.
Read the top two rows together: the gateway in front of the models costs
about what the models cost.
TONE: this is a ratio, not an accusation. Inference has to run somewhere. The
reason to know it is sizing the next project, and the platform half is the
half reservations and right-sizing can actually move.
WHAT IS IN THE AI BAND
Foundry Models (tokens), Azure Cognitive Search, Foundry Tools.
Document Intelligence, the OCR service, is a separate project in the
programme and is not in this tag. It is on the projects slide, where it is
$30,970 across Jan-Jul. All of it counts as AI.
IF ASKED FOR THE FULL METER LIST: it is in the appendix. Do not read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981060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12976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4579992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2674476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mesh is the argument. Five consumer groups, six platforms, nothing in
the middle. Thirty direct paths, no single place that can see the spend,
refuse a request, or attribute a bill.
Databricks is on the list because it is bought the same way as the rest, and
it is the largest single commitment of the year. It bills at $0 today because
it draws down the April pre-purchase, which is exactly why nobody is watching
it. See the Databricks slide.
This slide sets up the gateway slide. Do not solve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2276198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41093946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5905566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5611103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305986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6046197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070A12"/>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9.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chart" Target="../charts/chart14.xml"/></Relationships>
</file>

<file path=ppt/slides/_rels/slide36.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chart" Target="../charts/chart16.xml"/></Relationships>
</file>

<file path=ppt/slides/_rels/slide37.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chart" Target="../charts/chart1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marL="0" indent="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marL="0" indent="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693408" y="1682496"/>
            <a:ext cx="4839919" cy="274320"/>
          </a:xfrm>
          <a:prstGeom prst="rect">
            <a:avLst/>
          </a:prstGeom>
          <a:noFill/>
          <a:ln/>
        </p:spPr>
        <p:txBody>
          <a:bodyPr wrap="square" lIns="0" tIns="0" rIns="0" bIns="0" rtlCol="0" anchor="ctr"/>
          <a:lstStyle/>
          <a:p>
            <a:pPr marL="0" indent="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693408" y="2734056"/>
            <a:ext cx="4839919" cy="274320"/>
          </a:xfrm>
          <a:prstGeom prst="rect">
            <a:avLst/>
          </a:prstGeom>
          <a:noFill/>
          <a:ln/>
        </p:spPr>
        <p:txBody>
          <a:bodyPr wrap="square" lIns="0" tIns="0" rIns="0" bIns="0" rtlCol="0" anchor="ctr"/>
          <a:lstStyle/>
          <a:p>
            <a:pPr marL="0" indent="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6693408" y="3785616"/>
            <a:ext cx="4839919" cy="274320"/>
          </a:xfrm>
          <a:prstGeom prst="rect">
            <a:avLst/>
          </a:prstGeom>
          <a:noFill/>
          <a:ln/>
        </p:spPr>
        <p:txBody>
          <a:bodyPr wrap="square" lIns="0" tIns="0" rIns="0" bIns="0" rtlCol="0" anchor="ctr"/>
          <a:lstStyle/>
          <a:p>
            <a:pPr marL="0" indent="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5" name="Text 23"/>
          <p:cNvSpPr/>
          <p:nvPr/>
        </p:nvSpPr>
        <p:spPr>
          <a:xfrm>
            <a:off x="630936" y="4361688"/>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7" name="Text 25"/>
          <p:cNvSpPr/>
          <p:nvPr/>
        </p:nvSpPr>
        <p:spPr>
          <a:xfrm>
            <a:off x="630936" y="4928616"/>
            <a:ext cx="5495544" cy="45720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9" name="Text 27"/>
          <p:cNvSpPr/>
          <p:nvPr/>
        </p:nvSpPr>
        <p:spPr>
          <a:xfrm>
            <a:off x="630936" y="5495544"/>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ALL PROVIDERS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Spend by AI platform</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Billed AI, all three clouds, January to July.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Five platforms, bought separately by different teams, on three clouds and two enrolments. Every one of them grew, and the two that did not exist in January are already 22% of the July bill. $199,531 over the seven months.</a:t>
            </a:r>
            <a:endParaRPr lang="en-US" sz="1200" dirty="0"/>
          </a:p>
        </p:txBody>
      </p:sp>
      <p:sp>
        <p:nvSpPr>
          <p:cNvPr id="8" name="Shape 6"/>
          <p:cNvSpPr/>
          <p:nvPr/>
        </p:nvSpPr>
        <p:spPr>
          <a:xfrm>
            <a:off x="457200" y="1234440"/>
            <a:ext cx="4823713" cy="182880"/>
          </a:xfrm>
          <a:prstGeom prst="rect">
            <a:avLst/>
          </a:prstGeom>
          <a:solidFill>
            <a:srgbClr val="2F8CFF"/>
          </a:solidFill>
          <a:ln w="12700">
            <a:solidFill>
              <a:srgbClr val="2F8CFF"/>
            </a:solidFill>
            <a:prstDash val="solid"/>
          </a:ln>
        </p:spPr>
      </p:sp>
      <p:sp>
        <p:nvSpPr>
          <p:cNvPr id="9" name="Shape 7"/>
          <p:cNvSpPr/>
          <p:nvPr/>
        </p:nvSpPr>
        <p:spPr>
          <a:xfrm>
            <a:off x="5326633" y="1234440"/>
            <a:ext cx="3164430" cy="182880"/>
          </a:xfrm>
          <a:prstGeom prst="rect">
            <a:avLst/>
          </a:prstGeom>
          <a:solidFill>
            <a:srgbClr val="3DD9EB"/>
          </a:solidFill>
          <a:ln w="12700">
            <a:solidFill>
              <a:srgbClr val="3DD9EB"/>
            </a:solidFill>
            <a:prstDash val="solid"/>
          </a:ln>
        </p:spPr>
      </p:sp>
      <p:sp>
        <p:nvSpPr>
          <p:cNvPr id="10" name="Shape 8"/>
          <p:cNvSpPr/>
          <p:nvPr/>
        </p:nvSpPr>
        <p:spPr>
          <a:xfrm>
            <a:off x="8536783" y="1234440"/>
            <a:ext cx="2327567" cy="182880"/>
          </a:xfrm>
          <a:prstGeom prst="rect">
            <a:avLst/>
          </a:prstGeom>
          <a:solidFill>
            <a:srgbClr val="FF9F43"/>
          </a:solidFill>
          <a:ln w="12700">
            <a:solidFill>
              <a:srgbClr val="FF9F43"/>
            </a:solidFill>
            <a:prstDash val="solid"/>
          </a:ln>
        </p:spPr>
      </p:sp>
      <p:sp>
        <p:nvSpPr>
          <p:cNvPr id="11" name="Shape 9"/>
          <p:cNvSpPr/>
          <p:nvPr/>
        </p:nvSpPr>
        <p:spPr>
          <a:xfrm>
            <a:off x="10910070" y="1234440"/>
            <a:ext cx="522673" cy="182880"/>
          </a:xfrm>
          <a:prstGeom prst="rect">
            <a:avLst/>
          </a:prstGeom>
          <a:solidFill>
            <a:srgbClr val="B07CFF"/>
          </a:solidFill>
          <a:ln w="12700">
            <a:solidFill>
              <a:srgbClr val="B07CFF"/>
            </a:solidFill>
            <a:prstDash val="solid"/>
          </a:ln>
        </p:spPr>
      </p:sp>
      <p:sp>
        <p:nvSpPr>
          <p:cNvPr id="12" name="Shape 10"/>
          <p:cNvSpPr/>
          <p:nvPr/>
        </p:nvSpPr>
        <p:spPr>
          <a:xfrm>
            <a:off x="11478463" y="1234440"/>
            <a:ext cx="256032" cy="182880"/>
          </a:xfrm>
          <a:prstGeom prst="rect">
            <a:avLst/>
          </a:prstGeom>
          <a:solidFill>
            <a:srgbClr val="3DDC97"/>
          </a:solidFill>
          <a:ln w="12700">
            <a:solidFill>
              <a:srgbClr val="3DDC97"/>
            </a:solidFill>
            <a:prstDash val="solid"/>
          </a:ln>
        </p:spPr>
      </p:sp>
      <p:sp>
        <p:nvSpPr>
          <p:cNvPr id="13" name="Shape 11"/>
          <p:cNvSpPr/>
          <p:nvPr/>
        </p:nvSpPr>
        <p:spPr>
          <a:xfrm>
            <a:off x="457200" y="1618488"/>
            <a:ext cx="2094525" cy="3977640"/>
          </a:xfrm>
          <a:prstGeom prst="roundRect">
            <a:avLst>
              <a:gd name="adj" fmla="val 2619"/>
            </a:avLst>
          </a:prstGeom>
          <a:solidFill>
            <a:srgbClr val="121B2D"/>
          </a:solidFill>
          <a:ln w="12700">
            <a:solidFill>
              <a:srgbClr val="23304A"/>
            </a:solidFill>
            <a:prstDash val="solid"/>
          </a:ln>
        </p:spPr>
      </p:sp>
      <p:sp>
        <p:nvSpPr>
          <p:cNvPr id="14" name="Shape 12"/>
          <p:cNvSpPr/>
          <p:nvPr/>
        </p:nvSpPr>
        <p:spPr>
          <a:xfrm>
            <a:off x="457200" y="1618488"/>
            <a:ext cx="2094525" cy="45720"/>
          </a:xfrm>
          <a:prstGeom prst="rect">
            <a:avLst/>
          </a:prstGeom>
          <a:solidFill>
            <a:srgbClr val="2F8CFF"/>
          </a:solidFill>
          <a:ln w="12700">
            <a:solidFill>
              <a:srgbClr val="2F8CFF"/>
            </a:solidFill>
            <a:prstDash val="solid"/>
          </a:ln>
        </p:spPr>
      </p:sp>
      <p:sp>
        <p:nvSpPr>
          <p:cNvPr id="15" name="Text 13"/>
          <p:cNvSpPr/>
          <p:nvPr/>
        </p:nvSpPr>
        <p:spPr>
          <a:xfrm>
            <a:off x="640080"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AZURE AI FOUNDRY</a:t>
            </a:r>
            <a:endParaRPr lang="en-US" sz="1200" dirty="0"/>
          </a:p>
        </p:txBody>
      </p:sp>
      <p:sp>
        <p:nvSpPr>
          <p:cNvPr id="16" name="Text 14"/>
          <p:cNvSpPr/>
          <p:nvPr/>
        </p:nvSpPr>
        <p:spPr>
          <a:xfrm>
            <a:off x="640080"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$87,158</a:t>
            </a:r>
            <a:endParaRPr lang="en-US" sz="2800" dirty="0"/>
          </a:p>
        </p:txBody>
      </p:sp>
      <p:sp>
        <p:nvSpPr>
          <p:cNvPr id="17" name="Text 15"/>
          <p:cNvSpPr/>
          <p:nvPr/>
        </p:nvSpPr>
        <p:spPr>
          <a:xfrm>
            <a:off x="640080" y="2734056"/>
            <a:ext cx="1728765" cy="237744"/>
          </a:xfrm>
          <a:prstGeom prst="rect">
            <a:avLst/>
          </a:prstGeom>
          <a:noFill/>
          <a:ln/>
        </p:spPr>
        <p:txBody>
          <a:bodyPr wrap="square" lIns="0" tIns="0" rIns="0" bIns="0" rtlCol="0" anchor="ctr"/>
          <a:lstStyle/>
          <a:p>
            <a:pPr marL="0" indent="0">
              <a:buNone/>
            </a:pPr>
            <a:r>
              <a:rPr lang="en-US" sz="1200" b="1" dirty="0">
                <a:solidFill>
                  <a:srgbClr val="2F8CFF"/>
                </a:solidFill>
                <a:latin typeface="Calibri" pitchFamily="34" charset="0"/>
                <a:ea typeface="Calibri" pitchFamily="34" charset="-122"/>
                <a:cs typeface="Calibri" pitchFamily="34" charset="-120"/>
              </a:rPr>
              <a:t>43.7% of billed AI</a:t>
            </a:r>
            <a:endParaRPr lang="en-US" sz="1200" dirty="0"/>
          </a:p>
        </p:txBody>
      </p:sp>
      <p:sp>
        <p:nvSpPr>
          <p:cNvPr id="18" name="Shape 16"/>
          <p:cNvSpPr/>
          <p:nvPr/>
        </p:nvSpPr>
        <p:spPr>
          <a:xfrm>
            <a:off x="640080" y="3081528"/>
            <a:ext cx="1728765" cy="9144"/>
          </a:xfrm>
          <a:prstGeom prst="rect">
            <a:avLst/>
          </a:prstGeom>
          <a:solidFill>
            <a:srgbClr val="23304A"/>
          </a:solidFill>
          <a:ln w="12700">
            <a:solidFill>
              <a:srgbClr val="23304A"/>
            </a:solidFill>
            <a:prstDash val="solid"/>
          </a:ln>
        </p:spPr>
      </p:sp>
      <p:sp>
        <p:nvSpPr>
          <p:cNvPr id="19" name="Text 17"/>
          <p:cNvSpPr/>
          <p:nvPr/>
        </p:nvSpPr>
        <p:spPr>
          <a:xfrm>
            <a:off x="640080"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20" name="Text 18"/>
          <p:cNvSpPr/>
          <p:nvPr/>
        </p:nvSpPr>
        <p:spPr>
          <a:xfrm>
            <a:off x="1504462"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$5,764</a:t>
            </a:r>
            <a:endParaRPr lang="en-US" sz="1300" dirty="0"/>
          </a:p>
        </p:txBody>
      </p:sp>
      <p:sp>
        <p:nvSpPr>
          <p:cNvPr id="21" name="Text 19"/>
          <p:cNvSpPr/>
          <p:nvPr/>
        </p:nvSpPr>
        <p:spPr>
          <a:xfrm>
            <a:off x="640080"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22" name="Text 20"/>
          <p:cNvSpPr/>
          <p:nvPr/>
        </p:nvSpPr>
        <p:spPr>
          <a:xfrm>
            <a:off x="1504462"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$19,613</a:t>
            </a:r>
            <a:endParaRPr lang="en-US" sz="1300" dirty="0"/>
          </a:p>
        </p:txBody>
      </p:sp>
      <p:sp>
        <p:nvSpPr>
          <p:cNvPr id="23" name="Shape 21"/>
          <p:cNvSpPr/>
          <p:nvPr/>
        </p:nvSpPr>
        <p:spPr>
          <a:xfrm>
            <a:off x="640080" y="4069080"/>
            <a:ext cx="1728765" cy="329184"/>
          </a:xfrm>
          <a:prstGeom prst="roundRect">
            <a:avLst>
              <a:gd name="adj" fmla="val 27778"/>
            </a:avLst>
          </a:prstGeom>
          <a:solidFill>
            <a:srgbClr val="1D2D42"/>
          </a:solidFill>
          <a:ln w="12700">
            <a:solidFill>
              <a:srgbClr val="2F8CFF"/>
            </a:solidFill>
            <a:prstDash val="solid"/>
          </a:ln>
        </p:spPr>
      </p:sp>
      <p:sp>
        <p:nvSpPr>
          <p:cNvPr id="24" name="Text 22"/>
          <p:cNvSpPr/>
          <p:nvPr/>
        </p:nvSpPr>
        <p:spPr>
          <a:xfrm>
            <a:off x="640080" y="4069080"/>
            <a:ext cx="1728765" cy="329184"/>
          </a:xfrm>
          <a:prstGeom prst="rect">
            <a:avLst/>
          </a:prstGeom>
          <a:noFill/>
          <a:ln/>
        </p:spPr>
        <p:txBody>
          <a:bodyPr wrap="square" lIns="0" tIns="0" rIns="0" bIns="0" rtlCol="0" anchor="ctr"/>
          <a:lstStyle/>
          <a:p>
            <a:pPr marL="0" indent="0" algn="ctr">
              <a:buNone/>
            </a:pPr>
            <a:r>
              <a:rPr lang="en-US" sz="1200" b="1" dirty="0">
                <a:solidFill>
                  <a:srgbClr val="2F8CFF"/>
                </a:solidFill>
                <a:latin typeface="Calibri" pitchFamily="34" charset="0"/>
                <a:ea typeface="Calibri" pitchFamily="34" charset="-122"/>
                <a:cs typeface="Calibri" pitchFamily="34" charset="-120"/>
              </a:rPr>
              <a:t>+240% Jan to Jul</a:t>
            </a:r>
            <a:endParaRPr lang="en-US" sz="1200" dirty="0"/>
          </a:p>
        </p:txBody>
      </p:sp>
      <p:sp>
        <p:nvSpPr>
          <p:cNvPr id="25" name="Text 23"/>
          <p:cNvSpPr/>
          <p:nvPr/>
        </p:nvSpPr>
        <p:spPr>
          <a:xfrm>
            <a:off x="640080"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Foundry models, Document Intelligence, AI Search and Defender for AI.</a:t>
            </a:r>
            <a:endParaRPr lang="en-US" sz="1200" dirty="0"/>
          </a:p>
        </p:txBody>
      </p:sp>
      <p:sp>
        <p:nvSpPr>
          <p:cNvPr id="26" name="Shape 24"/>
          <p:cNvSpPr/>
          <p:nvPr/>
        </p:nvSpPr>
        <p:spPr>
          <a:xfrm>
            <a:off x="2752893" y="1618488"/>
            <a:ext cx="2094525" cy="3977640"/>
          </a:xfrm>
          <a:prstGeom prst="roundRect">
            <a:avLst>
              <a:gd name="adj" fmla="val 2619"/>
            </a:avLst>
          </a:prstGeom>
          <a:solidFill>
            <a:srgbClr val="121B2D"/>
          </a:solidFill>
          <a:ln w="12700">
            <a:solidFill>
              <a:srgbClr val="23304A"/>
            </a:solidFill>
            <a:prstDash val="solid"/>
          </a:ln>
        </p:spPr>
      </p:sp>
      <p:sp>
        <p:nvSpPr>
          <p:cNvPr id="27" name="Shape 25"/>
          <p:cNvSpPr/>
          <p:nvPr/>
        </p:nvSpPr>
        <p:spPr>
          <a:xfrm>
            <a:off x="2752893" y="1618488"/>
            <a:ext cx="2094525" cy="45720"/>
          </a:xfrm>
          <a:prstGeom prst="rect">
            <a:avLst/>
          </a:prstGeom>
          <a:solidFill>
            <a:srgbClr val="3DD9EB"/>
          </a:solidFill>
          <a:ln w="12700">
            <a:solidFill>
              <a:srgbClr val="3DD9EB"/>
            </a:solidFill>
            <a:prstDash val="solid"/>
          </a:ln>
        </p:spPr>
      </p:sp>
      <p:sp>
        <p:nvSpPr>
          <p:cNvPr id="28" name="Text 26"/>
          <p:cNvSpPr/>
          <p:nvPr/>
        </p:nvSpPr>
        <p:spPr>
          <a:xfrm>
            <a:off x="2935773"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GITHUB COPILOT</a:t>
            </a:r>
            <a:endParaRPr lang="en-US" sz="1200" dirty="0"/>
          </a:p>
        </p:txBody>
      </p:sp>
      <p:sp>
        <p:nvSpPr>
          <p:cNvPr id="29" name="Text 27"/>
          <p:cNvSpPr/>
          <p:nvPr/>
        </p:nvSpPr>
        <p:spPr>
          <a:xfrm>
            <a:off x="2935773"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30" name="Text 28"/>
          <p:cNvSpPr/>
          <p:nvPr/>
        </p:nvSpPr>
        <p:spPr>
          <a:xfrm>
            <a:off x="2935773" y="2734056"/>
            <a:ext cx="1728765" cy="237744"/>
          </a:xfrm>
          <a:prstGeom prst="rect">
            <a:avLst/>
          </a:prstGeom>
          <a:noFill/>
          <a:ln/>
        </p:spPr>
        <p:txBody>
          <a:bodyPr wrap="square" lIns="0" tIns="0" rIns="0" bIns="0" rtlCol="0" anchor="ctr"/>
          <a:lstStyle/>
          <a:p>
            <a:pPr marL="0" indent="0">
              <a:buNone/>
            </a:pPr>
            <a:r>
              <a:rPr lang="en-US" sz="1200" b="1" dirty="0">
                <a:solidFill>
                  <a:srgbClr val="3DD9EB"/>
                </a:solidFill>
                <a:latin typeface="Calibri" pitchFamily="34" charset="0"/>
                <a:ea typeface="Calibri" pitchFamily="34" charset="-122"/>
                <a:cs typeface="Calibri" pitchFamily="34" charset="-120"/>
              </a:rPr>
              <a:t>28.7% of billed AI</a:t>
            </a:r>
            <a:endParaRPr lang="en-US" sz="1200" dirty="0"/>
          </a:p>
        </p:txBody>
      </p:sp>
      <p:sp>
        <p:nvSpPr>
          <p:cNvPr id="31" name="Shape 29"/>
          <p:cNvSpPr/>
          <p:nvPr/>
        </p:nvSpPr>
        <p:spPr>
          <a:xfrm>
            <a:off x="2935773" y="3081528"/>
            <a:ext cx="1728765" cy="9144"/>
          </a:xfrm>
          <a:prstGeom prst="rect">
            <a:avLst/>
          </a:prstGeom>
          <a:solidFill>
            <a:srgbClr val="23304A"/>
          </a:solidFill>
          <a:ln w="12700">
            <a:solidFill>
              <a:srgbClr val="23304A"/>
            </a:solidFill>
            <a:prstDash val="solid"/>
          </a:ln>
        </p:spPr>
      </p:sp>
      <p:sp>
        <p:nvSpPr>
          <p:cNvPr id="32" name="Text 30"/>
          <p:cNvSpPr/>
          <p:nvPr/>
        </p:nvSpPr>
        <p:spPr>
          <a:xfrm>
            <a:off x="2935773"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33" name="Text 31"/>
          <p:cNvSpPr/>
          <p:nvPr/>
        </p:nvSpPr>
        <p:spPr>
          <a:xfrm>
            <a:off x="3800155"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$2,779</a:t>
            </a:r>
            <a:endParaRPr lang="en-US" sz="1300" dirty="0"/>
          </a:p>
        </p:txBody>
      </p:sp>
      <p:sp>
        <p:nvSpPr>
          <p:cNvPr id="34" name="Text 32"/>
          <p:cNvSpPr/>
          <p:nvPr/>
        </p:nvSpPr>
        <p:spPr>
          <a:xfrm>
            <a:off x="2935773"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35" name="Text 33"/>
          <p:cNvSpPr/>
          <p:nvPr/>
        </p:nvSpPr>
        <p:spPr>
          <a:xfrm>
            <a:off x="3800155"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$19,260</a:t>
            </a:r>
            <a:endParaRPr lang="en-US" sz="1300" dirty="0"/>
          </a:p>
        </p:txBody>
      </p:sp>
      <p:sp>
        <p:nvSpPr>
          <p:cNvPr id="36" name="Shape 34"/>
          <p:cNvSpPr/>
          <p:nvPr/>
        </p:nvSpPr>
        <p:spPr>
          <a:xfrm>
            <a:off x="2935773" y="4069080"/>
            <a:ext cx="1728765" cy="329184"/>
          </a:xfrm>
          <a:prstGeom prst="roundRect">
            <a:avLst>
              <a:gd name="adj" fmla="val 27778"/>
            </a:avLst>
          </a:prstGeom>
          <a:solidFill>
            <a:srgbClr val="1D2D42"/>
          </a:solidFill>
          <a:ln w="12700">
            <a:solidFill>
              <a:srgbClr val="3DD9EB"/>
            </a:solidFill>
            <a:prstDash val="solid"/>
          </a:ln>
        </p:spPr>
      </p:sp>
      <p:sp>
        <p:nvSpPr>
          <p:cNvPr id="37" name="Text 35"/>
          <p:cNvSpPr/>
          <p:nvPr/>
        </p:nvSpPr>
        <p:spPr>
          <a:xfrm>
            <a:off x="2935773" y="4069080"/>
            <a:ext cx="1728765" cy="329184"/>
          </a:xfrm>
          <a:prstGeom prst="rect">
            <a:avLst/>
          </a:prstGeom>
          <a:noFill/>
          <a:ln/>
        </p:spPr>
        <p:txBody>
          <a:bodyPr wrap="square" lIns="0" tIns="0" rIns="0" bIns="0" rtlCol="0" anchor="ctr"/>
          <a:lstStyle/>
          <a:p>
            <a:pPr marL="0" indent="0" algn="ctr">
              <a:buNone/>
            </a:pPr>
            <a:r>
              <a:rPr lang="en-US" sz="1200" b="1" dirty="0">
                <a:solidFill>
                  <a:srgbClr val="3DD9EB"/>
                </a:solidFill>
                <a:latin typeface="Calibri" pitchFamily="34" charset="0"/>
                <a:ea typeface="Calibri" pitchFamily="34" charset="-122"/>
                <a:cs typeface="Calibri" pitchFamily="34" charset="-120"/>
              </a:rPr>
              <a:t>+593% Jan to Jul</a:t>
            </a:r>
            <a:endParaRPr lang="en-US" sz="1200" dirty="0"/>
          </a:p>
        </p:txBody>
      </p:sp>
      <p:sp>
        <p:nvSpPr>
          <p:cNvPr id="38" name="Text 36"/>
          <p:cNvSpPr/>
          <p:nvPr/>
        </p:nvSpPr>
        <p:spPr>
          <a:xfrm>
            <a:off x="2935773"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Developer seats plus AI credit overage. Billed in full.</a:t>
            </a:r>
            <a:endParaRPr lang="en-US" sz="1200" dirty="0"/>
          </a:p>
        </p:txBody>
      </p:sp>
      <p:sp>
        <p:nvSpPr>
          <p:cNvPr id="39" name="Shape 37"/>
          <p:cNvSpPr/>
          <p:nvPr/>
        </p:nvSpPr>
        <p:spPr>
          <a:xfrm>
            <a:off x="5048585" y="1618488"/>
            <a:ext cx="2094525" cy="3977640"/>
          </a:xfrm>
          <a:prstGeom prst="roundRect">
            <a:avLst>
              <a:gd name="adj" fmla="val 2619"/>
            </a:avLst>
          </a:prstGeom>
          <a:solidFill>
            <a:srgbClr val="121B2D"/>
          </a:solidFill>
          <a:ln w="12700">
            <a:solidFill>
              <a:srgbClr val="23304A"/>
            </a:solidFill>
            <a:prstDash val="solid"/>
          </a:ln>
        </p:spPr>
      </p:sp>
      <p:sp>
        <p:nvSpPr>
          <p:cNvPr id="40" name="Shape 38"/>
          <p:cNvSpPr/>
          <p:nvPr/>
        </p:nvSpPr>
        <p:spPr>
          <a:xfrm>
            <a:off x="5048585" y="1618488"/>
            <a:ext cx="2094525" cy="45720"/>
          </a:xfrm>
          <a:prstGeom prst="rect">
            <a:avLst/>
          </a:prstGeom>
          <a:solidFill>
            <a:srgbClr val="FF9F43"/>
          </a:solidFill>
          <a:ln w="12700">
            <a:solidFill>
              <a:srgbClr val="FF9F43"/>
            </a:solidFill>
            <a:prstDash val="solid"/>
          </a:ln>
        </p:spPr>
      </p:sp>
      <p:sp>
        <p:nvSpPr>
          <p:cNvPr id="41" name="Text 39"/>
          <p:cNvSpPr/>
          <p:nvPr/>
        </p:nvSpPr>
        <p:spPr>
          <a:xfrm>
            <a:off x="5231465"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AWS BEDROCK (CLAUDE)</a:t>
            </a:r>
            <a:endParaRPr lang="en-US" sz="1200" dirty="0"/>
          </a:p>
        </p:txBody>
      </p:sp>
      <p:sp>
        <p:nvSpPr>
          <p:cNvPr id="42" name="Text 40"/>
          <p:cNvSpPr/>
          <p:nvPr/>
        </p:nvSpPr>
        <p:spPr>
          <a:xfrm>
            <a:off x="5231465"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$42,056</a:t>
            </a:r>
            <a:endParaRPr lang="en-US" sz="2800" dirty="0"/>
          </a:p>
        </p:txBody>
      </p:sp>
      <p:sp>
        <p:nvSpPr>
          <p:cNvPr id="43" name="Text 41"/>
          <p:cNvSpPr/>
          <p:nvPr/>
        </p:nvSpPr>
        <p:spPr>
          <a:xfrm>
            <a:off x="5231465" y="2734056"/>
            <a:ext cx="1728765" cy="237744"/>
          </a:xfrm>
          <a:prstGeom prst="rect">
            <a:avLst/>
          </a:prstGeom>
          <a:noFill/>
          <a:ln/>
        </p:spPr>
        <p:txBody>
          <a:bodyPr wrap="square" lIns="0" tIns="0" rIns="0" bIns="0" rtlCol="0" anchor="ctr"/>
          <a:lstStyle/>
          <a:p>
            <a:pPr marL="0" indent="0">
              <a:buNone/>
            </a:pPr>
            <a:r>
              <a:rPr lang="en-US" sz="1200" b="1" dirty="0">
                <a:solidFill>
                  <a:srgbClr val="FF9F43"/>
                </a:solidFill>
                <a:latin typeface="Calibri" pitchFamily="34" charset="0"/>
                <a:ea typeface="Calibri" pitchFamily="34" charset="-122"/>
                <a:cs typeface="Calibri" pitchFamily="34" charset="-120"/>
              </a:rPr>
              <a:t>21.1% of billed AI</a:t>
            </a:r>
            <a:endParaRPr lang="en-US" sz="1200" dirty="0"/>
          </a:p>
        </p:txBody>
      </p:sp>
      <p:sp>
        <p:nvSpPr>
          <p:cNvPr id="44" name="Shape 42"/>
          <p:cNvSpPr/>
          <p:nvPr/>
        </p:nvSpPr>
        <p:spPr>
          <a:xfrm>
            <a:off x="5231465" y="3081528"/>
            <a:ext cx="1728765" cy="9144"/>
          </a:xfrm>
          <a:prstGeom prst="rect">
            <a:avLst/>
          </a:prstGeom>
          <a:solidFill>
            <a:srgbClr val="23304A"/>
          </a:solidFill>
          <a:ln w="12700">
            <a:solidFill>
              <a:srgbClr val="23304A"/>
            </a:solidFill>
            <a:prstDash val="solid"/>
          </a:ln>
        </p:spPr>
      </p:sp>
      <p:sp>
        <p:nvSpPr>
          <p:cNvPr id="45" name="Text 43"/>
          <p:cNvSpPr/>
          <p:nvPr/>
        </p:nvSpPr>
        <p:spPr>
          <a:xfrm>
            <a:off x="5231465"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46" name="Text 44"/>
          <p:cNvSpPr/>
          <p:nvPr/>
        </p:nvSpPr>
        <p:spPr>
          <a:xfrm>
            <a:off x="6095848" y="3209544"/>
            <a:ext cx="864382" cy="274320"/>
          </a:xfrm>
          <a:prstGeom prst="rect">
            <a:avLst/>
          </a:prstGeom>
          <a:noFill/>
          <a:ln/>
        </p:spPr>
        <p:txBody>
          <a:bodyPr wrap="square" lIns="0" tIns="0" rIns="0" bIns="0" rtlCol="0" anchor="ctr"/>
          <a:lstStyle/>
          <a:p>
            <a:pPr marL="0" indent="0" algn="r">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5231465"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48" name="Text 46"/>
          <p:cNvSpPr/>
          <p:nvPr/>
        </p:nvSpPr>
        <p:spPr>
          <a:xfrm>
            <a:off x="6095848"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$25,288</a:t>
            </a:r>
            <a:endParaRPr lang="en-US" sz="1300" dirty="0"/>
          </a:p>
        </p:txBody>
      </p:sp>
      <p:sp>
        <p:nvSpPr>
          <p:cNvPr id="49" name="Shape 47"/>
          <p:cNvSpPr/>
          <p:nvPr/>
        </p:nvSpPr>
        <p:spPr>
          <a:xfrm>
            <a:off x="5231465" y="4069080"/>
            <a:ext cx="1728765" cy="329184"/>
          </a:xfrm>
          <a:prstGeom prst="roundRect">
            <a:avLst>
              <a:gd name="adj" fmla="val 27778"/>
            </a:avLst>
          </a:prstGeom>
          <a:solidFill>
            <a:srgbClr val="1D2D42"/>
          </a:solidFill>
          <a:ln w="12700">
            <a:solidFill>
              <a:srgbClr val="FF9F43"/>
            </a:solidFill>
            <a:prstDash val="solid"/>
          </a:ln>
        </p:spPr>
      </p:sp>
      <p:sp>
        <p:nvSpPr>
          <p:cNvPr id="50" name="Text 48"/>
          <p:cNvSpPr/>
          <p:nvPr/>
        </p:nvSpPr>
        <p:spPr>
          <a:xfrm>
            <a:off x="5231465" y="4069080"/>
            <a:ext cx="1728765" cy="329184"/>
          </a:xfrm>
          <a:prstGeom prst="rect">
            <a:avLst/>
          </a:prstGeom>
          <a:noFill/>
          <a:ln/>
        </p:spPr>
        <p:txBody>
          <a:bodyPr wrap="square" lIns="0" tIns="0" rIns="0" bIns="0" rtlCol="0" anchor="ctr"/>
          <a:lstStyle/>
          <a:p>
            <a:pPr marL="0" indent="0" algn="ctr">
              <a:buNone/>
            </a:pPr>
            <a:r>
              <a:rPr lang="en-US" sz="1200" b="1" dirty="0">
                <a:solidFill>
                  <a:srgbClr val="FF9F43"/>
                </a:solidFill>
                <a:latin typeface="Calibri" pitchFamily="34" charset="0"/>
                <a:ea typeface="Calibri" pitchFamily="34" charset="-122"/>
                <a:cs typeface="Calibri" pitchFamily="34" charset="-120"/>
              </a:rPr>
              <a:t>First billed in Mar</a:t>
            </a:r>
            <a:endParaRPr lang="en-US" sz="1200" dirty="0"/>
          </a:p>
        </p:txBody>
      </p:sp>
      <p:sp>
        <p:nvSpPr>
          <p:cNvPr id="51" name="Text 49"/>
          <p:cNvSpPr/>
          <p:nvPr/>
        </p:nvSpPr>
        <p:spPr>
          <a:xfrm>
            <a:off x="5231465"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Claude models via Claude Code. July gross of the MAP credit.</a:t>
            </a:r>
            <a:endParaRPr lang="en-US" sz="1200" dirty="0"/>
          </a:p>
        </p:txBody>
      </p:sp>
      <p:sp>
        <p:nvSpPr>
          <p:cNvPr id="52" name="Shape 50"/>
          <p:cNvSpPr/>
          <p:nvPr/>
        </p:nvSpPr>
        <p:spPr>
          <a:xfrm>
            <a:off x="7344278" y="1618488"/>
            <a:ext cx="2094525" cy="3977640"/>
          </a:xfrm>
          <a:prstGeom prst="roundRect">
            <a:avLst>
              <a:gd name="adj" fmla="val 2619"/>
            </a:avLst>
          </a:prstGeom>
          <a:solidFill>
            <a:srgbClr val="121B2D"/>
          </a:solidFill>
          <a:ln w="12700">
            <a:solidFill>
              <a:srgbClr val="23304A"/>
            </a:solidFill>
            <a:prstDash val="solid"/>
          </a:ln>
        </p:spPr>
      </p:sp>
      <p:sp>
        <p:nvSpPr>
          <p:cNvPr id="53" name="Shape 51"/>
          <p:cNvSpPr/>
          <p:nvPr/>
        </p:nvSpPr>
        <p:spPr>
          <a:xfrm>
            <a:off x="7344278" y="1618488"/>
            <a:ext cx="2094525" cy="45720"/>
          </a:xfrm>
          <a:prstGeom prst="rect">
            <a:avLst/>
          </a:prstGeom>
          <a:solidFill>
            <a:srgbClr val="B07CFF"/>
          </a:solidFill>
          <a:ln w="12700">
            <a:solidFill>
              <a:srgbClr val="B07CFF"/>
            </a:solidFill>
            <a:prstDash val="solid"/>
          </a:ln>
        </p:spPr>
      </p:sp>
      <p:sp>
        <p:nvSpPr>
          <p:cNvPr id="54" name="Text 52"/>
          <p:cNvSpPr/>
          <p:nvPr/>
        </p:nvSpPr>
        <p:spPr>
          <a:xfrm>
            <a:off x="7527158"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COWORK</a:t>
            </a:r>
            <a:endParaRPr lang="en-US" sz="1200" dirty="0"/>
          </a:p>
        </p:txBody>
      </p:sp>
      <p:sp>
        <p:nvSpPr>
          <p:cNvPr id="55" name="Text 53"/>
          <p:cNvSpPr/>
          <p:nvPr/>
        </p:nvSpPr>
        <p:spPr>
          <a:xfrm>
            <a:off x="7527158"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$9,444</a:t>
            </a:r>
            <a:endParaRPr lang="en-US" sz="2800" dirty="0"/>
          </a:p>
        </p:txBody>
      </p:sp>
      <p:sp>
        <p:nvSpPr>
          <p:cNvPr id="56" name="Text 54"/>
          <p:cNvSpPr/>
          <p:nvPr/>
        </p:nvSpPr>
        <p:spPr>
          <a:xfrm>
            <a:off x="7527158" y="2734056"/>
            <a:ext cx="1728765" cy="237744"/>
          </a:xfrm>
          <a:prstGeom prst="rect">
            <a:avLst/>
          </a:prstGeom>
          <a:noFill/>
          <a:ln/>
        </p:spPr>
        <p:txBody>
          <a:bodyPr wrap="square" lIns="0" tIns="0" rIns="0" bIns="0" rtlCol="0" anchor="ctr"/>
          <a:lstStyle/>
          <a:p>
            <a:pPr marL="0" indent="0">
              <a:buNone/>
            </a:pPr>
            <a:r>
              <a:rPr lang="en-US" sz="1200" b="1" dirty="0">
                <a:solidFill>
                  <a:srgbClr val="B07CFF"/>
                </a:solidFill>
                <a:latin typeface="Calibri" pitchFamily="34" charset="0"/>
                <a:ea typeface="Calibri" pitchFamily="34" charset="-122"/>
                <a:cs typeface="Calibri" pitchFamily="34" charset="-120"/>
              </a:rPr>
              <a:t>4.7% of billed AI</a:t>
            </a:r>
            <a:endParaRPr lang="en-US" sz="1200" dirty="0"/>
          </a:p>
        </p:txBody>
      </p:sp>
      <p:sp>
        <p:nvSpPr>
          <p:cNvPr id="57" name="Shape 55"/>
          <p:cNvSpPr/>
          <p:nvPr/>
        </p:nvSpPr>
        <p:spPr>
          <a:xfrm>
            <a:off x="7527158" y="3081528"/>
            <a:ext cx="1728765" cy="9144"/>
          </a:xfrm>
          <a:prstGeom prst="rect">
            <a:avLst/>
          </a:prstGeom>
          <a:solidFill>
            <a:srgbClr val="23304A"/>
          </a:solidFill>
          <a:ln w="12700">
            <a:solidFill>
              <a:srgbClr val="23304A"/>
            </a:solidFill>
            <a:prstDash val="solid"/>
          </a:ln>
        </p:spPr>
      </p:sp>
      <p:sp>
        <p:nvSpPr>
          <p:cNvPr id="58" name="Text 56"/>
          <p:cNvSpPr/>
          <p:nvPr/>
        </p:nvSpPr>
        <p:spPr>
          <a:xfrm>
            <a:off x="7527158"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59" name="Text 57"/>
          <p:cNvSpPr/>
          <p:nvPr/>
        </p:nvSpPr>
        <p:spPr>
          <a:xfrm>
            <a:off x="8391540"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$97</a:t>
            </a:r>
            <a:endParaRPr lang="en-US" sz="1300" dirty="0"/>
          </a:p>
        </p:txBody>
      </p:sp>
      <p:sp>
        <p:nvSpPr>
          <p:cNvPr id="60" name="Text 58"/>
          <p:cNvSpPr/>
          <p:nvPr/>
        </p:nvSpPr>
        <p:spPr>
          <a:xfrm>
            <a:off x="7527158"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61" name="Text 59"/>
          <p:cNvSpPr/>
          <p:nvPr/>
        </p:nvSpPr>
        <p:spPr>
          <a:xfrm>
            <a:off x="8391540"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$8,920</a:t>
            </a:r>
            <a:endParaRPr lang="en-US" sz="1300" dirty="0"/>
          </a:p>
        </p:txBody>
      </p:sp>
      <p:sp>
        <p:nvSpPr>
          <p:cNvPr id="62" name="Shape 60"/>
          <p:cNvSpPr/>
          <p:nvPr/>
        </p:nvSpPr>
        <p:spPr>
          <a:xfrm>
            <a:off x="7527158" y="4069080"/>
            <a:ext cx="1728765" cy="329184"/>
          </a:xfrm>
          <a:prstGeom prst="roundRect">
            <a:avLst>
              <a:gd name="adj" fmla="val 27778"/>
            </a:avLst>
          </a:prstGeom>
          <a:solidFill>
            <a:srgbClr val="1D2D42"/>
          </a:solidFill>
          <a:ln w="12700">
            <a:solidFill>
              <a:srgbClr val="B07CFF"/>
            </a:solidFill>
            <a:prstDash val="solid"/>
          </a:ln>
        </p:spPr>
      </p:sp>
      <p:sp>
        <p:nvSpPr>
          <p:cNvPr id="63" name="Text 61"/>
          <p:cNvSpPr/>
          <p:nvPr/>
        </p:nvSpPr>
        <p:spPr>
          <a:xfrm>
            <a:off x="7527158" y="4069080"/>
            <a:ext cx="1728765" cy="329184"/>
          </a:xfrm>
          <a:prstGeom prst="rect">
            <a:avLst/>
          </a:prstGeom>
          <a:noFill/>
          <a:ln/>
        </p:spPr>
        <p:txBody>
          <a:bodyPr wrap="square" lIns="0" tIns="0" rIns="0" bIns="0" rtlCol="0" anchor="ctr"/>
          <a:lstStyle/>
          <a:p>
            <a:pPr marL="0" indent="0" algn="ctr">
              <a:buNone/>
            </a:pPr>
            <a:r>
              <a:rPr lang="en-US" sz="1200" b="1" dirty="0">
                <a:solidFill>
                  <a:srgbClr val="B07CFF"/>
                </a:solidFill>
                <a:latin typeface="Calibri" pitchFamily="34" charset="0"/>
                <a:ea typeface="Calibri" pitchFamily="34" charset="-122"/>
                <a:cs typeface="Calibri" pitchFamily="34" charset="-120"/>
              </a:rPr>
              <a:t>$97 to $8,920</a:t>
            </a:r>
            <a:endParaRPr lang="en-US" sz="1200" dirty="0"/>
          </a:p>
        </p:txBody>
      </p:sp>
      <p:sp>
        <p:nvSpPr>
          <p:cNvPr id="64" name="Text 62"/>
          <p:cNvSpPr/>
          <p:nvPr/>
        </p:nvSpPr>
        <p:spPr>
          <a:xfrm>
            <a:off x="7527158"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Pay-as-you-go agent credits, billed through Power Platform.</a:t>
            </a:r>
            <a:endParaRPr lang="en-US" sz="1200" dirty="0"/>
          </a:p>
        </p:txBody>
      </p:sp>
      <p:sp>
        <p:nvSpPr>
          <p:cNvPr id="65" name="Shape 63"/>
          <p:cNvSpPr/>
          <p:nvPr/>
        </p:nvSpPr>
        <p:spPr>
          <a:xfrm>
            <a:off x="9639971" y="1618488"/>
            <a:ext cx="2094525" cy="3977640"/>
          </a:xfrm>
          <a:prstGeom prst="roundRect">
            <a:avLst>
              <a:gd name="adj" fmla="val 2619"/>
            </a:avLst>
          </a:prstGeom>
          <a:solidFill>
            <a:srgbClr val="121B2D"/>
          </a:solidFill>
          <a:ln w="12700">
            <a:solidFill>
              <a:srgbClr val="23304A"/>
            </a:solidFill>
            <a:prstDash val="solid"/>
          </a:ln>
        </p:spPr>
      </p:sp>
      <p:sp>
        <p:nvSpPr>
          <p:cNvPr id="66" name="Shape 64"/>
          <p:cNvSpPr/>
          <p:nvPr/>
        </p:nvSpPr>
        <p:spPr>
          <a:xfrm>
            <a:off x="9639971" y="1618488"/>
            <a:ext cx="2094525" cy="45720"/>
          </a:xfrm>
          <a:prstGeom prst="rect">
            <a:avLst/>
          </a:prstGeom>
          <a:solidFill>
            <a:srgbClr val="3DDC97"/>
          </a:solidFill>
          <a:ln w="12700">
            <a:solidFill>
              <a:srgbClr val="3DDC97"/>
            </a:solidFill>
            <a:prstDash val="solid"/>
          </a:ln>
        </p:spPr>
      </p:sp>
      <p:sp>
        <p:nvSpPr>
          <p:cNvPr id="67" name="Text 65"/>
          <p:cNvSpPr/>
          <p:nvPr/>
        </p:nvSpPr>
        <p:spPr>
          <a:xfrm>
            <a:off x="9822851"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GOOGLE VERTEX AI</a:t>
            </a:r>
            <a:endParaRPr lang="en-US" sz="1200" dirty="0"/>
          </a:p>
        </p:txBody>
      </p:sp>
      <p:sp>
        <p:nvSpPr>
          <p:cNvPr id="68" name="Text 66"/>
          <p:cNvSpPr/>
          <p:nvPr/>
        </p:nvSpPr>
        <p:spPr>
          <a:xfrm>
            <a:off x="9822851"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$3,696</a:t>
            </a:r>
            <a:endParaRPr lang="en-US" sz="2800" dirty="0"/>
          </a:p>
        </p:txBody>
      </p:sp>
      <p:sp>
        <p:nvSpPr>
          <p:cNvPr id="69" name="Text 67"/>
          <p:cNvSpPr/>
          <p:nvPr/>
        </p:nvSpPr>
        <p:spPr>
          <a:xfrm>
            <a:off x="9822851" y="2734056"/>
            <a:ext cx="1728765" cy="237744"/>
          </a:xfrm>
          <a:prstGeom prst="rect">
            <a:avLst/>
          </a:prstGeom>
          <a:noFill/>
          <a:ln/>
        </p:spPr>
        <p:txBody>
          <a:bodyPr wrap="square" lIns="0" tIns="0" rIns="0" bIns="0" rtlCol="0" anchor="ctr"/>
          <a:lstStyle/>
          <a:p>
            <a:pPr marL="0" indent="0">
              <a:buNone/>
            </a:pPr>
            <a:r>
              <a:rPr lang="en-US" sz="1200" b="1" dirty="0">
                <a:solidFill>
                  <a:srgbClr val="3DDC97"/>
                </a:solidFill>
                <a:latin typeface="Calibri" pitchFamily="34" charset="0"/>
                <a:ea typeface="Calibri" pitchFamily="34" charset="-122"/>
                <a:cs typeface="Calibri" pitchFamily="34" charset="-120"/>
              </a:rPr>
              <a:t>1.9% of billed AI</a:t>
            </a:r>
            <a:endParaRPr lang="en-US" sz="1200" dirty="0"/>
          </a:p>
        </p:txBody>
      </p:sp>
      <p:sp>
        <p:nvSpPr>
          <p:cNvPr id="70" name="Shape 68"/>
          <p:cNvSpPr/>
          <p:nvPr/>
        </p:nvSpPr>
        <p:spPr>
          <a:xfrm>
            <a:off x="9822851" y="3081528"/>
            <a:ext cx="1728765" cy="9144"/>
          </a:xfrm>
          <a:prstGeom prst="rect">
            <a:avLst/>
          </a:prstGeom>
          <a:solidFill>
            <a:srgbClr val="23304A"/>
          </a:solidFill>
          <a:ln w="12700">
            <a:solidFill>
              <a:srgbClr val="23304A"/>
            </a:solidFill>
            <a:prstDash val="solid"/>
          </a:ln>
        </p:spPr>
      </p:sp>
      <p:sp>
        <p:nvSpPr>
          <p:cNvPr id="71" name="Text 69"/>
          <p:cNvSpPr/>
          <p:nvPr/>
        </p:nvSpPr>
        <p:spPr>
          <a:xfrm>
            <a:off x="9822851"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72" name="Text 70"/>
          <p:cNvSpPr/>
          <p:nvPr/>
        </p:nvSpPr>
        <p:spPr>
          <a:xfrm>
            <a:off x="10687233" y="3209544"/>
            <a:ext cx="864382" cy="274320"/>
          </a:xfrm>
          <a:prstGeom prst="rect">
            <a:avLst/>
          </a:prstGeom>
          <a:noFill/>
          <a:ln/>
        </p:spPr>
        <p:txBody>
          <a:bodyPr wrap="square" lIns="0" tIns="0" rIns="0" bIns="0" rtlCol="0" anchor="ctr"/>
          <a:lstStyle/>
          <a:p>
            <a:pPr marL="0" indent="0" algn="r">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73" name="Text 71"/>
          <p:cNvSpPr/>
          <p:nvPr/>
        </p:nvSpPr>
        <p:spPr>
          <a:xfrm>
            <a:off x="9822851"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74" name="Text 72"/>
          <p:cNvSpPr/>
          <p:nvPr/>
        </p:nvSpPr>
        <p:spPr>
          <a:xfrm>
            <a:off x="10687233"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$2,359</a:t>
            </a:r>
            <a:endParaRPr lang="en-US" sz="1300" dirty="0"/>
          </a:p>
        </p:txBody>
      </p:sp>
      <p:sp>
        <p:nvSpPr>
          <p:cNvPr id="75" name="Shape 73"/>
          <p:cNvSpPr/>
          <p:nvPr/>
        </p:nvSpPr>
        <p:spPr>
          <a:xfrm>
            <a:off x="9822851" y="4069080"/>
            <a:ext cx="1728765" cy="329184"/>
          </a:xfrm>
          <a:prstGeom prst="roundRect">
            <a:avLst>
              <a:gd name="adj" fmla="val 27778"/>
            </a:avLst>
          </a:prstGeom>
          <a:solidFill>
            <a:srgbClr val="1D2D42"/>
          </a:solidFill>
          <a:ln w="12700">
            <a:solidFill>
              <a:srgbClr val="3DDC97"/>
            </a:solidFill>
            <a:prstDash val="solid"/>
          </a:ln>
        </p:spPr>
      </p:sp>
      <p:sp>
        <p:nvSpPr>
          <p:cNvPr id="76" name="Text 74"/>
          <p:cNvSpPr/>
          <p:nvPr/>
        </p:nvSpPr>
        <p:spPr>
          <a:xfrm>
            <a:off x="9822851" y="4069080"/>
            <a:ext cx="1728765" cy="329184"/>
          </a:xfrm>
          <a:prstGeom prst="rect">
            <a:avLst/>
          </a:prstGeom>
          <a:noFill/>
          <a:ln/>
        </p:spPr>
        <p:txBody>
          <a:bodyPr wrap="square" lIns="0" tIns="0" rIns="0" bIns="0" rtlCol="0" anchor="ctr"/>
          <a:lstStyle/>
          <a:p>
            <a:pPr marL="0" indent="0" algn="ctr">
              <a:buNone/>
            </a:pPr>
            <a:r>
              <a:rPr lang="en-US" sz="1200" b="1" dirty="0">
                <a:solidFill>
                  <a:srgbClr val="3DDC97"/>
                </a:solidFill>
                <a:latin typeface="Calibri" pitchFamily="34" charset="0"/>
                <a:ea typeface="Calibri" pitchFamily="34" charset="-122"/>
                <a:cs typeface="Calibri" pitchFamily="34" charset="-120"/>
              </a:rPr>
              <a:t>First billed in May</a:t>
            </a:r>
            <a:endParaRPr lang="en-US" sz="1200" dirty="0"/>
          </a:p>
        </p:txBody>
      </p:sp>
      <p:sp>
        <p:nvSpPr>
          <p:cNvPr id="77" name="Text 75"/>
          <p:cNvSpPr/>
          <p:nvPr/>
        </p:nvSpPr>
        <p:spPr>
          <a:xfrm>
            <a:off x="9822851"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Gemini prediction tokens on the shared GCP projects.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AIFACTORY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Every $1 of AI runs on $1.84 of platform</a:t>
            </a:r>
            <a:endParaRPr lang="en-US" sz="21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$63,609 billed under the tag, May-Jul invoiced.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Document Intelligence, the OCR service, is a separate project in the programme and is not inside this tag, so it is not in this total. It is on the projects slide. Meter-level detail for every line here is in the appendix.</a:t>
            </a:r>
            <a:endParaRPr lang="en-US" sz="1200" dirty="0"/>
          </a:p>
        </p:txBody>
      </p:sp>
      <p:sp>
        <p:nvSpPr>
          <p:cNvPr id="8" name="Shape 6"/>
          <p:cNvSpPr/>
          <p:nvPr/>
        </p:nvSpPr>
        <p:spPr>
          <a:xfrm>
            <a:off x="457200" y="1280160"/>
            <a:ext cx="7275200" cy="786384"/>
          </a:xfrm>
          <a:prstGeom prst="roundRect">
            <a:avLst>
              <a:gd name="adj" fmla="val 5814"/>
            </a:avLst>
          </a:prstGeom>
          <a:solidFill>
            <a:srgbClr val="2F8CFF"/>
          </a:solidFill>
          <a:ln w="12700">
            <a:solidFill>
              <a:srgbClr val="2F8CFF"/>
            </a:solidFill>
            <a:prstDash val="solid"/>
          </a:ln>
        </p:spPr>
      </p:sp>
      <p:sp>
        <p:nvSpPr>
          <p:cNvPr id="9" name="Text 7"/>
          <p:cNvSpPr/>
          <p:nvPr/>
        </p:nvSpPr>
        <p:spPr>
          <a:xfrm>
            <a:off x="676656" y="1353312"/>
            <a:ext cx="6836288"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64.8%</a:t>
            </a:r>
            <a:endParaRPr lang="en-US" sz="3000" dirty="0"/>
          </a:p>
        </p:txBody>
      </p:sp>
      <p:sp>
        <p:nvSpPr>
          <p:cNvPr id="10" name="Text 8"/>
          <p:cNvSpPr/>
          <p:nvPr/>
        </p:nvSpPr>
        <p:spPr>
          <a:xfrm>
            <a:off x="676656" y="1755648"/>
            <a:ext cx="6836288"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PLATFORM</a:t>
            </a:r>
            <a:endParaRPr lang="en-US" sz="1200" dirty="0"/>
          </a:p>
        </p:txBody>
      </p:sp>
      <p:sp>
        <p:nvSpPr>
          <p:cNvPr id="11" name="Text 9"/>
          <p:cNvSpPr/>
          <p:nvPr/>
        </p:nvSpPr>
        <p:spPr>
          <a:xfrm>
            <a:off x="676656" y="2157984"/>
            <a:ext cx="7055744"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$41,236, the gateway, the servers and the databases</a:t>
            </a:r>
            <a:endParaRPr lang="en-US" sz="1200" dirty="0"/>
          </a:p>
        </p:txBody>
      </p:sp>
      <p:sp>
        <p:nvSpPr>
          <p:cNvPr id="12" name="Shape 10"/>
          <p:cNvSpPr/>
          <p:nvPr/>
        </p:nvSpPr>
        <p:spPr>
          <a:xfrm>
            <a:off x="7787264" y="1280160"/>
            <a:ext cx="3947232" cy="786384"/>
          </a:xfrm>
          <a:prstGeom prst="roundRect">
            <a:avLst>
              <a:gd name="adj" fmla="val 5814"/>
            </a:avLst>
          </a:prstGeom>
          <a:solidFill>
            <a:srgbClr val="B07CFF"/>
          </a:solidFill>
          <a:ln w="12700">
            <a:solidFill>
              <a:srgbClr val="B07CFF"/>
            </a:solidFill>
            <a:prstDash val="solid"/>
          </a:ln>
        </p:spPr>
      </p:sp>
      <p:sp>
        <p:nvSpPr>
          <p:cNvPr id="13" name="Text 11"/>
          <p:cNvSpPr/>
          <p:nvPr/>
        </p:nvSpPr>
        <p:spPr>
          <a:xfrm>
            <a:off x="8006720" y="1353312"/>
            <a:ext cx="350832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35.2%</a:t>
            </a:r>
            <a:endParaRPr lang="en-US" sz="3000" dirty="0"/>
          </a:p>
        </p:txBody>
      </p:sp>
      <p:sp>
        <p:nvSpPr>
          <p:cNvPr id="14" name="Text 12"/>
          <p:cNvSpPr/>
          <p:nvPr/>
        </p:nvSpPr>
        <p:spPr>
          <a:xfrm>
            <a:off x="8006720" y="1755648"/>
            <a:ext cx="350832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AI</a:t>
            </a:r>
            <a:endParaRPr lang="en-US" sz="1200" dirty="0"/>
          </a:p>
        </p:txBody>
      </p:sp>
      <p:sp>
        <p:nvSpPr>
          <p:cNvPr id="15" name="Text 13"/>
          <p:cNvSpPr/>
          <p:nvPr/>
        </p:nvSpPr>
        <p:spPr>
          <a:xfrm>
            <a:off x="8006720" y="2157984"/>
            <a:ext cx="372777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$22,373, model tokens and cognitive search</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five largest lines, and everything else</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API Management</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2F8CFF"/>
          </a:solidFill>
          <a:ln w="12700">
            <a:solidFill>
              <a:srgbClr val="2F8CFF"/>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$17,311</a:t>
            </a:r>
            <a:endParaRPr lang="en-US" sz="1200" dirty="0"/>
          </a:p>
        </p:txBody>
      </p:sp>
      <p:sp>
        <p:nvSpPr>
          <p:cNvPr id="21" name="Text 19"/>
          <p:cNvSpPr/>
          <p:nvPr/>
        </p:nvSpPr>
        <p:spPr>
          <a:xfrm>
            <a:off x="457200" y="33375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Foundry Models</a:t>
            </a:r>
            <a:endParaRPr lang="en-US" sz="1300" dirty="0"/>
          </a:p>
        </p:txBody>
      </p:sp>
      <p:sp>
        <p:nvSpPr>
          <p:cNvPr id="22" name="Shape 20"/>
          <p:cNvSpPr/>
          <p:nvPr/>
        </p:nvSpPr>
        <p:spPr>
          <a:xfrm>
            <a:off x="3474720" y="3410712"/>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410712"/>
            <a:ext cx="6742644" cy="146304"/>
          </a:xfrm>
          <a:prstGeom prst="roundRect">
            <a:avLst>
              <a:gd name="adj" fmla="val 50000"/>
            </a:avLst>
          </a:prstGeom>
          <a:solidFill>
            <a:srgbClr val="B07CFF"/>
          </a:solidFill>
          <a:ln w="12700">
            <a:solidFill>
              <a:srgbClr val="B07CFF"/>
            </a:solidFill>
            <a:prstDash val="solid"/>
          </a:ln>
        </p:spPr>
      </p:sp>
      <p:sp>
        <p:nvSpPr>
          <p:cNvPr id="24" name="Text 22"/>
          <p:cNvSpPr/>
          <p:nvPr/>
        </p:nvSpPr>
        <p:spPr>
          <a:xfrm>
            <a:off x="10682935" y="33375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$16,507</a:t>
            </a:r>
            <a:endParaRPr lang="en-US" sz="1200" dirty="0"/>
          </a:p>
        </p:txBody>
      </p:sp>
      <p:sp>
        <p:nvSpPr>
          <p:cNvPr id="25" name="Text 23"/>
          <p:cNvSpPr/>
          <p:nvPr/>
        </p:nvSpPr>
        <p:spPr>
          <a:xfrm>
            <a:off x="457200" y="3721608"/>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Virtual Machines</a:t>
            </a:r>
            <a:endParaRPr lang="en-US" sz="1300" dirty="0"/>
          </a:p>
        </p:txBody>
      </p:sp>
      <p:sp>
        <p:nvSpPr>
          <p:cNvPr id="26" name="Shape 24"/>
          <p:cNvSpPr/>
          <p:nvPr/>
        </p:nvSpPr>
        <p:spPr>
          <a:xfrm>
            <a:off x="3474720" y="3794760"/>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94760"/>
            <a:ext cx="5027879" cy="146304"/>
          </a:xfrm>
          <a:prstGeom prst="roundRect">
            <a:avLst>
              <a:gd name="adj" fmla="val 50000"/>
            </a:avLst>
          </a:prstGeom>
          <a:solidFill>
            <a:srgbClr val="2F8CFF"/>
          </a:solidFill>
          <a:ln w="12700">
            <a:solidFill>
              <a:srgbClr val="2F8CFF"/>
            </a:solidFill>
            <a:prstDash val="solid"/>
          </a:ln>
        </p:spPr>
      </p:sp>
      <p:sp>
        <p:nvSpPr>
          <p:cNvPr id="28" name="Text 26"/>
          <p:cNvSpPr/>
          <p:nvPr/>
        </p:nvSpPr>
        <p:spPr>
          <a:xfrm>
            <a:off x="10682935" y="3721608"/>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$12,309</a:t>
            </a:r>
            <a:endParaRPr lang="en-US" sz="1200" dirty="0"/>
          </a:p>
        </p:txBody>
      </p:sp>
      <p:sp>
        <p:nvSpPr>
          <p:cNvPr id="29" name="Text 27"/>
          <p:cNvSpPr/>
          <p:nvPr/>
        </p:nvSpPr>
        <p:spPr>
          <a:xfrm>
            <a:off x="457200" y="4105656"/>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Cognitive Search</a:t>
            </a:r>
            <a:endParaRPr lang="en-US" sz="1300" dirty="0"/>
          </a:p>
        </p:txBody>
      </p:sp>
      <p:sp>
        <p:nvSpPr>
          <p:cNvPr id="30" name="Shape 28"/>
          <p:cNvSpPr/>
          <p:nvPr/>
        </p:nvSpPr>
        <p:spPr>
          <a:xfrm>
            <a:off x="3474720" y="4178808"/>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178808"/>
            <a:ext cx="1867942" cy="146304"/>
          </a:xfrm>
          <a:prstGeom prst="roundRect">
            <a:avLst>
              <a:gd name="adj" fmla="val 50000"/>
            </a:avLst>
          </a:prstGeom>
          <a:solidFill>
            <a:srgbClr val="B07CFF"/>
          </a:solidFill>
          <a:ln w="12700">
            <a:solidFill>
              <a:srgbClr val="B07CFF"/>
            </a:solidFill>
            <a:prstDash val="solid"/>
          </a:ln>
        </p:spPr>
      </p:sp>
      <p:sp>
        <p:nvSpPr>
          <p:cNvPr id="32" name="Text 30"/>
          <p:cNvSpPr/>
          <p:nvPr/>
        </p:nvSpPr>
        <p:spPr>
          <a:xfrm>
            <a:off x="10682935" y="4105656"/>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$4,573</a:t>
            </a:r>
            <a:endParaRPr lang="en-US" sz="1200" dirty="0"/>
          </a:p>
        </p:txBody>
      </p:sp>
      <p:sp>
        <p:nvSpPr>
          <p:cNvPr id="33" name="Text 31"/>
          <p:cNvSpPr/>
          <p:nvPr/>
        </p:nvSpPr>
        <p:spPr>
          <a:xfrm>
            <a:off x="457200" y="4489704"/>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Defender for Cloud</a:t>
            </a:r>
            <a:endParaRPr lang="en-US" sz="1300" dirty="0"/>
          </a:p>
        </p:txBody>
      </p:sp>
      <p:sp>
        <p:nvSpPr>
          <p:cNvPr id="34" name="Shape 32"/>
          <p:cNvSpPr/>
          <p:nvPr/>
        </p:nvSpPr>
        <p:spPr>
          <a:xfrm>
            <a:off x="3474720" y="4562856"/>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562856"/>
            <a:ext cx="1283010" cy="146304"/>
          </a:xfrm>
          <a:prstGeom prst="roundRect">
            <a:avLst>
              <a:gd name="adj" fmla="val 50000"/>
            </a:avLst>
          </a:prstGeom>
          <a:solidFill>
            <a:srgbClr val="2F8CFF"/>
          </a:solidFill>
          <a:ln w="12700">
            <a:solidFill>
              <a:srgbClr val="2F8CFF"/>
            </a:solidFill>
            <a:prstDash val="solid"/>
          </a:ln>
        </p:spPr>
      </p:sp>
      <p:sp>
        <p:nvSpPr>
          <p:cNvPr id="36" name="Text 34"/>
          <p:cNvSpPr/>
          <p:nvPr/>
        </p:nvSpPr>
        <p:spPr>
          <a:xfrm>
            <a:off x="10682935" y="4489704"/>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$3,141</a:t>
            </a:r>
            <a:endParaRPr lang="en-US" sz="1200" dirty="0"/>
          </a:p>
        </p:txBody>
      </p:sp>
      <p:sp>
        <p:nvSpPr>
          <p:cNvPr id="37" name="Text 35"/>
          <p:cNvSpPr/>
          <p:nvPr/>
        </p:nvSpPr>
        <p:spPr>
          <a:xfrm>
            <a:off x="457200" y="487375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15 smaller meters</a:t>
            </a:r>
            <a:endParaRPr lang="en-US" sz="1300" dirty="0"/>
          </a:p>
        </p:txBody>
      </p:sp>
      <p:sp>
        <p:nvSpPr>
          <p:cNvPr id="38" name="Shape 36"/>
          <p:cNvSpPr/>
          <p:nvPr/>
        </p:nvSpPr>
        <p:spPr>
          <a:xfrm>
            <a:off x="3474720" y="4946904"/>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946904"/>
            <a:ext cx="3989952" cy="146304"/>
          </a:xfrm>
          <a:prstGeom prst="roundRect">
            <a:avLst>
              <a:gd name="adj" fmla="val 50000"/>
            </a:avLst>
          </a:prstGeom>
          <a:solidFill>
            <a:srgbClr val="536078"/>
          </a:solidFill>
          <a:ln w="12700">
            <a:solidFill>
              <a:srgbClr val="536078"/>
            </a:solidFill>
            <a:prstDash val="solid"/>
          </a:ln>
        </p:spPr>
      </p:sp>
      <p:sp>
        <p:nvSpPr>
          <p:cNvPr id="40" name="Text 38"/>
          <p:cNvSpPr/>
          <p:nvPr/>
        </p:nvSpPr>
        <p:spPr>
          <a:xfrm>
            <a:off x="10682935" y="487375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$9,768</a:t>
            </a:r>
            <a:endParaRPr lang="en-US" sz="1200" dirty="0"/>
          </a:p>
        </p:txBody>
      </p:sp>
      <p:sp>
        <p:nvSpPr>
          <p:cNvPr id="41" name="Shape 39"/>
          <p:cNvSpPr/>
          <p:nvPr/>
        </p:nvSpPr>
        <p:spPr>
          <a:xfrm>
            <a:off x="457200" y="5440680"/>
            <a:ext cx="11277295" cy="777240"/>
          </a:xfrm>
          <a:prstGeom prst="roundRect">
            <a:avLst>
              <a:gd name="adj" fmla="val 7059"/>
            </a:avLst>
          </a:prstGeom>
          <a:solidFill>
            <a:srgbClr val="121B2D"/>
          </a:solidFill>
          <a:ln w="12700">
            <a:solidFill>
              <a:srgbClr val="B07CFF"/>
            </a:solidFill>
            <a:prstDash val="solid"/>
          </a:ln>
        </p:spPr>
      </p:sp>
      <p:sp>
        <p:nvSpPr>
          <p:cNvPr id="42" name="Text 40"/>
          <p:cNvSpPr/>
          <p:nvPr/>
        </p:nvSpPr>
        <p:spPr>
          <a:xfrm>
            <a:off x="685800" y="5550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Inference needs somewhere to run</a:t>
            </a:r>
            <a:endParaRPr lang="en-US" sz="1600" dirty="0"/>
          </a:p>
        </p:txBody>
      </p:sp>
      <p:sp>
        <p:nvSpPr>
          <p:cNvPr id="43" name="Text 41"/>
          <p:cNvSpPr/>
          <p:nvPr/>
        </p:nvSpPr>
        <p:spPr>
          <a:xfrm>
            <a:off x="685800" y="5824728"/>
            <a:ext cx="10820095" cy="329184"/>
          </a:xfrm>
          <a:prstGeom prst="rect">
            <a:avLst/>
          </a:prstGeom>
          <a:noFill/>
          <a:ln/>
        </p:spPr>
        <p:txBody>
          <a:bodyPr wrap="square" lIns="0" tIns="0" rIns="0" bIns="0" rtlCol="0" anchor="ctr"/>
          <a:lstStyle/>
          <a:p>
            <a:pPr indent="0" marL="0">
              <a:buNone/>
            </a:pPr>
            <a:r>
              <a:rPr lang="en-US" sz="1300" dirty="0">
                <a:solidFill>
                  <a:srgbClr val="91A0B7"/>
                </a:solidFill>
                <a:latin typeface="Calibri" pitchFamily="34" charset="0"/>
                <a:ea typeface="Calibri" pitchFamily="34" charset="-122"/>
                <a:cs typeface="Calibri" pitchFamily="34" charset="-120"/>
              </a:rPr>
              <a:t>The ratio is not a problem in itself. It is the number to carry into the next project, because the platform half is the half that right-sizing and reservations can move.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903195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extLst>
      <p:ext uri="{BB962C8B-B14F-4D97-AF65-F5344CB8AC3E}">
        <p14:creationId xmlns:p14="http://schemas.microsoft.com/office/powerpoint/2010/main" val="22779201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extLst>
      <p:ext uri="{BB962C8B-B14F-4D97-AF65-F5344CB8AC3E}">
        <p14:creationId xmlns:p14="http://schemas.microsoft.com/office/powerpoint/2010/main" val="28607929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txBody>
          <a:bodyPr/>
          <a:lstStyle/>
          <a:p>
            <a:endParaRPr lang="he-IL" dirty="0"/>
          </a:p>
        </p:txBody>
      </p:sp>
      <p:sp>
        <p:nvSpPr>
          <p:cNvPr id="9" name="Text 7"/>
          <p:cNvSpPr/>
          <p:nvPr/>
        </p:nvSpPr>
        <p:spPr>
          <a:xfrm>
            <a:off x="658368"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txBody>
          <a:bodyPr/>
          <a:lstStyle/>
          <a:p>
            <a:endParaRPr lang="he-IL" dirty="0"/>
          </a:p>
        </p:txBody>
      </p:sp>
      <p:sp>
        <p:nvSpPr>
          <p:cNvPr id="13" name="Text 11"/>
          <p:cNvSpPr/>
          <p:nvPr/>
        </p:nvSpPr>
        <p:spPr>
          <a:xfrm>
            <a:off x="4585106"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marL="0" indent="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txBody>
          <a:bodyPr/>
          <a:lstStyle/>
          <a:p>
            <a:endParaRPr lang="he-IL" dirty="0"/>
          </a:p>
        </p:txBody>
      </p:sp>
      <p:sp>
        <p:nvSpPr>
          <p:cNvPr id="18" name="Text 16"/>
          <p:cNvSpPr/>
          <p:nvPr/>
        </p:nvSpPr>
        <p:spPr>
          <a:xfrm>
            <a:off x="8511845"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marL="0" indent="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1586992"/>
        </p:xfrm>
        <a:graphic>
          <a:graphicData uri="http://schemas.openxmlformats.org/drawingml/2006/table">
            <a:tbl>
              <a:tblPr/>
              <a:tblGrid>
                <a:gridCol w="29260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770632">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5" name="Text 22"/>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9" name="Text 26"/>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33" name="Text 30"/>
          <p:cNvSpPr/>
          <p:nvPr/>
        </p:nvSpPr>
        <p:spPr>
          <a:xfrm>
            <a:off x="8328965"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MARKETPLACE,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360402"/>
          </a:xfrm>
          <a:prstGeom prst="rect">
            <a:avLst/>
          </a:prstGeom>
          <a:noFill/>
          <a:ln/>
        </p:spPr>
        <p:txBody>
          <a:bodyPr wrap="square" lIns="0" tIns="0" rIns="0" bIns="0" rtlCol="0" anchor="ctr"/>
          <a:lstStyle/>
          <a:p>
            <a:pPr>
              <a:lnSpc>
                <a:spcPct val="108000"/>
              </a:lnSpc>
            </a:pPr>
            <a:r>
              <a:rPr lang="en-US" sz="4000" b="1" dirty="0">
                <a:solidFill>
                  <a:srgbClr val="F4F7FB"/>
                </a:solidFill>
                <a:latin typeface="Cambria" pitchFamily="34" charset="0"/>
                <a:ea typeface="Cambria" pitchFamily="34" charset="-122"/>
                <a:cs typeface="Cambria" pitchFamily="34" charset="-120"/>
              </a:rPr>
              <a:t>FinOps</a:t>
            </a:r>
            <a:endParaRPr lang="en-US" sz="4000" dirty="0"/>
          </a:p>
          <a:p>
            <a:pPr>
              <a:lnSpc>
                <a:spcPct val="108000"/>
              </a:lnSpc>
            </a:pPr>
            <a:r>
              <a:rPr lang="en-US" sz="4000" b="1" dirty="0">
                <a:solidFill>
                  <a:srgbClr val="F4F7FB"/>
                </a:solidFill>
                <a:latin typeface="Cambria" pitchFamily="34" charset="0"/>
                <a:ea typeface="Cambria" pitchFamily="34" charset="-122"/>
                <a:cs typeface="Cambria" pitchFamily="34" charset="-120"/>
              </a:rPr>
              <a:t>Visibility &amp; Governance</a:t>
            </a:r>
            <a:endParaRPr lang="en-US" sz="4000" dirty="0"/>
          </a:p>
        </p:txBody>
      </p:sp>
      <p:sp>
        <p:nvSpPr>
          <p:cNvPr id="7" name="Text 5"/>
          <p:cNvSpPr/>
          <p:nvPr/>
        </p:nvSpPr>
        <p:spPr>
          <a:xfrm>
            <a:off x="457200" y="4012162"/>
            <a:ext cx="7863840" cy="696997"/>
          </a:xfrm>
          <a:prstGeom prst="rect">
            <a:avLst/>
          </a:prstGeom>
          <a:noFill/>
          <a:ln/>
        </p:spPr>
        <p:txBody>
          <a:bodyPr wrap="square" lIns="0" tIns="0" rIns="0" bIns="0" rtlCol="0" anchor="ctr"/>
          <a:lstStyle/>
          <a:p>
            <a:pPr marL="0" indent="0">
              <a:buNone/>
            </a:pPr>
            <a:endParaRPr lang="en-US" sz="1500" dirty="0"/>
          </a:p>
        </p:txBody>
      </p:sp>
    </p:spTree>
    <p:extLst>
      <p:ext uri="{BB962C8B-B14F-4D97-AF65-F5344CB8AC3E}">
        <p14:creationId xmlns:p14="http://schemas.microsoft.com/office/powerpoint/2010/main" val="41647489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PROBLEM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AI spend is outpacing governance</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Every business unit buys AI separately, on shared keys, with no owner per consumer.</a:t>
            </a:r>
            <a:endParaRPr lang="en-US" sz="1200" dirty="0"/>
          </a:p>
        </p:txBody>
      </p:sp>
      <p:sp>
        <p:nvSpPr>
          <p:cNvPr id="7" name="Shape 5"/>
          <p:cNvSpPr/>
          <p:nvPr/>
        </p:nvSpPr>
        <p:spPr>
          <a:xfrm>
            <a:off x="3200400" y="2029968"/>
            <a:ext cx="1005840" cy="3658"/>
          </a:xfrm>
          <a:prstGeom prst="line">
            <a:avLst/>
          </a:prstGeom>
          <a:noFill/>
          <a:ln w="9525">
            <a:solidFill>
              <a:srgbClr val="FF6B7A">
                <a:alpha val="42000"/>
              </a:srgbClr>
            </a:solidFill>
            <a:prstDash val="solid"/>
          </a:ln>
        </p:spPr>
      </p:sp>
      <p:sp>
        <p:nvSpPr>
          <p:cNvPr id="8" name="Shape 6"/>
          <p:cNvSpPr/>
          <p:nvPr/>
        </p:nvSpPr>
        <p:spPr>
          <a:xfrm>
            <a:off x="3200400" y="2029968"/>
            <a:ext cx="1005840" cy="779069"/>
          </a:xfrm>
          <a:prstGeom prst="line">
            <a:avLst/>
          </a:prstGeom>
          <a:noFill/>
          <a:ln w="9525">
            <a:solidFill>
              <a:srgbClr val="FF6B7A">
                <a:alpha val="42000"/>
              </a:srgbClr>
            </a:solidFill>
            <a:prstDash val="solid"/>
          </a:ln>
        </p:spPr>
      </p:sp>
      <p:sp>
        <p:nvSpPr>
          <p:cNvPr id="9" name="Shape 7"/>
          <p:cNvSpPr/>
          <p:nvPr/>
        </p:nvSpPr>
        <p:spPr>
          <a:xfrm>
            <a:off x="3200400" y="2029968"/>
            <a:ext cx="1005840" cy="1558138"/>
          </a:xfrm>
          <a:prstGeom prst="line">
            <a:avLst/>
          </a:prstGeom>
          <a:noFill/>
          <a:ln w="9525">
            <a:solidFill>
              <a:srgbClr val="FF6B7A">
                <a:alpha val="42000"/>
              </a:srgbClr>
            </a:solidFill>
            <a:prstDash val="solid"/>
          </a:ln>
        </p:spPr>
      </p:sp>
      <p:sp>
        <p:nvSpPr>
          <p:cNvPr id="10" name="Shape 8"/>
          <p:cNvSpPr/>
          <p:nvPr/>
        </p:nvSpPr>
        <p:spPr>
          <a:xfrm>
            <a:off x="3200400" y="2029968"/>
            <a:ext cx="1005840" cy="2337206"/>
          </a:xfrm>
          <a:prstGeom prst="line">
            <a:avLst/>
          </a:prstGeom>
          <a:noFill/>
          <a:ln w="9525">
            <a:solidFill>
              <a:srgbClr val="FF6B7A">
                <a:alpha val="42000"/>
              </a:srgbClr>
            </a:solidFill>
            <a:prstDash val="solid"/>
          </a:ln>
        </p:spPr>
      </p:sp>
      <p:sp>
        <p:nvSpPr>
          <p:cNvPr id="11" name="Shape 9"/>
          <p:cNvSpPr/>
          <p:nvPr/>
        </p:nvSpPr>
        <p:spPr>
          <a:xfrm>
            <a:off x="3200400" y="2029968"/>
            <a:ext cx="1005840" cy="3116275"/>
          </a:xfrm>
          <a:prstGeom prst="line">
            <a:avLst/>
          </a:prstGeom>
          <a:noFill/>
          <a:ln w="9525">
            <a:solidFill>
              <a:srgbClr val="FF6B7A">
                <a:alpha val="42000"/>
              </a:srgbClr>
            </a:solidFill>
            <a:prstDash val="solid"/>
          </a:ln>
        </p:spPr>
      </p:sp>
      <p:sp>
        <p:nvSpPr>
          <p:cNvPr id="12" name="Shape 10"/>
          <p:cNvSpPr/>
          <p:nvPr/>
        </p:nvSpPr>
        <p:spPr>
          <a:xfrm>
            <a:off x="3200400" y="2029968"/>
            <a:ext cx="1005840" cy="3895344"/>
          </a:xfrm>
          <a:prstGeom prst="line">
            <a:avLst/>
          </a:prstGeom>
          <a:noFill/>
          <a:ln w="9525">
            <a:solidFill>
              <a:srgbClr val="FF6B7A">
                <a:alpha val="42000"/>
              </a:srgbClr>
            </a:solidFill>
            <a:prstDash val="solid"/>
          </a:ln>
        </p:spPr>
      </p:sp>
      <p:sp>
        <p:nvSpPr>
          <p:cNvPr id="13" name="Shape 11"/>
          <p:cNvSpPr/>
          <p:nvPr/>
        </p:nvSpPr>
        <p:spPr>
          <a:xfrm flipV="1">
            <a:off x="3200400" y="2029968"/>
            <a:ext cx="1005840" cy="779069"/>
          </a:xfrm>
          <a:prstGeom prst="line">
            <a:avLst/>
          </a:prstGeom>
          <a:noFill/>
          <a:ln w="9525">
            <a:solidFill>
              <a:srgbClr val="FF6B7A">
                <a:alpha val="42000"/>
              </a:srgbClr>
            </a:solidFill>
            <a:prstDash val="solid"/>
          </a:ln>
        </p:spPr>
      </p:sp>
      <p:sp>
        <p:nvSpPr>
          <p:cNvPr id="14" name="Shape 12"/>
          <p:cNvSpPr/>
          <p:nvPr/>
        </p:nvSpPr>
        <p:spPr>
          <a:xfrm>
            <a:off x="3200400" y="2809037"/>
            <a:ext cx="1005840" cy="3658"/>
          </a:xfrm>
          <a:prstGeom prst="line">
            <a:avLst/>
          </a:prstGeom>
          <a:noFill/>
          <a:ln w="9525">
            <a:solidFill>
              <a:srgbClr val="FF6B7A">
                <a:alpha val="42000"/>
              </a:srgbClr>
            </a:solidFill>
            <a:prstDash val="solid"/>
          </a:ln>
        </p:spPr>
      </p:sp>
      <p:sp>
        <p:nvSpPr>
          <p:cNvPr id="15" name="Shape 13"/>
          <p:cNvSpPr/>
          <p:nvPr/>
        </p:nvSpPr>
        <p:spPr>
          <a:xfrm>
            <a:off x="3200400" y="2809037"/>
            <a:ext cx="1005840" cy="779069"/>
          </a:xfrm>
          <a:prstGeom prst="line">
            <a:avLst/>
          </a:prstGeom>
          <a:noFill/>
          <a:ln w="9525">
            <a:solidFill>
              <a:srgbClr val="FF6B7A">
                <a:alpha val="42000"/>
              </a:srgbClr>
            </a:solidFill>
            <a:prstDash val="solid"/>
          </a:ln>
        </p:spPr>
      </p:sp>
      <p:sp>
        <p:nvSpPr>
          <p:cNvPr id="16" name="Shape 14"/>
          <p:cNvSpPr/>
          <p:nvPr/>
        </p:nvSpPr>
        <p:spPr>
          <a:xfrm>
            <a:off x="3200400" y="2809037"/>
            <a:ext cx="1005840" cy="1558138"/>
          </a:xfrm>
          <a:prstGeom prst="line">
            <a:avLst/>
          </a:prstGeom>
          <a:noFill/>
          <a:ln w="9525">
            <a:solidFill>
              <a:srgbClr val="FF6B7A">
                <a:alpha val="42000"/>
              </a:srgbClr>
            </a:solidFill>
            <a:prstDash val="solid"/>
          </a:ln>
        </p:spPr>
      </p:sp>
      <p:sp>
        <p:nvSpPr>
          <p:cNvPr id="17" name="Shape 15"/>
          <p:cNvSpPr/>
          <p:nvPr/>
        </p:nvSpPr>
        <p:spPr>
          <a:xfrm>
            <a:off x="3200400" y="2809037"/>
            <a:ext cx="1005840" cy="2337206"/>
          </a:xfrm>
          <a:prstGeom prst="line">
            <a:avLst/>
          </a:prstGeom>
          <a:noFill/>
          <a:ln w="9525">
            <a:solidFill>
              <a:srgbClr val="FF6B7A">
                <a:alpha val="42000"/>
              </a:srgbClr>
            </a:solidFill>
            <a:prstDash val="solid"/>
          </a:ln>
        </p:spPr>
      </p:sp>
      <p:sp>
        <p:nvSpPr>
          <p:cNvPr id="18" name="Shape 16"/>
          <p:cNvSpPr/>
          <p:nvPr/>
        </p:nvSpPr>
        <p:spPr>
          <a:xfrm>
            <a:off x="3200400" y="2809037"/>
            <a:ext cx="1005840" cy="3116275"/>
          </a:xfrm>
          <a:prstGeom prst="line">
            <a:avLst/>
          </a:prstGeom>
          <a:noFill/>
          <a:ln w="9525">
            <a:solidFill>
              <a:srgbClr val="FF6B7A">
                <a:alpha val="42000"/>
              </a:srgbClr>
            </a:solidFill>
            <a:prstDash val="solid"/>
          </a:ln>
        </p:spPr>
      </p:sp>
      <p:sp>
        <p:nvSpPr>
          <p:cNvPr id="19" name="Shape 17"/>
          <p:cNvSpPr/>
          <p:nvPr/>
        </p:nvSpPr>
        <p:spPr>
          <a:xfrm flipV="1">
            <a:off x="3200400" y="2029968"/>
            <a:ext cx="1005840" cy="1558138"/>
          </a:xfrm>
          <a:prstGeom prst="line">
            <a:avLst/>
          </a:prstGeom>
          <a:noFill/>
          <a:ln w="9525">
            <a:solidFill>
              <a:srgbClr val="FF6B7A">
                <a:alpha val="42000"/>
              </a:srgbClr>
            </a:solidFill>
            <a:prstDash val="solid"/>
          </a:ln>
        </p:spPr>
      </p:sp>
      <p:sp>
        <p:nvSpPr>
          <p:cNvPr id="20" name="Shape 18"/>
          <p:cNvSpPr/>
          <p:nvPr/>
        </p:nvSpPr>
        <p:spPr>
          <a:xfrm flipV="1">
            <a:off x="3200400" y="2809037"/>
            <a:ext cx="1005840" cy="779069"/>
          </a:xfrm>
          <a:prstGeom prst="line">
            <a:avLst/>
          </a:prstGeom>
          <a:noFill/>
          <a:ln w="9525">
            <a:solidFill>
              <a:srgbClr val="FF6B7A">
                <a:alpha val="42000"/>
              </a:srgbClr>
            </a:solidFill>
            <a:prstDash val="solid"/>
          </a:ln>
        </p:spPr>
      </p:sp>
      <p:sp>
        <p:nvSpPr>
          <p:cNvPr id="21" name="Shape 19"/>
          <p:cNvSpPr/>
          <p:nvPr/>
        </p:nvSpPr>
        <p:spPr>
          <a:xfrm>
            <a:off x="3200400" y="3588106"/>
            <a:ext cx="1005840" cy="3658"/>
          </a:xfrm>
          <a:prstGeom prst="line">
            <a:avLst/>
          </a:prstGeom>
          <a:noFill/>
          <a:ln w="9525">
            <a:solidFill>
              <a:srgbClr val="FF6B7A">
                <a:alpha val="42000"/>
              </a:srgbClr>
            </a:solidFill>
            <a:prstDash val="solid"/>
          </a:ln>
        </p:spPr>
      </p:sp>
      <p:sp>
        <p:nvSpPr>
          <p:cNvPr id="22" name="Shape 20"/>
          <p:cNvSpPr/>
          <p:nvPr/>
        </p:nvSpPr>
        <p:spPr>
          <a:xfrm>
            <a:off x="3200400" y="3588106"/>
            <a:ext cx="1005840" cy="779069"/>
          </a:xfrm>
          <a:prstGeom prst="line">
            <a:avLst/>
          </a:prstGeom>
          <a:noFill/>
          <a:ln w="9525">
            <a:solidFill>
              <a:srgbClr val="FF6B7A">
                <a:alpha val="42000"/>
              </a:srgbClr>
            </a:solidFill>
            <a:prstDash val="solid"/>
          </a:ln>
        </p:spPr>
      </p:sp>
      <p:sp>
        <p:nvSpPr>
          <p:cNvPr id="23" name="Shape 21"/>
          <p:cNvSpPr/>
          <p:nvPr/>
        </p:nvSpPr>
        <p:spPr>
          <a:xfrm>
            <a:off x="3200400" y="3588106"/>
            <a:ext cx="1005840" cy="1558138"/>
          </a:xfrm>
          <a:prstGeom prst="line">
            <a:avLst/>
          </a:prstGeom>
          <a:noFill/>
          <a:ln w="9525">
            <a:solidFill>
              <a:srgbClr val="FF6B7A">
                <a:alpha val="42000"/>
              </a:srgbClr>
            </a:solidFill>
            <a:prstDash val="solid"/>
          </a:ln>
        </p:spPr>
      </p:sp>
      <p:sp>
        <p:nvSpPr>
          <p:cNvPr id="24" name="Shape 22"/>
          <p:cNvSpPr/>
          <p:nvPr/>
        </p:nvSpPr>
        <p:spPr>
          <a:xfrm>
            <a:off x="3200400" y="3588106"/>
            <a:ext cx="1005840" cy="2337206"/>
          </a:xfrm>
          <a:prstGeom prst="line">
            <a:avLst/>
          </a:prstGeom>
          <a:noFill/>
          <a:ln w="9525">
            <a:solidFill>
              <a:srgbClr val="FF6B7A">
                <a:alpha val="42000"/>
              </a:srgbClr>
            </a:solidFill>
            <a:prstDash val="solid"/>
          </a:ln>
        </p:spPr>
      </p:sp>
      <p:sp>
        <p:nvSpPr>
          <p:cNvPr id="25" name="Shape 23"/>
          <p:cNvSpPr/>
          <p:nvPr/>
        </p:nvSpPr>
        <p:spPr>
          <a:xfrm flipV="1">
            <a:off x="3200400" y="2029968"/>
            <a:ext cx="1005840" cy="2337206"/>
          </a:xfrm>
          <a:prstGeom prst="line">
            <a:avLst/>
          </a:prstGeom>
          <a:noFill/>
          <a:ln w="9525">
            <a:solidFill>
              <a:srgbClr val="FF6B7A">
                <a:alpha val="42000"/>
              </a:srgbClr>
            </a:solidFill>
            <a:prstDash val="solid"/>
          </a:ln>
        </p:spPr>
      </p:sp>
      <p:sp>
        <p:nvSpPr>
          <p:cNvPr id="26" name="Shape 24"/>
          <p:cNvSpPr/>
          <p:nvPr/>
        </p:nvSpPr>
        <p:spPr>
          <a:xfrm flipV="1">
            <a:off x="3200400" y="2809037"/>
            <a:ext cx="1005840" cy="1558138"/>
          </a:xfrm>
          <a:prstGeom prst="line">
            <a:avLst/>
          </a:prstGeom>
          <a:noFill/>
          <a:ln w="9525">
            <a:solidFill>
              <a:srgbClr val="FF6B7A">
                <a:alpha val="42000"/>
              </a:srgbClr>
            </a:solidFill>
            <a:prstDash val="solid"/>
          </a:ln>
        </p:spPr>
      </p:sp>
      <p:sp>
        <p:nvSpPr>
          <p:cNvPr id="27" name="Shape 25"/>
          <p:cNvSpPr/>
          <p:nvPr/>
        </p:nvSpPr>
        <p:spPr>
          <a:xfrm flipV="1">
            <a:off x="3200400" y="3588106"/>
            <a:ext cx="1005840" cy="779069"/>
          </a:xfrm>
          <a:prstGeom prst="line">
            <a:avLst/>
          </a:prstGeom>
          <a:noFill/>
          <a:ln w="9525">
            <a:solidFill>
              <a:srgbClr val="FF6B7A">
                <a:alpha val="42000"/>
              </a:srgbClr>
            </a:solidFill>
            <a:prstDash val="solid"/>
          </a:ln>
        </p:spPr>
      </p:sp>
      <p:sp>
        <p:nvSpPr>
          <p:cNvPr id="28" name="Shape 26"/>
          <p:cNvSpPr/>
          <p:nvPr/>
        </p:nvSpPr>
        <p:spPr>
          <a:xfrm>
            <a:off x="3200400" y="4367174"/>
            <a:ext cx="1005840" cy="3658"/>
          </a:xfrm>
          <a:prstGeom prst="line">
            <a:avLst/>
          </a:prstGeom>
          <a:noFill/>
          <a:ln w="9525">
            <a:solidFill>
              <a:srgbClr val="FF6B7A">
                <a:alpha val="42000"/>
              </a:srgbClr>
            </a:solidFill>
            <a:prstDash val="solid"/>
          </a:ln>
        </p:spPr>
      </p:sp>
      <p:sp>
        <p:nvSpPr>
          <p:cNvPr id="29" name="Shape 27"/>
          <p:cNvSpPr/>
          <p:nvPr/>
        </p:nvSpPr>
        <p:spPr>
          <a:xfrm>
            <a:off x="3200400" y="4367174"/>
            <a:ext cx="1005840" cy="779069"/>
          </a:xfrm>
          <a:prstGeom prst="line">
            <a:avLst/>
          </a:prstGeom>
          <a:noFill/>
          <a:ln w="9525">
            <a:solidFill>
              <a:srgbClr val="FF6B7A">
                <a:alpha val="42000"/>
              </a:srgbClr>
            </a:solidFill>
            <a:prstDash val="solid"/>
          </a:ln>
        </p:spPr>
      </p:sp>
      <p:sp>
        <p:nvSpPr>
          <p:cNvPr id="30" name="Shape 28"/>
          <p:cNvSpPr/>
          <p:nvPr/>
        </p:nvSpPr>
        <p:spPr>
          <a:xfrm>
            <a:off x="3200400" y="4367174"/>
            <a:ext cx="1005840" cy="1558138"/>
          </a:xfrm>
          <a:prstGeom prst="line">
            <a:avLst/>
          </a:prstGeom>
          <a:noFill/>
          <a:ln w="9525">
            <a:solidFill>
              <a:srgbClr val="FF6B7A">
                <a:alpha val="42000"/>
              </a:srgbClr>
            </a:solidFill>
            <a:prstDash val="solid"/>
          </a:ln>
        </p:spPr>
      </p:sp>
      <p:sp>
        <p:nvSpPr>
          <p:cNvPr id="31" name="Shape 29"/>
          <p:cNvSpPr/>
          <p:nvPr/>
        </p:nvSpPr>
        <p:spPr>
          <a:xfrm flipV="1">
            <a:off x="3200400" y="2029968"/>
            <a:ext cx="1005840" cy="3116275"/>
          </a:xfrm>
          <a:prstGeom prst="line">
            <a:avLst/>
          </a:prstGeom>
          <a:noFill/>
          <a:ln w="9525">
            <a:solidFill>
              <a:srgbClr val="FF6B7A">
                <a:alpha val="42000"/>
              </a:srgbClr>
            </a:solidFill>
            <a:prstDash val="solid"/>
          </a:ln>
        </p:spPr>
      </p:sp>
      <p:sp>
        <p:nvSpPr>
          <p:cNvPr id="32" name="Shape 30"/>
          <p:cNvSpPr/>
          <p:nvPr/>
        </p:nvSpPr>
        <p:spPr>
          <a:xfrm flipV="1">
            <a:off x="3200400" y="2809037"/>
            <a:ext cx="1005840" cy="2337206"/>
          </a:xfrm>
          <a:prstGeom prst="line">
            <a:avLst/>
          </a:prstGeom>
          <a:noFill/>
          <a:ln w="9525">
            <a:solidFill>
              <a:srgbClr val="FF6B7A">
                <a:alpha val="42000"/>
              </a:srgbClr>
            </a:solidFill>
            <a:prstDash val="solid"/>
          </a:ln>
        </p:spPr>
      </p:sp>
      <p:sp>
        <p:nvSpPr>
          <p:cNvPr id="33" name="Shape 31"/>
          <p:cNvSpPr/>
          <p:nvPr/>
        </p:nvSpPr>
        <p:spPr>
          <a:xfrm flipV="1">
            <a:off x="3200400" y="3588106"/>
            <a:ext cx="1005840" cy="1558138"/>
          </a:xfrm>
          <a:prstGeom prst="line">
            <a:avLst/>
          </a:prstGeom>
          <a:noFill/>
          <a:ln w="9525">
            <a:solidFill>
              <a:srgbClr val="FF6B7A">
                <a:alpha val="42000"/>
              </a:srgbClr>
            </a:solidFill>
            <a:prstDash val="solid"/>
          </a:ln>
        </p:spPr>
      </p:sp>
      <p:sp>
        <p:nvSpPr>
          <p:cNvPr id="34" name="Shape 32"/>
          <p:cNvSpPr/>
          <p:nvPr/>
        </p:nvSpPr>
        <p:spPr>
          <a:xfrm flipV="1">
            <a:off x="3200400" y="4367174"/>
            <a:ext cx="1005840" cy="779069"/>
          </a:xfrm>
          <a:prstGeom prst="line">
            <a:avLst/>
          </a:prstGeom>
          <a:noFill/>
          <a:ln w="9525">
            <a:solidFill>
              <a:srgbClr val="FF6B7A">
                <a:alpha val="42000"/>
              </a:srgbClr>
            </a:solidFill>
            <a:prstDash val="solid"/>
          </a:ln>
        </p:spPr>
      </p:sp>
      <p:sp>
        <p:nvSpPr>
          <p:cNvPr id="35" name="Shape 33"/>
          <p:cNvSpPr/>
          <p:nvPr/>
        </p:nvSpPr>
        <p:spPr>
          <a:xfrm>
            <a:off x="3200400" y="5146243"/>
            <a:ext cx="1005840" cy="3658"/>
          </a:xfrm>
          <a:prstGeom prst="line">
            <a:avLst/>
          </a:prstGeom>
          <a:noFill/>
          <a:ln w="9525">
            <a:solidFill>
              <a:srgbClr val="FF6B7A">
                <a:alpha val="42000"/>
              </a:srgbClr>
            </a:solidFill>
            <a:prstDash val="solid"/>
          </a:ln>
        </p:spPr>
      </p:sp>
      <p:sp>
        <p:nvSpPr>
          <p:cNvPr id="36" name="Shape 34"/>
          <p:cNvSpPr/>
          <p:nvPr/>
        </p:nvSpPr>
        <p:spPr>
          <a:xfrm>
            <a:off x="3200400" y="5146243"/>
            <a:ext cx="1005840" cy="779069"/>
          </a:xfrm>
          <a:prstGeom prst="line">
            <a:avLst/>
          </a:prstGeom>
          <a:noFill/>
          <a:ln w="9525">
            <a:solidFill>
              <a:srgbClr val="FF6B7A">
                <a:alpha val="42000"/>
              </a:srgbClr>
            </a:solidFill>
            <a:prstDash val="solid"/>
          </a:ln>
        </p:spPr>
      </p:sp>
      <p:sp>
        <p:nvSpPr>
          <p:cNvPr id="37" name="Text 35"/>
          <p:cNvSpPr/>
          <p:nvPr/>
        </p:nvSpPr>
        <p:spPr>
          <a:xfrm>
            <a:off x="45720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WHO CONSUMES AI</a:t>
            </a:r>
            <a:endParaRPr lang="en-US" sz="1200" dirty="0"/>
          </a:p>
        </p:txBody>
      </p:sp>
      <p:sp>
        <p:nvSpPr>
          <p:cNvPr id="38" name="Shape 36"/>
          <p:cNvSpPr/>
          <p:nvPr/>
        </p:nvSpPr>
        <p:spPr>
          <a:xfrm>
            <a:off x="457200" y="1691640"/>
            <a:ext cx="2743200" cy="676656"/>
          </a:xfrm>
          <a:prstGeom prst="roundRect">
            <a:avLst>
              <a:gd name="adj" fmla="val 8108"/>
            </a:avLst>
          </a:prstGeom>
          <a:solidFill>
            <a:srgbClr val="121B2D"/>
          </a:solidFill>
          <a:ln w="12700">
            <a:solidFill>
              <a:srgbClr val="23304A"/>
            </a:solidFill>
            <a:prstDash val="solid"/>
          </a:ln>
        </p:spPr>
      </p:sp>
      <p:sp>
        <p:nvSpPr>
          <p:cNvPr id="39" name="Text 37"/>
          <p:cNvSpPr/>
          <p:nvPr/>
        </p:nvSpPr>
        <p:spPr>
          <a:xfrm>
            <a:off x="640080" y="1691640"/>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40" name="Shape 38"/>
          <p:cNvSpPr/>
          <p:nvPr/>
        </p:nvSpPr>
        <p:spPr>
          <a:xfrm>
            <a:off x="457200" y="2470709"/>
            <a:ext cx="2743200" cy="676656"/>
          </a:xfrm>
          <a:prstGeom prst="roundRect">
            <a:avLst>
              <a:gd name="adj" fmla="val 8108"/>
            </a:avLst>
          </a:prstGeom>
          <a:solidFill>
            <a:srgbClr val="121B2D"/>
          </a:solidFill>
          <a:ln w="12700">
            <a:solidFill>
              <a:srgbClr val="23304A"/>
            </a:solidFill>
            <a:prstDash val="solid"/>
          </a:ln>
        </p:spPr>
      </p:sp>
      <p:sp>
        <p:nvSpPr>
          <p:cNvPr id="41" name="Text 39"/>
          <p:cNvSpPr/>
          <p:nvPr/>
        </p:nvSpPr>
        <p:spPr>
          <a:xfrm>
            <a:off x="640080" y="2470709"/>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Analytics and BI</a:t>
            </a:r>
            <a:endParaRPr lang="en-US" sz="1300" dirty="0"/>
          </a:p>
        </p:txBody>
      </p:sp>
      <p:sp>
        <p:nvSpPr>
          <p:cNvPr id="42" name="Shape 40"/>
          <p:cNvSpPr/>
          <p:nvPr/>
        </p:nvSpPr>
        <p:spPr>
          <a:xfrm>
            <a:off x="457200" y="3249778"/>
            <a:ext cx="2743200" cy="676656"/>
          </a:xfrm>
          <a:prstGeom prst="roundRect">
            <a:avLst>
              <a:gd name="adj" fmla="val 8108"/>
            </a:avLst>
          </a:prstGeom>
          <a:solidFill>
            <a:srgbClr val="121B2D"/>
          </a:solidFill>
          <a:ln w="12700">
            <a:solidFill>
              <a:srgbClr val="23304A"/>
            </a:solidFill>
            <a:prstDash val="solid"/>
          </a:ln>
        </p:spPr>
      </p:sp>
      <p:sp>
        <p:nvSpPr>
          <p:cNvPr id="43" name="Text 41"/>
          <p:cNvSpPr/>
          <p:nvPr/>
        </p:nvSpPr>
        <p:spPr>
          <a:xfrm>
            <a:off x="640080" y="3249778"/>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HR and back office</a:t>
            </a:r>
            <a:endParaRPr lang="en-US" sz="1300" dirty="0"/>
          </a:p>
        </p:txBody>
      </p:sp>
      <p:sp>
        <p:nvSpPr>
          <p:cNvPr id="44" name="Shape 42"/>
          <p:cNvSpPr/>
          <p:nvPr/>
        </p:nvSpPr>
        <p:spPr>
          <a:xfrm>
            <a:off x="457200" y="4028846"/>
            <a:ext cx="2743200" cy="676656"/>
          </a:xfrm>
          <a:prstGeom prst="roundRect">
            <a:avLst>
              <a:gd name="adj" fmla="val 8108"/>
            </a:avLst>
          </a:prstGeom>
          <a:solidFill>
            <a:srgbClr val="121B2D"/>
          </a:solidFill>
          <a:ln w="12700">
            <a:solidFill>
              <a:srgbClr val="23304A"/>
            </a:solidFill>
            <a:prstDash val="solid"/>
          </a:ln>
        </p:spPr>
      </p:sp>
      <p:sp>
        <p:nvSpPr>
          <p:cNvPr id="45" name="Text 43"/>
          <p:cNvSpPr/>
          <p:nvPr/>
        </p:nvSpPr>
        <p:spPr>
          <a:xfrm>
            <a:off x="640080" y="4028846"/>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R&amp;D and data science</a:t>
            </a:r>
            <a:endParaRPr lang="en-US" sz="1300" dirty="0"/>
          </a:p>
        </p:txBody>
      </p:sp>
      <p:sp>
        <p:nvSpPr>
          <p:cNvPr id="46" name="Shape 44"/>
          <p:cNvSpPr/>
          <p:nvPr/>
        </p:nvSpPr>
        <p:spPr>
          <a:xfrm>
            <a:off x="457200" y="4807915"/>
            <a:ext cx="2743200" cy="676656"/>
          </a:xfrm>
          <a:prstGeom prst="roundRect">
            <a:avLst>
              <a:gd name="adj" fmla="val 8108"/>
            </a:avLst>
          </a:prstGeom>
          <a:solidFill>
            <a:srgbClr val="121B2D"/>
          </a:solidFill>
          <a:ln w="12700">
            <a:solidFill>
              <a:srgbClr val="23304A"/>
            </a:solidFill>
            <a:prstDash val="solid"/>
          </a:ln>
        </p:spPr>
      </p:sp>
      <p:sp>
        <p:nvSpPr>
          <p:cNvPr id="47" name="Text 45"/>
          <p:cNvSpPr/>
          <p:nvPr/>
        </p:nvSpPr>
        <p:spPr>
          <a:xfrm>
            <a:off x="640080" y="4807915"/>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Cloud and platform</a:t>
            </a:r>
            <a:endParaRPr lang="en-US" sz="1300" dirty="0"/>
          </a:p>
        </p:txBody>
      </p:sp>
      <p:sp>
        <p:nvSpPr>
          <p:cNvPr id="48" name="Text 46"/>
          <p:cNvSpPr/>
          <p:nvPr/>
        </p:nvSpPr>
        <p:spPr>
          <a:xfrm>
            <a:off x="420624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THEY BUY</a:t>
            </a:r>
            <a:endParaRPr lang="en-US" sz="1200" dirty="0"/>
          </a:p>
        </p:txBody>
      </p:sp>
      <p:sp>
        <p:nvSpPr>
          <p:cNvPr id="49" name="Shape 47"/>
          <p:cNvSpPr/>
          <p:nvPr/>
        </p:nvSpPr>
        <p:spPr>
          <a:xfrm>
            <a:off x="4206240" y="1691640"/>
            <a:ext cx="2743200" cy="676656"/>
          </a:xfrm>
          <a:prstGeom prst="roundRect">
            <a:avLst>
              <a:gd name="adj" fmla="val 8108"/>
            </a:avLst>
          </a:prstGeom>
          <a:solidFill>
            <a:srgbClr val="121B2D"/>
          </a:solidFill>
          <a:ln w="12700">
            <a:solidFill>
              <a:srgbClr val="23304A"/>
            </a:solidFill>
            <a:prstDash val="solid"/>
          </a:ln>
        </p:spPr>
      </p:sp>
      <p:sp>
        <p:nvSpPr>
          <p:cNvPr id="50" name="Text 48"/>
          <p:cNvSpPr/>
          <p:nvPr/>
        </p:nvSpPr>
        <p:spPr>
          <a:xfrm>
            <a:off x="4389120" y="1691640"/>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Microsoft Copilot</a:t>
            </a:r>
            <a:endParaRPr lang="en-US" sz="1300" dirty="0"/>
          </a:p>
        </p:txBody>
      </p:sp>
      <p:sp>
        <p:nvSpPr>
          <p:cNvPr id="51" name="Shape 49"/>
          <p:cNvSpPr/>
          <p:nvPr/>
        </p:nvSpPr>
        <p:spPr>
          <a:xfrm>
            <a:off x="4206240" y="2470709"/>
            <a:ext cx="2743200" cy="676656"/>
          </a:xfrm>
          <a:prstGeom prst="roundRect">
            <a:avLst>
              <a:gd name="adj" fmla="val 8108"/>
            </a:avLst>
          </a:prstGeom>
          <a:solidFill>
            <a:srgbClr val="121B2D"/>
          </a:solidFill>
          <a:ln w="12700">
            <a:solidFill>
              <a:srgbClr val="23304A"/>
            </a:solidFill>
            <a:prstDash val="solid"/>
          </a:ln>
        </p:spPr>
      </p:sp>
      <p:sp>
        <p:nvSpPr>
          <p:cNvPr id="52" name="Text 50"/>
          <p:cNvSpPr/>
          <p:nvPr/>
        </p:nvSpPr>
        <p:spPr>
          <a:xfrm>
            <a:off x="4389120" y="2470709"/>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Azure AI Foundry</a:t>
            </a:r>
            <a:endParaRPr lang="en-US" sz="1300" dirty="0"/>
          </a:p>
        </p:txBody>
      </p:sp>
      <p:sp>
        <p:nvSpPr>
          <p:cNvPr id="53" name="Shape 51"/>
          <p:cNvSpPr/>
          <p:nvPr/>
        </p:nvSpPr>
        <p:spPr>
          <a:xfrm>
            <a:off x="4206240" y="3249778"/>
            <a:ext cx="2743200" cy="676656"/>
          </a:xfrm>
          <a:prstGeom prst="roundRect">
            <a:avLst>
              <a:gd name="adj" fmla="val 8108"/>
            </a:avLst>
          </a:prstGeom>
          <a:solidFill>
            <a:srgbClr val="121B2D"/>
          </a:solidFill>
          <a:ln w="12700">
            <a:solidFill>
              <a:srgbClr val="23304A"/>
            </a:solidFill>
            <a:prstDash val="solid"/>
          </a:ln>
        </p:spPr>
      </p:sp>
      <p:sp>
        <p:nvSpPr>
          <p:cNvPr id="54" name="Text 52"/>
          <p:cNvSpPr/>
          <p:nvPr/>
        </p:nvSpPr>
        <p:spPr>
          <a:xfrm>
            <a:off x="4389120" y="3249778"/>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AWS Bedrock</a:t>
            </a:r>
            <a:endParaRPr lang="en-US" sz="1300" dirty="0"/>
          </a:p>
        </p:txBody>
      </p:sp>
      <p:sp>
        <p:nvSpPr>
          <p:cNvPr id="55" name="Shape 53"/>
          <p:cNvSpPr/>
          <p:nvPr/>
        </p:nvSpPr>
        <p:spPr>
          <a:xfrm>
            <a:off x="4206240" y="4028846"/>
            <a:ext cx="2743200" cy="676656"/>
          </a:xfrm>
          <a:prstGeom prst="roundRect">
            <a:avLst>
              <a:gd name="adj" fmla="val 8108"/>
            </a:avLst>
          </a:prstGeom>
          <a:solidFill>
            <a:srgbClr val="121B2D"/>
          </a:solidFill>
          <a:ln w="12700">
            <a:solidFill>
              <a:srgbClr val="23304A"/>
            </a:solidFill>
            <a:prstDash val="solid"/>
          </a:ln>
        </p:spPr>
      </p:sp>
      <p:sp>
        <p:nvSpPr>
          <p:cNvPr id="56" name="Text 54"/>
          <p:cNvSpPr/>
          <p:nvPr/>
        </p:nvSpPr>
        <p:spPr>
          <a:xfrm>
            <a:off x="4389120" y="4028846"/>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Google Vertex AI</a:t>
            </a:r>
            <a:endParaRPr lang="en-US" sz="1300" dirty="0"/>
          </a:p>
        </p:txBody>
      </p:sp>
      <p:sp>
        <p:nvSpPr>
          <p:cNvPr id="57" name="Shape 55"/>
          <p:cNvSpPr/>
          <p:nvPr/>
        </p:nvSpPr>
        <p:spPr>
          <a:xfrm>
            <a:off x="4206240" y="4807915"/>
            <a:ext cx="2743200" cy="676656"/>
          </a:xfrm>
          <a:prstGeom prst="roundRect">
            <a:avLst>
              <a:gd name="adj" fmla="val 8108"/>
            </a:avLst>
          </a:prstGeom>
          <a:solidFill>
            <a:srgbClr val="121B2D"/>
          </a:solidFill>
          <a:ln w="12700">
            <a:solidFill>
              <a:srgbClr val="23304A"/>
            </a:solidFill>
            <a:prstDash val="solid"/>
          </a:ln>
        </p:spPr>
      </p:sp>
      <p:sp>
        <p:nvSpPr>
          <p:cNvPr id="58" name="Text 56"/>
          <p:cNvSpPr/>
          <p:nvPr/>
        </p:nvSpPr>
        <p:spPr>
          <a:xfrm>
            <a:off x="4389120" y="4807915"/>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Claude / OpenAI</a:t>
            </a:r>
            <a:endParaRPr lang="en-US" sz="1300" dirty="0"/>
          </a:p>
        </p:txBody>
      </p:sp>
      <p:sp>
        <p:nvSpPr>
          <p:cNvPr id="59" name="Shape 57"/>
          <p:cNvSpPr/>
          <p:nvPr/>
        </p:nvSpPr>
        <p:spPr>
          <a:xfrm>
            <a:off x="4206240" y="5586984"/>
            <a:ext cx="2743200" cy="676656"/>
          </a:xfrm>
          <a:prstGeom prst="roundRect">
            <a:avLst>
              <a:gd name="adj" fmla="val 8108"/>
            </a:avLst>
          </a:prstGeom>
          <a:solidFill>
            <a:srgbClr val="121B2D"/>
          </a:solidFill>
          <a:ln w="12700">
            <a:solidFill>
              <a:srgbClr val="23304A"/>
            </a:solidFill>
            <a:prstDash val="solid"/>
          </a:ln>
        </p:spPr>
      </p:sp>
      <p:sp>
        <p:nvSpPr>
          <p:cNvPr id="60" name="Text 58"/>
          <p:cNvSpPr/>
          <p:nvPr/>
        </p:nvSpPr>
        <p:spPr>
          <a:xfrm>
            <a:off x="4389120" y="5586984"/>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Databricks</a:t>
            </a:r>
            <a:endParaRPr lang="en-US" sz="1300" dirty="0"/>
          </a:p>
        </p:txBody>
      </p:sp>
      <p:sp>
        <p:nvSpPr>
          <p:cNvPr id="61" name="Shape 59"/>
          <p:cNvSpPr/>
          <p:nvPr/>
        </p:nvSpPr>
        <p:spPr>
          <a:xfrm>
            <a:off x="7315200" y="1234440"/>
            <a:ext cx="4419295" cy="5029200"/>
          </a:xfrm>
          <a:prstGeom prst="roundRect">
            <a:avLst>
              <a:gd name="adj" fmla="val 1241"/>
            </a:avLst>
          </a:prstGeom>
          <a:solidFill>
            <a:srgbClr val="121B2D"/>
          </a:solidFill>
          <a:ln w="12700">
            <a:solidFill>
              <a:srgbClr val="23304A"/>
            </a:solidFill>
            <a:prstDash val="solid"/>
          </a:ln>
        </p:spPr>
      </p:sp>
      <p:sp>
        <p:nvSpPr>
          <p:cNvPr id="62" name="Shape 60"/>
          <p:cNvSpPr/>
          <p:nvPr/>
        </p:nvSpPr>
        <p:spPr>
          <a:xfrm>
            <a:off x="7315200" y="1234440"/>
            <a:ext cx="4419295" cy="45720"/>
          </a:xfrm>
          <a:prstGeom prst="rect">
            <a:avLst/>
          </a:prstGeom>
          <a:solidFill>
            <a:srgbClr val="FF6B7A"/>
          </a:solidFill>
          <a:ln w="12700">
            <a:solidFill>
              <a:srgbClr val="FF6B7A"/>
            </a:solidFill>
            <a:prstDash val="solid"/>
          </a:ln>
        </p:spPr>
      </p:sp>
      <p:sp>
        <p:nvSpPr>
          <p:cNvPr id="63" name="Text 61"/>
          <p:cNvSpPr/>
          <p:nvPr/>
        </p:nvSpPr>
        <p:spPr>
          <a:xfrm>
            <a:off x="7534656" y="1399032"/>
            <a:ext cx="3980383" cy="274320"/>
          </a:xfrm>
          <a:prstGeom prst="rect">
            <a:avLst/>
          </a:prstGeom>
          <a:noFill/>
          <a:ln/>
        </p:spPr>
        <p:txBody>
          <a:bodyPr wrap="square" lIns="0" tIns="0" rIns="0" bIns="0" rtlCol="0" anchor="ctr"/>
          <a:lstStyle/>
          <a:p>
            <a:pPr indent="0" marL="0">
              <a:buNone/>
            </a:pPr>
            <a:r>
              <a:rPr lang="en-US" sz="1200" b="1" spc="140" kern="0" dirty="0">
                <a:solidFill>
                  <a:srgbClr val="FF6B7A"/>
                </a:solidFill>
                <a:latin typeface="Calibri" pitchFamily="34" charset="0"/>
                <a:ea typeface="Calibri" pitchFamily="34" charset="-122"/>
                <a:cs typeface="Calibri" pitchFamily="34" charset="-120"/>
              </a:rPr>
              <a:t>TODAY'S REALITY</a:t>
            </a:r>
            <a:endParaRPr lang="en-US" sz="1200" dirty="0"/>
          </a:p>
        </p:txBody>
      </p:sp>
      <p:sp>
        <p:nvSpPr>
          <p:cNvPr id="64" name="Text 62"/>
          <p:cNvSpPr/>
          <p:nvPr/>
        </p:nvSpPr>
        <p:spPr>
          <a:xfrm>
            <a:off x="7534656" y="1783080"/>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AI providers, bought separately</a:t>
            </a:r>
            <a:endParaRPr lang="en-US" sz="1300" dirty="0"/>
          </a:p>
        </p:txBody>
      </p:sp>
      <p:sp>
        <p:nvSpPr>
          <p:cNvPr id="65" name="Shape 63"/>
          <p:cNvSpPr/>
          <p:nvPr/>
        </p:nvSpPr>
        <p:spPr>
          <a:xfrm>
            <a:off x="7534656" y="2638958"/>
            <a:ext cx="3980383" cy="9144"/>
          </a:xfrm>
          <a:prstGeom prst="rect">
            <a:avLst/>
          </a:prstGeom>
          <a:solidFill>
            <a:srgbClr val="23304A"/>
          </a:solidFill>
          <a:ln w="12700">
            <a:solidFill>
              <a:srgbClr val="23304A"/>
            </a:solidFill>
            <a:prstDash val="solid"/>
          </a:ln>
        </p:spPr>
      </p:sp>
      <p:sp>
        <p:nvSpPr>
          <p:cNvPr id="66" name="Text 64"/>
          <p:cNvSpPr/>
          <p:nvPr/>
        </p:nvSpPr>
        <p:spPr>
          <a:xfrm>
            <a:off x="7534656" y="2675534"/>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business units consuming them</a:t>
            </a:r>
            <a:endParaRPr lang="en-US" sz="1300" dirty="0"/>
          </a:p>
        </p:txBody>
      </p:sp>
      <p:sp>
        <p:nvSpPr>
          <p:cNvPr id="67" name="Shape 65"/>
          <p:cNvSpPr/>
          <p:nvPr/>
        </p:nvSpPr>
        <p:spPr>
          <a:xfrm>
            <a:off x="7534656" y="3531413"/>
            <a:ext cx="3980383" cy="9144"/>
          </a:xfrm>
          <a:prstGeom prst="rect">
            <a:avLst/>
          </a:prstGeom>
          <a:solidFill>
            <a:srgbClr val="23304A"/>
          </a:solidFill>
          <a:ln w="12700">
            <a:solidFill>
              <a:srgbClr val="23304A"/>
            </a:solidFill>
            <a:prstDash val="solid"/>
          </a:ln>
        </p:spPr>
      </p:sp>
      <p:sp>
        <p:nvSpPr>
          <p:cNvPr id="68" name="Text 66"/>
          <p:cNvSpPr/>
          <p:nvPr/>
        </p:nvSpPr>
        <p:spPr>
          <a:xfrm>
            <a:off x="7534656" y="3567989"/>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applications on shared keys</a:t>
            </a:r>
            <a:endParaRPr lang="en-US" sz="1300" dirty="0"/>
          </a:p>
        </p:txBody>
      </p:sp>
      <p:sp>
        <p:nvSpPr>
          <p:cNvPr id="69" name="Shape 67"/>
          <p:cNvSpPr/>
          <p:nvPr/>
        </p:nvSpPr>
        <p:spPr>
          <a:xfrm>
            <a:off x="7534656" y="4423867"/>
            <a:ext cx="3980383" cy="9144"/>
          </a:xfrm>
          <a:prstGeom prst="rect">
            <a:avLst/>
          </a:prstGeom>
          <a:solidFill>
            <a:srgbClr val="23304A"/>
          </a:solidFill>
          <a:ln w="12700">
            <a:solidFill>
              <a:srgbClr val="23304A"/>
            </a:solidFill>
            <a:prstDash val="solid"/>
          </a:ln>
        </p:spPr>
      </p:sp>
      <p:sp>
        <p:nvSpPr>
          <p:cNvPr id="70" name="Text 68"/>
          <p:cNvSpPr/>
          <p:nvPr/>
        </p:nvSpPr>
        <p:spPr>
          <a:xfrm>
            <a:off x="7534656" y="4460443"/>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Limited financial visibility per consumer</a:t>
            </a:r>
            <a:endParaRPr lang="en-US" sz="1300" dirty="0"/>
          </a:p>
        </p:txBody>
      </p:sp>
      <p:sp>
        <p:nvSpPr>
          <p:cNvPr id="71" name="Shape 69"/>
          <p:cNvSpPr/>
          <p:nvPr/>
        </p:nvSpPr>
        <p:spPr>
          <a:xfrm>
            <a:off x="7534656" y="5316322"/>
            <a:ext cx="3980383" cy="9144"/>
          </a:xfrm>
          <a:prstGeom prst="rect">
            <a:avLst/>
          </a:prstGeom>
          <a:solidFill>
            <a:srgbClr val="23304A"/>
          </a:solidFill>
          <a:ln w="12700">
            <a:solidFill>
              <a:srgbClr val="23304A"/>
            </a:solidFill>
            <a:prstDash val="solid"/>
          </a:ln>
        </p:spPr>
      </p:sp>
      <p:sp>
        <p:nvSpPr>
          <p:cNvPr id="72" name="Text 70"/>
          <p:cNvSpPr/>
          <p:nvPr/>
        </p:nvSpPr>
        <p:spPr>
          <a:xfrm>
            <a:off x="7534656" y="5352898"/>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No unified enterprise ownership</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5367528"/>
            <a:ext cx="11277295" cy="1380744"/>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353312"/>
            <a:ext cx="4510735" cy="3291840"/>
          </a:xfrm>
          <a:prstGeom prst="roundRect">
            <a:avLst>
              <a:gd name="adj" fmla="val 1724"/>
            </a:avLst>
          </a:prstGeom>
          <a:solidFill>
            <a:srgbClr val="1D2D42"/>
          </a:solidFill>
          <a:ln w="15875">
            <a:solidFill>
              <a:srgbClr val="3DD9EB"/>
            </a:solidFill>
            <a:prstDash val="solid"/>
          </a:ln>
        </p:spPr>
        <p:txBody>
          <a:bodyPr/>
          <a:lstStyle/>
          <a:p>
            <a:endParaRPr lang="he-IL"/>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extLst>
      <p:ext uri="{BB962C8B-B14F-4D97-AF65-F5344CB8AC3E}">
        <p14:creationId xmlns:p14="http://schemas.microsoft.com/office/powerpoint/2010/main" val="3730409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txBody>
          <a:bodyPr/>
          <a:lstStyle/>
          <a:p>
            <a:endParaRPr lang="he-IL" dirty="0"/>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
        <p:nvSpPr>
          <p:cNvPr id="51" name="Shape 26">
            <a:extLst>
              <a:ext uri="{FF2B5EF4-FFF2-40B4-BE49-F238E27FC236}">
                <a16:creationId xmlns:a16="http://schemas.microsoft.com/office/drawing/2014/main" id="{ECFA40AD-96FD-61F0-5BE6-9E33ACBB4782}"/>
              </a:ext>
            </a:extLst>
          </p:cNvPr>
          <p:cNvSpPr/>
          <p:nvPr/>
        </p:nvSpPr>
        <p:spPr>
          <a:xfrm>
            <a:off x="8671255" y="4754880"/>
            <a:ext cx="3215640" cy="402336"/>
          </a:xfrm>
          <a:prstGeom prst="roundRect">
            <a:avLst>
              <a:gd name="adj" fmla="val 10000"/>
            </a:avLst>
          </a:prstGeom>
          <a:solidFill>
            <a:srgbClr val="121B2D"/>
          </a:solidFill>
          <a:ln w="12700">
            <a:solidFill>
              <a:srgbClr val="23304A"/>
            </a:solidFill>
            <a:prstDash val="solid"/>
          </a:ln>
        </p:spPr>
        <p:txBody>
          <a:bodyPr/>
          <a:lstStyle/>
          <a:p>
            <a:r>
              <a:rPr lang="en-US" sz="1300" dirty="0">
                <a:solidFill>
                  <a:srgbClr val="F4F7FB"/>
                </a:solidFill>
                <a:latin typeface="Calibri" pitchFamily="34" charset="0"/>
                <a:ea typeface="Calibri" pitchFamily="34" charset="-122"/>
                <a:cs typeface="Calibri" pitchFamily="34" charset="-120"/>
              </a:rPr>
              <a:t>   Databrikes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nvGraphicFramePr>
        <p:xfrm>
          <a:off x="457200" y="1764792"/>
          <a:ext cx="7863840" cy="2048256"/>
        </p:xfrm>
        <a:graphic>
          <a:graphicData uri="http://schemas.openxmlformats.org/drawingml/2006/table">
            <a:tbl>
              <a:tblPr/>
              <a:tblGrid>
                <a:gridCol w="24688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887968" y="1325880"/>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887968" y="2551176"/>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887968" y="3776472"/>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extLst>
      <p:ext uri="{BB962C8B-B14F-4D97-AF65-F5344CB8AC3E}">
        <p14:creationId xmlns:p14="http://schemas.microsoft.com/office/powerpoint/2010/main" val="6382084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8" name="Text 6"/>
          <p:cNvSpPr/>
          <p:nvPr/>
        </p:nvSpPr>
        <p:spPr>
          <a:xfrm>
            <a:off x="457200"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12" name="Text 10"/>
          <p:cNvSpPr/>
          <p:nvPr/>
        </p:nvSpPr>
        <p:spPr>
          <a:xfrm>
            <a:off x="457200"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16" name="Text 14"/>
          <p:cNvSpPr/>
          <p:nvPr/>
        </p:nvSpPr>
        <p:spPr>
          <a:xfrm>
            <a:off x="457200"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txBody>
          <a:bodyPr/>
          <a:lstStyle/>
          <a:p>
            <a:endParaRPr lang="he-IL"/>
          </a:p>
        </p:txBody>
      </p:sp>
      <p:sp>
        <p:nvSpPr>
          <p:cNvPr id="20" name="Text 18"/>
          <p:cNvSpPr/>
          <p:nvPr/>
        </p:nvSpPr>
        <p:spPr>
          <a:xfrm>
            <a:off x="457200" y="3511296"/>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24" name="Text 22"/>
          <p:cNvSpPr/>
          <p:nvPr/>
        </p:nvSpPr>
        <p:spPr>
          <a:xfrm>
            <a:off x="6278728"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28" name="Text 26"/>
          <p:cNvSpPr/>
          <p:nvPr/>
        </p:nvSpPr>
        <p:spPr>
          <a:xfrm>
            <a:off x="6278728"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32" name="Text 30"/>
          <p:cNvSpPr/>
          <p:nvPr/>
        </p:nvSpPr>
        <p:spPr>
          <a:xfrm>
            <a:off x="6278728"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txBody>
          <a:bodyPr/>
          <a:lstStyle/>
          <a:p>
            <a:endParaRPr lang="he-IL"/>
          </a:p>
        </p:txBody>
      </p:sp>
      <p:sp>
        <p:nvSpPr>
          <p:cNvPr id="36" name="Text 34"/>
          <p:cNvSpPr/>
          <p:nvPr/>
        </p:nvSpPr>
        <p:spPr>
          <a:xfrm>
            <a:off x="685800" y="4407408"/>
            <a:ext cx="10820095" cy="292608"/>
          </a:xfrm>
          <a:prstGeom prst="rect">
            <a:avLst/>
          </a:prstGeom>
          <a:noFill/>
          <a:ln/>
        </p:spPr>
        <p:txBody>
          <a:bodyPr wrap="square" lIns="0" tIns="0" rIns="0" bIns="0" rtlCol="0" anchor="ctr"/>
          <a:lstStyle/>
          <a:p>
            <a:pPr marL="0" indent="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marL="0" indent="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250" dirty="0"/>
          </a:p>
        </p:txBody>
      </p:sp>
    </p:spTree>
    <p:extLst>
      <p:ext uri="{BB962C8B-B14F-4D97-AF65-F5344CB8AC3E}">
        <p14:creationId xmlns:p14="http://schemas.microsoft.com/office/powerpoint/2010/main" val="13267445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655064"/>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3541700"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15" name="Text 13"/>
          <p:cNvSpPr/>
          <p:nvPr/>
        </p:nvSpPr>
        <p:spPr>
          <a:xfrm>
            <a:off x="5126584"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9" name="Text 17"/>
          <p:cNvSpPr/>
          <p:nvPr/>
        </p:nvSpPr>
        <p:spPr>
          <a:xfrm>
            <a:off x="6425032"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1" name="Text 19"/>
          <p:cNvSpPr/>
          <p:nvPr/>
        </p:nvSpPr>
        <p:spPr>
          <a:xfrm>
            <a:off x="8009915"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9308363"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7" name="Text 25"/>
          <p:cNvSpPr/>
          <p:nvPr/>
        </p:nvSpPr>
        <p:spPr>
          <a:xfrm>
            <a:off x="10893247"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1" name="Text 29"/>
          <p:cNvSpPr/>
          <p:nvPr/>
        </p:nvSpPr>
        <p:spPr>
          <a:xfrm>
            <a:off x="658368" y="3785616"/>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33" name="Text 31"/>
          <p:cNvSpPr/>
          <p:nvPr/>
        </p:nvSpPr>
        <p:spPr>
          <a:xfrm>
            <a:off x="2243252" y="3822192"/>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7" name="Text 35"/>
          <p:cNvSpPr/>
          <p:nvPr/>
        </p:nvSpPr>
        <p:spPr>
          <a:xfrm>
            <a:off x="3541700"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1" name="Text 39"/>
          <p:cNvSpPr/>
          <p:nvPr/>
        </p:nvSpPr>
        <p:spPr>
          <a:xfrm>
            <a:off x="6425032"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5" name="Text 43"/>
          <p:cNvSpPr/>
          <p:nvPr/>
        </p:nvSpPr>
        <p:spPr>
          <a:xfrm>
            <a:off x="9308363"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extLst>
      <p:ext uri="{BB962C8B-B14F-4D97-AF65-F5344CB8AC3E}">
        <p14:creationId xmlns:p14="http://schemas.microsoft.com/office/powerpoint/2010/main" val="41202243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nvGraphicFramePr>
        <p:xfrm>
          <a:off x="457200" y="1764792"/>
          <a:ext cx="7680960" cy="1586992"/>
        </p:xfrm>
        <a:graphic>
          <a:graphicData uri="http://schemas.openxmlformats.org/drawingml/2006/table">
            <a:tbl>
              <a:tblPr/>
              <a:tblGrid>
                <a:gridCol w="19202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705088" y="1325880"/>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705088" y="2551176"/>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705088" y="3776472"/>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BEDROCK, OPUS SHARE</a:t>
            </a:r>
            <a:endParaRPr lang="en-US" sz="1200"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4" name="Text 21"/>
          <p:cNvSpPr/>
          <p:nvPr/>
        </p:nvSpPr>
        <p:spPr>
          <a:xfrm>
            <a:off x="8705088" y="5001768"/>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10" name="Text 23"/>
          <p:cNvSpPr/>
          <p:nvPr/>
        </p:nvSpPr>
        <p:spPr>
          <a:xfrm>
            <a:off x="8705088" y="5605272"/>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extLst>
      <p:ext uri="{BB962C8B-B14F-4D97-AF65-F5344CB8AC3E}">
        <p14:creationId xmlns:p14="http://schemas.microsoft.com/office/powerpoint/2010/main" val="36723537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3534842"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11316"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9287789"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txBody>
          <a:bodyPr/>
          <a:lstStyle/>
          <a:p>
            <a:endParaRPr lang="he-IL" dirty="0"/>
          </a:p>
        </p:txBody>
      </p:sp>
      <p:sp>
        <p:nvSpPr>
          <p:cNvPr id="24" name="Text 22"/>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7" name="Text 25"/>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txBody>
          <a:bodyPr/>
          <a:lstStyle/>
          <a:p>
            <a:endParaRPr lang="he-IL" dirty="0"/>
          </a:p>
        </p:txBody>
      </p:sp>
      <p:sp>
        <p:nvSpPr>
          <p:cNvPr id="29" name="Text 27"/>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1" name="Text 29"/>
          <p:cNvSpPr/>
          <p:nvPr/>
        </p:nvSpPr>
        <p:spPr>
          <a:xfrm>
            <a:off x="630936" y="5568696"/>
            <a:ext cx="11103559" cy="182880"/>
          </a:xfrm>
          <a:prstGeom prst="rect">
            <a:avLst/>
          </a:prstGeom>
          <a:noFill/>
          <a:ln/>
        </p:spPr>
        <p:txBody>
          <a:bodyPr wrap="square" lIns="0" tIns="0" rIns="0" bIns="0" rtlCol="0" anchor="t"/>
          <a:lstStyle/>
          <a:p>
            <a:pPr marL="0" indent="0">
              <a:lnSpc>
                <a:spcPct val="110000"/>
              </a:lnSpc>
              <a:buNone/>
            </a:pP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nvGraphicFramePr>
        <p:xfrm>
          <a:off x="457200" y="818388"/>
          <a:ext cx="10972800" cy="3969706"/>
        </p:xfrm>
        <a:graphic>
          <a:graphicData uri="http://schemas.openxmlformats.org/drawingml/2006/table">
            <a:tbl>
              <a:tblPr/>
              <a:tblGrid>
                <a:gridCol w="411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77282">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Infrastructure Division&amp;</a:t>
                      </a:r>
                    </a:p>
                    <a:p>
                      <a:pPr marL="0" indent="0" algn="l">
                        <a:buNone/>
                      </a:pPr>
                      <a:r>
                        <a:rPr lang="en-US" sz="1200" dirty="0" err="1">
                          <a:solidFill>
                            <a:srgbClr val="F4F7FB"/>
                          </a:solidFill>
                          <a:latin typeface="Calibri" pitchFamily="34" charset="0"/>
                          <a:ea typeface="Calibri" pitchFamily="34" charset="-122"/>
                          <a:cs typeface="Calibri" pitchFamily="34" charset="-120"/>
                        </a:rPr>
                        <a:t>CloudOps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Analytics Tools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Power BI For Billing Analytics</a:t>
                      </a:r>
                      <a:endParaRPr lang="en-US"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Elastic For Azure Billing Module </a:t>
                      </a:r>
                    </a:p>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TBD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8" name="Text 15"/>
          <p:cNvSpPr/>
          <p:nvPr/>
        </p:nvSpPr>
        <p:spPr>
          <a:xfrm>
            <a:off x="8328965" y="5166360"/>
            <a:ext cx="3204362" cy="237744"/>
          </a:xfrm>
          <a:prstGeom prst="rect">
            <a:avLst/>
          </a:prstGeom>
          <a:noFill/>
          <a:ln/>
        </p:spPr>
        <p:txBody>
          <a:bodyPr wrap="square" lIns="0" tIns="0" rIns="0" bIns="0" rtlCol="0" anchor="ctr"/>
          <a:lstStyle/>
          <a:p>
            <a:pPr marL="0" indent="0">
              <a:buNone/>
            </a:pP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marL="0" indent="0">
              <a:buNone/>
            </a:pP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extLst>
      <p:ext uri="{BB962C8B-B14F-4D97-AF65-F5344CB8AC3E}">
        <p14:creationId xmlns:p14="http://schemas.microsoft.com/office/powerpoint/2010/main" val="2888196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Azure buys 59% at a discount, AWS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146304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1755648"/>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10"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9" name="Text 15"/>
          <p:cNvSpPr/>
          <p:nvPr/>
        </p:nvSpPr>
        <p:spPr>
          <a:xfrm>
            <a:off x="4493666"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4493666"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8328965"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txBody>
          <a:bodyPr/>
          <a:lstStyle/>
          <a:p>
            <a:endParaRPr lang="he-IL" dirty="0"/>
          </a:p>
        </p:txBody>
      </p:sp>
      <p:sp>
        <p:nvSpPr>
          <p:cNvPr id="20" name="Text 18"/>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3" name="Text 21"/>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5" name="Text 23"/>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3511296"/>
        </p:xfrm>
        <a:graphic>
          <a:graphicData uri="http://schemas.openxmlformats.org/drawingml/2006/table">
            <a:tbl>
              <a:tblPr/>
              <a:tblGrid>
                <a:gridCol w="38404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9"/>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11"/>
                  </a:ext>
                </a:extLst>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6327648" y="1325880"/>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6327648" y="2551176"/>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9"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6327648" y="3776472"/>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23" name="Text 20"/>
          <p:cNvSpPr/>
          <p:nvPr/>
        </p:nvSpPr>
        <p:spPr>
          <a:xfrm>
            <a:off x="6327648" y="5001768"/>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601292036"/>
              </p:ext>
            </p:extLst>
          </p:nvPr>
        </p:nvGraphicFramePr>
        <p:xfrm>
          <a:off x="457200" y="1764792"/>
          <a:ext cx="4526280" cy="2633472"/>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2004530639"/>
              </p:ext>
            </p:extLst>
          </p:nvPr>
        </p:nvGraphicFramePr>
        <p:xfrm>
          <a:off x="5349240" y="1764792"/>
          <a:ext cx="4526280" cy="877824"/>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0" name="Text 15"/>
          <p:cNvSpPr/>
          <p:nvPr/>
        </p:nvSpPr>
        <p:spPr>
          <a:xfrm>
            <a:off x="4493666"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0" y="2514600"/>
            <a:ext cx="12191695" cy="1828800"/>
          </a:xfrm>
          <a:prstGeom prst="rect">
            <a:avLst/>
          </a:prstGeom>
          <a:noFill/>
          <a:ln/>
        </p:spPr>
        <p:txBody>
          <a:bodyPr wrap="square" lIns="0" tIns="0" rIns="0" bIns="0" rtlCol="0" anchor="ctr"/>
          <a:lstStyle/>
          <a:p>
            <a:pPr marL="0" indent="0" algn="ctr">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1495</TotalTime>
  <Words>5685</Words>
  <Application>Microsoft Office PowerPoint</Application>
  <PresentationFormat>מסך רחב</PresentationFormat>
  <Paragraphs>905</Paragraphs>
  <Slides>38</Slides>
  <Notes>38</Notes>
  <HiddenSlides>1</HiddenSlides>
  <MMClips>0</MMClips>
  <ScaleCrop>false</ScaleCrop>
  <HeadingPairs>
    <vt:vector size="6" baseType="variant">
      <vt:variant>
        <vt:lpstr>גופנים בשימוש</vt:lpstr>
      </vt:variant>
      <vt:variant>
        <vt:i4>4</vt:i4>
      </vt:variant>
      <vt:variant>
        <vt:lpstr>ערכת נושא</vt:lpstr>
      </vt:variant>
      <vt:variant>
        <vt:i4>1</vt:i4>
      </vt:variant>
      <vt:variant>
        <vt:lpstr>כותרות שקופיות</vt:lpstr>
      </vt:variant>
      <vt:variant>
        <vt:i4>38</vt:i4>
      </vt:variant>
    </vt:vector>
  </HeadingPairs>
  <TitlesOfParts>
    <vt:vector size="43" baseType="lpstr">
      <vt:lpstr>Aptos</vt:lpstr>
      <vt:lpstr>Arial</vt:lpstr>
      <vt:lpstr>Calibri</vt:lpstr>
      <vt:lpstr>Cambria</vt:lpstr>
      <vt:lpstr>Office Theme</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אריאל גזית</cp:lastModifiedBy>
  <cp:revision>23</cp:revision>
  <dcterms:created xsi:type="dcterms:W3CDTF">2026-08-17T09:02:17Z</dcterms:created>
  <dcterms:modified xsi:type="dcterms:W3CDTF">2026-08-18T15:19:28Z</dcterms:modified>
</cp:coreProperties>
</file>