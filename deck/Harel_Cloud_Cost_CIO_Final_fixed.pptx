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9.xml" ContentType="application/vnd.openxmlformats-officedocument.presentationml.notesSlide+xml"/>
  <Override PartName="/ppt/charts/chart5.xml" ContentType="application/vnd.openxmlformats-officedocument.drawingml.chart+xml"/>
  <Override PartName="/ppt/notesSlides/notesSlide10.xml" ContentType="application/vnd.openxmlformats-officedocument.presentationml.notesSlide+xml"/>
  <Override PartName="/ppt/charts/chart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7.xml" ContentType="application/vnd.openxmlformats-officedocument.drawingml.chart+xml"/>
  <Override PartName="/ppt/notesSlides/notesSlide13.xml" ContentType="application/vnd.openxmlformats-officedocument.presentationml.notesSlide+xml"/>
  <Override PartName="/ppt/charts/chart8.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9.xml" ContentType="application/vnd.openxmlformats-officedocument.drawingml.chart+xml"/>
  <Override PartName="/ppt/notesSlides/notesSlide32.xml" ContentType="application/vnd.openxmlformats-officedocument.presentationml.notesSlide+xml"/>
  <Override PartName="/ppt/charts/chart10.xml" ContentType="application/vnd.openxmlformats-officedocument.drawingml.chart+xml"/>
  <Override PartName="/ppt/notesSlides/notesSlide33.xml" ContentType="application/vnd.openxmlformats-officedocument.presentationml.notesSlide+xml"/>
  <Override PartName="/ppt/charts/chart11.xml" ContentType="application/vnd.openxmlformats-officedocument.drawingml.chart+xml"/>
  <Override PartName="/ppt/notesSlides/notesSlide34.xml" ContentType="application/vnd.openxmlformats-officedocument.presentationml.notesSlide+xml"/>
  <Override PartName="/ppt/charts/chart12.xml" ContentType="application/vnd.openxmlformats-officedocument.drawingml.chart+xml"/>
  <Override PartName="/ppt/notesSlides/notesSlide35.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notesSlides/notesSlide36.xml" ContentType="application/vnd.openxmlformats-officedocument.presentationml.notesSlide+xml"/>
  <Override PartName="/ppt/charts/chart15.xml" ContentType="application/vnd.openxmlformats-officedocument.drawingml.chart+xml"/>
  <Override PartName="/ppt/charts/chart16.xml" ContentType="application/vnd.openxmlformats-officedocument.drawingml.chart+xml"/>
  <Override PartName="/ppt/notesSlides/notesSlide37.xml" ContentType="application/vnd.openxmlformats-officedocument.presentationml.notesSlide+xml"/>
  <Override PartName="/ppt/charts/chart17.xml" ContentType="application/vnd.openxmlformats-officedocument.drawingml.chart+xml"/>
  <Override PartName="/ppt/charts/chart18.xml" ContentType="application/vnd.openxmlformats-officedocument.drawingml.chart+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charts/chart19.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9" r:id="rId4"/>
    <p:sldId id="260" r:id="rId5"/>
    <p:sldId id="296" r:id="rId6"/>
    <p:sldId id="297" r:id="rId7"/>
    <p:sldId id="290" r:id="rId8"/>
    <p:sldId id="291" r:id="rId9"/>
    <p:sldId id="292" r:id="rId10"/>
    <p:sldId id="293" r:id="rId11"/>
    <p:sldId id="264" r:id="rId12"/>
    <p:sldId id="266" r:id="rId13"/>
    <p:sldId id="265" r:id="rId14"/>
    <p:sldId id="274" r:id="rId15"/>
    <p:sldId id="298" r:id="rId16"/>
    <p:sldId id="276" r:id="rId17"/>
    <p:sldId id="275" r:id="rId18"/>
    <p:sldId id="277" r:id="rId19"/>
    <p:sldId id="278" r:id="rId20"/>
    <p:sldId id="279" r:id="rId21"/>
    <p:sldId id="280" r:id="rId22"/>
    <p:sldId id="267" r:id="rId23"/>
    <p:sldId id="269" r:id="rId24"/>
    <p:sldId id="281" r:id="rId25"/>
    <p:sldId id="268" r:id="rId26"/>
    <p:sldId id="270" r:id="rId27"/>
    <p:sldId id="271" r:id="rId28"/>
    <p:sldId id="272" r:id="rId29"/>
    <p:sldId id="273" r:id="rId30"/>
    <p:sldId id="282" r:id="rId31"/>
    <p:sldId id="283" r:id="rId32"/>
    <p:sldId id="284" r:id="rId33"/>
    <p:sldId id="285" r:id="rId34"/>
    <p:sldId id="286" r:id="rId35"/>
    <p:sldId id="287" r:id="rId36"/>
    <p:sldId id="288" r:id="rId37"/>
    <p:sldId id="289"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varScale="1">
        <p:scale>
          <a:sx n="114" d="100"/>
          <a:sy n="114" d="100"/>
        </p:scale>
        <p:origin x="156"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add setBg">
        <pc:chgData name="אריאל גזית" userId="ab0a39ea-8878-4fcc-a857-5afbe9cb9050" providerId="ADAL" clId="{8AF1E48A-3E39-4A45-9543-E35A5CD44E8F}" dt="2026-08-18T12:01:17.163" v="45"/>
        <pc:sldMkLst>
          <pc:docMk/>
          <pc:sldMk cId="4164748938" sldId="274"/>
        </pc:sldMkLst>
      </pc:sldChg>
      <pc:sldChg chg="add setBg">
        <pc:chgData name="אריאל גזית" userId="ab0a39ea-8878-4fcc-a857-5afbe9cb9050" providerId="ADAL" clId="{8AF1E48A-3E39-4A45-9543-E35A5CD44E8F}" dt="2026-08-18T12:01:17.163" v="45"/>
        <pc:sldMkLst>
          <pc:docMk/>
          <pc:sldMk cId="3730409472" sldId="276"/>
        </pc:sldMkLst>
      </pc:sldChg>
      <pc:sldChg chg="add setBg">
        <pc:chgData name="אריאל גזית" userId="ab0a39ea-8878-4fcc-a857-5afbe9cb9050" providerId="ADAL" clId="{8AF1E48A-3E39-4A45-9543-E35A5CD44E8F}" dt="2026-08-18T12:01:17.163" v="45"/>
        <pc:sldMkLst>
          <pc:docMk/>
          <pc:sldMk cId="638208443" sldId="277"/>
        </pc:sldMkLst>
      </pc:sldChg>
      <pc:sldChg chg="add setBg">
        <pc:chgData name="אריאל גזית" userId="ab0a39ea-8878-4fcc-a857-5afbe9cb9050" providerId="ADAL" clId="{8AF1E48A-3E39-4A45-9543-E35A5CD44E8F}" dt="2026-08-18T12:01:17.163" v="45"/>
        <pc:sldMkLst>
          <pc:docMk/>
          <pc:sldMk cId="1326744587" sldId="278"/>
        </pc:sldMkLst>
      </pc:sldChg>
      <pc:sldChg chg="add setBg">
        <pc:chgData name="אריאל גזית" userId="ab0a39ea-8878-4fcc-a857-5afbe9cb9050" providerId="ADAL" clId="{8AF1E48A-3E39-4A45-9543-E35A5CD44E8F}" dt="2026-08-18T12:01:17.163" v="45"/>
        <pc:sldMkLst>
          <pc:docMk/>
          <pc:sldMk cId="4120224329" sldId="279"/>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Application Gateway</c:v>
                  </c:pt>
                  <c:pt idx="1">
                    <c:v>Storage</c:v>
                  </c:pt>
                  <c:pt idx="2">
                    <c:v>SQL Database</c:v>
                  </c:pt>
                  <c:pt idx="3">
                    <c:v>Virtual Network</c:v>
                  </c:pt>
                  <c:pt idx="4">
                    <c:v>Microsoft Defender for Cloud</c:v>
                  </c:pt>
                  <c:pt idx="5">
                    <c:v>Azure Database for PostgreSQL</c:v>
                  </c:pt>
                  <c:pt idx="6">
                    <c:v>14 smaller services</c:v>
                  </c:pt>
                  <c:pt idx="7">
                    <c:v>Virtual Machines</c:v>
                  </c:pt>
                  <c:pt idx="8">
                    <c:v>API Management</c:v>
                  </c:pt>
                </c:lvl>
              </c:multiLvlStrCache>
            </c:multiLvlStrRef>
          </c:cat>
          <c:val>
            <c:numRef>
              <c:f>Sheet1!$B$2:$B$10</c:f>
              <c:numCache>
                <c:formatCode>General</c:formatCode>
                <c:ptCount val="9"/>
                <c:pt idx="0">
                  <c:v>2136.51</c:v>
                </c:pt>
                <c:pt idx="1">
                  <c:v>2240.92</c:v>
                </c:pt>
                <c:pt idx="2">
                  <c:v>2415.87</c:v>
                </c:pt>
                <c:pt idx="3">
                  <c:v>3450.26</c:v>
                </c:pt>
                <c:pt idx="4">
                  <c:v>4141.06</c:v>
                </c:pt>
                <c:pt idx="5">
                  <c:v>5331.429999999999</c:v>
                </c:pt>
                <c:pt idx="6">
                  <c:v>10176.409999999998</c:v>
                </c:pt>
                <c:pt idx="7">
                  <c:v>23493.350000000006</c:v>
                </c:pt>
                <c:pt idx="8">
                  <c:v>23663.35</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cut of the slide that follows. Same basis, same total:
  $199,531 of billed AI, January to July 2026.
  Azure AI Foundry             $87,158  43.7%  +240% Jan to Jul
  GitHub Copilot               $57,177  28.7%  +593% Jan to Jul
  AWS Bedrock (Claude)         $42,056  21.1%  First billed in Mar
  Cowork                        $9,444  4.7%  $97 to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same footing as the rest of
the deck, and that credit has its own slide too.
IF ASKED WHY THIS DIFFERS FROM THE v33 VERSION: v33 showed the May-July
invoiced window. This is the full seven months, on the deck's one basis.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NUMBER OFF THIS SLIDE: $77,049 of the $165,588
AI Factory programme is infrastructure, not AI models. That is 46.5%.
THE TWO BIG LINES
  API Management          $23,663
  Virtual Machines        $23,493
Between them, 61.2% of all the infrastructure in the programme.
WHAT IS EXCLUDED: Foundry Models, Foundry Tools, Azure Cognitive Search, and every
Document Intelligence page meter. Those are on the AI platform slides, not here.
WHERE THIS GOES: this is the half of the AI bill that right-sizing and reservations
can move. The next slide shows how unevenly it falls across the four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projects as the infrastructure slide, now compared to each other
rather than added together.
  AI Factory                $92,247   infra 66%   $854 to $23,610
  Solugen                   $31,631   infra 20%   +846% Jan to Jul
  Document Intelligence     $30,970   infra 0%   +72% Jan to Jul
  INSAIT                    $10,740   infra 90%   +86% Jan to Jul
THE RANGE IS THE POINT: from 0% to 90% infrastructure, inside the same programme.
Document Intelligence is a hosted OCR API, there is nothing under it to build.
INSAIT is a research workload running on its own containers and
gateway, so nearly all of it is platform.
AI Factory sits in the middle because it is the shared platform everyone
else's model traffic runs through, that gateway is the largest single
infrastructure line in the whole programme. See the previous slide.
IF ASKED FOR THE MONTH-BY-MONTH VIEW: it is in the appendix, on the
operational review's own copy of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argument. Five consumer groups, six platforms, nothing in
the middle. Thirty direct paths, no single place that can see the spend,
refuse a request, or attribute a bill.
Databricks is on the list because it is bought the same way as the rest, and
it is the largest single commitment of the year. It bills at $0 today because
it draws down the April pre-purchase, which is exactly why nobody is watching
it. See the Databricks slide.
This slide sets up the gateway slide. Do not 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chart" Target="../charts/chart1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chart" Target="../charts/chart14.xml"/></Relationships>
</file>

<file path=ppt/slides/_rels/slide3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6.xml"/></Relationships>
</file>

<file path=ppt/slides/_rels/slide3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ALL PROVIDERS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Spend by AI platform</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all three clouds, January to July.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bought separately by different teams, on three clouds and two enrolments. Every one of them grew, and the two that did not exist in January are already 22% of the July bill. $199,531 over the seven months.</a:t>
            </a:r>
            <a:endParaRPr lang="en-US" sz="1200" dirty="0"/>
          </a:p>
        </p:txBody>
      </p:sp>
      <p:sp>
        <p:nvSpPr>
          <p:cNvPr id="8" name="Shape 6"/>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p:cNvSpPr/>
          <p:nvPr/>
        </p:nvSpPr>
        <p:spPr>
          <a:xfrm>
            <a:off x="640080"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AZURE AI FOUNDRY</a:t>
            </a:r>
            <a:endParaRPr lang="en-US" sz="1200" dirty="0"/>
          </a:p>
        </p:txBody>
      </p:sp>
      <p:sp>
        <p:nvSpPr>
          <p:cNvPr id="16" name="Text 14"/>
          <p:cNvSpPr/>
          <p:nvPr/>
        </p:nvSpPr>
        <p:spPr>
          <a:xfrm>
            <a:off x="640080"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$87,158</a:t>
            </a:r>
            <a:endParaRPr lang="en-US" sz="2800" dirty="0"/>
          </a:p>
        </p:txBody>
      </p:sp>
      <p:sp>
        <p:nvSpPr>
          <p:cNvPr id="17" name="Text 15"/>
          <p:cNvSpPr/>
          <p:nvPr/>
        </p:nvSpPr>
        <p:spPr>
          <a:xfrm>
            <a:off x="640080" y="2734056"/>
            <a:ext cx="1728765" cy="237744"/>
          </a:xfrm>
          <a:prstGeom prst="rect">
            <a:avLst/>
          </a:prstGeom>
          <a:noFill/>
          <a:ln/>
        </p:spPr>
        <p:txBody>
          <a:bodyPr wrap="square" lIns="0" tIns="0" rIns="0" bIns="0" rtlCol="0" anchor="ctr"/>
          <a:lstStyle/>
          <a:p>
            <a:pPr marL="0" indent="0">
              <a:buNone/>
            </a:pPr>
            <a:r>
              <a:rPr lang="en-US" sz="1200" b="1" dirty="0">
                <a:solidFill>
                  <a:srgbClr val="2F8CFF"/>
                </a:solidFill>
                <a:latin typeface="Calibri" pitchFamily="34" charset="0"/>
                <a:ea typeface="Calibri" pitchFamily="34" charset="-122"/>
                <a:cs typeface="Calibri" pitchFamily="34" charset="-120"/>
              </a:rPr>
              <a:t>43.7% of billed AI</a:t>
            </a:r>
            <a:endParaRPr lang="en-US" sz="1200" dirty="0"/>
          </a:p>
        </p:txBody>
      </p:sp>
      <p:sp>
        <p:nvSpPr>
          <p:cNvPr id="18" name="Shape 16"/>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p:cNvSpPr/>
          <p:nvPr/>
        </p:nvSpPr>
        <p:spPr>
          <a:xfrm>
            <a:off x="640080"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20" name="Text 18"/>
          <p:cNvSpPr/>
          <p:nvPr/>
        </p:nvSpPr>
        <p:spPr>
          <a:xfrm>
            <a:off x="1504462"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$5,764</a:t>
            </a:r>
            <a:endParaRPr lang="en-US" sz="1300" dirty="0"/>
          </a:p>
        </p:txBody>
      </p:sp>
      <p:sp>
        <p:nvSpPr>
          <p:cNvPr id="21" name="Text 19"/>
          <p:cNvSpPr/>
          <p:nvPr/>
        </p:nvSpPr>
        <p:spPr>
          <a:xfrm>
            <a:off x="640080"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22" name="Text 20"/>
          <p:cNvSpPr/>
          <p:nvPr/>
        </p:nvSpPr>
        <p:spPr>
          <a:xfrm>
            <a:off x="1504462"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$19,613</a:t>
            </a:r>
            <a:endParaRPr lang="en-US" sz="1300" dirty="0"/>
          </a:p>
        </p:txBody>
      </p:sp>
      <p:sp>
        <p:nvSpPr>
          <p:cNvPr id="23" name="Shape 2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p:cNvSpPr/>
          <p:nvPr/>
        </p:nvSpPr>
        <p:spPr>
          <a:xfrm>
            <a:off x="640080" y="4069080"/>
            <a:ext cx="1728765" cy="329184"/>
          </a:xfrm>
          <a:prstGeom prst="rect">
            <a:avLst/>
          </a:prstGeom>
          <a:noFill/>
          <a:ln/>
        </p:spPr>
        <p:txBody>
          <a:bodyPr wrap="square" lIns="0" tIns="0" rIns="0" bIns="0" rtlCol="0" anchor="ctr"/>
          <a:lstStyle/>
          <a:p>
            <a:pPr marL="0" indent="0" algn="ctr">
              <a:buNone/>
            </a:pPr>
            <a:r>
              <a:rPr lang="en-US" sz="1200" b="1" dirty="0">
                <a:solidFill>
                  <a:srgbClr val="2F8CFF"/>
                </a:solidFill>
                <a:latin typeface="Calibri" pitchFamily="34" charset="0"/>
                <a:ea typeface="Calibri" pitchFamily="34" charset="-122"/>
                <a:cs typeface="Calibri" pitchFamily="34" charset="-120"/>
              </a:rPr>
              <a:t>+240% Jan to Jul</a:t>
            </a:r>
            <a:endParaRPr lang="en-US" sz="1200" dirty="0"/>
          </a:p>
        </p:txBody>
      </p:sp>
      <p:sp>
        <p:nvSpPr>
          <p:cNvPr id="25" name="Text 23"/>
          <p:cNvSpPr/>
          <p:nvPr/>
        </p:nvSpPr>
        <p:spPr>
          <a:xfrm>
            <a:off x="640080"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200" dirty="0"/>
          </a:p>
        </p:txBody>
      </p:sp>
      <p:sp>
        <p:nvSpPr>
          <p:cNvPr id="26" name="Shape 24"/>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p:cNvSpPr/>
          <p:nvPr/>
        </p:nvSpPr>
        <p:spPr>
          <a:xfrm>
            <a:off x="2935773"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GITHUB COPILOT</a:t>
            </a:r>
            <a:endParaRPr lang="en-US" sz="1200" dirty="0"/>
          </a:p>
        </p:txBody>
      </p:sp>
      <p:sp>
        <p:nvSpPr>
          <p:cNvPr id="29" name="Text 27"/>
          <p:cNvSpPr/>
          <p:nvPr/>
        </p:nvSpPr>
        <p:spPr>
          <a:xfrm>
            <a:off x="2935773"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30" name="Text 28"/>
          <p:cNvSpPr/>
          <p:nvPr/>
        </p:nvSpPr>
        <p:spPr>
          <a:xfrm>
            <a:off x="2935773" y="2734056"/>
            <a:ext cx="1728765" cy="237744"/>
          </a:xfrm>
          <a:prstGeom prst="rect">
            <a:avLst/>
          </a:prstGeom>
          <a:noFill/>
          <a:ln/>
        </p:spPr>
        <p:txBody>
          <a:bodyPr wrap="square" lIns="0" tIns="0" rIns="0" bIns="0" rtlCol="0" anchor="ctr"/>
          <a:lstStyle/>
          <a:p>
            <a:pPr marL="0" indent="0">
              <a:buNone/>
            </a:pPr>
            <a:r>
              <a:rPr lang="en-US" sz="1200" b="1" dirty="0">
                <a:solidFill>
                  <a:srgbClr val="3DD9EB"/>
                </a:solidFill>
                <a:latin typeface="Calibri" pitchFamily="34" charset="0"/>
                <a:ea typeface="Calibri" pitchFamily="34" charset="-122"/>
                <a:cs typeface="Calibri" pitchFamily="34" charset="-120"/>
              </a:rPr>
              <a:t>28.7% of billed AI</a:t>
            </a:r>
            <a:endParaRPr lang="en-US" sz="1200" dirty="0"/>
          </a:p>
        </p:txBody>
      </p:sp>
      <p:sp>
        <p:nvSpPr>
          <p:cNvPr id="31" name="Shape 29"/>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p:cNvSpPr/>
          <p:nvPr/>
        </p:nvSpPr>
        <p:spPr>
          <a:xfrm>
            <a:off x="2935773"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33" name="Text 31"/>
          <p:cNvSpPr/>
          <p:nvPr/>
        </p:nvSpPr>
        <p:spPr>
          <a:xfrm>
            <a:off x="3800155"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$2,779</a:t>
            </a:r>
            <a:endParaRPr lang="en-US" sz="1300" dirty="0"/>
          </a:p>
        </p:txBody>
      </p:sp>
      <p:sp>
        <p:nvSpPr>
          <p:cNvPr id="34" name="Text 32"/>
          <p:cNvSpPr/>
          <p:nvPr/>
        </p:nvSpPr>
        <p:spPr>
          <a:xfrm>
            <a:off x="2935773"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35" name="Text 33"/>
          <p:cNvSpPr/>
          <p:nvPr/>
        </p:nvSpPr>
        <p:spPr>
          <a:xfrm>
            <a:off x="3800155"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$19,260</a:t>
            </a:r>
            <a:endParaRPr lang="en-US" sz="1300" dirty="0"/>
          </a:p>
        </p:txBody>
      </p:sp>
      <p:sp>
        <p:nvSpPr>
          <p:cNvPr id="36" name="Shape 34"/>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p:cNvSpPr/>
          <p:nvPr/>
        </p:nvSpPr>
        <p:spPr>
          <a:xfrm>
            <a:off x="2935773" y="4069080"/>
            <a:ext cx="1728765" cy="329184"/>
          </a:xfrm>
          <a:prstGeom prst="rect">
            <a:avLst/>
          </a:prstGeom>
          <a:noFill/>
          <a:ln/>
        </p:spPr>
        <p:txBody>
          <a:bodyPr wrap="square" lIns="0" tIns="0" rIns="0" bIns="0" rtlCol="0" anchor="ctr"/>
          <a:lstStyle/>
          <a:p>
            <a:pPr marL="0" indent="0" algn="ctr">
              <a:buNone/>
            </a:pPr>
            <a:r>
              <a:rPr lang="en-US" sz="1200" b="1" dirty="0">
                <a:solidFill>
                  <a:srgbClr val="3DD9EB"/>
                </a:solidFill>
                <a:latin typeface="Calibri" pitchFamily="34" charset="0"/>
                <a:ea typeface="Calibri" pitchFamily="34" charset="-122"/>
                <a:cs typeface="Calibri" pitchFamily="34" charset="-120"/>
              </a:rPr>
              <a:t>+593% Jan to Jul</a:t>
            </a:r>
            <a:endParaRPr lang="en-US" sz="1200" dirty="0"/>
          </a:p>
        </p:txBody>
      </p:sp>
      <p:sp>
        <p:nvSpPr>
          <p:cNvPr id="38" name="Text 36"/>
          <p:cNvSpPr/>
          <p:nvPr/>
        </p:nvSpPr>
        <p:spPr>
          <a:xfrm>
            <a:off x="2935773"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Developer seats plus AI credit overage. Billed in full.</a:t>
            </a:r>
            <a:endParaRPr lang="en-US" sz="1200" dirty="0"/>
          </a:p>
        </p:txBody>
      </p:sp>
      <p:sp>
        <p:nvSpPr>
          <p:cNvPr id="39" name="Shape 37"/>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p:cNvSpPr/>
          <p:nvPr/>
        </p:nvSpPr>
        <p:spPr>
          <a:xfrm>
            <a:off x="5231465"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AWS BEDROCK (CLAUDE)</a:t>
            </a:r>
            <a:endParaRPr lang="en-US" sz="1200" dirty="0"/>
          </a:p>
        </p:txBody>
      </p:sp>
      <p:sp>
        <p:nvSpPr>
          <p:cNvPr id="42" name="Text 40"/>
          <p:cNvSpPr/>
          <p:nvPr/>
        </p:nvSpPr>
        <p:spPr>
          <a:xfrm>
            <a:off x="5231465"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$42,056</a:t>
            </a:r>
            <a:endParaRPr lang="en-US" sz="2800" dirty="0"/>
          </a:p>
        </p:txBody>
      </p:sp>
      <p:sp>
        <p:nvSpPr>
          <p:cNvPr id="43" name="Text 41"/>
          <p:cNvSpPr/>
          <p:nvPr/>
        </p:nvSpPr>
        <p:spPr>
          <a:xfrm>
            <a:off x="5231465" y="2734056"/>
            <a:ext cx="1728765" cy="237744"/>
          </a:xfrm>
          <a:prstGeom prst="rect">
            <a:avLst/>
          </a:prstGeom>
          <a:noFill/>
          <a:ln/>
        </p:spPr>
        <p:txBody>
          <a:bodyPr wrap="square" lIns="0" tIns="0" rIns="0" bIns="0" rtlCol="0" anchor="ctr"/>
          <a:lstStyle/>
          <a:p>
            <a:pPr marL="0" indent="0">
              <a:buNone/>
            </a:pPr>
            <a:r>
              <a:rPr lang="en-US" sz="1200" b="1" dirty="0">
                <a:solidFill>
                  <a:srgbClr val="FF9F43"/>
                </a:solidFill>
                <a:latin typeface="Calibri" pitchFamily="34" charset="0"/>
                <a:ea typeface="Calibri" pitchFamily="34" charset="-122"/>
                <a:cs typeface="Calibri" pitchFamily="34" charset="-120"/>
              </a:rPr>
              <a:t>21.1% of billed AI</a:t>
            </a:r>
            <a:endParaRPr lang="en-US" sz="1200" dirty="0"/>
          </a:p>
        </p:txBody>
      </p:sp>
      <p:sp>
        <p:nvSpPr>
          <p:cNvPr id="44" name="Shape 42"/>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p:cNvSpPr/>
          <p:nvPr/>
        </p:nvSpPr>
        <p:spPr>
          <a:xfrm>
            <a:off x="5231465"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46" name="Text 44"/>
          <p:cNvSpPr/>
          <p:nvPr/>
        </p:nvSpPr>
        <p:spPr>
          <a:xfrm>
            <a:off x="6095848"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5231465"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48" name="Text 46"/>
          <p:cNvSpPr/>
          <p:nvPr/>
        </p:nvSpPr>
        <p:spPr>
          <a:xfrm>
            <a:off x="6095848"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$25,288</a:t>
            </a:r>
            <a:endParaRPr lang="en-US" sz="1300" dirty="0"/>
          </a:p>
        </p:txBody>
      </p:sp>
      <p:sp>
        <p:nvSpPr>
          <p:cNvPr id="49" name="Shape 47"/>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p:cNvSpPr/>
          <p:nvPr/>
        </p:nvSpPr>
        <p:spPr>
          <a:xfrm>
            <a:off x="5231465" y="4069080"/>
            <a:ext cx="1728765" cy="329184"/>
          </a:xfrm>
          <a:prstGeom prst="rect">
            <a:avLst/>
          </a:prstGeom>
          <a:noFill/>
          <a:ln/>
        </p:spPr>
        <p:txBody>
          <a:bodyPr wrap="square" lIns="0" tIns="0" rIns="0" bIns="0" rtlCol="0" anchor="ctr"/>
          <a:lstStyle/>
          <a:p>
            <a:pPr marL="0" indent="0" algn="ctr">
              <a:buNone/>
            </a:pPr>
            <a:r>
              <a:rPr lang="en-US" sz="1200" b="1" dirty="0">
                <a:solidFill>
                  <a:srgbClr val="FF9F43"/>
                </a:solidFill>
                <a:latin typeface="Calibri" pitchFamily="34" charset="0"/>
                <a:ea typeface="Calibri" pitchFamily="34" charset="-122"/>
                <a:cs typeface="Calibri" pitchFamily="34" charset="-120"/>
              </a:rPr>
              <a:t>First billed in Mar</a:t>
            </a:r>
            <a:endParaRPr lang="en-US" sz="1200" dirty="0"/>
          </a:p>
        </p:txBody>
      </p:sp>
      <p:sp>
        <p:nvSpPr>
          <p:cNvPr id="51" name="Text 49"/>
          <p:cNvSpPr/>
          <p:nvPr/>
        </p:nvSpPr>
        <p:spPr>
          <a:xfrm>
            <a:off x="5231465"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Claude models via Claude Code. July gross of the MAP credit.</a:t>
            </a:r>
            <a:endParaRPr lang="en-US" sz="1200" dirty="0"/>
          </a:p>
        </p:txBody>
      </p:sp>
      <p:sp>
        <p:nvSpPr>
          <p:cNvPr id="52" name="Shape 50"/>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p:cNvSpPr/>
          <p:nvPr/>
        </p:nvSpPr>
        <p:spPr>
          <a:xfrm>
            <a:off x="7527158"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COWORK</a:t>
            </a:r>
            <a:endParaRPr lang="en-US" sz="1200" dirty="0"/>
          </a:p>
        </p:txBody>
      </p:sp>
      <p:sp>
        <p:nvSpPr>
          <p:cNvPr id="55" name="Text 53"/>
          <p:cNvSpPr/>
          <p:nvPr/>
        </p:nvSpPr>
        <p:spPr>
          <a:xfrm>
            <a:off x="7527158"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$9,444</a:t>
            </a:r>
            <a:endParaRPr lang="en-US" sz="2800" dirty="0"/>
          </a:p>
        </p:txBody>
      </p:sp>
      <p:sp>
        <p:nvSpPr>
          <p:cNvPr id="56" name="Text 54"/>
          <p:cNvSpPr/>
          <p:nvPr/>
        </p:nvSpPr>
        <p:spPr>
          <a:xfrm>
            <a:off x="7527158" y="2734056"/>
            <a:ext cx="1728765" cy="237744"/>
          </a:xfrm>
          <a:prstGeom prst="rect">
            <a:avLst/>
          </a:prstGeom>
          <a:noFill/>
          <a:ln/>
        </p:spPr>
        <p:txBody>
          <a:bodyPr wrap="square" lIns="0" tIns="0" rIns="0" bIns="0" rtlCol="0" anchor="ctr"/>
          <a:lstStyle/>
          <a:p>
            <a:pPr marL="0" indent="0">
              <a:buNone/>
            </a:pPr>
            <a:r>
              <a:rPr lang="en-US" sz="1200" b="1" dirty="0">
                <a:solidFill>
                  <a:srgbClr val="B07CFF"/>
                </a:solidFill>
                <a:latin typeface="Calibri" pitchFamily="34" charset="0"/>
                <a:ea typeface="Calibri" pitchFamily="34" charset="-122"/>
                <a:cs typeface="Calibri" pitchFamily="34" charset="-120"/>
              </a:rPr>
              <a:t>4.7% of billed AI</a:t>
            </a:r>
            <a:endParaRPr lang="en-US" sz="1200" dirty="0"/>
          </a:p>
        </p:txBody>
      </p:sp>
      <p:sp>
        <p:nvSpPr>
          <p:cNvPr id="57" name="Shape 55"/>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p:cNvSpPr/>
          <p:nvPr/>
        </p:nvSpPr>
        <p:spPr>
          <a:xfrm>
            <a:off x="7527158"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59" name="Text 57"/>
          <p:cNvSpPr/>
          <p:nvPr/>
        </p:nvSpPr>
        <p:spPr>
          <a:xfrm>
            <a:off x="8391540"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$97</a:t>
            </a:r>
            <a:endParaRPr lang="en-US" sz="1300" dirty="0"/>
          </a:p>
        </p:txBody>
      </p:sp>
      <p:sp>
        <p:nvSpPr>
          <p:cNvPr id="60" name="Text 58"/>
          <p:cNvSpPr/>
          <p:nvPr/>
        </p:nvSpPr>
        <p:spPr>
          <a:xfrm>
            <a:off x="7527158"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61" name="Text 59"/>
          <p:cNvSpPr/>
          <p:nvPr/>
        </p:nvSpPr>
        <p:spPr>
          <a:xfrm>
            <a:off x="8391540"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$8,920</a:t>
            </a:r>
            <a:endParaRPr lang="en-US" sz="1300" dirty="0"/>
          </a:p>
        </p:txBody>
      </p:sp>
      <p:sp>
        <p:nvSpPr>
          <p:cNvPr id="62" name="Shape 60"/>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p:cNvSpPr/>
          <p:nvPr/>
        </p:nvSpPr>
        <p:spPr>
          <a:xfrm>
            <a:off x="7527158" y="4069080"/>
            <a:ext cx="1728765" cy="329184"/>
          </a:xfrm>
          <a:prstGeom prst="rect">
            <a:avLst/>
          </a:prstGeom>
          <a:noFill/>
          <a:ln/>
        </p:spPr>
        <p:txBody>
          <a:bodyPr wrap="square" lIns="0" tIns="0" rIns="0" bIns="0" rtlCol="0" anchor="ctr"/>
          <a:lstStyle/>
          <a:p>
            <a:pPr marL="0" indent="0" algn="ctr">
              <a:buNone/>
            </a:pPr>
            <a:r>
              <a:rPr lang="en-US" sz="1200" b="1" dirty="0">
                <a:solidFill>
                  <a:srgbClr val="B07CFF"/>
                </a:solidFill>
                <a:latin typeface="Calibri" pitchFamily="34" charset="0"/>
                <a:ea typeface="Calibri" pitchFamily="34" charset="-122"/>
                <a:cs typeface="Calibri" pitchFamily="34" charset="-120"/>
              </a:rPr>
              <a:t>$97 to $8,920</a:t>
            </a:r>
            <a:endParaRPr lang="en-US" sz="1200" dirty="0"/>
          </a:p>
        </p:txBody>
      </p:sp>
      <p:sp>
        <p:nvSpPr>
          <p:cNvPr id="64" name="Text 62"/>
          <p:cNvSpPr/>
          <p:nvPr/>
        </p:nvSpPr>
        <p:spPr>
          <a:xfrm>
            <a:off x="7527158"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Pay-as-you-go agent credits, billed through Power Platform.</a:t>
            </a:r>
            <a:endParaRPr lang="en-US" sz="1200" dirty="0"/>
          </a:p>
        </p:txBody>
      </p:sp>
      <p:sp>
        <p:nvSpPr>
          <p:cNvPr id="65" name="Shape 63"/>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p:cNvSpPr/>
          <p:nvPr/>
        </p:nvSpPr>
        <p:spPr>
          <a:xfrm>
            <a:off x="9822851"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GOOGLE VERTEX AI</a:t>
            </a:r>
            <a:endParaRPr lang="en-US" sz="1200" dirty="0"/>
          </a:p>
        </p:txBody>
      </p:sp>
      <p:sp>
        <p:nvSpPr>
          <p:cNvPr id="68" name="Text 66"/>
          <p:cNvSpPr/>
          <p:nvPr/>
        </p:nvSpPr>
        <p:spPr>
          <a:xfrm>
            <a:off x="9822851"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$3,696</a:t>
            </a:r>
            <a:endParaRPr lang="en-US" sz="2800" dirty="0"/>
          </a:p>
        </p:txBody>
      </p:sp>
      <p:sp>
        <p:nvSpPr>
          <p:cNvPr id="69" name="Text 67"/>
          <p:cNvSpPr/>
          <p:nvPr/>
        </p:nvSpPr>
        <p:spPr>
          <a:xfrm>
            <a:off x="9822851" y="2734056"/>
            <a:ext cx="1728765" cy="237744"/>
          </a:xfrm>
          <a:prstGeom prst="rect">
            <a:avLst/>
          </a:prstGeom>
          <a:noFill/>
          <a:ln/>
        </p:spPr>
        <p:txBody>
          <a:bodyPr wrap="square" lIns="0" tIns="0" rIns="0" bIns="0" rtlCol="0" anchor="ctr"/>
          <a:lstStyle/>
          <a:p>
            <a:pPr marL="0" indent="0">
              <a:buNone/>
            </a:pPr>
            <a:r>
              <a:rPr lang="en-US" sz="1200" b="1" dirty="0">
                <a:solidFill>
                  <a:srgbClr val="3DDC97"/>
                </a:solidFill>
                <a:latin typeface="Calibri" pitchFamily="34" charset="0"/>
                <a:ea typeface="Calibri" pitchFamily="34" charset="-122"/>
                <a:cs typeface="Calibri" pitchFamily="34" charset="-120"/>
              </a:rPr>
              <a:t>1.9% of billed AI</a:t>
            </a:r>
            <a:endParaRPr lang="en-US" sz="1200" dirty="0"/>
          </a:p>
        </p:txBody>
      </p:sp>
      <p:sp>
        <p:nvSpPr>
          <p:cNvPr id="70" name="Shape 68"/>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p:cNvSpPr/>
          <p:nvPr/>
        </p:nvSpPr>
        <p:spPr>
          <a:xfrm>
            <a:off x="9822851"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72" name="Text 70"/>
          <p:cNvSpPr/>
          <p:nvPr/>
        </p:nvSpPr>
        <p:spPr>
          <a:xfrm>
            <a:off x="10687233"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73" name="Text 71"/>
          <p:cNvSpPr/>
          <p:nvPr/>
        </p:nvSpPr>
        <p:spPr>
          <a:xfrm>
            <a:off x="9822851"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74" name="Text 72"/>
          <p:cNvSpPr/>
          <p:nvPr/>
        </p:nvSpPr>
        <p:spPr>
          <a:xfrm>
            <a:off x="10687233"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$2,359</a:t>
            </a:r>
            <a:endParaRPr lang="en-US" sz="1300" dirty="0"/>
          </a:p>
        </p:txBody>
      </p:sp>
      <p:sp>
        <p:nvSpPr>
          <p:cNvPr id="75" name="Shape 73"/>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p:cNvSpPr/>
          <p:nvPr/>
        </p:nvSpPr>
        <p:spPr>
          <a:xfrm>
            <a:off x="9822851" y="4069080"/>
            <a:ext cx="1728765" cy="329184"/>
          </a:xfrm>
          <a:prstGeom prst="rect">
            <a:avLst/>
          </a:prstGeom>
          <a:noFill/>
          <a:ln/>
        </p:spPr>
        <p:txBody>
          <a:bodyPr wrap="square" lIns="0" tIns="0" rIns="0" bIns="0" rtlCol="0" anchor="ctr"/>
          <a:lstStyle/>
          <a:p>
            <a:pPr marL="0" indent="0" algn="ctr">
              <a:buNone/>
            </a:pPr>
            <a:r>
              <a:rPr lang="en-US" sz="1200" b="1" dirty="0">
                <a:solidFill>
                  <a:srgbClr val="3DDC97"/>
                </a:solidFill>
                <a:latin typeface="Calibri" pitchFamily="34" charset="0"/>
                <a:ea typeface="Calibri" pitchFamily="34" charset="-122"/>
                <a:cs typeface="Calibri" pitchFamily="34" charset="-120"/>
              </a:rPr>
              <a:t>First billed in May</a:t>
            </a:r>
            <a:endParaRPr lang="en-US" sz="1200" dirty="0"/>
          </a:p>
        </p:txBody>
      </p:sp>
      <p:sp>
        <p:nvSpPr>
          <p:cNvPr id="77" name="Text 75"/>
          <p:cNvSpPr/>
          <p:nvPr/>
        </p:nvSpPr>
        <p:spPr>
          <a:xfrm>
            <a:off x="9822851"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Gemini prediction tokens on the shared GCP projects.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AI FACTORY / INFRASTRUCTURE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The AI programme carries $77,049 of infrastructure</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four projects, January to July. AI meters are excluded here, models, tools, search and OCR pages have their own slides.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Every project carries some infrastructure except Document Intelligence, a hosted OCR API with none at all, the next slide breaks this out project by project. Inference running on a plain virtual machine still bills as infrastructure, so this is a floor.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Infrastructure spend by service, every project combined</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INFRASTRUCTURE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$77,049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46.5% of the programme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LINE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$23,663</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FOR CONTRAST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$88,540</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53.5% of the programme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The same programme, built four different ways</a:t>
            </a:r>
            <a:endParaRPr lang="en-US" sz="1867"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January to July. Blue is infrastructure, purple is AI, the same colours as the programme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Document Intelligence buys AI as a hosted API and carries no infrastructure at all. INSAIT builds its own, so 90% of it is infrastructure. The gap is what a project buys versus what it builds, not how well it is run.</a:t>
            </a:r>
            <a:endParaRPr lang="en-US" sz="1200" dirty="0"/>
          </a:p>
        </p:txBody>
      </p:sp>
      <p:sp>
        <p:nvSpPr>
          <p:cNvPr id="8" name="Shape 6"/>
          <p:cNvSpPr/>
          <p:nvPr/>
        </p:nvSpPr>
        <p:spPr>
          <a:xfrm>
            <a:off x="457200" y="1234440"/>
            <a:ext cx="3606698" cy="960120"/>
          </a:xfrm>
          <a:prstGeom prst="roundRect">
            <a:avLst>
              <a:gd name="adj" fmla="val 5714"/>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$165,588</a:t>
            </a:r>
            <a:endParaRPr lang="en-US" sz="2800" dirty="0"/>
          </a:p>
        </p:txBody>
      </p:sp>
      <p:sp>
        <p:nvSpPr>
          <p:cNvPr id="11" name="Text 9"/>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2" name="Shape 10"/>
          <p:cNvSpPr/>
          <p:nvPr/>
        </p:nvSpPr>
        <p:spPr>
          <a:xfrm>
            <a:off x="4292498" y="1234440"/>
            <a:ext cx="3606698" cy="960120"/>
          </a:xfrm>
          <a:prstGeom prst="roundRect">
            <a:avLst>
              <a:gd name="adj" fmla="val 5714"/>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a:t>
            </a:r>
            <a:endParaRPr lang="en-US" sz="2800" dirty="0"/>
          </a:p>
        </p:txBody>
      </p:sp>
      <p:sp>
        <p:nvSpPr>
          <p:cNvPr id="15" name="Text 13"/>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55.7% of the programme</a:t>
            </a:r>
            <a:endParaRPr lang="en-US" sz="1200" dirty="0"/>
          </a:p>
        </p:txBody>
      </p:sp>
      <p:sp>
        <p:nvSpPr>
          <p:cNvPr id="16" name="Shape 14"/>
          <p:cNvSpPr/>
          <p:nvPr/>
        </p:nvSpPr>
        <p:spPr>
          <a:xfrm>
            <a:off x="8127797" y="1234440"/>
            <a:ext cx="3606698" cy="960120"/>
          </a:xfrm>
          <a:prstGeom prst="roundRect">
            <a:avLst>
              <a:gd name="adj" fmla="val 5714"/>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INFRASTRUCTURE SHARE</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 to 90%</a:t>
            </a:r>
            <a:endParaRPr lang="en-US" sz="2800" dirty="0"/>
          </a:p>
        </p:txBody>
      </p:sp>
      <p:sp>
        <p:nvSpPr>
          <p:cNvPr id="19" name="Text 17"/>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Document Intelligence to INSAIT</a:t>
            </a:r>
            <a:endParaRPr lang="en-US" sz="1200" dirty="0"/>
          </a:p>
        </p:txBody>
      </p:sp>
      <p:sp>
        <p:nvSpPr>
          <p:cNvPr id="20" name="Text 18"/>
          <p:cNvSpPr/>
          <p:nvPr/>
        </p:nvSpPr>
        <p:spPr>
          <a:xfrm>
            <a:off x="457200" y="2404872"/>
            <a:ext cx="8899855" cy="213840"/>
          </a:xfrm>
          <a:prstGeom prst="rect">
            <a:avLst/>
          </a:prstGeom>
          <a:noFill/>
          <a:ln/>
        </p:spPr>
        <p:txBody>
          <a:bodyPr wrap="square" lIns="0" tIns="0" rIns="0" bIns="0" rtlCol="0" anchor="ctr"/>
          <a:lstStyle/>
          <a:p>
            <a:pPr indent="0" marL="0">
              <a:buNone/>
            </a:pPr>
            <a:r>
              <a:rPr lang="en-US" sz="1247" b="1" dirty="0">
                <a:solidFill>
                  <a:srgbClr val="F4F7FB"/>
                </a:solidFill>
                <a:latin typeface="Calibri" pitchFamily="34" charset="0"/>
                <a:ea typeface="Calibri" pitchFamily="34" charset="-122"/>
                <a:cs typeface="Calibri" pitchFamily="34" charset="-120"/>
              </a:rPr>
              <a:t>AI Factory</a:t>
            </a:r>
            <a:endParaRPr lang="en-US" sz="1247" dirty="0"/>
          </a:p>
        </p:txBody>
      </p:sp>
      <p:sp>
        <p:nvSpPr>
          <p:cNvPr id="21" name="Text 19"/>
          <p:cNvSpPr/>
          <p:nvPr/>
        </p:nvSpPr>
        <p:spPr>
          <a:xfrm>
            <a:off x="9539935" y="2404872"/>
            <a:ext cx="2194560" cy="21384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$854 to $23,610</a:t>
            </a:r>
            <a:endParaRPr lang="en-US" sz="1200" dirty="0"/>
          </a:p>
        </p:txBody>
      </p:sp>
      <p:sp>
        <p:nvSpPr>
          <p:cNvPr id="22" name="Shape 20"/>
          <p:cNvSpPr/>
          <p:nvPr/>
        </p:nvSpPr>
        <p:spPr>
          <a:xfrm>
            <a:off x="457200" y="2675736"/>
            <a:ext cx="9905695" cy="408252"/>
          </a:xfrm>
          <a:prstGeom prst="rect">
            <a:avLst/>
          </a:prstGeom>
          <a:solidFill>
            <a:srgbClr val="0E1422"/>
          </a:solidFill>
          <a:ln w="9525">
            <a:solidFill>
              <a:srgbClr val="23304A"/>
            </a:solidFill>
            <a:prstDash val="solid"/>
          </a:ln>
        </p:spPr>
      </p:sp>
      <p:sp>
        <p:nvSpPr>
          <p:cNvPr id="23" name="Shape 21"/>
          <p:cNvSpPr/>
          <p:nvPr/>
        </p:nvSpPr>
        <p:spPr>
          <a:xfrm>
            <a:off x="457200" y="2675736"/>
            <a:ext cx="6568394" cy="408252"/>
          </a:xfrm>
          <a:prstGeom prst="rect">
            <a:avLst/>
          </a:prstGeom>
          <a:solidFill>
            <a:srgbClr val="2F8CFF"/>
          </a:solidFill>
          <a:ln w="12700">
            <a:solidFill>
              <a:srgbClr val="2F8CFF"/>
            </a:solidFill>
            <a:prstDash val="solid"/>
          </a:ln>
        </p:spPr>
      </p:sp>
      <p:sp>
        <p:nvSpPr>
          <p:cNvPr id="24" name="Shape 22"/>
          <p:cNvSpPr/>
          <p:nvPr/>
        </p:nvSpPr>
        <p:spPr>
          <a:xfrm>
            <a:off x="7025594" y="2675736"/>
            <a:ext cx="3337301" cy="408252"/>
          </a:xfrm>
          <a:prstGeom prst="rect">
            <a:avLst/>
          </a:prstGeom>
          <a:solidFill>
            <a:srgbClr val="B07CFF"/>
          </a:solidFill>
          <a:ln w="12700">
            <a:solidFill>
              <a:srgbClr val="B07CFF"/>
            </a:solidFill>
            <a:prstDash val="solid"/>
          </a:ln>
        </p:spPr>
      </p:sp>
      <p:sp>
        <p:nvSpPr>
          <p:cNvPr id="25" name="Text 23"/>
          <p:cNvSpPr/>
          <p:nvPr/>
        </p:nvSpPr>
        <p:spPr>
          <a:xfrm>
            <a:off x="10500055" y="2675736"/>
            <a:ext cx="1234440" cy="408252"/>
          </a:xfrm>
          <a:prstGeom prst="rect">
            <a:avLst/>
          </a:prstGeom>
          <a:noFill/>
          <a:ln/>
        </p:spPr>
        <p:txBody>
          <a:bodyPr wrap="square" lIns="0" tIns="0" rIns="0" bIns="0" rtlCol="0" anchor="ctr"/>
          <a:lstStyle/>
          <a:p>
            <a:pPr indent="0" marL="0">
              <a:buNone/>
            </a:pPr>
            <a:r>
              <a:rPr lang="en-US" sz="1403" b="1" dirty="0">
                <a:solidFill>
                  <a:srgbClr val="F4F7FB"/>
                </a:solidFill>
                <a:latin typeface="Calibri" pitchFamily="34" charset="0"/>
                <a:ea typeface="Calibri" pitchFamily="34" charset="-122"/>
                <a:cs typeface="Calibri" pitchFamily="34" charset="-120"/>
              </a:rPr>
              <a:t>$92,247</a:t>
            </a:r>
            <a:endParaRPr lang="en-US" sz="1403" dirty="0"/>
          </a:p>
        </p:txBody>
      </p:sp>
      <p:sp>
        <p:nvSpPr>
          <p:cNvPr id="26" name="Text 24"/>
          <p:cNvSpPr/>
          <p:nvPr/>
        </p:nvSpPr>
        <p:spPr>
          <a:xfrm>
            <a:off x="457200" y="311962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66% infrastructure, 34% AI</a:t>
            </a:r>
            <a:endParaRPr lang="en-US" sz="1200" dirty="0"/>
          </a:p>
        </p:txBody>
      </p:sp>
      <p:sp>
        <p:nvSpPr>
          <p:cNvPr id="27" name="Text 25"/>
          <p:cNvSpPr/>
          <p:nvPr/>
        </p:nvSpPr>
        <p:spPr>
          <a:xfrm>
            <a:off x="457200" y="3364992"/>
            <a:ext cx="8899855" cy="213840"/>
          </a:xfrm>
          <a:prstGeom prst="rect">
            <a:avLst/>
          </a:prstGeom>
          <a:noFill/>
          <a:ln/>
        </p:spPr>
        <p:txBody>
          <a:bodyPr wrap="square" lIns="0" tIns="0" rIns="0" bIns="0" rtlCol="0" anchor="ctr"/>
          <a:lstStyle/>
          <a:p>
            <a:pPr indent="0" marL="0">
              <a:buNone/>
            </a:pPr>
            <a:r>
              <a:rPr lang="en-US" sz="1247" b="1" dirty="0">
                <a:solidFill>
                  <a:srgbClr val="F4F7FB"/>
                </a:solidFill>
                <a:latin typeface="Calibri" pitchFamily="34" charset="0"/>
                <a:ea typeface="Calibri" pitchFamily="34" charset="-122"/>
                <a:cs typeface="Calibri" pitchFamily="34" charset="-120"/>
              </a:rPr>
              <a:t>Solugen</a:t>
            </a:r>
            <a:endParaRPr lang="en-US" sz="1247" dirty="0"/>
          </a:p>
        </p:txBody>
      </p:sp>
      <p:sp>
        <p:nvSpPr>
          <p:cNvPr id="28" name="Text 26"/>
          <p:cNvSpPr/>
          <p:nvPr/>
        </p:nvSpPr>
        <p:spPr>
          <a:xfrm>
            <a:off x="9539935" y="3364992"/>
            <a:ext cx="2194560" cy="21384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+846% Jan to Jul</a:t>
            </a:r>
            <a:endParaRPr lang="en-US" sz="1200" dirty="0"/>
          </a:p>
        </p:txBody>
      </p:sp>
      <p:sp>
        <p:nvSpPr>
          <p:cNvPr id="29" name="Shape 27"/>
          <p:cNvSpPr/>
          <p:nvPr/>
        </p:nvSpPr>
        <p:spPr>
          <a:xfrm>
            <a:off x="457200" y="3635856"/>
            <a:ext cx="9905695" cy="408252"/>
          </a:xfrm>
          <a:prstGeom prst="rect">
            <a:avLst/>
          </a:prstGeom>
          <a:solidFill>
            <a:srgbClr val="0E1422"/>
          </a:solidFill>
          <a:ln w="9525">
            <a:solidFill>
              <a:srgbClr val="23304A"/>
            </a:solidFill>
            <a:prstDash val="solid"/>
          </a:ln>
        </p:spPr>
      </p:sp>
      <p:sp>
        <p:nvSpPr>
          <p:cNvPr id="30" name="Shape 28"/>
          <p:cNvSpPr/>
          <p:nvPr/>
        </p:nvSpPr>
        <p:spPr>
          <a:xfrm>
            <a:off x="457200" y="3635856"/>
            <a:ext cx="664572" cy="408252"/>
          </a:xfrm>
          <a:prstGeom prst="rect">
            <a:avLst/>
          </a:prstGeom>
          <a:solidFill>
            <a:srgbClr val="2F8CFF"/>
          </a:solidFill>
          <a:ln w="12700">
            <a:solidFill>
              <a:srgbClr val="2F8CFF"/>
            </a:solidFill>
            <a:prstDash val="solid"/>
          </a:ln>
        </p:spPr>
      </p:sp>
      <p:sp>
        <p:nvSpPr>
          <p:cNvPr id="31" name="Shape 29"/>
          <p:cNvSpPr/>
          <p:nvPr/>
        </p:nvSpPr>
        <p:spPr>
          <a:xfrm>
            <a:off x="1121772" y="3635856"/>
            <a:ext cx="2732009" cy="408252"/>
          </a:xfrm>
          <a:prstGeom prst="rect">
            <a:avLst/>
          </a:prstGeom>
          <a:solidFill>
            <a:srgbClr val="B07CFF"/>
          </a:solidFill>
          <a:ln w="12700">
            <a:solidFill>
              <a:srgbClr val="B07CFF"/>
            </a:solidFill>
            <a:prstDash val="solid"/>
          </a:ln>
        </p:spPr>
      </p:sp>
      <p:sp>
        <p:nvSpPr>
          <p:cNvPr id="32" name="Text 30"/>
          <p:cNvSpPr/>
          <p:nvPr/>
        </p:nvSpPr>
        <p:spPr>
          <a:xfrm>
            <a:off x="10500055" y="3635856"/>
            <a:ext cx="1234440" cy="408252"/>
          </a:xfrm>
          <a:prstGeom prst="rect">
            <a:avLst/>
          </a:prstGeom>
          <a:noFill/>
          <a:ln/>
        </p:spPr>
        <p:txBody>
          <a:bodyPr wrap="square" lIns="0" tIns="0" rIns="0" bIns="0" rtlCol="0" anchor="ctr"/>
          <a:lstStyle/>
          <a:p>
            <a:pPr indent="0" marL="0">
              <a:buNone/>
            </a:pPr>
            <a:r>
              <a:rPr lang="en-US" sz="1403" b="1" dirty="0">
                <a:solidFill>
                  <a:srgbClr val="F4F7FB"/>
                </a:solidFill>
                <a:latin typeface="Calibri" pitchFamily="34" charset="0"/>
                <a:ea typeface="Calibri" pitchFamily="34" charset="-122"/>
                <a:cs typeface="Calibri" pitchFamily="34" charset="-120"/>
              </a:rPr>
              <a:t>$31,631</a:t>
            </a:r>
            <a:endParaRPr lang="en-US" sz="1403" dirty="0"/>
          </a:p>
        </p:txBody>
      </p:sp>
      <p:sp>
        <p:nvSpPr>
          <p:cNvPr id="33" name="Text 31"/>
          <p:cNvSpPr/>
          <p:nvPr/>
        </p:nvSpPr>
        <p:spPr>
          <a:xfrm>
            <a:off x="457200" y="407974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20% infrastructure, 80% AI</a:t>
            </a:r>
            <a:endParaRPr lang="en-US" sz="1200" dirty="0"/>
          </a:p>
        </p:txBody>
      </p:sp>
      <p:sp>
        <p:nvSpPr>
          <p:cNvPr id="34" name="Text 32"/>
          <p:cNvSpPr/>
          <p:nvPr/>
        </p:nvSpPr>
        <p:spPr>
          <a:xfrm>
            <a:off x="457200" y="4325112"/>
            <a:ext cx="8899855" cy="213840"/>
          </a:xfrm>
          <a:prstGeom prst="rect">
            <a:avLst/>
          </a:prstGeom>
          <a:noFill/>
          <a:ln/>
        </p:spPr>
        <p:txBody>
          <a:bodyPr wrap="square" lIns="0" tIns="0" rIns="0" bIns="0" rtlCol="0" anchor="ctr"/>
          <a:lstStyle/>
          <a:p>
            <a:pPr indent="0" marL="0">
              <a:buNone/>
            </a:pPr>
            <a:r>
              <a:rPr lang="en-US" sz="1247" b="1" dirty="0">
                <a:solidFill>
                  <a:srgbClr val="F4F7FB"/>
                </a:solidFill>
                <a:latin typeface="Calibri" pitchFamily="34" charset="0"/>
                <a:ea typeface="Calibri" pitchFamily="34" charset="-122"/>
                <a:cs typeface="Calibri" pitchFamily="34" charset="-120"/>
              </a:rPr>
              <a:t>Document Intelligence</a:t>
            </a:r>
            <a:endParaRPr lang="en-US" sz="1247" dirty="0"/>
          </a:p>
        </p:txBody>
      </p:sp>
      <p:sp>
        <p:nvSpPr>
          <p:cNvPr id="35" name="Text 33"/>
          <p:cNvSpPr/>
          <p:nvPr/>
        </p:nvSpPr>
        <p:spPr>
          <a:xfrm>
            <a:off x="9539935" y="4325112"/>
            <a:ext cx="2194560" cy="21384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+72% Jan to Jul</a:t>
            </a:r>
            <a:endParaRPr lang="en-US" sz="1200" dirty="0"/>
          </a:p>
        </p:txBody>
      </p:sp>
      <p:sp>
        <p:nvSpPr>
          <p:cNvPr id="36" name="Shape 34"/>
          <p:cNvSpPr/>
          <p:nvPr/>
        </p:nvSpPr>
        <p:spPr>
          <a:xfrm>
            <a:off x="457200" y="4595976"/>
            <a:ext cx="9905695" cy="408252"/>
          </a:xfrm>
          <a:prstGeom prst="rect">
            <a:avLst/>
          </a:prstGeom>
          <a:solidFill>
            <a:srgbClr val="0E1422"/>
          </a:solidFill>
          <a:ln w="9525">
            <a:solidFill>
              <a:srgbClr val="23304A"/>
            </a:solidFill>
            <a:prstDash val="solid"/>
          </a:ln>
        </p:spPr>
      </p:sp>
      <p:sp>
        <p:nvSpPr>
          <p:cNvPr id="37" name="Shape 35"/>
          <p:cNvSpPr/>
          <p:nvPr/>
        </p:nvSpPr>
        <p:spPr>
          <a:xfrm>
            <a:off x="457200" y="4595976"/>
            <a:ext cx="3325619" cy="408252"/>
          </a:xfrm>
          <a:prstGeom prst="rect">
            <a:avLst/>
          </a:prstGeom>
          <a:solidFill>
            <a:srgbClr val="B07CFF"/>
          </a:solidFill>
          <a:ln w="12700">
            <a:solidFill>
              <a:srgbClr val="B07CFF"/>
            </a:solidFill>
            <a:prstDash val="solid"/>
          </a:ln>
        </p:spPr>
      </p:sp>
      <p:sp>
        <p:nvSpPr>
          <p:cNvPr id="38" name="Text 36"/>
          <p:cNvSpPr/>
          <p:nvPr/>
        </p:nvSpPr>
        <p:spPr>
          <a:xfrm>
            <a:off x="10500055" y="4595976"/>
            <a:ext cx="1234440" cy="408252"/>
          </a:xfrm>
          <a:prstGeom prst="rect">
            <a:avLst/>
          </a:prstGeom>
          <a:noFill/>
          <a:ln/>
        </p:spPr>
        <p:txBody>
          <a:bodyPr wrap="square" lIns="0" tIns="0" rIns="0" bIns="0" rtlCol="0" anchor="ctr"/>
          <a:lstStyle/>
          <a:p>
            <a:pPr indent="0" marL="0">
              <a:buNone/>
            </a:pPr>
            <a:r>
              <a:rPr lang="en-US" sz="1403" b="1" dirty="0">
                <a:solidFill>
                  <a:srgbClr val="F4F7FB"/>
                </a:solidFill>
                <a:latin typeface="Calibri" pitchFamily="34" charset="0"/>
                <a:ea typeface="Calibri" pitchFamily="34" charset="-122"/>
                <a:cs typeface="Calibri" pitchFamily="34" charset="-120"/>
              </a:rPr>
              <a:t>$30,970</a:t>
            </a:r>
            <a:endParaRPr lang="en-US" sz="1403" dirty="0"/>
          </a:p>
        </p:txBody>
      </p:sp>
      <p:sp>
        <p:nvSpPr>
          <p:cNvPr id="39" name="Text 37"/>
          <p:cNvSpPr/>
          <p:nvPr/>
        </p:nvSpPr>
        <p:spPr>
          <a:xfrm>
            <a:off x="457200" y="503986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AI</a:t>
            </a:r>
            <a:endParaRPr lang="en-US" sz="1200" dirty="0"/>
          </a:p>
        </p:txBody>
      </p:sp>
      <p:sp>
        <p:nvSpPr>
          <p:cNvPr id="40" name="Text 38"/>
          <p:cNvSpPr/>
          <p:nvPr/>
        </p:nvSpPr>
        <p:spPr>
          <a:xfrm>
            <a:off x="457200" y="5285232"/>
            <a:ext cx="8899855" cy="213840"/>
          </a:xfrm>
          <a:prstGeom prst="rect">
            <a:avLst/>
          </a:prstGeom>
          <a:noFill/>
          <a:ln/>
        </p:spPr>
        <p:txBody>
          <a:bodyPr wrap="square" lIns="0" tIns="0" rIns="0" bIns="0" rtlCol="0" anchor="ctr"/>
          <a:lstStyle/>
          <a:p>
            <a:pPr indent="0" marL="0">
              <a:buNone/>
            </a:pPr>
            <a:r>
              <a:rPr lang="en-US" sz="1247" b="1" dirty="0">
                <a:solidFill>
                  <a:srgbClr val="F4F7FB"/>
                </a:solidFill>
                <a:latin typeface="Calibri" pitchFamily="34" charset="0"/>
                <a:ea typeface="Calibri" pitchFamily="34" charset="-122"/>
                <a:cs typeface="Calibri" pitchFamily="34" charset="-120"/>
              </a:rPr>
              <a:t>INSAIT</a:t>
            </a:r>
            <a:endParaRPr lang="en-US" sz="1247" dirty="0"/>
          </a:p>
        </p:txBody>
      </p:sp>
      <p:sp>
        <p:nvSpPr>
          <p:cNvPr id="41" name="Text 39"/>
          <p:cNvSpPr/>
          <p:nvPr/>
        </p:nvSpPr>
        <p:spPr>
          <a:xfrm>
            <a:off x="9539935" y="5285232"/>
            <a:ext cx="2194560" cy="21384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+86% Jan to Jul</a:t>
            </a:r>
            <a:endParaRPr lang="en-US" sz="1200" dirty="0"/>
          </a:p>
        </p:txBody>
      </p:sp>
      <p:sp>
        <p:nvSpPr>
          <p:cNvPr id="42" name="Shape 40"/>
          <p:cNvSpPr/>
          <p:nvPr/>
        </p:nvSpPr>
        <p:spPr>
          <a:xfrm>
            <a:off x="457200" y="5556096"/>
            <a:ext cx="9905695" cy="408252"/>
          </a:xfrm>
          <a:prstGeom prst="rect">
            <a:avLst/>
          </a:prstGeom>
          <a:solidFill>
            <a:srgbClr val="0E1422"/>
          </a:solidFill>
          <a:ln w="9525">
            <a:solidFill>
              <a:srgbClr val="23304A"/>
            </a:solidFill>
            <a:prstDash val="solid"/>
          </a:ln>
        </p:spPr>
      </p:sp>
      <p:sp>
        <p:nvSpPr>
          <p:cNvPr id="43" name="Shape 41"/>
          <p:cNvSpPr/>
          <p:nvPr/>
        </p:nvSpPr>
        <p:spPr>
          <a:xfrm>
            <a:off x="457200" y="5556096"/>
            <a:ext cx="1040722" cy="408252"/>
          </a:xfrm>
          <a:prstGeom prst="rect">
            <a:avLst/>
          </a:prstGeom>
          <a:solidFill>
            <a:srgbClr val="2F8CFF"/>
          </a:solidFill>
          <a:ln w="12700">
            <a:solidFill>
              <a:srgbClr val="2F8CFF"/>
            </a:solidFill>
            <a:prstDash val="solid"/>
          </a:ln>
        </p:spPr>
      </p:sp>
      <p:sp>
        <p:nvSpPr>
          <p:cNvPr id="44" name="Shape 42"/>
          <p:cNvSpPr/>
          <p:nvPr/>
        </p:nvSpPr>
        <p:spPr>
          <a:xfrm>
            <a:off x="1497922" y="5556096"/>
            <a:ext cx="112550" cy="408252"/>
          </a:xfrm>
          <a:prstGeom prst="rect">
            <a:avLst/>
          </a:prstGeom>
          <a:solidFill>
            <a:srgbClr val="B07CFF"/>
          </a:solidFill>
          <a:ln w="12700">
            <a:solidFill>
              <a:srgbClr val="B07CFF"/>
            </a:solidFill>
            <a:prstDash val="solid"/>
          </a:ln>
        </p:spPr>
      </p:sp>
      <p:sp>
        <p:nvSpPr>
          <p:cNvPr id="45" name="Text 43"/>
          <p:cNvSpPr/>
          <p:nvPr/>
        </p:nvSpPr>
        <p:spPr>
          <a:xfrm>
            <a:off x="10500055" y="5556096"/>
            <a:ext cx="1234440" cy="408252"/>
          </a:xfrm>
          <a:prstGeom prst="rect">
            <a:avLst/>
          </a:prstGeom>
          <a:noFill/>
          <a:ln/>
        </p:spPr>
        <p:txBody>
          <a:bodyPr wrap="square" lIns="0" tIns="0" rIns="0" bIns="0" rtlCol="0" anchor="ctr"/>
          <a:lstStyle/>
          <a:p>
            <a:pPr indent="0" marL="0">
              <a:buNone/>
            </a:pPr>
            <a:r>
              <a:rPr lang="en-US" sz="1403" b="1" dirty="0">
                <a:solidFill>
                  <a:srgbClr val="F4F7FB"/>
                </a:solidFill>
                <a:latin typeface="Calibri" pitchFamily="34" charset="0"/>
                <a:ea typeface="Calibri" pitchFamily="34" charset="-122"/>
                <a:cs typeface="Calibri" pitchFamily="34" charset="-120"/>
              </a:rPr>
              <a:t>$10,740</a:t>
            </a:r>
            <a:endParaRPr lang="en-US" sz="1403" dirty="0"/>
          </a:p>
        </p:txBody>
      </p:sp>
      <p:sp>
        <p:nvSpPr>
          <p:cNvPr id="46" name="Text 44"/>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 infrastructure, 10% AI</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PROBLEM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AI spend is outpacing governance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Every business unit buys AI separately, on shared keys, with no owner per consumer.</a:t>
            </a:r>
            <a:endParaRPr lang="en-US" sz="1200" dirty="0"/>
          </a:p>
        </p:txBody>
      </p:sp>
      <p:sp>
        <p:nvSpPr>
          <p:cNvPr id="7" name="Shape 5"/>
          <p:cNvSpPr/>
          <p:nvPr/>
        </p:nvSpPr>
        <p:spPr>
          <a:xfrm>
            <a:off x="3200400" y="2029968"/>
            <a:ext cx="1005840" cy="3658"/>
          </a:xfrm>
          <a:prstGeom prst="line">
            <a:avLst/>
          </a:prstGeom>
          <a:noFill/>
          <a:ln w="9525">
            <a:solidFill>
              <a:srgbClr val="FF6B7A">
                <a:alpha val="42000"/>
              </a:srgbClr>
            </a:solidFill>
            <a:prstDash val="solid"/>
          </a:ln>
        </p:spPr>
      </p:sp>
      <p:sp>
        <p:nvSpPr>
          <p:cNvPr id="8" name="Shape 6"/>
          <p:cNvSpPr/>
          <p:nvPr/>
        </p:nvSpPr>
        <p:spPr>
          <a:xfrm>
            <a:off x="3200400" y="2029968"/>
            <a:ext cx="1005840" cy="779069"/>
          </a:xfrm>
          <a:prstGeom prst="line">
            <a:avLst/>
          </a:prstGeom>
          <a:noFill/>
          <a:ln w="9525">
            <a:solidFill>
              <a:srgbClr val="FF6B7A">
                <a:alpha val="42000"/>
              </a:srgbClr>
            </a:solidFill>
            <a:prstDash val="solid"/>
          </a:ln>
        </p:spPr>
      </p:sp>
      <p:sp>
        <p:nvSpPr>
          <p:cNvPr id="9" name="Shape 7"/>
          <p:cNvSpPr/>
          <p:nvPr/>
        </p:nvSpPr>
        <p:spPr>
          <a:xfrm>
            <a:off x="3200400" y="2029968"/>
            <a:ext cx="1005840" cy="1558138"/>
          </a:xfrm>
          <a:prstGeom prst="line">
            <a:avLst/>
          </a:prstGeom>
          <a:noFill/>
          <a:ln w="9525">
            <a:solidFill>
              <a:srgbClr val="FF6B7A">
                <a:alpha val="42000"/>
              </a:srgbClr>
            </a:solidFill>
            <a:prstDash val="solid"/>
          </a:ln>
        </p:spPr>
      </p:sp>
      <p:sp>
        <p:nvSpPr>
          <p:cNvPr id="10" name="Shape 8"/>
          <p:cNvSpPr/>
          <p:nvPr/>
        </p:nvSpPr>
        <p:spPr>
          <a:xfrm>
            <a:off x="3200400" y="2029968"/>
            <a:ext cx="1005840" cy="2337206"/>
          </a:xfrm>
          <a:prstGeom prst="line">
            <a:avLst/>
          </a:prstGeom>
          <a:noFill/>
          <a:ln w="9525">
            <a:solidFill>
              <a:srgbClr val="FF6B7A">
                <a:alpha val="42000"/>
              </a:srgbClr>
            </a:solidFill>
            <a:prstDash val="solid"/>
          </a:ln>
        </p:spPr>
      </p:sp>
      <p:sp>
        <p:nvSpPr>
          <p:cNvPr id="11" name="Shape 9"/>
          <p:cNvSpPr/>
          <p:nvPr/>
        </p:nvSpPr>
        <p:spPr>
          <a:xfrm>
            <a:off x="3200400" y="2029968"/>
            <a:ext cx="1005840" cy="3116275"/>
          </a:xfrm>
          <a:prstGeom prst="line">
            <a:avLst/>
          </a:prstGeom>
          <a:noFill/>
          <a:ln w="9525">
            <a:solidFill>
              <a:srgbClr val="FF6B7A">
                <a:alpha val="42000"/>
              </a:srgbClr>
            </a:solidFill>
            <a:prstDash val="solid"/>
          </a:ln>
        </p:spPr>
      </p:sp>
      <p:sp>
        <p:nvSpPr>
          <p:cNvPr id="12" name="Shape 10"/>
          <p:cNvSpPr/>
          <p:nvPr/>
        </p:nvSpPr>
        <p:spPr>
          <a:xfrm>
            <a:off x="3200400" y="2029968"/>
            <a:ext cx="1005840" cy="3895344"/>
          </a:xfrm>
          <a:prstGeom prst="line">
            <a:avLst/>
          </a:prstGeom>
          <a:noFill/>
          <a:ln w="9525">
            <a:solidFill>
              <a:srgbClr val="FF6B7A">
                <a:alpha val="42000"/>
              </a:srgbClr>
            </a:solidFill>
            <a:prstDash val="solid"/>
          </a:ln>
        </p:spPr>
      </p:sp>
      <p:sp>
        <p:nvSpPr>
          <p:cNvPr id="13" name="Shape 11"/>
          <p:cNvSpPr/>
          <p:nvPr/>
        </p:nvSpPr>
        <p:spPr>
          <a:xfrm flipV="1">
            <a:off x="3200400" y="2029968"/>
            <a:ext cx="1005840" cy="779069"/>
          </a:xfrm>
          <a:prstGeom prst="line">
            <a:avLst/>
          </a:prstGeom>
          <a:noFill/>
          <a:ln w="9525">
            <a:solidFill>
              <a:srgbClr val="FF6B7A">
                <a:alpha val="42000"/>
              </a:srgbClr>
            </a:solidFill>
            <a:prstDash val="solid"/>
          </a:ln>
        </p:spPr>
      </p:sp>
      <p:sp>
        <p:nvSpPr>
          <p:cNvPr id="14" name="Shape 12"/>
          <p:cNvSpPr/>
          <p:nvPr/>
        </p:nvSpPr>
        <p:spPr>
          <a:xfrm>
            <a:off x="3200400" y="2809037"/>
            <a:ext cx="1005840" cy="3658"/>
          </a:xfrm>
          <a:prstGeom prst="line">
            <a:avLst/>
          </a:prstGeom>
          <a:noFill/>
          <a:ln w="9525">
            <a:solidFill>
              <a:srgbClr val="FF6B7A">
                <a:alpha val="42000"/>
              </a:srgbClr>
            </a:solidFill>
            <a:prstDash val="solid"/>
          </a:ln>
        </p:spPr>
      </p:sp>
      <p:sp>
        <p:nvSpPr>
          <p:cNvPr id="15" name="Shape 13"/>
          <p:cNvSpPr/>
          <p:nvPr/>
        </p:nvSpPr>
        <p:spPr>
          <a:xfrm>
            <a:off x="3200400" y="2809037"/>
            <a:ext cx="1005840" cy="779069"/>
          </a:xfrm>
          <a:prstGeom prst="line">
            <a:avLst/>
          </a:prstGeom>
          <a:noFill/>
          <a:ln w="9525">
            <a:solidFill>
              <a:srgbClr val="FF6B7A">
                <a:alpha val="42000"/>
              </a:srgbClr>
            </a:solidFill>
            <a:prstDash val="solid"/>
          </a:ln>
        </p:spPr>
      </p:sp>
      <p:sp>
        <p:nvSpPr>
          <p:cNvPr id="16" name="Shape 14"/>
          <p:cNvSpPr/>
          <p:nvPr/>
        </p:nvSpPr>
        <p:spPr>
          <a:xfrm>
            <a:off x="3200400" y="2809037"/>
            <a:ext cx="1005840" cy="1558138"/>
          </a:xfrm>
          <a:prstGeom prst="line">
            <a:avLst/>
          </a:prstGeom>
          <a:noFill/>
          <a:ln w="9525">
            <a:solidFill>
              <a:srgbClr val="FF6B7A">
                <a:alpha val="42000"/>
              </a:srgbClr>
            </a:solidFill>
            <a:prstDash val="solid"/>
          </a:ln>
        </p:spPr>
      </p:sp>
      <p:sp>
        <p:nvSpPr>
          <p:cNvPr id="17" name="Shape 15"/>
          <p:cNvSpPr/>
          <p:nvPr/>
        </p:nvSpPr>
        <p:spPr>
          <a:xfrm>
            <a:off x="3200400" y="2809037"/>
            <a:ext cx="1005840" cy="2337206"/>
          </a:xfrm>
          <a:prstGeom prst="line">
            <a:avLst/>
          </a:prstGeom>
          <a:noFill/>
          <a:ln w="9525">
            <a:solidFill>
              <a:srgbClr val="FF6B7A">
                <a:alpha val="42000"/>
              </a:srgbClr>
            </a:solidFill>
            <a:prstDash val="solid"/>
          </a:ln>
        </p:spPr>
      </p:sp>
      <p:sp>
        <p:nvSpPr>
          <p:cNvPr id="18" name="Shape 16"/>
          <p:cNvSpPr/>
          <p:nvPr/>
        </p:nvSpPr>
        <p:spPr>
          <a:xfrm>
            <a:off x="3200400" y="2809037"/>
            <a:ext cx="1005840" cy="3116275"/>
          </a:xfrm>
          <a:prstGeom prst="line">
            <a:avLst/>
          </a:prstGeom>
          <a:noFill/>
          <a:ln w="9525">
            <a:solidFill>
              <a:srgbClr val="FF6B7A">
                <a:alpha val="42000"/>
              </a:srgbClr>
            </a:solidFill>
            <a:prstDash val="solid"/>
          </a:ln>
        </p:spPr>
      </p:sp>
      <p:sp>
        <p:nvSpPr>
          <p:cNvPr id="19" name="Shape 17"/>
          <p:cNvSpPr/>
          <p:nvPr/>
        </p:nvSpPr>
        <p:spPr>
          <a:xfrm flipV="1">
            <a:off x="3200400" y="2029968"/>
            <a:ext cx="1005840" cy="1558138"/>
          </a:xfrm>
          <a:prstGeom prst="line">
            <a:avLst/>
          </a:prstGeom>
          <a:noFill/>
          <a:ln w="9525">
            <a:solidFill>
              <a:srgbClr val="FF6B7A">
                <a:alpha val="42000"/>
              </a:srgbClr>
            </a:solidFill>
            <a:prstDash val="solid"/>
          </a:ln>
        </p:spPr>
      </p:sp>
      <p:sp>
        <p:nvSpPr>
          <p:cNvPr id="20" name="Shape 18"/>
          <p:cNvSpPr/>
          <p:nvPr/>
        </p:nvSpPr>
        <p:spPr>
          <a:xfrm flipV="1">
            <a:off x="3200400" y="2809037"/>
            <a:ext cx="1005840" cy="779069"/>
          </a:xfrm>
          <a:prstGeom prst="line">
            <a:avLst/>
          </a:prstGeom>
          <a:noFill/>
          <a:ln w="9525">
            <a:solidFill>
              <a:srgbClr val="FF6B7A">
                <a:alpha val="42000"/>
              </a:srgbClr>
            </a:solidFill>
            <a:prstDash val="solid"/>
          </a:ln>
        </p:spPr>
      </p:sp>
      <p:sp>
        <p:nvSpPr>
          <p:cNvPr id="21" name="Shape 19"/>
          <p:cNvSpPr/>
          <p:nvPr/>
        </p:nvSpPr>
        <p:spPr>
          <a:xfrm>
            <a:off x="3200400" y="3588106"/>
            <a:ext cx="1005840" cy="3658"/>
          </a:xfrm>
          <a:prstGeom prst="line">
            <a:avLst/>
          </a:prstGeom>
          <a:noFill/>
          <a:ln w="9525">
            <a:solidFill>
              <a:srgbClr val="FF6B7A">
                <a:alpha val="42000"/>
              </a:srgbClr>
            </a:solidFill>
            <a:prstDash val="solid"/>
          </a:ln>
        </p:spPr>
      </p:sp>
      <p:sp>
        <p:nvSpPr>
          <p:cNvPr id="22" name="Shape 20"/>
          <p:cNvSpPr/>
          <p:nvPr/>
        </p:nvSpPr>
        <p:spPr>
          <a:xfrm>
            <a:off x="3200400" y="3588106"/>
            <a:ext cx="1005840" cy="779069"/>
          </a:xfrm>
          <a:prstGeom prst="line">
            <a:avLst/>
          </a:prstGeom>
          <a:noFill/>
          <a:ln w="9525">
            <a:solidFill>
              <a:srgbClr val="FF6B7A">
                <a:alpha val="42000"/>
              </a:srgbClr>
            </a:solidFill>
            <a:prstDash val="solid"/>
          </a:ln>
        </p:spPr>
      </p:sp>
      <p:sp>
        <p:nvSpPr>
          <p:cNvPr id="23" name="Shape 21"/>
          <p:cNvSpPr/>
          <p:nvPr/>
        </p:nvSpPr>
        <p:spPr>
          <a:xfrm>
            <a:off x="3200400" y="3588106"/>
            <a:ext cx="1005840" cy="1558138"/>
          </a:xfrm>
          <a:prstGeom prst="line">
            <a:avLst/>
          </a:prstGeom>
          <a:noFill/>
          <a:ln w="9525">
            <a:solidFill>
              <a:srgbClr val="FF6B7A">
                <a:alpha val="42000"/>
              </a:srgbClr>
            </a:solidFill>
            <a:prstDash val="solid"/>
          </a:ln>
        </p:spPr>
      </p:sp>
      <p:sp>
        <p:nvSpPr>
          <p:cNvPr id="24" name="Shape 22"/>
          <p:cNvSpPr/>
          <p:nvPr/>
        </p:nvSpPr>
        <p:spPr>
          <a:xfrm>
            <a:off x="3200400" y="3588106"/>
            <a:ext cx="1005840" cy="2337206"/>
          </a:xfrm>
          <a:prstGeom prst="line">
            <a:avLst/>
          </a:prstGeom>
          <a:noFill/>
          <a:ln w="9525">
            <a:solidFill>
              <a:srgbClr val="FF6B7A">
                <a:alpha val="42000"/>
              </a:srgbClr>
            </a:solidFill>
            <a:prstDash val="solid"/>
          </a:ln>
        </p:spPr>
      </p:sp>
      <p:sp>
        <p:nvSpPr>
          <p:cNvPr id="25" name="Shape 23"/>
          <p:cNvSpPr/>
          <p:nvPr/>
        </p:nvSpPr>
        <p:spPr>
          <a:xfrm flipV="1">
            <a:off x="3200400" y="2029968"/>
            <a:ext cx="1005840" cy="2337206"/>
          </a:xfrm>
          <a:prstGeom prst="line">
            <a:avLst/>
          </a:prstGeom>
          <a:noFill/>
          <a:ln w="9525">
            <a:solidFill>
              <a:srgbClr val="FF6B7A">
                <a:alpha val="42000"/>
              </a:srgbClr>
            </a:solidFill>
            <a:prstDash val="solid"/>
          </a:ln>
        </p:spPr>
      </p:sp>
      <p:sp>
        <p:nvSpPr>
          <p:cNvPr id="26" name="Shape 24"/>
          <p:cNvSpPr/>
          <p:nvPr/>
        </p:nvSpPr>
        <p:spPr>
          <a:xfrm flipV="1">
            <a:off x="3200400" y="2809037"/>
            <a:ext cx="1005840" cy="1558138"/>
          </a:xfrm>
          <a:prstGeom prst="line">
            <a:avLst/>
          </a:prstGeom>
          <a:noFill/>
          <a:ln w="9525">
            <a:solidFill>
              <a:srgbClr val="FF6B7A">
                <a:alpha val="42000"/>
              </a:srgbClr>
            </a:solidFill>
            <a:prstDash val="solid"/>
          </a:ln>
        </p:spPr>
      </p:sp>
      <p:sp>
        <p:nvSpPr>
          <p:cNvPr id="27" name="Shape 25"/>
          <p:cNvSpPr/>
          <p:nvPr/>
        </p:nvSpPr>
        <p:spPr>
          <a:xfrm flipV="1">
            <a:off x="3200400" y="3588106"/>
            <a:ext cx="1005840" cy="779069"/>
          </a:xfrm>
          <a:prstGeom prst="line">
            <a:avLst/>
          </a:prstGeom>
          <a:noFill/>
          <a:ln w="9525">
            <a:solidFill>
              <a:srgbClr val="FF6B7A">
                <a:alpha val="42000"/>
              </a:srgbClr>
            </a:solidFill>
            <a:prstDash val="solid"/>
          </a:ln>
        </p:spPr>
      </p:sp>
      <p:sp>
        <p:nvSpPr>
          <p:cNvPr id="28" name="Shape 26"/>
          <p:cNvSpPr/>
          <p:nvPr/>
        </p:nvSpPr>
        <p:spPr>
          <a:xfrm>
            <a:off x="3200400" y="4367174"/>
            <a:ext cx="1005840" cy="3658"/>
          </a:xfrm>
          <a:prstGeom prst="line">
            <a:avLst/>
          </a:prstGeom>
          <a:noFill/>
          <a:ln w="9525">
            <a:solidFill>
              <a:srgbClr val="FF6B7A">
                <a:alpha val="42000"/>
              </a:srgbClr>
            </a:solidFill>
            <a:prstDash val="solid"/>
          </a:ln>
        </p:spPr>
      </p:sp>
      <p:sp>
        <p:nvSpPr>
          <p:cNvPr id="29" name="Shape 27"/>
          <p:cNvSpPr/>
          <p:nvPr/>
        </p:nvSpPr>
        <p:spPr>
          <a:xfrm>
            <a:off x="3200400" y="4367174"/>
            <a:ext cx="1005840" cy="779069"/>
          </a:xfrm>
          <a:prstGeom prst="line">
            <a:avLst/>
          </a:prstGeom>
          <a:noFill/>
          <a:ln w="9525">
            <a:solidFill>
              <a:srgbClr val="FF6B7A">
                <a:alpha val="42000"/>
              </a:srgbClr>
            </a:solidFill>
            <a:prstDash val="solid"/>
          </a:ln>
        </p:spPr>
      </p:sp>
      <p:sp>
        <p:nvSpPr>
          <p:cNvPr id="30" name="Shape 28"/>
          <p:cNvSpPr/>
          <p:nvPr/>
        </p:nvSpPr>
        <p:spPr>
          <a:xfrm>
            <a:off x="3200400" y="4367174"/>
            <a:ext cx="1005840" cy="1558138"/>
          </a:xfrm>
          <a:prstGeom prst="line">
            <a:avLst/>
          </a:prstGeom>
          <a:noFill/>
          <a:ln w="9525">
            <a:solidFill>
              <a:srgbClr val="FF6B7A">
                <a:alpha val="42000"/>
              </a:srgbClr>
            </a:solidFill>
            <a:prstDash val="solid"/>
          </a:ln>
        </p:spPr>
      </p:sp>
      <p:sp>
        <p:nvSpPr>
          <p:cNvPr id="31" name="Shape 29"/>
          <p:cNvSpPr/>
          <p:nvPr/>
        </p:nvSpPr>
        <p:spPr>
          <a:xfrm flipV="1">
            <a:off x="3200400" y="2029968"/>
            <a:ext cx="1005840" cy="3116275"/>
          </a:xfrm>
          <a:prstGeom prst="line">
            <a:avLst/>
          </a:prstGeom>
          <a:noFill/>
          <a:ln w="9525">
            <a:solidFill>
              <a:srgbClr val="FF6B7A">
                <a:alpha val="42000"/>
              </a:srgbClr>
            </a:solidFill>
            <a:prstDash val="solid"/>
          </a:ln>
        </p:spPr>
      </p:sp>
      <p:sp>
        <p:nvSpPr>
          <p:cNvPr id="32" name="Shape 30"/>
          <p:cNvSpPr/>
          <p:nvPr/>
        </p:nvSpPr>
        <p:spPr>
          <a:xfrm flipV="1">
            <a:off x="3200400" y="2809037"/>
            <a:ext cx="1005840" cy="2337206"/>
          </a:xfrm>
          <a:prstGeom prst="line">
            <a:avLst/>
          </a:prstGeom>
          <a:noFill/>
          <a:ln w="9525">
            <a:solidFill>
              <a:srgbClr val="FF6B7A">
                <a:alpha val="42000"/>
              </a:srgbClr>
            </a:solidFill>
            <a:prstDash val="solid"/>
          </a:ln>
        </p:spPr>
      </p:sp>
      <p:sp>
        <p:nvSpPr>
          <p:cNvPr id="33" name="Shape 31"/>
          <p:cNvSpPr/>
          <p:nvPr/>
        </p:nvSpPr>
        <p:spPr>
          <a:xfrm flipV="1">
            <a:off x="3200400" y="3588106"/>
            <a:ext cx="1005840" cy="1558138"/>
          </a:xfrm>
          <a:prstGeom prst="line">
            <a:avLst/>
          </a:prstGeom>
          <a:noFill/>
          <a:ln w="9525">
            <a:solidFill>
              <a:srgbClr val="FF6B7A">
                <a:alpha val="42000"/>
              </a:srgbClr>
            </a:solidFill>
            <a:prstDash val="solid"/>
          </a:ln>
        </p:spPr>
      </p:sp>
      <p:sp>
        <p:nvSpPr>
          <p:cNvPr id="34" name="Shape 32"/>
          <p:cNvSpPr/>
          <p:nvPr/>
        </p:nvSpPr>
        <p:spPr>
          <a:xfrm flipV="1">
            <a:off x="3200400" y="4367174"/>
            <a:ext cx="1005840" cy="779069"/>
          </a:xfrm>
          <a:prstGeom prst="line">
            <a:avLst/>
          </a:prstGeom>
          <a:noFill/>
          <a:ln w="9525">
            <a:solidFill>
              <a:srgbClr val="FF6B7A">
                <a:alpha val="42000"/>
              </a:srgbClr>
            </a:solidFill>
            <a:prstDash val="solid"/>
          </a:ln>
        </p:spPr>
      </p:sp>
      <p:sp>
        <p:nvSpPr>
          <p:cNvPr id="35" name="Shape 33"/>
          <p:cNvSpPr/>
          <p:nvPr/>
        </p:nvSpPr>
        <p:spPr>
          <a:xfrm>
            <a:off x="3200400" y="5146243"/>
            <a:ext cx="1005840" cy="3658"/>
          </a:xfrm>
          <a:prstGeom prst="line">
            <a:avLst/>
          </a:prstGeom>
          <a:noFill/>
          <a:ln w="9525">
            <a:solidFill>
              <a:srgbClr val="FF6B7A">
                <a:alpha val="42000"/>
              </a:srgbClr>
            </a:solidFill>
            <a:prstDash val="solid"/>
          </a:ln>
        </p:spPr>
      </p:sp>
      <p:sp>
        <p:nvSpPr>
          <p:cNvPr id="36" name="Shape 34"/>
          <p:cNvSpPr/>
          <p:nvPr/>
        </p:nvSpPr>
        <p:spPr>
          <a:xfrm>
            <a:off x="3200400" y="5146243"/>
            <a:ext cx="1005840" cy="779069"/>
          </a:xfrm>
          <a:prstGeom prst="line">
            <a:avLst/>
          </a:prstGeom>
          <a:noFill/>
          <a:ln w="9525">
            <a:solidFill>
              <a:srgbClr val="FF6B7A">
                <a:alpha val="42000"/>
              </a:srgbClr>
            </a:solidFill>
            <a:prstDash val="solid"/>
          </a:ln>
        </p:spPr>
      </p:sp>
      <p:sp>
        <p:nvSpPr>
          <p:cNvPr id="37" name="Text 35"/>
          <p:cNvSpPr/>
          <p:nvPr/>
        </p:nvSpPr>
        <p:spPr>
          <a:xfrm>
            <a:off x="45720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WHO CONSUMES AI</a:t>
            </a:r>
            <a:endParaRPr lang="en-US" sz="1200" dirty="0"/>
          </a:p>
        </p:txBody>
      </p:sp>
      <p:sp>
        <p:nvSpPr>
          <p:cNvPr id="38" name="Shape 36"/>
          <p:cNvSpPr/>
          <p:nvPr/>
        </p:nvSpPr>
        <p:spPr>
          <a:xfrm>
            <a:off x="457200" y="1691640"/>
            <a:ext cx="2743200" cy="676656"/>
          </a:xfrm>
          <a:prstGeom prst="roundRect">
            <a:avLst>
              <a:gd name="adj" fmla="val 8108"/>
            </a:avLst>
          </a:prstGeom>
          <a:solidFill>
            <a:srgbClr val="121B2D"/>
          </a:solidFill>
          <a:ln w="12700">
            <a:solidFill>
              <a:srgbClr val="23304A"/>
            </a:solidFill>
            <a:prstDash val="solid"/>
          </a:ln>
        </p:spPr>
      </p:sp>
      <p:sp>
        <p:nvSpPr>
          <p:cNvPr id="39" name="Text 37"/>
          <p:cNvSpPr/>
          <p:nvPr/>
        </p:nvSpPr>
        <p:spPr>
          <a:xfrm>
            <a:off x="640080" y="1691640"/>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40" name="Shape 38"/>
          <p:cNvSpPr/>
          <p:nvPr/>
        </p:nvSpPr>
        <p:spPr>
          <a:xfrm>
            <a:off x="457200" y="2470709"/>
            <a:ext cx="2743200" cy="676656"/>
          </a:xfrm>
          <a:prstGeom prst="roundRect">
            <a:avLst>
              <a:gd name="adj" fmla="val 8108"/>
            </a:avLst>
          </a:prstGeom>
          <a:solidFill>
            <a:srgbClr val="121B2D"/>
          </a:solidFill>
          <a:ln w="12700">
            <a:solidFill>
              <a:srgbClr val="23304A"/>
            </a:solidFill>
            <a:prstDash val="solid"/>
          </a:ln>
        </p:spPr>
      </p:sp>
      <p:sp>
        <p:nvSpPr>
          <p:cNvPr id="41" name="Text 39"/>
          <p:cNvSpPr/>
          <p:nvPr/>
        </p:nvSpPr>
        <p:spPr>
          <a:xfrm>
            <a:off x="640080" y="2470709"/>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Analytics and BI</a:t>
            </a:r>
            <a:endParaRPr lang="en-US" sz="1300" dirty="0"/>
          </a:p>
        </p:txBody>
      </p:sp>
      <p:sp>
        <p:nvSpPr>
          <p:cNvPr id="42" name="Shape 40"/>
          <p:cNvSpPr/>
          <p:nvPr/>
        </p:nvSpPr>
        <p:spPr>
          <a:xfrm>
            <a:off x="457200" y="3249778"/>
            <a:ext cx="2743200" cy="676656"/>
          </a:xfrm>
          <a:prstGeom prst="roundRect">
            <a:avLst>
              <a:gd name="adj" fmla="val 8108"/>
            </a:avLst>
          </a:prstGeom>
          <a:solidFill>
            <a:srgbClr val="121B2D"/>
          </a:solidFill>
          <a:ln w="12700">
            <a:solidFill>
              <a:srgbClr val="23304A"/>
            </a:solidFill>
            <a:prstDash val="solid"/>
          </a:ln>
        </p:spPr>
      </p:sp>
      <p:sp>
        <p:nvSpPr>
          <p:cNvPr id="43" name="Text 41"/>
          <p:cNvSpPr/>
          <p:nvPr/>
        </p:nvSpPr>
        <p:spPr>
          <a:xfrm>
            <a:off x="640080" y="3249778"/>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HR and back office</a:t>
            </a:r>
            <a:endParaRPr lang="en-US" sz="1300" dirty="0"/>
          </a:p>
        </p:txBody>
      </p:sp>
      <p:sp>
        <p:nvSpPr>
          <p:cNvPr id="44" name="Shape 42"/>
          <p:cNvSpPr/>
          <p:nvPr/>
        </p:nvSpPr>
        <p:spPr>
          <a:xfrm>
            <a:off x="457200" y="4028846"/>
            <a:ext cx="2743200" cy="676656"/>
          </a:xfrm>
          <a:prstGeom prst="roundRect">
            <a:avLst>
              <a:gd name="adj" fmla="val 8108"/>
            </a:avLst>
          </a:prstGeom>
          <a:solidFill>
            <a:srgbClr val="121B2D"/>
          </a:solidFill>
          <a:ln w="12700">
            <a:solidFill>
              <a:srgbClr val="23304A"/>
            </a:solidFill>
            <a:prstDash val="solid"/>
          </a:ln>
        </p:spPr>
      </p:sp>
      <p:sp>
        <p:nvSpPr>
          <p:cNvPr id="45" name="Text 43"/>
          <p:cNvSpPr/>
          <p:nvPr/>
        </p:nvSpPr>
        <p:spPr>
          <a:xfrm>
            <a:off x="640080" y="4028846"/>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R&amp;D and data science</a:t>
            </a:r>
            <a:endParaRPr lang="en-US" sz="1300" dirty="0"/>
          </a:p>
        </p:txBody>
      </p:sp>
      <p:sp>
        <p:nvSpPr>
          <p:cNvPr id="46" name="Shape 44"/>
          <p:cNvSpPr/>
          <p:nvPr/>
        </p:nvSpPr>
        <p:spPr>
          <a:xfrm>
            <a:off x="457200" y="4807915"/>
            <a:ext cx="2743200" cy="676656"/>
          </a:xfrm>
          <a:prstGeom prst="roundRect">
            <a:avLst>
              <a:gd name="adj" fmla="val 8108"/>
            </a:avLst>
          </a:prstGeom>
          <a:solidFill>
            <a:srgbClr val="121B2D"/>
          </a:solidFill>
          <a:ln w="12700">
            <a:solidFill>
              <a:srgbClr val="23304A"/>
            </a:solidFill>
            <a:prstDash val="solid"/>
          </a:ln>
        </p:spPr>
      </p:sp>
      <p:sp>
        <p:nvSpPr>
          <p:cNvPr id="47" name="Text 45"/>
          <p:cNvSpPr/>
          <p:nvPr/>
        </p:nvSpPr>
        <p:spPr>
          <a:xfrm>
            <a:off x="640080" y="4807915"/>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Cloud and platform</a:t>
            </a:r>
            <a:endParaRPr lang="en-US" sz="1300" dirty="0"/>
          </a:p>
        </p:txBody>
      </p:sp>
      <p:sp>
        <p:nvSpPr>
          <p:cNvPr id="48" name="Text 46"/>
          <p:cNvSpPr/>
          <p:nvPr/>
        </p:nvSpPr>
        <p:spPr>
          <a:xfrm>
            <a:off x="420624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THEY BUY</a:t>
            </a:r>
            <a:endParaRPr lang="en-US" sz="1200" dirty="0"/>
          </a:p>
        </p:txBody>
      </p:sp>
      <p:sp>
        <p:nvSpPr>
          <p:cNvPr id="49" name="Shape 47"/>
          <p:cNvSpPr/>
          <p:nvPr/>
        </p:nvSpPr>
        <p:spPr>
          <a:xfrm>
            <a:off x="4206240" y="1691640"/>
            <a:ext cx="2743200" cy="676656"/>
          </a:xfrm>
          <a:prstGeom prst="roundRect">
            <a:avLst>
              <a:gd name="adj" fmla="val 8108"/>
            </a:avLst>
          </a:prstGeom>
          <a:solidFill>
            <a:srgbClr val="121B2D"/>
          </a:solidFill>
          <a:ln w="12700">
            <a:solidFill>
              <a:srgbClr val="23304A"/>
            </a:solidFill>
            <a:prstDash val="solid"/>
          </a:ln>
        </p:spPr>
      </p:sp>
      <p:sp>
        <p:nvSpPr>
          <p:cNvPr id="50" name="Text 48"/>
          <p:cNvSpPr/>
          <p:nvPr/>
        </p:nvSpPr>
        <p:spPr>
          <a:xfrm>
            <a:off x="4389120" y="1691640"/>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Microsoft Copilot</a:t>
            </a:r>
            <a:endParaRPr lang="en-US" sz="1300" dirty="0"/>
          </a:p>
        </p:txBody>
      </p:sp>
      <p:sp>
        <p:nvSpPr>
          <p:cNvPr id="51" name="Shape 49"/>
          <p:cNvSpPr/>
          <p:nvPr/>
        </p:nvSpPr>
        <p:spPr>
          <a:xfrm>
            <a:off x="4206240" y="2470709"/>
            <a:ext cx="2743200" cy="676656"/>
          </a:xfrm>
          <a:prstGeom prst="roundRect">
            <a:avLst>
              <a:gd name="adj" fmla="val 8108"/>
            </a:avLst>
          </a:prstGeom>
          <a:solidFill>
            <a:srgbClr val="121B2D"/>
          </a:solidFill>
          <a:ln w="12700">
            <a:solidFill>
              <a:srgbClr val="23304A"/>
            </a:solidFill>
            <a:prstDash val="solid"/>
          </a:ln>
        </p:spPr>
      </p:sp>
      <p:sp>
        <p:nvSpPr>
          <p:cNvPr id="52" name="Text 50"/>
          <p:cNvSpPr/>
          <p:nvPr/>
        </p:nvSpPr>
        <p:spPr>
          <a:xfrm>
            <a:off x="4389120" y="2470709"/>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Azure AI Foundry</a:t>
            </a:r>
            <a:endParaRPr lang="en-US" sz="1300" dirty="0"/>
          </a:p>
        </p:txBody>
      </p:sp>
      <p:sp>
        <p:nvSpPr>
          <p:cNvPr id="53" name="Shape 51"/>
          <p:cNvSpPr/>
          <p:nvPr/>
        </p:nvSpPr>
        <p:spPr>
          <a:xfrm>
            <a:off x="4206240" y="3249778"/>
            <a:ext cx="2743200" cy="676656"/>
          </a:xfrm>
          <a:prstGeom prst="roundRect">
            <a:avLst>
              <a:gd name="adj" fmla="val 8108"/>
            </a:avLst>
          </a:prstGeom>
          <a:solidFill>
            <a:srgbClr val="121B2D"/>
          </a:solidFill>
          <a:ln w="12700">
            <a:solidFill>
              <a:srgbClr val="23304A"/>
            </a:solidFill>
            <a:prstDash val="solid"/>
          </a:ln>
        </p:spPr>
      </p:sp>
      <p:sp>
        <p:nvSpPr>
          <p:cNvPr id="54" name="Text 52"/>
          <p:cNvSpPr/>
          <p:nvPr/>
        </p:nvSpPr>
        <p:spPr>
          <a:xfrm>
            <a:off x="4389120" y="3249778"/>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AWS Bedrock</a:t>
            </a:r>
            <a:endParaRPr lang="en-US" sz="1300" dirty="0"/>
          </a:p>
        </p:txBody>
      </p:sp>
      <p:sp>
        <p:nvSpPr>
          <p:cNvPr id="55" name="Shape 53"/>
          <p:cNvSpPr/>
          <p:nvPr/>
        </p:nvSpPr>
        <p:spPr>
          <a:xfrm>
            <a:off x="4206240" y="4028846"/>
            <a:ext cx="2743200" cy="676656"/>
          </a:xfrm>
          <a:prstGeom prst="roundRect">
            <a:avLst>
              <a:gd name="adj" fmla="val 8108"/>
            </a:avLst>
          </a:prstGeom>
          <a:solidFill>
            <a:srgbClr val="121B2D"/>
          </a:solidFill>
          <a:ln w="12700">
            <a:solidFill>
              <a:srgbClr val="23304A"/>
            </a:solidFill>
            <a:prstDash val="solid"/>
          </a:ln>
        </p:spPr>
      </p:sp>
      <p:sp>
        <p:nvSpPr>
          <p:cNvPr id="56" name="Text 54"/>
          <p:cNvSpPr/>
          <p:nvPr/>
        </p:nvSpPr>
        <p:spPr>
          <a:xfrm>
            <a:off x="4389120" y="4028846"/>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Google Vertex AI</a:t>
            </a:r>
            <a:endParaRPr lang="en-US" sz="1300" dirty="0"/>
          </a:p>
        </p:txBody>
      </p:sp>
      <p:sp>
        <p:nvSpPr>
          <p:cNvPr id="57" name="Shape 55"/>
          <p:cNvSpPr/>
          <p:nvPr/>
        </p:nvSpPr>
        <p:spPr>
          <a:xfrm>
            <a:off x="4206240" y="4807915"/>
            <a:ext cx="2743200" cy="676656"/>
          </a:xfrm>
          <a:prstGeom prst="roundRect">
            <a:avLst>
              <a:gd name="adj" fmla="val 8108"/>
            </a:avLst>
          </a:prstGeom>
          <a:solidFill>
            <a:srgbClr val="121B2D"/>
          </a:solidFill>
          <a:ln w="12700">
            <a:solidFill>
              <a:srgbClr val="23304A"/>
            </a:solidFill>
            <a:prstDash val="solid"/>
          </a:ln>
        </p:spPr>
      </p:sp>
      <p:sp>
        <p:nvSpPr>
          <p:cNvPr id="58" name="Text 56"/>
          <p:cNvSpPr/>
          <p:nvPr/>
        </p:nvSpPr>
        <p:spPr>
          <a:xfrm>
            <a:off x="4389120" y="4807915"/>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Claude / OpenAI</a:t>
            </a:r>
            <a:endParaRPr lang="en-US" sz="1300" dirty="0"/>
          </a:p>
        </p:txBody>
      </p:sp>
      <p:sp>
        <p:nvSpPr>
          <p:cNvPr id="59" name="Shape 57"/>
          <p:cNvSpPr/>
          <p:nvPr/>
        </p:nvSpPr>
        <p:spPr>
          <a:xfrm>
            <a:off x="4206240" y="5586984"/>
            <a:ext cx="2743200" cy="676656"/>
          </a:xfrm>
          <a:prstGeom prst="roundRect">
            <a:avLst>
              <a:gd name="adj" fmla="val 8108"/>
            </a:avLst>
          </a:prstGeom>
          <a:solidFill>
            <a:srgbClr val="121B2D"/>
          </a:solidFill>
          <a:ln w="12700">
            <a:solidFill>
              <a:srgbClr val="23304A"/>
            </a:solidFill>
            <a:prstDash val="solid"/>
          </a:ln>
        </p:spPr>
      </p:sp>
      <p:sp>
        <p:nvSpPr>
          <p:cNvPr id="60" name="Text 58"/>
          <p:cNvSpPr/>
          <p:nvPr/>
        </p:nvSpPr>
        <p:spPr>
          <a:xfrm>
            <a:off x="4389120" y="5586984"/>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Databricks</a:t>
            </a:r>
            <a:endParaRPr lang="en-US" sz="1300" dirty="0"/>
          </a:p>
        </p:txBody>
      </p:sp>
      <p:sp>
        <p:nvSpPr>
          <p:cNvPr id="61" name="Shape 59"/>
          <p:cNvSpPr/>
          <p:nvPr/>
        </p:nvSpPr>
        <p:spPr>
          <a:xfrm>
            <a:off x="7315200" y="1234440"/>
            <a:ext cx="4419295" cy="5029200"/>
          </a:xfrm>
          <a:prstGeom prst="roundRect">
            <a:avLst>
              <a:gd name="adj" fmla="val 1241"/>
            </a:avLst>
          </a:prstGeom>
          <a:solidFill>
            <a:srgbClr val="121B2D"/>
          </a:solidFill>
          <a:ln w="12700">
            <a:solidFill>
              <a:srgbClr val="23304A"/>
            </a:solidFill>
            <a:prstDash val="solid"/>
          </a:ln>
        </p:spPr>
      </p:sp>
      <p:sp>
        <p:nvSpPr>
          <p:cNvPr id="62" name="Shape 60"/>
          <p:cNvSpPr/>
          <p:nvPr/>
        </p:nvSpPr>
        <p:spPr>
          <a:xfrm>
            <a:off x="7315200" y="1234440"/>
            <a:ext cx="4419295" cy="45720"/>
          </a:xfrm>
          <a:prstGeom prst="rect">
            <a:avLst/>
          </a:prstGeom>
          <a:solidFill>
            <a:srgbClr val="FF6B7A"/>
          </a:solidFill>
          <a:ln w="12700">
            <a:solidFill>
              <a:srgbClr val="FF6B7A"/>
            </a:solidFill>
            <a:prstDash val="solid"/>
          </a:ln>
        </p:spPr>
      </p:sp>
      <p:sp>
        <p:nvSpPr>
          <p:cNvPr id="63" name="Text 61"/>
          <p:cNvSpPr/>
          <p:nvPr/>
        </p:nvSpPr>
        <p:spPr>
          <a:xfrm>
            <a:off x="7534656" y="1399032"/>
            <a:ext cx="3980383" cy="274320"/>
          </a:xfrm>
          <a:prstGeom prst="rect">
            <a:avLst/>
          </a:prstGeom>
          <a:noFill/>
          <a:ln/>
        </p:spPr>
        <p:txBody>
          <a:bodyPr wrap="square" lIns="0" tIns="0" rIns="0" bIns="0" rtlCol="0" anchor="ctr"/>
          <a:lstStyle/>
          <a:p>
            <a:pPr indent="0" marL="0">
              <a:buNone/>
            </a:pPr>
            <a:r>
              <a:rPr lang="en-US" sz="1200" b="1" spc="140" kern="0" dirty="0">
                <a:solidFill>
                  <a:srgbClr val="FF6B7A"/>
                </a:solidFill>
                <a:latin typeface="Calibri" pitchFamily="34" charset="0"/>
                <a:ea typeface="Calibri" pitchFamily="34" charset="-122"/>
                <a:cs typeface="Calibri" pitchFamily="34" charset="-120"/>
              </a:rPr>
              <a:t>TODAY'S REALITY</a:t>
            </a:r>
            <a:endParaRPr lang="en-US" sz="1200" dirty="0"/>
          </a:p>
        </p:txBody>
      </p:sp>
      <p:sp>
        <p:nvSpPr>
          <p:cNvPr id="64" name="Text 62"/>
          <p:cNvSpPr/>
          <p:nvPr/>
        </p:nvSpPr>
        <p:spPr>
          <a:xfrm>
            <a:off x="7534656" y="1783080"/>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AI providers, bought separately</a:t>
            </a:r>
            <a:endParaRPr lang="en-US" sz="1300" dirty="0"/>
          </a:p>
        </p:txBody>
      </p:sp>
      <p:sp>
        <p:nvSpPr>
          <p:cNvPr id="65" name="Shape 63"/>
          <p:cNvSpPr/>
          <p:nvPr/>
        </p:nvSpPr>
        <p:spPr>
          <a:xfrm>
            <a:off x="7534656" y="2638958"/>
            <a:ext cx="3980383" cy="9144"/>
          </a:xfrm>
          <a:prstGeom prst="rect">
            <a:avLst/>
          </a:prstGeom>
          <a:solidFill>
            <a:srgbClr val="23304A"/>
          </a:solidFill>
          <a:ln w="12700">
            <a:solidFill>
              <a:srgbClr val="23304A"/>
            </a:solidFill>
            <a:prstDash val="solid"/>
          </a:ln>
        </p:spPr>
      </p:sp>
      <p:sp>
        <p:nvSpPr>
          <p:cNvPr id="66" name="Text 64"/>
          <p:cNvSpPr/>
          <p:nvPr/>
        </p:nvSpPr>
        <p:spPr>
          <a:xfrm>
            <a:off x="7534656" y="2675534"/>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business units consuming them</a:t>
            </a:r>
            <a:endParaRPr lang="en-US" sz="1300" dirty="0"/>
          </a:p>
        </p:txBody>
      </p:sp>
      <p:sp>
        <p:nvSpPr>
          <p:cNvPr id="67" name="Shape 65"/>
          <p:cNvSpPr/>
          <p:nvPr/>
        </p:nvSpPr>
        <p:spPr>
          <a:xfrm>
            <a:off x="7534656" y="3531413"/>
            <a:ext cx="3980383" cy="9144"/>
          </a:xfrm>
          <a:prstGeom prst="rect">
            <a:avLst/>
          </a:prstGeom>
          <a:solidFill>
            <a:srgbClr val="23304A"/>
          </a:solidFill>
          <a:ln w="12700">
            <a:solidFill>
              <a:srgbClr val="23304A"/>
            </a:solidFill>
            <a:prstDash val="solid"/>
          </a:ln>
        </p:spPr>
      </p:sp>
      <p:sp>
        <p:nvSpPr>
          <p:cNvPr id="68" name="Text 66"/>
          <p:cNvSpPr/>
          <p:nvPr/>
        </p:nvSpPr>
        <p:spPr>
          <a:xfrm>
            <a:off x="7534656" y="3567989"/>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applications on shared keys</a:t>
            </a:r>
            <a:endParaRPr lang="en-US" sz="1300" dirty="0"/>
          </a:p>
        </p:txBody>
      </p:sp>
      <p:sp>
        <p:nvSpPr>
          <p:cNvPr id="69" name="Shape 67"/>
          <p:cNvSpPr/>
          <p:nvPr/>
        </p:nvSpPr>
        <p:spPr>
          <a:xfrm>
            <a:off x="7534656" y="4423867"/>
            <a:ext cx="3980383" cy="9144"/>
          </a:xfrm>
          <a:prstGeom prst="rect">
            <a:avLst/>
          </a:prstGeom>
          <a:solidFill>
            <a:srgbClr val="23304A"/>
          </a:solidFill>
          <a:ln w="12700">
            <a:solidFill>
              <a:srgbClr val="23304A"/>
            </a:solidFill>
            <a:prstDash val="solid"/>
          </a:ln>
        </p:spPr>
      </p:sp>
      <p:sp>
        <p:nvSpPr>
          <p:cNvPr id="70" name="Text 68"/>
          <p:cNvSpPr/>
          <p:nvPr/>
        </p:nvSpPr>
        <p:spPr>
          <a:xfrm>
            <a:off x="7534656" y="4460443"/>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Limited financial visibility per consumer</a:t>
            </a:r>
            <a:endParaRPr lang="en-US" sz="1300" dirty="0"/>
          </a:p>
        </p:txBody>
      </p:sp>
      <p:sp>
        <p:nvSpPr>
          <p:cNvPr id="71" name="Shape 69"/>
          <p:cNvSpPr/>
          <p:nvPr/>
        </p:nvSpPr>
        <p:spPr>
          <a:xfrm>
            <a:off x="7534656" y="5316322"/>
            <a:ext cx="3980383" cy="9144"/>
          </a:xfrm>
          <a:prstGeom prst="rect">
            <a:avLst/>
          </a:prstGeom>
          <a:solidFill>
            <a:srgbClr val="23304A"/>
          </a:solidFill>
          <a:ln w="12700">
            <a:solidFill>
              <a:srgbClr val="23304A"/>
            </a:solidFill>
            <a:prstDash val="solid"/>
          </a:ln>
        </p:spPr>
      </p:sp>
      <p:sp>
        <p:nvSpPr>
          <p:cNvPr id="72" name="Text 70"/>
          <p:cNvSpPr/>
          <p:nvPr/>
        </p:nvSpPr>
        <p:spPr>
          <a:xfrm>
            <a:off x="7534656" y="5352898"/>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No unified enterprise ownership</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AWS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1495</TotalTime>
  <Words>5685</Words>
  <Application>Microsoft Office PowerPoint</Application>
  <PresentationFormat>מסך רחב</PresentationFormat>
  <Paragraphs>905</Paragraphs>
  <Slides>38</Slides>
  <Notes>38</Notes>
  <HiddenSlides>1</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38</vt:i4>
      </vt:variant>
    </vt:vector>
  </HeadingPairs>
  <TitlesOfParts>
    <vt:vector size="43" baseType="lpstr">
      <vt:lpstr>Aptos</vt:lpstr>
      <vt:lpstr>Arial</vt:lpstr>
      <vt:lpstr>Calibri</vt:lpstr>
      <vt:lpstr>Cambria</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23</cp:revision>
  <dcterms:created xsi:type="dcterms:W3CDTF">2026-08-17T09:02:17Z</dcterms:created>
  <dcterms:modified xsi:type="dcterms:W3CDTF">2026-08-18T15:19:28Z</dcterms:modified>
</cp:coreProperties>
</file>