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AI BILL ON ONE SLIDE. $79,448, 50 days, 1,290,499 calls.
READ THE STRIP FIRST. Five segments, and the red one on the right is the
biggest thing on the slide. That is the argument.
THE THREE TEAMS
  insait        $21,140   26.6% of the bill    188,069 calls  $112/1K
  ai-factory    $14,871   18.7% of the bill    408,859 calls  $36/1K
  solugen       $11,852   14.9% of the bill    661,197 calls  $18/1K
  insait      agent and the copilots, expensive per call by nature
  ai-factory  the only team on all three providers, three different jobs
  solugen     one application, half our call volume, cheapest per call
THE RED ROWS INSIDE THE CARDS
  unknown       Claude  insait       $2,849    31,457 calls
  (unlabeled)   Azure   insait       $2,260    23,227 calls
  (unlabeled)   Azure   solugen        $309    17,502 calls
  (unlabeled)   GCP     unknown         $38     1,341 calls
  (unlabeled)   Azure   unknown         $26     1,053 calls
  (unlabeled)   Azure   ai-factory       $3       128 calls
  (unlabeled)   GCP     ai-factory       $2        64 calls
At $91 and $97 per thousand calls the two insait rows are production agent
traffic that lost its label, not somebody's test script. Say 'almost
certainly', not 'is', because we cannot prove it from this file.
THE BAND IS THE POINT OF THE SLIDE.
  $28,370  Bedrock model spend with no application tag
  $1,754  guardrail fees, billed apart from inference
  $30,125  together, against $21,140 for insait, our largest team
That is 57% of our Bedrock spend with nothing to charge it to. Add the
$5,487 of unknown rows inside the cards and 45% of the bill has no
application name on it.
WHAT IT COSTS US: no chargeback, no quota anyone can be held to, and no
answer to 'whose is this' for nearly half the spend.
THE ASK: put an application tag on the Bedrock calls. Gateway
configuration, not a project. Nobody has to stop building anything.
IF ASKED WHY THE CARDS DO NOT ADD TO THE TOTAL: they do. Three cards, the
13 other teams on the right of the band, and the untagged line, come to $79,448.
IF ASKED FOR A SINGLE APPLICATION FIGURE: agent is $13,870 across Claude and
Azure, the largest thing we run. insureGen is $11,537 on 643,475 calls,
half our volume for a quarter of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3DD9EB"/>
                </a:solidFill>
                <a:latin typeface="Calibri" pitchFamily="34" charset="0"/>
                <a:ea typeface="Calibri" pitchFamily="34" charset="-122"/>
                <a:cs typeface="Calibri" pitchFamily="34" charset="-120"/>
              </a:rPr>
              <a:t>AI CONSUMPTION, 1 JULY TO 19 AUGUST 2026</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$79,448 of AI in 50 days, and who is spending it</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1,290,499 calls across Claude, Azure OpenAI and GCP. About $48,331 a month at this rate.</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Cost Explorer actuals where they exist, token estimate where they do not. Red is spend with no application name: $5,487 on rows named unknown inside the teams, plus the $30,125 below, is $35,612 or 45% of the bill.</a:t>
            </a:r>
            <a:endParaRPr lang="en-US" sz="1200" dirty="0"/>
          </a:p>
        </p:txBody>
      </p:sp>
      <p:sp>
        <p:nvSpPr>
          <p:cNvPr id="8" name="Shape 6"/>
          <p:cNvSpPr/>
          <p:nvPr/>
        </p:nvSpPr>
        <p:spPr>
          <a:xfrm>
            <a:off x="457200" y="1234440"/>
            <a:ext cx="2942907" cy="201168"/>
          </a:xfrm>
          <a:prstGeom prst="rect">
            <a:avLst/>
          </a:prstGeom>
          <a:solidFill>
            <a:srgbClr val="3DD9EB"/>
          </a:solidFill>
          <a:ln w="12700">
            <a:solidFill>
              <a:srgbClr val="3DD9EB"/>
            </a:solidFill>
            <a:prstDash val="solid"/>
          </a:ln>
        </p:spPr>
      </p:sp>
      <p:sp>
        <p:nvSpPr>
          <p:cNvPr id="9" name="Text 7"/>
          <p:cNvSpPr/>
          <p:nvPr/>
        </p:nvSpPr>
        <p:spPr>
          <a:xfrm>
            <a:off x="457200" y="1472184"/>
            <a:ext cx="3491547" cy="219456"/>
          </a:xfrm>
          <a:prstGeom prst="rect">
            <a:avLst/>
          </a:prstGeom>
          <a:noFill/>
          <a:ln/>
        </p:spPr>
        <p:txBody>
          <a:bodyPr wrap="square" lIns="0" tIns="0" rIns="0" bIns="0" rtlCol="0" anchor="ctr"/>
          <a:lstStyle/>
          <a:p>
            <a:pPr indent="0" marL="0">
              <a:buNone/>
            </a:pPr>
            <a:r>
              <a:rPr lang="en-US" sz="1200" b="1" dirty="0">
                <a:solidFill>
                  <a:srgbClr val="3DD9EB"/>
                </a:solidFill>
                <a:latin typeface="Calibri" pitchFamily="34" charset="0"/>
                <a:ea typeface="Calibri" pitchFamily="34" charset="-122"/>
                <a:cs typeface="Calibri" pitchFamily="34" charset="-120"/>
              </a:rPr>
              <a:t>insait  $21,140</a:t>
            </a:r>
            <a:endParaRPr lang="en-US" sz="1200" dirty="0"/>
          </a:p>
        </p:txBody>
      </p:sp>
      <p:sp>
        <p:nvSpPr>
          <p:cNvPr id="10" name="Shape 8"/>
          <p:cNvSpPr/>
          <p:nvPr/>
        </p:nvSpPr>
        <p:spPr>
          <a:xfrm>
            <a:off x="3445827" y="1234440"/>
            <a:ext cx="2070193" cy="201168"/>
          </a:xfrm>
          <a:prstGeom prst="rect">
            <a:avLst/>
          </a:prstGeom>
          <a:solidFill>
            <a:srgbClr val="B07CFF"/>
          </a:solidFill>
          <a:ln w="12700">
            <a:solidFill>
              <a:srgbClr val="B07CFF"/>
            </a:solidFill>
            <a:prstDash val="solid"/>
          </a:ln>
        </p:spPr>
      </p:sp>
      <p:sp>
        <p:nvSpPr>
          <p:cNvPr id="11" name="Text 9"/>
          <p:cNvSpPr/>
          <p:nvPr/>
        </p:nvSpPr>
        <p:spPr>
          <a:xfrm>
            <a:off x="3445827" y="1472184"/>
            <a:ext cx="2618833" cy="219456"/>
          </a:xfrm>
          <a:prstGeom prst="rect">
            <a:avLst/>
          </a:prstGeom>
          <a:noFill/>
          <a:ln/>
        </p:spPr>
        <p:txBody>
          <a:bodyPr wrap="square" lIns="0" tIns="0" rIns="0" bIns="0" rtlCol="0" anchor="ctr"/>
          <a:lstStyle/>
          <a:p>
            <a:pPr indent="0" marL="0">
              <a:buNone/>
            </a:pPr>
            <a:r>
              <a:rPr lang="en-US" sz="1200" b="1" dirty="0">
                <a:solidFill>
                  <a:srgbClr val="B07CFF"/>
                </a:solidFill>
                <a:latin typeface="Calibri" pitchFamily="34" charset="0"/>
                <a:ea typeface="Calibri" pitchFamily="34" charset="-122"/>
                <a:cs typeface="Calibri" pitchFamily="34" charset="-120"/>
              </a:rPr>
              <a:t>ai-factory  $14,871</a:t>
            </a:r>
            <a:endParaRPr lang="en-US" sz="1200" dirty="0"/>
          </a:p>
        </p:txBody>
      </p:sp>
      <p:sp>
        <p:nvSpPr>
          <p:cNvPr id="12" name="Shape 10"/>
          <p:cNvSpPr/>
          <p:nvPr/>
        </p:nvSpPr>
        <p:spPr>
          <a:xfrm>
            <a:off x="5561740" y="1234440"/>
            <a:ext cx="1649879" cy="201168"/>
          </a:xfrm>
          <a:prstGeom prst="rect">
            <a:avLst/>
          </a:prstGeom>
          <a:solidFill>
            <a:srgbClr val="E0A030"/>
          </a:solidFill>
          <a:ln w="12700">
            <a:solidFill>
              <a:srgbClr val="E0A030"/>
            </a:solidFill>
            <a:prstDash val="solid"/>
          </a:ln>
        </p:spPr>
      </p:sp>
      <p:sp>
        <p:nvSpPr>
          <p:cNvPr id="13" name="Text 11"/>
          <p:cNvSpPr/>
          <p:nvPr/>
        </p:nvSpPr>
        <p:spPr>
          <a:xfrm>
            <a:off x="5561740" y="1472184"/>
            <a:ext cx="2198519" cy="219456"/>
          </a:xfrm>
          <a:prstGeom prst="rect">
            <a:avLst/>
          </a:prstGeom>
          <a:noFill/>
          <a:ln/>
        </p:spPr>
        <p:txBody>
          <a:bodyPr wrap="square" lIns="0" tIns="0" rIns="0" bIns="0" rtlCol="0" anchor="ctr"/>
          <a:lstStyle/>
          <a:p>
            <a:pPr indent="0" marL="0">
              <a:buNone/>
            </a:pPr>
            <a:r>
              <a:rPr lang="en-US" sz="1200" b="1" dirty="0">
                <a:solidFill>
                  <a:srgbClr val="E0A030"/>
                </a:solidFill>
                <a:latin typeface="Calibri" pitchFamily="34" charset="0"/>
                <a:ea typeface="Calibri" pitchFamily="34" charset="-122"/>
                <a:cs typeface="Calibri" pitchFamily="34" charset="-120"/>
              </a:rPr>
              <a:t>solugen  $11,852</a:t>
            </a:r>
            <a:endParaRPr lang="en-US" sz="1200" dirty="0"/>
          </a:p>
        </p:txBody>
      </p:sp>
      <p:sp>
        <p:nvSpPr>
          <p:cNvPr id="14" name="Shape 12"/>
          <p:cNvSpPr/>
          <p:nvPr/>
        </p:nvSpPr>
        <p:spPr>
          <a:xfrm>
            <a:off x="7257339" y="1234440"/>
            <a:ext cx="237744" cy="201168"/>
          </a:xfrm>
          <a:prstGeom prst="rect">
            <a:avLst/>
          </a:prstGeom>
          <a:solidFill>
            <a:srgbClr val="536078"/>
          </a:solidFill>
          <a:ln w="12700">
            <a:solidFill>
              <a:srgbClr val="536078"/>
            </a:solidFill>
            <a:prstDash val="solid"/>
          </a:ln>
        </p:spPr>
      </p:sp>
      <p:sp>
        <p:nvSpPr>
          <p:cNvPr id="15" name="Shape 13"/>
          <p:cNvSpPr/>
          <p:nvPr/>
        </p:nvSpPr>
        <p:spPr>
          <a:xfrm>
            <a:off x="7540803" y="1234440"/>
            <a:ext cx="4193692" cy="201168"/>
          </a:xfrm>
          <a:prstGeom prst="rect">
            <a:avLst/>
          </a:prstGeom>
          <a:solidFill>
            <a:srgbClr val="FF6B7A"/>
          </a:solidFill>
          <a:ln w="12700">
            <a:solidFill>
              <a:srgbClr val="FF6B7A"/>
            </a:solidFill>
            <a:prstDash val="solid"/>
          </a:ln>
        </p:spPr>
      </p:sp>
      <p:sp>
        <p:nvSpPr>
          <p:cNvPr id="16" name="Text 14"/>
          <p:cNvSpPr/>
          <p:nvPr/>
        </p:nvSpPr>
        <p:spPr>
          <a:xfrm>
            <a:off x="7540803" y="1472184"/>
            <a:ext cx="4742332" cy="219456"/>
          </a:xfrm>
          <a:prstGeom prst="rect">
            <a:avLst/>
          </a:prstGeom>
          <a:noFill/>
          <a:ln/>
        </p:spPr>
        <p:txBody>
          <a:bodyPr wrap="square" lIns="0" tIns="0" rIns="0" bIns="0" rtlCol="0" anchor="ctr"/>
          <a:lstStyle/>
          <a:p>
            <a:pPr indent="0" marL="0">
              <a:buNone/>
            </a:pPr>
            <a:r>
              <a:rPr lang="en-US" sz="1200" b="1" dirty="0">
                <a:solidFill>
                  <a:srgbClr val="FF6B7A"/>
                </a:solidFill>
                <a:latin typeface="Calibri" pitchFamily="34" charset="0"/>
                <a:ea typeface="Calibri" pitchFamily="34" charset="-122"/>
                <a:cs typeface="Calibri" pitchFamily="34" charset="-120"/>
              </a:rPr>
              <a:t>No team at all  $30,125</a:t>
            </a:r>
            <a:endParaRPr lang="en-US" sz="1200" dirty="0"/>
          </a:p>
        </p:txBody>
      </p:sp>
      <p:sp>
        <p:nvSpPr>
          <p:cNvPr id="17" name="Shape 15"/>
          <p:cNvSpPr/>
          <p:nvPr/>
        </p:nvSpPr>
        <p:spPr>
          <a:xfrm>
            <a:off x="457200" y="1673352"/>
            <a:ext cx="3612794" cy="3419856"/>
          </a:xfrm>
          <a:prstGeom prst="roundRect">
            <a:avLst>
              <a:gd name="adj" fmla="val 1604"/>
            </a:avLst>
          </a:prstGeom>
          <a:solidFill>
            <a:srgbClr val="121B2D"/>
          </a:solidFill>
          <a:ln w="12700">
            <a:solidFill>
              <a:srgbClr val="23304A"/>
            </a:solidFill>
            <a:prstDash val="solid"/>
          </a:ln>
        </p:spPr>
      </p:sp>
      <p:sp>
        <p:nvSpPr>
          <p:cNvPr id="18" name="Shape 16"/>
          <p:cNvSpPr/>
          <p:nvPr/>
        </p:nvSpPr>
        <p:spPr>
          <a:xfrm>
            <a:off x="457200" y="1673352"/>
            <a:ext cx="3612794" cy="45720"/>
          </a:xfrm>
          <a:prstGeom prst="rect">
            <a:avLst/>
          </a:prstGeom>
          <a:solidFill>
            <a:srgbClr val="3DD9EB"/>
          </a:solidFill>
          <a:ln w="12700">
            <a:solidFill>
              <a:srgbClr val="3DD9EB"/>
            </a:solidFill>
            <a:prstDash val="solid"/>
          </a:ln>
        </p:spPr>
      </p:sp>
      <p:sp>
        <p:nvSpPr>
          <p:cNvPr id="19" name="Text 17"/>
          <p:cNvSpPr/>
          <p:nvPr/>
        </p:nvSpPr>
        <p:spPr>
          <a:xfrm>
            <a:off x="658368" y="1801368"/>
            <a:ext cx="3210458" cy="237744"/>
          </a:xfrm>
          <a:prstGeom prst="rect">
            <a:avLst/>
          </a:prstGeom>
          <a:noFill/>
          <a:ln/>
        </p:spPr>
        <p:txBody>
          <a:bodyPr wrap="square" lIns="0" tIns="0" rIns="0" bIns="0" rtlCol="0" anchor="ctr"/>
          <a:lstStyle/>
          <a:p>
            <a:pPr indent="0" marL="0">
              <a:buNone/>
            </a:pPr>
            <a:r>
              <a:rPr lang="en-US" sz="1200" b="1" spc="110" kern="0" dirty="0">
                <a:solidFill>
                  <a:srgbClr val="3DD9EB"/>
                </a:solidFill>
                <a:latin typeface="Calibri" pitchFamily="34" charset="0"/>
                <a:ea typeface="Calibri" pitchFamily="34" charset="-122"/>
                <a:cs typeface="Calibri" pitchFamily="34" charset="-120"/>
              </a:rPr>
              <a:t>INSAIT</a:t>
            </a:r>
            <a:endParaRPr lang="en-US" sz="1200" dirty="0"/>
          </a:p>
        </p:txBody>
      </p:sp>
      <p:sp>
        <p:nvSpPr>
          <p:cNvPr id="20" name="Text 18"/>
          <p:cNvSpPr/>
          <p:nvPr/>
        </p:nvSpPr>
        <p:spPr>
          <a:xfrm>
            <a:off x="658368" y="2057400"/>
            <a:ext cx="3210458" cy="475488"/>
          </a:xfrm>
          <a:prstGeom prst="rect">
            <a:avLst/>
          </a:prstGeom>
          <a:noFill/>
          <a:ln/>
        </p:spPr>
        <p:txBody>
          <a:bodyPr wrap="square" lIns="0" tIns="0" rIns="0" bIns="0" rtlCol="0" anchor="ctr"/>
          <a:lstStyle/>
          <a:p>
            <a:pPr indent="0" marL="0">
              <a:buNone/>
            </a:pPr>
            <a:r>
              <a:rPr lang="en-US" sz="3400" b="1" dirty="0">
                <a:solidFill>
                  <a:srgbClr val="F4F7FB"/>
                </a:solidFill>
                <a:latin typeface="Calibri" pitchFamily="34" charset="0"/>
                <a:ea typeface="Calibri" pitchFamily="34" charset="-122"/>
                <a:cs typeface="Calibri" pitchFamily="34" charset="-120"/>
              </a:rPr>
              <a:t>$21,140</a:t>
            </a:r>
            <a:endParaRPr lang="en-US" sz="3400" dirty="0"/>
          </a:p>
        </p:txBody>
      </p:sp>
      <p:sp>
        <p:nvSpPr>
          <p:cNvPr id="21" name="Text 19"/>
          <p:cNvSpPr/>
          <p:nvPr/>
        </p:nvSpPr>
        <p:spPr>
          <a:xfrm>
            <a:off x="658368" y="2532888"/>
            <a:ext cx="321045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188,069 calls, $112 per 1,000</a:t>
            </a:r>
            <a:endParaRPr lang="en-US" sz="1200" dirty="0"/>
          </a:p>
        </p:txBody>
      </p:sp>
      <p:sp>
        <p:nvSpPr>
          <p:cNvPr id="22" name="Shape 20"/>
          <p:cNvSpPr/>
          <p:nvPr/>
        </p:nvSpPr>
        <p:spPr>
          <a:xfrm>
            <a:off x="658368" y="2807208"/>
            <a:ext cx="2578337" cy="164592"/>
          </a:xfrm>
          <a:prstGeom prst="rect">
            <a:avLst/>
          </a:prstGeom>
          <a:solidFill>
            <a:srgbClr val="FF9F43"/>
          </a:solidFill>
          <a:ln w="12700">
            <a:solidFill>
              <a:srgbClr val="FF9F43"/>
            </a:solidFill>
            <a:prstDash val="solid"/>
          </a:ln>
        </p:spPr>
      </p:sp>
      <p:sp>
        <p:nvSpPr>
          <p:cNvPr id="23" name="Shape 21"/>
          <p:cNvSpPr/>
          <p:nvPr/>
        </p:nvSpPr>
        <p:spPr>
          <a:xfrm>
            <a:off x="3273281" y="2807208"/>
            <a:ext cx="595546" cy="164592"/>
          </a:xfrm>
          <a:prstGeom prst="rect">
            <a:avLst/>
          </a:prstGeom>
          <a:solidFill>
            <a:srgbClr val="2F8CFF"/>
          </a:solidFill>
          <a:ln w="12700">
            <a:solidFill>
              <a:srgbClr val="2F8CFF"/>
            </a:solidFill>
            <a:prstDash val="solid"/>
          </a:ln>
        </p:spPr>
      </p:sp>
      <p:sp>
        <p:nvSpPr>
          <p:cNvPr id="24" name="Shape 22"/>
          <p:cNvSpPr/>
          <p:nvPr/>
        </p:nvSpPr>
        <p:spPr>
          <a:xfrm>
            <a:off x="658368" y="3099816"/>
            <a:ext cx="100584" cy="100584"/>
          </a:xfrm>
          <a:prstGeom prst="rect">
            <a:avLst/>
          </a:prstGeom>
          <a:solidFill>
            <a:srgbClr val="FF9F43"/>
          </a:solidFill>
          <a:ln w="12700">
            <a:solidFill>
              <a:srgbClr val="FF9F43"/>
            </a:solidFill>
            <a:prstDash val="solid"/>
          </a:ln>
        </p:spPr>
      </p:sp>
      <p:sp>
        <p:nvSpPr>
          <p:cNvPr id="25" name="Text 23"/>
          <p:cNvSpPr/>
          <p:nvPr/>
        </p:nvSpPr>
        <p:spPr>
          <a:xfrm>
            <a:off x="841248" y="3044952"/>
            <a:ext cx="193029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Claude</a:t>
            </a:r>
            <a:endParaRPr lang="en-US" sz="1200" dirty="0"/>
          </a:p>
        </p:txBody>
      </p:sp>
      <p:sp>
        <p:nvSpPr>
          <p:cNvPr id="26" name="Text 24"/>
          <p:cNvSpPr/>
          <p:nvPr/>
        </p:nvSpPr>
        <p:spPr>
          <a:xfrm>
            <a:off x="2771546" y="3044952"/>
            <a:ext cx="1097280" cy="192024"/>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$15,047</a:t>
            </a:r>
            <a:endParaRPr lang="en-US" sz="1200" dirty="0"/>
          </a:p>
        </p:txBody>
      </p:sp>
      <p:sp>
        <p:nvSpPr>
          <p:cNvPr id="27" name="Shape 25"/>
          <p:cNvSpPr/>
          <p:nvPr/>
        </p:nvSpPr>
        <p:spPr>
          <a:xfrm>
            <a:off x="658368" y="3291840"/>
            <a:ext cx="100584" cy="100584"/>
          </a:xfrm>
          <a:prstGeom prst="rect">
            <a:avLst/>
          </a:prstGeom>
          <a:solidFill>
            <a:srgbClr val="2F8CFF"/>
          </a:solidFill>
          <a:ln w="12700">
            <a:solidFill>
              <a:srgbClr val="2F8CFF"/>
            </a:solidFill>
            <a:prstDash val="solid"/>
          </a:ln>
        </p:spPr>
      </p:sp>
      <p:sp>
        <p:nvSpPr>
          <p:cNvPr id="28" name="Text 26"/>
          <p:cNvSpPr/>
          <p:nvPr/>
        </p:nvSpPr>
        <p:spPr>
          <a:xfrm>
            <a:off x="841248" y="3236976"/>
            <a:ext cx="193029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Azure OpenAI</a:t>
            </a:r>
            <a:endParaRPr lang="en-US" sz="1200" dirty="0"/>
          </a:p>
        </p:txBody>
      </p:sp>
      <p:sp>
        <p:nvSpPr>
          <p:cNvPr id="29" name="Text 27"/>
          <p:cNvSpPr/>
          <p:nvPr/>
        </p:nvSpPr>
        <p:spPr>
          <a:xfrm>
            <a:off x="2771546" y="3236976"/>
            <a:ext cx="1097280" cy="192024"/>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$3,476</a:t>
            </a:r>
            <a:endParaRPr lang="en-US" sz="1200" dirty="0"/>
          </a:p>
        </p:txBody>
      </p:sp>
      <p:sp>
        <p:nvSpPr>
          <p:cNvPr id="30" name="Text 28"/>
          <p:cNvSpPr/>
          <p:nvPr/>
        </p:nvSpPr>
        <p:spPr>
          <a:xfrm>
            <a:off x="658368" y="3712464"/>
            <a:ext cx="3210458" cy="201168"/>
          </a:xfrm>
          <a:prstGeom prst="rect">
            <a:avLst/>
          </a:prstGeom>
          <a:noFill/>
          <a:ln/>
        </p:spPr>
        <p:txBody>
          <a:bodyPr wrap="square" lIns="0" tIns="0" rIns="0" bIns="0" rtlCol="0" anchor="ctr"/>
          <a:lstStyle/>
          <a:p>
            <a:pPr indent="0" marL="0">
              <a:buNone/>
            </a:pPr>
            <a:r>
              <a:rPr lang="en-US" sz="1200" b="1" spc="110" kern="0" dirty="0">
                <a:solidFill>
                  <a:srgbClr val="536078"/>
                </a:solidFill>
                <a:latin typeface="Calibri" pitchFamily="34" charset="0"/>
                <a:ea typeface="Calibri" pitchFamily="34" charset="-122"/>
                <a:cs typeface="Calibri" pitchFamily="34" charset="-120"/>
              </a:rPr>
              <a:t>APPLICATIONS</a:t>
            </a:r>
            <a:endParaRPr lang="en-US" sz="1200" dirty="0"/>
          </a:p>
        </p:txBody>
      </p:sp>
      <p:sp>
        <p:nvSpPr>
          <p:cNvPr id="31" name="Text 29"/>
          <p:cNvSpPr/>
          <p:nvPr/>
        </p:nvSpPr>
        <p:spPr>
          <a:xfrm>
            <a:off x="658368" y="3950208"/>
            <a:ext cx="2158898" cy="176022"/>
          </a:xfrm>
          <a:prstGeom prst="rect">
            <a:avLst/>
          </a:prstGeom>
          <a:noFill/>
          <a:ln/>
        </p:spPr>
        <p:txBody>
          <a:bodyPr wrap="square" lIns="0" tIns="0" rIns="0" bIns="0" rtlCol="0" anchor="ctr"/>
          <a:lstStyle/>
          <a:p>
            <a:pPr indent="0" marL="0">
              <a:buNone/>
            </a:pPr>
            <a:r>
              <a:rPr lang="en-US" sz="1200" dirty="0">
                <a:solidFill>
                  <a:srgbClr val="F4F7FB"/>
                </a:solidFill>
                <a:latin typeface="Calibri" pitchFamily="34" charset="0"/>
                <a:ea typeface="Calibri" pitchFamily="34" charset="-122"/>
                <a:cs typeface="Calibri" pitchFamily="34" charset="-120"/>
              </a:rPr>
              <a:t>agent</a:t>
            </a:r>
            <a:endParaRPr lang="en-US" sz="1200" dirty="0"/>
          </a:p>
        </p:txBody>
      </p:sp>
      <p:sp>
        <p:nvSpPr>
          <p:cNvPr id="32" name="Text 30"/>
          <p:cNvSpPr/>
          <p:nvPr/>
        </p:nvSpPr>
        <p:spPr>
          <a:xfrm>
            <a:off x="2817266" y="3950208"/>
            <a:ext cx="1051560" cy="176022"/>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$13,870</a:t>
            </a:r>
            <a:endParaRPr lang="en-US" sz="1200" dirty="0"/>
          </a:p>
        </p:txBody>
      </p:sp>
      <p:sp>
        <p:nvSpPr>
          <p:cNvPr id="33" name="Shape 31"/>
          <p:cNvSpPr/>
          <p:nvPr/>
        </p:nvSpPr>
        <p:spPr>
          <a:xfrm>
            <a:off x="658368" y="4171950"/>
            <a:ext cx="3210458" cy="45720"/>
          </a:xfrm>
          <a:prstGeom prst="rect">
            <a:avLst/>
          </a:prstGeom>
          <a:solidFill>
            <a:srgbClr val="0E1422"/>
          </a:solidFill>
          <a:ln w="12700">
            <a:solidFill>
              <a:srgbClr val="0E1422"/>
            </a:solidFill>
            <a:prstDash val="solid"/>
          </a:ln>
        </p:spPr>
      </p:sp>
      <p:sp>
        <p:nvSpPr>
          <p:cNvPr id="34" name="Shape 32"/>
          <p:cNvSpPr/>
          <p:nvPr/>
        </p:nvSpPr>
        <p:spPr>
          <a:xfrm>
            <a:off x="658368" y="4171950"/>
            <a:ext cx="3210458" cy="45720"/>
          </a:xfrm>
          <a:prstGeom prst="rect">
            <a:avLst/>
          </a:prstGeom>
          <a:solidFill>
            <a:srgbClr val="3DD9EB"/>
          </a:solidFill>
          <a:ln w="12700">
            <a:solidFill>
              <a:srgbClr val="070A12"/>
            </a:solidFill>
            <a:prstDash val="solid"/>
          </a:ln>
        </p:spPr>
      </p:sp>
      <p:sp>
        <p:nvSpPr>
          <p:cNvPr id="35" name="Text 33"/>
          <p:cNvSpPr/>
          <p:nvPr/>
        </p:nvSpPr>
        <p:spPr>
          <a:xfrm>
            <a:off x="658368" y="4208526"/>
            <a:ext cx="2158898" cy="176022"/>
          </a:xfrm>
          <a:prstGeom prst="rect">
            <a:avLst/>
          </a:prstGeom>
          <a:noFill/>
          <a:ln/>
        </p:spPr>
        <p:txBody>
          <a:bodyPr wrap="square" lIns="0" tIns="0" rIns="0" bIns="0" rtlCol="0" anchor="ctr"/>
          <a:lstStyle/>
          <a:p>
            <a:pPr indent="0" marL="0">
              <a:buNone/>
            </a:pPr>
            <a:r>
              <a:rPr lang="en-US" sz="1200" dirty="0">
                <a:solidFill>
                  <a:srgbClr val="FF6B7A"/>
                </a:solidFill>
                <a:latin typeface="Calibri" pitchFamily="34" charset="0"/>
                <a:ea typeface="Calibri" pitchFamily="34" charset="-122"/>
                <a:cs typeface="Calibri" pitchFamily="34" charset="-120"/>
              </a:rPr>
              <a:t>unknown</a:t>
            </a:r>
            <a:endParaRPr lang="en-US" sz="1200" dirty="0"/>
          </a:p>
        </p:txBody>
      </p:sp>
      <p:sp>
        <p:nvSpPr>
          <p:cNvPr id="36" name="Text 34"/>
          <p:cNvSpPr/>
          <p:nvPr/>
        </p:nvSpPr>
        <p:spPr>
          <a:xfrm>
            <a:off x="2817266" y="4208526"/>
            <a:ext cx="1051560" cy="176022"/>
          </a:xfrm>
          <a:prstGeom prst="rect">
            <a:avLst/>
          </a:prstGeom>
          <a:noFill/>
          <a:ln/>
        </p:spPr>
        <p:txBody>
          <a:bodyPr wrap="square" lIns="0" tIns="0" rIns="0" bIns="0" rtlCol="0" anchor="ctr"/>
          <a:lstStyle/>
          <a:p>
            <a:pPr algn="r" indent="0" marL="0">
              <a:buNone/>
            </a:pPr>
            <a:r>
              <a:rPr lang="en-US" sz="1200" b="1" dirty="0">
                <a:solidFill>
                  <a:srgbClr val="FF6B7A"/>
                </a:solidFill>
                <a:latin typeface="Calibri" pitchFamily="34" charset="0"/>
                <a:ea typeface="Calibri" pitchFamily="34" charset="-122"/>
                <a:cs typeface="Calibri" pitchFamily="34" charset="-120"/>
              </a:rPr>
              <a:t>$2,849</a:t>
            </a:r>
            <a:endParaRPr lang="en-US" sz="1200" dirty="0"/>
          </a:p>
        </p:txBody>
      </p:sp>
      <p:sp>
        <p:nvSpPr>
          <p:cNvPr id="37" name="Shape 35"/>
          <p:cNvSpPr/>
          <p:nvPr/>
        </p:nvSpPr>
        <p:spPr>
          <a:xfrm>
            <a:off x="658368" y="4430268"/>
            <a:ext cx="3210458" cy="45720"/>
          </a:xfrm>
          <a:prstGeom prst="rect">
            <a:avLst/>
          </a:prstGeom>
          <a:solidFill>
            <a:srgbClr val="0E1422"/>
          </a:solidFill>
          <a:ln w="12700">
            <a:solidFill>
              <a:srgbClr val="0E1422"/>
            </a:solidFill>
            <a:prstDash val="solid"/>
          </a:ln>
        </p:spPr>
      </p:sp>
      <p:sp>
        <p:nvSpPr>
          <p:cNvPr id="38" name="Shape 36"/>
          <p:cNvSpPr/>
          <p:nvPr/>
        </p:nvSpPr>
        <p:spPr>
          <a:xfrm>
            <a:off x="658368" y="4430268"/>
            <a:ext cx="659495" cy="45720"/>
          </a:xfrm>
          <a:prstGeom prst="rect">
            <a:avLst/>
          </a:prstGeom>
          <a:solidFill>
            <a:srgbClr val="FF6B7A"/>
          </a:solidFill>
          <a:ln w="12700">
            <a:solidFill>
              <a:srgbClr val="070A12"/>
            </a:solidFill>
            <a:prstDash val="solid"/>
          </a:ln>
        </p:spPr>
      </p:sp>
      <p:sp>
        <p:nvSpPr>
          <p:cNvPr id="39" name="Text 37"/>
          <p:cNvSpPr/>
          <p:nvPr/>
        </p:nvSpPr>
        <p:spPr>
          <a:xfrm>
            <a:off x="658368" y="4466844"/>
            <a:ext cx="2158898" cy="176022"/>
          </a:xfrm>
          <a:prstGeom prst="rect">
            <a:avLst/>
          </a:prstGeom>
          <a:noFill/>
          <a:ln/>
        </p:spPr>
        <p:txBody>
          <a:bodyPr wrap="square" lIns="0" tIns="0" rIns="0" bIns="0" rtlCol="0" anchor="ctr"/>
          <a:lstStyle/>
          <a:p>
            <a:pPr indent="0" marL="0">
              <a:buNone/>
            </a:pPr>
            <a:r>
              <a:rPr lang="en-US" sz="1200" dirty="0">
                <a:solidFill>
                  <a:srgbClr val="FF6B7A"/>
                </a:solidFill>
                <a:latin typeface="Calibri" pitchFamily="34" charset="0"/>
                <a:ea typeface="Calibri" pitchFamily="34" charset="-122"/>
                <a:cs typeface="Calibri" pitchFamily="34" charset="-120"/>
              </a:rPr>
              <a:t>(unlabeled)</a:t>
            </a:r>
            <a:endParaRPr lang="en-US" sz="1200" dirty="0"/>
          </a:p>
        </p:txBody>
      </p:sp>
      <p:sp>
        <p:nvSpPr>
          <p:cNvPr id="40" name="Text 38"/>
          <p:cNvSpPr/>
          <p:nvPr/>
        </p:nvSpPr>
        <p:spPr>
          <a:xfrm>
            <a:off x="2817266" y="4466844"/>
            <a:ext cx="1051560" cy="176022"/>
          </a:xfrm>
          <a:prstGeom prst="rect">
            <a:avLst/>
          </a:prstGeom>
          <a:noFill/>
          <a:ln/>
        </p:spPr>
        <p:txBody>
          <a:bodyPr wrap="square" lIns="0" tIns="0" rIns="0" bIns="0" rtlCol="0" anchor="ctr"/>
          <a:lstStyle/>
          <a:p>
            <a:pPr algn="r" indent="0" marL="0">
              <a:buNone/>
            </a:pPr>
            <a:r>
              <a:rPr lang="en-US" sz="1200" b="1" dirty="0">
                <a:solidFill>
                  <a:srgbClr val="FF6B7A"/>
                </a:solidFill>
                <a:latin typeface="Calibri" pitchFamily="34" charset="0"/>
                <a:ea typeface="Calibri" pitchFamily="34" charset="-122"/>
                <a:cs typeface="Calibri" pitchFamily="34" charset="-120"/>
              </a:rPr>
              <a:t>$2,260</a:t>
            </a:r>
            <a:endParaRPr lang="en-US" sz="1200" dirty="0"/>
          </a:p>
        </p:txBody>
      </p:sp>
      <p:sp>
        <p:nvSpPr>
          <p:cNvPr id="41" name="Shape 39"/>
          <p:cNvSpPr/>
          <p:nvPr/>
        </p:nvSpPr>
        <p:spPr>
          <a:xfrm>
            <a:off x="658368" y="4688586"/>
            <a:ext cx="3210458" cy="45720"/>
          </a:xfrm>
          <a:prstGeom prst="rect">
            <a:avLst/>
          </a:prstGeom>
          <a:solidFill>
            <a:srgbClr val="0E1422"/>
          </a:solidFill>
          <a:ln w="12700">
            <a:solidFill>
              <a:srgbClr val="0E1422"/>
            </a:solidFill>
            <a:prstDash val="solid"/>
          </a:ln>
        </p:spPr>
      </p:sp>
      <p:sp>
        <p:nvSpPr>
          <p:cNvPr id="42" name="Shape 40"/>
          <p:cNvSpPr/>
          <p:nvPr/>
        </p:nvSpPr>
        <p:spPr>
          <a:xfrm>
            <a:off x="658368" y="4688586"/>
            <a:ext cx="523119" cy="45720"/>
          </a:xfrm>
          <a:prstGeom prst="rect">
            <a:avLst/>
          </a:prstGeom>
          <a:solidFill>
            <a:srgbClr val="FF6B7A"/>
          </a:solidFill>
          <a:ln w="12700">
            <a:solidFill>
              <a:srgbClr val="070A12"/>
            </a:solidFill>
            <a:prstDash val="solid"/>
          </a:ln>
        </p:spPr>
      </p:sp>
      <p:sp>
        <p:nvSpPr>
          <p:cNvPr id="43" name="Text 41"/>
          <p:cNvSpPr/>
          <p:nvPr/>
        </p:nvSpPr>
        <p:spPr>
          <a:xfrm>
            <a:off x="658368" y="4725162"/>
            <a:ext cx="2158898" cy="176022"/>
          </a:xfrm>
          <a:prstGeom prst="rect">
            <a:avLst/>
          </a:prstGeom>
          <a:noFill/>
          <a:ln/>
        </p:spPr>
        <p:txBody>
          <a:bodyPr wrap="square" lIns="0" tIns="0" rIns="0" bIns="0" rtlCol="0" anchor="ctr"/>
          <a:lstStyle/>
          <a:p>
            <a:pPr indent="0" marL="0">
              <a:buNone/>
            </a:pPr>
            <a:r>
              <a:rPr lang="en-US" sz="1200" dirty="0">
                <a:solidFill>
                  <a:srgbClr val="536078"/>
                </a:solidFill>
                <a:latin typeface="Calibri" pitchFamily="34" charset="0"/>
                <a:ea typeface="Calibri" pitchFamily="34" charset="-122"/>
                <a:cs typeface="Calibri" pitchFamily="34" charset="-120"/>
              </a:rPr>
              <a:t>30 more applications</a:t>
            </a:r>
            <a:endParaRPr lang="en-US" sz="1200" dirty="0"/>
          </a:p>
        </p:txBody>
      </p:sp>
      <p:sp>
        <p:nvSpPr>
          <p:cNvPr id="44" name="Text 42"/>
          <p:cNvSpPr/>
          <p:nvPr/>
        </p:nvSpPr>
        <p:spPr>
          <a:xfrm>
            <a:off x="2817266" y="4725162"/>
            <a:ext cx="1051560" cy="176022"/>
          </a:xfrm>
          <a:prstGeom prst="rect">
            <a:avLst/>
          </a:prstGeom>
          <a:noFill/>
          <a:ln/>
        </p:spPr>
        <p:txBody>
          <a:bodyPr wrap="square" lIns="0" tIns="0" rIns="0" bIns="0" rtlCol="0" anchor="ctr"/>
          <a:lstStyle/>
          <a:p>
            <a:pPr algn="r" indent="0" marL="0">
              <a:buNone/>
            </a:pPr>
            <a:r>
              <a:rPr lang="en-US" sz="1200" b="1" dirty="0">
                <a:solidFill>
                  <a:srgbClr val="536078"/>
                </a:solidFill>
                <a:latin typeface="Calibri" pitchFamily="34" charset="0"/>
                <a:ea typeface="Calibri" pitchFamily="34" charset="-122"/>
                <a:cs typeface="Calibri" pitchFamily="34" charset="-120"/>
              </a:rPr>
              <a:t>$1,885</a:t>
            </a:r>
            <a:endParaRPr lang="en-US" sz="1200" dirty="0"/>
          </a:p>
        </p:txBody>
      </p:sp>
      <p:sp>
        <p:nvSpPr>
          <p:cNvPr id="45" name="Shape 43"/>
          <p:cNvSpPr/>
          <p:nvPr/>
        </p:nvSpPr>
        <p:spPr>
          <a:xfrm>
            <a:off x="658368" y="4946904"/>
            <a:ext cx="3210458" cy="45720"/>
          </a:xfrm>
          <a:prstGeom prst="rect">
            <a:avLst/>
          </a:prstGeom>
          <a:solidFill>
            <a:srgbClr val="0E1422"/>
          </a:solidFill>
          <a:ln w="12700">
            <a:solidFill>
              <a:srgbClr val="0E1422"/>
            </a:solidFill>
            <a:prstDash val="solid"/>
          </a:ln>
        </p:spPr>
      </p:sp>
      <p:sp>
        <p:nvSpPr>
          <p:cNvPr id="46" name="Shape 44"/>
          <p:cNvSpPr/>
          <p:nvPr/>
        </p:nvSpPr>
        <p:spPr>
          <a:xfrm>
            <a:off x="658368" y="4946904"/>
            <a:ext cx="436243" cy="45720"/>
          </a:xfrm>
          <a:prstGeom prst="rect">
            <a:avLst/>
          </a:prstGeom>
          <a:solidFill>
            <a:srgbClr val="536078"/>
          </a:solidFill>
          <a:ln w="12700">
            <a:solidFill>
              <a:srgbClr val="070A12"/>
            </a:solidFill>
            <a:prstDash val="solid"/>
          </a:ln>
        </p:spPr>
      </p:sp>
      <p:sp>
        <p:nvSpPr>
          <p:cNvPr id="47" name="Shape 45"/>
          <p:cNvSpPr/>
          <p:nvPr/>
        </p:nvSpPr>
        <p:spPr>
          <a:xfrm>
            <a:off x="4289450" y="1673352"/>
            <a:ext cx="3612794" cy="3419856"/>
          </a:xfrm>
          <a:prstGeom prst="roundRect">
            <a:avLst>
              <a:gd name="adj" fmla="val 1604"/>
            </a:avLst>
          </a:prstGeom>
          <a:solidFill>
            <a:srgbClr val="121B2D"/>
          </a:solidFill>
          <a:ln w="12700">
            <a:solidFill>
              <a:srgbClr val="23304A"/>
            </a:solidFill>
            <a:prstDash val="solid"/>
          </a:ln>
        </p:spPr>
      </p:sp>
      <p:sp>
        <p:nvSpPr>
          <p:cNvPr id="48" name="Shape 46"/>
          <p:cNvSpPr/>
          <p:nvPr/>
        </p:nvSpPr>
        <p:spPr>
          <a:xfrm>
            <a:off x="4289450" y="1673352"/>
            <a:ext cx="3612794" cy="45720"/>
          </a:xfrm>
          <a:prstGeom prst="rect">
            <a:avLst/>
          </a:prstGeom>
          <a:solidFill>
            <a:srgbClr val="B07CFF"/>
          </a:solidFill>
          <a:ln w="12700">
            <a:solidFill>
              <a:srgbClr val="B07CFF"/>
            </a:solidFill>
            <a:prstDash val="solid"/>
          </a:ln>
        </p:spPr>
      </p:sp>
      <p:sp>
        <p:nvSpPr>
          <p:cNvPr id="49" name="Text 47"/>
          <p:cNvSpPr/>
          <p:nvPr/>
        </p:nvSpPr>
        <p:spPr>
          <a:xfrm>
            <a:off x="4490618" y="1801368"/>
            <a:ext cx="3210458" cy="237744"/>
          </a:xfrm>
          <a:prstGeom prst="rect">
            <a:avLst/>
          </a:prstGeom>
          <a:noFill/>
          <a:ln/>
        </p:spPr>
        <p:txBody>
          <a:bodyPr wrap="square" lIns="0" tIns="0" rIns="0" bIns="0" rtlCol="0" anchor="ctr"/>
          <a:lstStyle/>
          <a:p>
            <a:pPr indent="0" marL="0">
              <a:buNone/>
            </a:pPr>
            <a:r>
              <a:rPr lang="en-US" sz="1200" b="1" spc="110" kern="0" dirty="0">
                <a:solidFill>
                  <a:srgbClr val="B07CFF"/>
                </a:solidFill>
                <a:latin typeface="Calibri" pitchFamily="34" charset="0"/>
                <a:ea typeface="Calibri" pitchFamily="34" charset="-122"/>
                <a:cs typeface="Calibri" pitchFamily="34" charset="-120"/>
              </a:rPr>
              <a:t>AI-FACTORY</a:t>
            </a:r>
            <a:endParaRPr lang="en-US" sz="1200" dirty="0"/>
          </a:p>
        </p:txBody>
      </p:sp>
      <p:sp>
        <p:nvSpPr>
          <p:cNvPr id="50" name="Text 48"/>
          <p:cNvSpPr/>
          <p:nvPr/>
        </p:nvSpPr>
        <p:spPr>
          <a:xfrm>
            <a:off x="4490618" y="2057400"/>
            <a:ext cx="3210458" cy="475488"/>
          </a:xfrm>
          <a:prstGeom prst="rect">
            <a:avLst/>
          </a:prstGeom>
          <a:noFill/>
          <a:ln/>
        </p:spPr>
        <p:txBody>
          <a:bodyPr wrap="square" lIns="0" tIns="0" rIns="0" bIns="0" rtlCol="0" anchor="ctr"/>
          <a:lstStyle/>
          <a:p>
            <a:pPr indent="0" marL="0">
              <a:buNone/>
            </a:pPr>
            <a:r>
              <a:rPr lang="en-US" sz="3400" b="1" dirty="0">
                <a:solidFill>
                  <a:srgbClr val="F4F7FB"/>
                </a:solidFill>
                <a:latin typeface="Calibri" pitchFamily="34" charset="0"/>
                <a:ea typeface="Calibri" pitchFamily="34" charset="-122"/>
                <a:cs typeface="Calibri" pitchFamily="34" charset="-120"/>
              </a:rPr>
              <a:t>$14,871</a:t>
            </a:r>
            <a:endParaRPr lang="en-US" sz="3400" dirty="0"/>
          </a:p>
        </p:txBody>
      </p:sp>
      <p:sp>
        <p:nvSpPr>
          <p:cNvPr id="51" name="Text 49"/>
          <p:cNvSpPr/>
          <p:nvPr/>
        </p:nvSpPr>
        <p:spPr>
          <a:xfrm>
            <a:off x="4490618" y="2532888"/>
            <a:ext cx="321045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408,859 calls, $36 per 1,000</a:t>
            </a:r>
            <a:endParaRPr lang="en-US" sz="1200" dirty="0"/>
          </a:p>
        </p:txBody>
      </p:sp>
      <p:sp>
        <p:nvSpPr>
          <p:cNvPr id="52" name="Shape 50"/>
          <p:cNvSpPr/>
          <p:nvPr/>
        </p:nvSpPr>
        <p:spPr>
          <a:xfrm>
            <a:off x="4490618" y="2807208"/>
            <a:ext cx="1016356" cy="164592"/>
          </a:xfrm>
          <a:prstGeom prst="rect">
            <a:avLst/>
          </a:prstGeom>
          <a:solidFill>
            <a:srgbClr val="FF9F43"/>
          </a:solidFill>
          <a:ln w="12700">
            <a:solidFill>
              <a:srgbClr val="FF9F43"/>
            </a:solidFill>
            <a:prstDash val="solid"/>
          </a:ln>
        </p:spPr>
      </p:sp>
      <p:sp>
        <p:nvSpPr>
          <p:cNvPr id="53" name="Shape 51"/>
          <p:cNvSpPr/>
          <p:nvPr/>
        </p:nvSpPr>
        <p:spPr>
          <a:xfrm>
            <a:off x="5543551" y="2807208"/>
            <a:ext cx="1170739" cy="164592"/>
          </a:xfrm>
          <a:prstGeom prst="rect">
            <a:avLst/>
          </a:prstGeom>
          <a:solidFill>
            <a:srgbClr val="2F8CFF"/>
          </a:solidFill>
          <a:ln w="12700">
            <a:solidFill>
              <a:srgbClr val="2F8CFF"/>
            </a:solidFill>
            <a:prstDash val="solid"/>
          </a:ln>
        </p:spPr>
      </p:sp>
      <p:sp>
        <p:nvSpPr>
          <p:cNvPr id="54" name="Shape 52"/>
          <p:cNvSpPr/>
          <p:nvPr/>
        </p:nvSpPr>
        <p:spPr>
          <a:xfrm>
            <a:off x="6750866" y="2807208"/>
            <a:ext cx="950211" cy="164592"/>
          </a:xfrm>
          <a:prstGeom prst="rect">
            <a:avLst/>
          </a:prstGeom>
          <a:solidFill>
            <a:srgbClr val="3DDC97"/>
          </a:solidFill>
          <a:ln w="12700">
            <a:solidFill>
              <a:srgbClr val="3DDC97"/>
            </a:solidFill>
            <a:prstDash val="solid"/>
          </a:ln>
        </p:spPr>
      </p:sp>
      <p:sp>
        <p:nvSpPr>
          <p:cNvPr id="55" name="Shape 53"/>
          <p:cNvSpPr/>
          <p:nvPr/>
        </p:nvSpPr>
        <p:spPr>
          <a:xfrm>
            <a:off x="4490618" y="3099816"/>
            <a:ext cx="100584" cy="100584"/>
          </a:xfrm>
          <a:prstGeom prst="rect">
            <a:avLst/>
          </a:prstGeom>
          <a:solidFill>
            <a:srgbClr val="FF9F43"/>
          </a:solidFill>
          <a:ln w="12700">
            <a:solidFill>
              <a:srgbClr val="FF9F43"/>
            </a:solidFill>
            <a:prstDash val="solid"/>
          </a:ln>
        </p:spPr>
      </p:sp>
      <p:sp>
        <p:nvSpPr>
          <p:cNvPr id="56" name="Text 54"/>
          <p:cNvSpPr/>
          <p:nvPr/>
        </p:nvSpPr>
        <p:spPr>
          <a:xfrm>
            <a:off x="4673498" y="3044952"/>
            <a:ext cx="193029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Claude</a:t>
            </a:r>
            <a:endParaRPr lang="en-US" sz="1200" dirty="0"/>
          </a:p>
        </p:txBody>
      </p:sp>
      <p:sp>
        <p:nvSpPr>
          <p:cNvPr id="57" name="Text 55"/>
          <p:cNvSpPr/>
          <p:nvPr/>
        </p:nvSpPr>
        <p:spPr>
          <a:xfrm>
            <a:off x="6603797" y="3044952"/>
            <a:ext cx="1097280" cy="192024"/>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$4,815</a:t>
            </a:r>
            <a:endParaRPr lang="en-US" sz="1200" dirty="0"/>
          </a:p>
        </p:txBody>
      </p:sp>
      <p:sp>
        <p:nvSpPr>
          <p:cNvPr id="58" name="Shape 56"/>
          <p:cNvSpPr/>
          <p:nvPr/>
        </p:nvSpPr>
        <p:spPr>
          <a:xfrm>
            <a:off x="4490618" y="3291840"/>
            <a:ext cx="100584" cy="100584"/>
          </a:xfrm>
          <a:prstGeom prst="rect">
            <a:avLst/>
          </a:prstGeom>
          <a:solidFill>
            <a:srgbClr val="2F8CFF"/>
          </a:solidFill>
          <a:ln w="12700">
            <a:solidFill>
              <a:srgbClr val="2F8CFF"/>
            </a:solidFill>
            <a:prstDash val="solid"/>
          </a:ln>
        </p:spPr>
      </p:sp>
      <p:sp>
        <p:nvSpPr>
          <p:cNvPr id="59" name="Text 57"/>
          <p:cNvSpPr/>
          <p:nvPr/>
        </p:nvSpPr>
        <p:spPr>
          <a:xfrm>
            <a:off x="4673498" y="3236976"/>
            <a:ext cx="193029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Azure OpenAI</a:t>
            </a:r>
            <a:endParaRPr lang="en-US" sz="1200" dirty="0"/>
          </a:p>
        </p:txBody>
      </p:sp>
      <p:sp>
        <p:nvSpPr>
          <p:cNvPr id="60" name="Text 58"/>
          <p:cNvSpPr/>
          <p:nvPr/>
        </p:nvSpPr>
        <p:spPr>
          <a:xfrm>
            <a:off x="6603797" y="3236976"/>
            <a:ext cx="1097280" cy="192024"/>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$5,547</a:t>
            </a:r>
            <a:endParaRPr lang="en-US" sz="1200" dirty="0"/>
          </a:p>
        </p:txBody>
      </p:sp>
      <p:sp>
        <p:nvSpPr>
          <p:cNvPr id="61" name="Shape 59"/>
          <p:cNvSpPr/>
          <p:nvPr/>
        </p:nvSpPr>
        <p:spPr>
          <a:xfrm>
            <a:off x="4490618" y="3483864"/>
            <a:ext cx="100584" cy="100584"/>
          </a:xfrm>
          <a:prstGeom prst="rect">
            <a:avLst/>
          </a:prstGeom>
          <a:solidFill>
            <a:srgbClr val="3DDC97"/>
          </a:solidFill>
          <a:ln w="12700">
            <a:solidFill>
              <a:srgbClr val="3DDC97"/>
            </a:solidFill>
            <a:prstDash val="solid"/>
          </a:ln>
        </p:spPr>
      </p:sp>
      <p:sp>
        <p:nvSpPr>
          <p:cNvPr id="62" name="Text 60"/>
          <p:cNvSpPr/>
          <p:nvPr/>
        </p:nvSpPr>
        <p:spPr>
          <a:xfrm>
            <a:off x="4673498" y="3429000"/>
            <a:ext cx="193029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GCP</a:t>
            </a:r>
            <a:endParaRPr lang="en-US" sz="1200" dirty="0"/>
          </a:p>
        </p:txBody>
      </p:sp>
      <p:sp>
        <p:nvSpPr>
          <p:cNvPr id="63" name="Text 61"/>
          <p:cNvSpPr/>
          <p:nvPr/>
        </p:nvSpPr>
        <p:spPr>
          <a:xfrm>
            <a:off x="6603797" y="3429000"/>
            <a:ext cx="1097280" cy="192024"/>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$4,502</a:t>
            </a:r>
            <a:endParaRPr lang="en-US" sz="1200" dirty="0"/>
          </a:p>
        </p:txBody>
      </p:sp>
      <p:sp>
        <p:nvSpPr>
          <p:cNvPr id="64" name="Text 62"/>
          <p:cNvSpPr/>
          <p:nvPr/>
        </p:nvSpPr>
        <p:spPr>
          <a:xfrm>
            <a:off x="4490618" y="3712464"/>
            <a:ext cx="3210458" cy="201168"/>
          </a:xfrm>
          <a:prstGeom prst="rect">
            <a:avLst/>
          </a:prstGeom>
          <a:noFill/>
          <a:ln/>
        </p:spPr>
        <p:txBody>
          <a:bodyPr wrap="square" lIns="0" tIns="0" rIns="0" bIns="0" rtlCol="0" anchor="ctr"/>
          <a:lstStyle/>
          <a:p>
            <a:pPr indent="0" marL="0">
              <a:buNone/>
            </a:pPr>
            <a:r>
              <a:rPr lang="en-US" sz="1200" b="1" spc="110" kern="0" dirty="0">
                <a:solidFill>
                  <a:srgbClr val="536078"/>
                </a:solidFill>
                <a:latin typeface="Calibri" pitchFamily="34" charset="0"/>
                <a:ea typeface="Calibri" pitchFamily="34" charset="-122"/>
                <a:cs typeface="Calibri" pitchFamily="34" charset="-120"/>
              </a:rPr>
              <a:t>APPLICATIONS</a:t>
            </a:r>
            <a:endParaRPr lang="en-US" sz="1200" dirty="0"/>
          </a:p>
        </p:txBody>
      </p:sp>
      <p:sp>
        <p:nvSpPr>
          <p:cNvPr id="65" name="Text 63"/>
          <p:cNvSpPr/>
          <p:nvPr/>
        </p:nvSpPr>
        <p:spPr>
          <a:xfrm>
            <a:off x="4490618" y="3950208"/>
            <a:ext cx="2158898" cy="176022"/>
          </a:xfrm>
          <a:prstGeom prst="rect">
            <a:avLst/>
          </a:prstGeom>
          <a:noFill/>
          <a:ln/>
        </p:spPr>
        <p:txBody>
          <a:bodyPr wrap="square" lIns="0" tIns="0" rIns="0" bIns="0" rtlCol="0" anchor="ctr"/>
          <a:lstStyle/>
          <a:p>
            <a:pPr indent="0" marL="0">
              <a:buNone/>
            </a:pPr>
            <a:r>
              <a:rPr lang="en-US" sz="1200" dirty="0">
                <a:solidFill>
                  <a:srgbClr val="F4F7FB"/>
                </a:solidFill>
                <a:latin typeface="Calibri" pitchFamily="34" charset="0"/>
                <a:ea typeface="Calibri" pitchFamily="34" charset="-122"/>
                <a:cs typeface="Calibri" pitchFamily="34" charset="-120"/>
              </a:rPr>
              <a:t>claims-copilot</a:t>
            </a:r>
            <a:endParaRPr lang="en-US" sz="1200" dirty="0"/>
          </a:p>
        </p:txBody>
      </p:sp>
      <p:sp>
        <p:nvSpPr>
          <p:cNvPr id="66" name="Text 64"/>
          <p:cNvSpPr/>
          <p:nvPr/>
        </p:nvSpPr>
        <p:spPr>
          <a:xfrm>
            <a:off x="6649517" y="3950208"/>
            <a:ext cx="1051560" cy="176022"/>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$5,345</a:t>
            </a:r>
            <a:endParaRPr lang="en-US" sz="1200" dirty="0"/>
          </a:p>
        </p:txBody>
      </p:sp>
      <p:sp>
        <p:nvSpPr>
          <p:cNvPr id="67" name="Shape 65"/>
          <p:cNvSpPr/>
          <p:nvPr/>
        </p:nvSpPr>
        <p:spPr>
          <a:xfrm>
            <a:off x="4490618" y="4171950"/>
            <a:ext cx="3210458" cy="45720"/>
          </a:xfrm>
          <a:prstGeom prst="rect">
            <a:avLst/>
          </a:prstGeom>
          <a:solidFill>
            <a:srgbClr val="0E1422"/>
          </a:solidFill>
          <a:ln w="12700">
            <a:solidFill>
              <a:srgbClr val="0E1422"/>
            </a:solidFill>
            <a:prstDash val="solid"/>
          </a:ln>
        </p:spPr>
      </p:sp>
      <p:sp>
        <p:nvSpPr>
          <p:cNvPr id="68" name="Shape 66"/>
          <p:cNvSpPr/>
          <p:nvPr/>
        </p:nvSpPr>
        <p:spPr>
          <a:xfrm>
            <a:off x="4490618" y="4171950"/>
            <a:ext cx="3210458" cy="45720"/>
          </a:xfrm>
          <a:prstGeom prst="rect">
            <a:avLst/>
          </a:prstGeom>
          <a:solidFill>
            <a:srgbClr val="B07CFF"/>
          </a:solidFill>
          <a:ln w="12700">
            <a:solidFill>
              <a:srgbClr val="070A12"/>
            </a:solidFill>
            <a:prstDash val="solid"/>
          </a:ln>
        </p:spPr>
      </p:sp>
      <p:sp>
        <p:nvSpPr>
          <p:cNvPr id="69" name="Text 67"/>
          <p:cNvSpPr/>
          <p:nvPr/>
        </p:nvSpPr>
        <p:spPr>
          <a:xfrm>
            <a:off x="4490618" y="4208526"/>
            <a:ext cx="2158898" cy="176022"/>
          </a:xfrm>
          <a:prstGeom prst="rect">
            <a:avLst/>
          </a:prstGeom>
          <a:noFill/>
          <a:ln/>
        </p:spPr>
        <p:txBody>
          <a:bodyPr wrap="square" lIns="0" tIns="0" rIns="0" bIns="0" rtlCol="0" anchor="ctr"/>
          <a:lstStyle/>
          <a:p>
            <a:pPr indent="0" marL="0">
              <a:buNone/>
            </a:pPr>
            <a:r>
              <a:rPr lang="en-US" sz="1200" dirty="0">
                <a:solidFill>
                  <a:srgbClr val="F4F7FB"/>
                </a:solidFill>
                <a:latin typeface="Calibri" pitchFamily="34" charset="0"/>
                <a:ea typeface="Calibri" pitchFamily="34" charset="-122"/>
                <a:cs typeface="Calibri" pitchFamily="34" charset="-120"/>
              </a:rPr>
              <a:t>cli</a:t>
            </a:r>
            <a:endParaRPr lang="en-US" sz="1200" dirty="0"/>
          </a:p>
        </p:txBody>
      </p:sp>
      <p:sp>
        <p:nvSpPr>
          <p:cNvPr id="70" name="Text 68"/>
          <p:cNvSpPr/>
          <p:nvPr/>
        </p:nvSpPr>
        <p:spPr>
          <a:xfrm>
            <a:off x="6649517" y="4208526"/>
            <a:ext cx="1051560" cy="176022"/>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$4,365</a:t>
            </a:r>
            <a:endParaRPr lang="en-US" sz="1200" dirty="0"/>
          </a:p>
        </p:txBody>
      </p:sp>
      <p:sp>
        <p:nvSpPr>
          <p:cNvPr id="71" name="Shape 69"/>
          <p:cNvSpPr/>
          <p:nvPr/>
        </p:nvSpPr>
        <p:spPr>
          <a:xfrm>
            <a:off x="4490618" y="4430268"/>
            <a:ext cx="3210458" cy="45720"/>
          </a:xfrm>
          <a:prstGeom prst="rect">
            <a:avLst/>
          </a:prstGeom>
          <a:solidFill>
            <a:srgbClr val="0E1422"/>
          </a:solidFill>
          <a:ln w="12700">
            <a:solidFill>
              <a:srgbClr val="0E1422"/>
            </a:solidFill>
            <a:prstDash val="solid"/>
          </a:ln>
        </p:spPr>
      </p:sp>
      <p:sp>
        <p:nvSpPr>
          <p:cNvPr id="72" name="Shape 70"/>
          <p:cNvSpPr/>
          <p:nvPr/>
        </p:nvSpPr>
        <p:spPr>
          <a:xfrm>
            <a:off x="4490618" y="4430268"/>
            <a:ext cx="2621705" cy="45720"/>
          </a:xfrm>
          <a:prstGeom prst="rect">
            <a:avLst/>
          </a:prstGeom>
          <a:solidFill>
            <a:srgbClr val="B07CFF"/>
          </a:solidFill>
          <a:ln w="12700">
            <a:solidFill>
              <a:srgbClr val="070A12"/>
            </a:solidFill>
            <a:prstDash val="solid"/>
          </a:ln>
        </p:spPr>
      </p:sp>
      <p:sp>
        <p:nvSpPr>
          <p:cNvPr id="73" name="Text 71"/>
          <p:cNvSpPr/>
          <p:nvPr/>
        </p:nvSpPr>
        <p:spPr>
          <a:xfrm>
            <a:off x="4490618" y="4466844"/>
            <a:ext cx="2158898" cy="176022"/>
          </a:xfrm>
          <a:prstGeom prst="rect">
            <a:avLst/>
          </a:prstGeom>
          <a:noFill/>
          <a:ln/>
        </p:spPr>
        <p:txBody>
          <a:bodyPr wrap="square" lIns="0" tIns="0" rIns="0" bIns="0" rtlCol="0" anchor="ctr"/>
          <a:lstStyle/>
          <a:p>
            <a:pPr indent="0" marL="0">
              <a:buNone/>
            </a:pPr>
            <a:r>
              <a:rPr lang="en-US" sz="1200" dirty="0">
                <a:solidFill>
                  <a:srgbClr val="F4F7FB"/>
                </a:solidFill>
                <a:latin typeface="Calibri" pitchFamily="34" charset="0"/>
                <a:ea typeface="Calibri" pitchFamily="34" charset="-122"/>
                <a:cs typeface="Calibri" pitchFamily="34" charset="-120"/>
              </a:rPr>
              <a:t>ai-factory-idp-ocr-hybr...</a:t>
            </a:r>
            <a:endParaRPr lang="en-US" sz="1200" dirty="0"/>
          </a:p>
        </p:txBody>
      </p:sp>
      <p:sp>
        <p:nvSpPr>
          <p:cNvPr id="74" name="Text 72"/>
          <p:cNvSpPr/>
          <p:nvPr/>
        </p:nvSpPr>
        <p:spPr>
          <a:xfrm>
            <a:off x="6649517" y="4466844"/>
            <a:ext cx="1051560" cy="176022"/>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$2,394</a:t>
            </a:r>
            <a:endParaRPr lang="en-US" sz="1200" dirty="0"/>
          </a:p>
        </p:txBody>
      </p:sp>
      <p:sp>
        <p:nvSpPr>
          <p:cNvPr id="75" name="Shape 73"/>
          <p:cNvSpPr/>
          <p:nvPr/>
        </p:nvSpPr>
        <p:spPr>
          <a:xfrm>
            <a:off x="4490618" y="4688586"/>
            <a:ext cx="3210458" cy="45720"/>
          </a:xfrm>
          <a:prstGeom prst="rect">
            <a:avLst/>
          </a:prstGeom>
          <a:solidFill>
            <a:srgbClr val="0E1422"/>
          </a:solidFill>
          <a:ln w="12700">
            <a:solidFill>
              <a:srgbClr val="0E1422"/>
            </a:solidFill>
            <a:prstDash val="solid"/>
          </a:ln>
        </p:spPr>
      </p:sp>
      <p:sp>
        <p:nvSpPr>
          <p:cNvPr id="76" name="Shape 74"/>
          <p:cNvSpPr/>
          <p:nvPr/>
        </p:nvSpPr>
        <p:spPr>
          <a:xfrm>
            <a:off x="4490618" y="4688586"/>
            <a:ext cx="1438162" cy="45720"/>
          </a:xfrm>
          <a:prstGeom prst="rect">
            <a:avLst/>
          </a:prstGeom>
          <a:solidFill>
            <a:srgbClr val="B07CFF"/>
          </a:solidFill>
          <a:ln w="12700">
            <a:solidFill>
              <a:srgbClr val="070A12"/>
            </a:solidFill>
            <a:prstDash val="solid"/>
          </a:ln>
        </p:spPr>
      </p:sp>
      <p:sp>
        <p:nvSpPr>
          <p:cNvPr id="77" name="Text 75"/>
          <p:cNvSpPr/>
          <p:nvPr/>
        </p:nvSpPr>
        <p:spPr>
          <a:xfrm>
            <a:off x="4490618" y="4725162"/>
            <a:ext cx="2158898" cy="176022"/>
          </a:xfrm>
          <a:prstGeom prst="rect">
            <a:avLst/>
          </a:prstGeom>
          <a:noFill/>
          <a:ln/>
        </p:spPr>
        <p:txBody>
          <a:bodyPr wrap="square" lIns="0" tIns="0" rIns="0" bIns="0" rtlCol="0" anchor="ctr"/>
          <a:lstStyle/>
          <a:p>
            <a:pPr indent="0" marL="0">
              <a:buNone/>
            </a:pPr>
            <a:r>
              <a:rPr lang="en-US" sz="1200" dirty="0">
                <a:solidFill>
                  <a:srgbClr val="536078"/>
                </a:solidFill>
                <a:latin typeface="Calibri" pitchFamily="34" charset="0"/>
                <a:ea typeface="Calibri" pitchFamily="34" charset="-122"/>
                <a:cs typeface="Calibri" pitchFamily="34" charset="-120"/>
              </a:rPr>
              <a:t>33 more applications</a:t>
            </a:r>
            <a:endParaRPr lang="en-US" sz="1200" dirty="0"/>
          </a:p>
        </p:txBody>
      </p:sp>
      <p:sp>
        <p:nvSpPr>
          <p:cNvPr id="78" name="Text 76"/>
          <p:cNvSpPr/>
          <p:nvPr/>
        </p:nvSpPr>
        <p:spPr>
          <a:xfrm>
            <a:off x="6649517" y="4725162"/>
            <a:ext cx="1051560" cy="176022"/>
          </a:xfrm>
          <a:prstGeom prst="rect">
            <a:avLst/>
          </a:prstGeom>
          <a:noFill/>
          <a:ln/>
        </p:spPr>
        <p:txBody>
          <a:bodyPr wrap="square" lIns="0" tIns="0" rIns="0" bIns="0" rtlCol="0" anchor="ctr"/>
          <a:lstStyle/>
          <a:p>
            <a:pPr algn="r" indent="0" marL="0">
              <a:buNone/>
            </a:pPr>
            <a:r>
              <a:rPr lang="en-US" sz="1200" b="1" dirty="0">
                <a:solidFill>
                  <a:srgbClr val="536078"/>
                </a:solidFill>
                <a:latin typeface="Calibri" pitchFamily="34" charset="0"/>
                <a:ea typeface="Calibri" pitchFamily="34" charset="-122"/>
                <a:cs typeface="Calibri" pitchFamily="34" charset="-120"/>
              </a:rPr>
              <a:t>$2,338</a:t>
            </a:r>
            <a:endParaRPr lang="en-US" sz="1200" dirty="0"/>
          </a:p>
        </p:txBody>
      </p:sp>
      <p:sp>
        <p:nvSpPr>
          <p:cNvPr id="79" name="Shape 77"/>
          <p:cNvSpPr/>
          <p:nvPr/>
        </p:nvSpPr>
        <p:spPr>
          <a:xfrm>
            <a:off x="4490618" y="4946904"/>
            <a:ext cx="3210458" cy="45720"/>
          </a:xfrm>
          <a:prstGeom prst="rect">
            <a:avLst/>
          </a:prstGeom>
          <a:solidFill>
            <a:srgbClr val="0E1422"/>
          </a:solidFill>
          <a:ln w="12700">
            <a:solidFill>
              <a:srgbClr val="0E1422"/>
            </a:solidFill>
            <a:prstDash val="solid"/>
          </a:ln>
        </p:spPr>
      </p:sp>
      <p:sp>
        <p:nvSpPr>
          <p:cNvPr id="80" name="Shape 78"/>
          <p:cNvSpPr/>
          <p:nvPr/>
        </p:nvSpPr>
        <p:spPr>
          <a:xfrm>
            <a:off x="4490618" y="4946904"/>
            <a:ext cx="1404161" cy="45720"/>
          </a:xfrm>
          <a:prstGeom prst="rect">
            <a:avLst/>
          </a:prstGeom>
          <a:solidFill>
            <a:srgbClr val="536078"/>
          </a:solidFill>
          <a:ln w="12700">
            <a:solidFill>
              <a:srgbClr val="070A12"/>
            </a:solidFill>
            <a:prstDash val="solid"/>
          </a:ln>
        </p:spPr>
      </p:sp>
      <p:sp>
        <p:nvSpPr>
          <p:cNvPr id="81" name="Shape 79"/>
          <p:cNvSpPr/>
          <p:nvPr/>
        </p:nvSpPr>
        <p:spPr>
          <a:xfrm>
            <a:off x="8121701" y="1673352"/>
            <a:ext cx="3612794" cy="3419856"/>
          </a:xfrm>
          <a:prstGeom prst="roundRect">
            <a:avLst>
              <a:gd name="adj" fmla="val 1604"/>
            </a:avLst>
          </a:prstGeom>
          <a:solidFill>
            <a:srgbClr val="121B2D"/>
          </a:solidFill>
          <a:ln w="12700">
            <a:solidFill>
              <a:srgbClr val="23304A"/>
            </a:solidFill>
            <a:prstDash val="solid"/>
          </a:ln>
        </p:spPr>
      </p:sp>
      <p:sp>
        <p:nvSpPr>
          <p:cNvPr id="82" name="Shape 80"/>
          <p:cNvSpPr/>
          <p:nvPr/>
        </p:nvSpPr>
        <p:spPr>
          <a:xfrm>
            <a:off x="8121701" y="1673352"/>
            <a:ext cx="3612794" cy="45720"/>
          </a:xfrm>
          <a:prstGeom prst="rect">
            <a:avLst/>
          </a:prstGeom>
          <a:solidFill>
            <a:srgbClr val="E0A030"/>
          </a:solidFill>
          <a:ln w="12700">
            <a:solidFill>
              <a:srgbClr val="E0A030"/>
            </a:solidFill>
            <a:prstDash val="solid"/>
          </a:ln>
        </p:spPr>
      </p:sp>
      <p:sp>
        <p:nvSpPr>
          <p:cNvPr id="83" name="Text 81"/>
          <p:cNvSpPr/>
          <p:nvPr/>
        </p:nvSpPr>
        <p:spPr>
          <a:xfrm>
            <a:off x="8322869" y="1801368"/>
            <a:ext cx="3210458" cy="237744"/>
          </a:xfrm>
          <a:prstGeom prst="rect">
            <a:avLst/>
          </a:prstGeom>
          <a:noFill/>
          <a:ln/>
        </p:spPr>
        <p:txBody>
          <a:bodyPr wrap="square" lIns="0" tIns="0" rIns="0" bIns="0" rtlCol="0" anchor="ctr"/>
          <a:lstStyle/>
          <a:p>
            <a:pPr indent="0" marL="0">
              <a:buNone/>
            </a:pPr>
            <a:r>
              <a:rPr lang="en-US" sz="1200" b="1" spc="110" kern="0" dirty="0">
                <a:solidFill>
                  <a:srgbClr val="E0A030"/>
                </a:solidFill>
                <a:latin typeface="Calibri" pitchFamily="34" charset="0"/>
                <a:ea typeface="Calibri" pitchFamily="34" charset="-122"/>
                <a:cs typeface="Calibri" pitchFamily="34" charset="-120"/>
              </a:rPr>
              <a:t>SOLUGEN</a:t>
            </a:r>
            <a:endParaRPr lang="en-US" sz="1200" dirty="0"/>
          </a:p>
        </p:txBody>
      </p:sp>
      <p:sp>
        <p:nvSpPr>
          <p:cNvPr id="84" name="Text 82"/>
          <p:cNvSpPr/>
          <p:nvPr/>
        </p:nvSpPr>
        <p:spPr>
          <a:xfrm>
            <a:off x="8322869" y="2057400"/>
            <a:ext cx="3210458" cy="475488"/>
          </a:xfrm>
          <a:prstGeom prst="rect">
            <a:avLst/>
          </a:prstGeom>
          <a:noFill/>
          <a:ln/>
        </p:spPr>
        <p:txBody>
          <a:bodyPr wrap="square" lIns="0" tIns="0" rIns="0" bIns="0" rtlCol="0" anchor="ctr"/>
          <a:lstStyle/>
          <a:p>
            <a:pPr indent="0" marL="0">
              <a:buNone/>
            </a:pPr>
            <a:r>
              <a:rPr lang="en-US" sz="3400" b="1" dirty="0">
                <a:solidFill>
                  <a:srgbClr val="F4F7FB"/>
                </a:solidFill>
                <a:latin typeface="Calibri" pitchFamily="34" charset="0"/>
                <a:ea typeface="Calibri" pitchFamily="34" charset="-122"/>
                <a:cs typeface="Calibri" pitchFamily="34" charset="-120"/>
              </a:rPr>
              <a:t>$11,852</a:t>
            </a:r>
            <a:endParaRPr lang="en-US" sz="3400" dirty="0"/>
          </a:p>
        </p:txBody>
      </p:sp>
      <p:sp>
        <p:nvSpPr>
          <p:cNvPr id="85" name="Text 83"/>
          <p:cNvSpPr/>
          <p:nvPr/>
        </p:nvSpPr>
        <p:spPr>
          <a:xfrm>
            <a:off x="8322869" y="2532888"/>
            <a:ext cx="321045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661,197 calls, $18 per 1,000</a:t>
            </a:r>
            <a:endParaRPr lang="en-US" sz="1200" dirty="0"/>
          </a:p>
        </p:txBody>
      </p:sp>
      <p:sp>
        <p:nvSpPr>
          <p:cNvPr id="86" name="Shape 84"/>
          <p:cNvSpPr/>
          <p:nvPr/>
        </p:nvSpPr>
        <p:spPr>
          <a:xfrm>
            <a:off x="8322869" y="2807208"/>
            <a:ext cx="3210458" cy="164592"/>
          </a:xfrm>
          <a:prstGeom prst="rect">
            <a:avLst/>
          </a:prstGeom>
          <a:solidFill>
            <a:srgbClr val="2F8CFF"/>
          </a:solidFill>
          <a:ln w="12700">
            <a:solidFill>
              <a:srgbClr val="2F8CFF"/>
            </a:solidFill>
            <a:prstDash val="solid"/>
          </a:ln>
        </p:spPr>
      </p:sp>
      <p:sp>
        <p:nvSpPr>
          <p:cNvPr id="87" name="Shape 85"/>
          <p:cNvSpPr/>
          <p:nvPr/>
        </p:nvSpPr>
        <p:spPr>
          <a:xfrm>
            <a:off x="8322869" y="3099816"/>
            <a:ext cx="100584" cy="100584"/>
          </a:xfrm>
          <a:prstGeom prst="rect">
            <a:avLst/>
          </a:prstGeom>
          <a:solidFill>
            <a:srgbClr val="2F8CFF"/>
          </a:solidFill>
          <a:ln w="12700">
            <a:solidFill>
              <a:srgbClr val="2F8CFF"/>
            </a:solidFill>
            <a:prstDash val="solid"/>
          </a:ln>
        </p:spPr>
      </p:sp>
      <p:sp>
        <p:nvSpPr>
          <p:cNvPr id="88" name="Text 86"/>
          <p:cNvSpPr/>
          <p:nvPr/>
        </p:nvSpPr>
        <p:spPr>
          <a:xfrm>
            <a:off x="8505749" y="3044952"/>
            <a:ext cx="1930298"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Azure OpenAI</a:t>
            </a:r>
            <a:endParaRPr lang="en-US" sz="1200" dirty="0"/>
          </a:p>
        </p:txBody>
      </p:sp>
      <p:sp>
        <p:nvSpPr>
          <p:cNvPr id="89" name="Text 87"/>
          <p:cNvSpPr/>
          <p:nvPr/>
        </p:nvSpPr>
        <p:spPr>
          <a:xfrm>
            <a:off x="10436047" y="3044952"/>
            <a:ext cx="1097280" cy="192024"/>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$11,852</a:t>
            </a:r>
            <a:endParaRPr lang="en-US" sz="1200" dirty="0"/>
          </a:p>
        </p:txBody>
      </p:sp>
      <p:sp>
        <p:nvSpPr>
          <p:cNvPr id="90" name="Text 88"/>
          <p:cNvSpPr/>
          <p:nvPr/>
        </p:nvSpPr>
        <p:spPr>
          <a:xfrm>
            <a:off x="8322869" y="3712464"/>
            <a:ext cx="3210458" cy="201168"/>
          </a:xfrm>
          <a:prstGeom prst="rect">
            <a:avLst/>
          </a:prstGeom>
          <a:noFill/>
          <a:ln/>
        </p:spPr>
        <p:txBody>
          <a:bodyPr wrap="square" lIns="0" tIns="0" rIns="0" bIns="0" rtlCol="0" anchor="ctr"/>
          <a:lstStyle/>
          <a:p>
            <a:pPr indent="0" marL="0">
              <a:buNone/>
            </a:pPr>
            <a:r>
              <a:rPr lang="en-US" sz="1200" b="1" spc="110" kern="0" dirty="0">
                <a:solidFill>
                  <a:srgbClr val="536078"/>
                </a:solidFill>
                <a:latin typeface="Calibri" pitchFamily="34" charset="0"/>
                <a:ea typeface="Calibri" pitchFamily="34" charset="-122"/>
                <a:cs typeface="Calibri" pitchFamily="34" charset="-120"/>
              </a:rPr>
              <a:t>APPLICATIONS</a:t>
            </a:r>
            <a:endParaRPr lang="en-US" sz="1200" dirty="0"/>
          </a:p>
        </p:txBody>
      </p:sp>
      <p:sp>
        <p:nvSpPr>
          <p:cNvPr id="91" name="Text 89"/>
          <p:cNvSpPr/>
          <p:nvPr/>
        </p:nvSpPr>
        <p:spPr>
          <a:xfrm>
            <a:off x="8322869" y="3950208"/>
            <a:ext cx="2158898" cy="176022"/>
          </a:xfrm>
          <a:prstGeom prst="rect">
            <a:avLst/>
          </a:prstGeom>
          <a:noFill/>
          <a:ln/>
        </p:spPr>
        <p:txBody>
          <a:bodyPr wrap="square" lIns="0" tIns="0" rIns="0" bIns="0" rtlCol="0" anchor="ctr"/>
          <a:lstStyle/>
          <a:p>
            <a:pPr indent="0" marL="0">
              <a:buNone/>
            </a:pPr>
            <a:r>
              <a:rPr lang="en-US" sz="1200" dirty="0">
                <a:solidFill>
                  <a:srgbClr val="F4F7FB"/>
                </a:solidFill>
                <a:latin typeface="Calibri" pitchFamily="34" charset="0"/>
                <a:ea typeface="Calibri" pitchFamily="34" charset="-122"/>
                <a:cs typeface="Calibri" pitchFamily="34" charset="-120"/>
              </a:rPr>
              <a:t>insureGen</a:t>
            </a:r>
            <a:endParaRPr lang="en-US" sz="1200" dirty="0"/>
          </a:p>
        </p:txBody>
      </p:sp>
      <p:sp>
        <p:nvSpPr>
          <p:cNvPr id="92" name="Text 90"/>
          <p:cNvSpPr/>
          <p:nvPr/>
        </p:nvSpPr>
        <p:spPr>
          <a:xfrm>
            <a:off x="10481767" y="3950208"/>
            <a:ext cx="1051560" cy="176022"/>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$11,537</a:t>
            </a:r>
            <a:endParaRPr lang="en-US" sz="1200" dirty="0"/>
          </a:p>
        </p:txBody>
      </p:sp>
      <p:sp>
        <p:nvSpPr>
          <p:cNvPr id="93" name="Shape 91"/>
          <p:cNvSpPr/>
          <p:nvPr/>
        </p:nvSpPr>
        <p:spPr>
          <a:xfrm>
            <a:off x="8322869" y="4171950"/>
            <a:ext cx="3210458" cy="45720"/>
          </a:xfrm>
          <a:prstGeom prst="rect">
            <a:avLst/>
          </a:prstGeom>
          <a:solidFill>
            <a:srgbClr val="0E1422"/>
          </a:solidFill>
          <a:ln w="12700">
            <a:solidFill>
              <a:srgbClr val="0E1422"/>
            </a:solidFill>
            <a:prstDash val="solid"/>
          </a:ln>
        </p:spPr>
      </p:sp>
      <p:sp>
        <p:nvSpPr>
          <p:cNvPr id="94" name="Shape 92"/>
          <p:cNvSpPr/>
          <p:nvPr/>
        </p:nvSpPr>
        <p:spPr>
          <a:xfrm>
            <a:off x="8322869" y="4171950"/>
            <a:ext cx="3210458" cy="45720"/>
          </a:xfrm>
          <a:prstGeom prst="rect">
            <a:avLst/>
          </a:prstGeom>
          <a:solidFill>
            <a:srgbClr val="E0A030"/>
          </a:solidFill>
          <a:ln w="12700">
            <a:solidFill>
              <a:srgbClr val="070A12"/>
            </a:solidFill>
            <a:prstDash val="solid"/>
          </a:ln>
        </p:spPr>
      </p:sp>
      <p:sp>
        <p:nvSpPr>
          <p:cNvPr id="95" name="Text 93"/>
          <p:cNvSpPr/>
          <p:nvPr/>
        </p:nvSpPr>
        <p:spPr>
          <a:xfrm>
            <a:off x="8322869" y="4208526"/>
            <a:ext cx="2158898" cy="176022"/>
          </a:xfrm>
          <a:prstGeom prst="rect">
            <a:avLst/>
          </a:prstGeom>
          <a:noFill/>
          <a:ln/>
        </p:spPr>
        <p:txBody>
          <a:bodyPr wrap="square" lIns="0" tIns="0" rIns="0" bIns="0" rtlCol="0" anchor="ctr"/>
          <a:lstStyle/>
          <a:p>
            <a:pPr indent="0" marL="0">
              <a:buNone/>
            </a:pPr>
            <a:r>
              <a:rPr lang="en-US" sz="1200" dirty="0">
                <a:solidFill>
                  <a:srgbClr val="FF6B7A"/>
                </a:solidFill>
                <a:latin typeface="Calibri" pitchFamily="34" charset="0"/>
                <a:ea typeface="Calibri" pitchFamily="34" charset="-122"/>
                <a:cs typeface="Calibri" pitchFamily="34" charset="-120"/>
              </a:rPr>
              <a:t>(unlabeled)</a:t>
            </a:r>
            <a:endParaRPr lang="en-US" sz="1200" dirty="0"/>
          </a:p>
        </p:txBody>
      </p:sp>
      <p:sp>
        <p:nvSpPr>
          <p:cNvPr id="96" name="Text 94"/>
          <p:cNvSpPr/>
          <p:nvPr/>
        </p:nvSpPr>
        <p:spPr>
          <a:xfrm>
            <a:off x="10481767" y="4208526"/>
            <a:ext cx="1051560" cy="176022"/>
          </a:xfrm>
          <a:prstGeom prst="rect">
            <a:avLst/>
          </a:prstGeom>
          <a:noFill/>
          <a:ln/>
        </p:spPr>
        <p:txBody>
          <a:bodyPr wrap="square" lIns="0" tIns="0" rIns="0" bIns="0" rtlCol="0" anchor="ctr"/>
          <a:lstStyle/>
          <a:p>
            <a:pPr algn="r" indent="0" marL="0">
              <a:buNone/>
            </a:pPr>
            <a:r>
              <a:rPr lang="en-US" sz="1200" b="1" dirty="0">
                <a:solidFill>
                  <a:srgbClr val="FF6B7A"/>
                </a:solidFill>
                <a:latin typeface="Calibri" pitchFamily="34" charset="0"/>
                <a:ea typeface="Calibri" pitchFamily="34" charset="-122"/>
                <a:cs typeface="Calibri" pitchFamily="34" charset="-120"/>
              </a:rPr>
              <a:t>$309</a:t>
            </a:r>
            <a:endParaRPr lang="en-US" sz="1200" dirty="0"/>
          </a:p>
        </p:txBody>
      </p:sp>
      <p:sp>
        <p:nvSpPr>
          <p:cNvPr id="97" name="Shape 95"/>
          <p:cNvSpPr/>
          <p:nvPr/>
        </p:nvSpPr>
        <p:spPr>
          <a:xfrm>
            <a:off x="8322869" y="4430268"/>
            <a:ext cx="3210458" cy="45720"/>
          </a:xfrm>
          <a:prstGeom prst="rect">
            <a:avLst/>
          </a:prstGeom>
          <a:solidFill>
            <a:srgbClr val="0E1422"/>
          </a:solidFill>
          <a:ln w="12700">
            <a:solidFill>
              <a:srgbClr val="0E1422"/>
            </a:solidFill>
            <a:prstDash val="solid"/>
          </a:ln>
        </p:spPr>
      </p:sp>
      <p:sp>
        <p:nvSpPr>
          <p:cNvPr id="98" name="Shape 96"/>
          <p:cNvSpPr/>
          <p:nvPr/>
        </p:nvSpPr>
        <p:spPr>
          <a:xfrm>
            <a:off x="8322869" y="4430268"/>
            <a:ext cx="86050" cy="45720"/>
          </a:xfrm>
          <a:prstGeom prst="rect">
            <a:avLst/>
          </a:prstGeom>
          <a:solidFill>
            <a:srgbClr val="FF6B7A"/>
          </a:solidFill>
          <a:ln w="12700">
            <a:solidFill>
              <a:srgbClr val="070A12"/>
            </a:solidFill>
            <a:prstDash val="solid"/>
          </a:ln>
        </p:spPr>
      </p:sp>
      <p:sp>
        <p:nvSpPr>
          <p:cNvPr id="99" name="Text 97"/>
          <p:cNvSpPr/>
          <p:nvPr/>
        </p:nvSpPr>
        <p:spPr>
          <a:xfrm>
            <a:off x="8322869" y="4466844"/>
            <a:ext cx="2158898" cy="176022"/>
          </a:xfrm>
          <a:prstGeom prst="rect">
            <a:avLst/>
          </a:prstGeom>
          <a:noFill/>
          <a:ln/>
        </p:spPr>
        <p:txBody>
          <a:bodyPr wrap="square" lIns="0" tIns="0" rIns="0" bIns="0" rtlCol="0" anchor="ctr"/>
          <a:lstStyle/>
          <a:p>
            <a:pPr indent="0" marL="0">
              <a:buNone/>
            </a:pPr>
            <a:r>
              <a:rPr lang="en-US" sz="1200" dirty="0">
                <a:solidFill>
                  <a:srgbClr val="F4F7FB"/>
                </a:solidFill>
                <a:latin typeface="Calibri" pitchFamily="34" charset="0"/>
                <a:ea typeface="Calibri" pitchFamily="34" charset="-122"/>
                <a:cs typeface="Calibri" pitchFamily="34" charset="-120"/>
              </a:rPr>
              <a:t>agent-marketing-poc</a:t>
            </a:r>
            <a:endParaRPr lang="en-US" sz="1200" dirty="0"/>
          </a:p>
        </p:txBody>
      </p:sp>
      <p:sp>
        <p:nvSpPr>
          <p:cNvPr id="100" name="Text 98"/>
          <p:cNvSpPr/>
          <p:nvPr/>
        </p:nvSpPr>
        <p:spPr>
          <a:xfrm>
            <a:off x="10481767" y="4466844"/>
            <a:ext cx="1051560" cy="176022"/>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$5</a:t>
            </a:r>
            <a:endParaRPr lang="en-US" sz="1200" dirty="0"/>
          </a:p>
        </p:txBody>
      </p:sp>
      <p:sp>
        <p:nvSpPr>
          <p:cNvPr id="101" name="Shape 99"/>
          <p:cNvSpPr/>
          <p:nvPr/>
        </p:nvSpPr>
        <p:spPr>
          <a:xfrm>
            <a:off x="8322869" y="4688586"/>
            <a:ext cx="3210458" cy="45720"/>
          </a:xfrm>
          <a:prstGeom prst="rect">
            <a:avLst/>
          </a:prstGeom>
          <a:solidFill>
            <a:srgbClr val="0E1422"/>
          </a:solidFill>
          <a:ln w="12700">
            <a:solidFill>
              <a:srgbClr val="0E1422"/>
            </a:solidFill>
            <a:prstDash val="solid"/>
          </a:ln>
        </p:spPr>
      </p:sp>
      <p:sp>
        <p:nvSpPr>
          <p:cNvPr id="102" name="Shape 100"/>
          <p:cNvSpPr/>
          <p:nvPr/>
        </p:nvSpPr>
        <p:spPr>
          <a:xfrm>
            <a:off x="8322869" y="4688586"/>
            <a:ext cx="27432" cy="45720"/>
          </a:xfrm>
          <a:prstGeom prst="rect">
            <a:avLst/>
          </a:prstGeom>
          <a:solidFill>
            <a:srgbClr val="E0A030"/>
          </a:solidFill>
          <a:ln w="12700">
            <a:solidFill>
              <a:srgbClr val="070A12"/>
            </a:solidFill>
            <a:prstDash val="solid"/>
          </a:ln>
        </p:spPr>
      </p:sp>
      <p:sp>
        <p:nvSpPr>
          <p:cNvPr id="103" name="Text 101"/>
          <p:cNvSpPr/>
          <p:nvPr/>
        </p:nvSpPr>
        <p:spPr>
          <a:xfrm>
            <a:off x="8322869" y="4725162"/>
            <a:ext cx="2158898" cy="176022"/>
          </a:xfrm>
          <a:prstGeom prst="rect">
            <a:avLst/>
          </a:prstGeom>
          <a:noFill/>
          <a:ln/>
        </p:spPr>
        <p:txBody>
          <a:bodyPr wrap="square" lIns="0" tIns="0" rIns="0" bIns="0" rtlCol="0" anchor="ctr"/>
          <a:lstStyle/>
          <a:p>
            <a:pPr indent="0" marL="0">
              <a:buNone/>
            </a:pPr>
            <a:r>
              <a:rPr lang="en-US" sz="1200" dirty="0">
                <a:solidFill>
                  <a:srgbClr val="536078"/>
                </a:solidFill>
                <a:latin typeface="Calibri" pitchFamily="34" charset="0"/>
                <a:ea typeface="Calibri" pitchFamily="34" charset="-122"/>
                <a:cs typeface="Calibri" pitchFamily="34" charset="-120"/>
              </a:rPr>
              <a:t>5 more applications</a:t>
            </a:r>
            <a:endParaRPr lang="en-US" sz="1200" dirty="0"/>
          </a:p>
        </p:txBody>
      </p:sp>
      <p:sp>
        <p:nvSpPr>
          <p:cNvPr id="104" name="Text 102"/>
          <p:cNvSpPr/>
          <p:nvPr/>
        </p:nvSpPr>
        <p:spPr>
          <a:xfrm>
            <a:off x="10481767" y="4725162"/>
            <a:ext cx="1051560" cy="176022"/>
          </a:xfrm>
          <a:prstGeom prst="rect">
            <a:avLst/>
          </a:prstGeom>
          <a:noFill/>
          <a:ln/>
        </p:spPr>
        <p:txBody>
          <a:bodyPr wrap="square" lIns="0" tIns="0" rIns="0" bIns="0" rtlCol="0" anchor="ctr"/>
          <a:lstStyle/>
          <a:p>
            <a:pPr algn="r" indent="0" marL="0">
              <a:buNone/>
            </a:pPr>
            <a:r>
              <a:rPr lang="en-US" sz="1200" b="1" dirty="0">
                <a:solidFill>
                  <a:srgbClr val="536078"/>
                </a:solidFill>
                <a:latin typeface="Calibri" pitchFamily="34" charset="0"/>
                <a:ea typeface="Calibri" pitchFamily="34" charset="-122"/>
                <a:cs typeface="Calibri" pitchFamily="34" charset="-120"/>
              </a:rPr>
              <a:t>&lt;$1</a:t>
            </a:r>
            <a:endParaRPr lang="en-US" sz="1200" dirty="0"/>
          </a:p>
        </p:txBody>
      </p:sp>
      <p:sp>
        <p:nvSpPr>
          <p:cNvPr id="105" name="Shape 103"/>
          <p:cNvSpPr/>
          <p:nvPr/>
        </p:nvSpPr>
        <p:spPr>
          <a:xfrm>
            <a:off x="8322869" y="4946904"/>
            <a:ext cx="3210458" cy="45720"/>
          </a:xfrm>
          <a:prstGeom prst="rect">
            <a:avLst/>
          </a:prstGeom>
          <a:solidFill>
            <a:srgbClr val="0E1422"/>
          </a:solidFill>
          <a:ln w="12700">
            <a:solidFill>
              <a:srgbClr val="0E1422"/>
            </a:solidFill>
            <a:prstDash val="solid"/>
          </a:ln>
        </p:spPr>
      </p:sp>
      <p:sp>
        <p:nvSpPr>
          <p:cNvPr id="106" name="Shape 104"/>
          <p:cNvSpPr/>
          <p:nvPr/>
        </p:nvSpPr>
        <p:spPr>
          <a:xfrm>
            <a:off x="8322869" y="4946904"/>
            <a:ext cx="27432" cy="45720"/>
          </a:xfrm>
          <a:prstGeom prst="rect">
            <a:avLst/>
          </a:prstGeom>
          <a:solidFill>
            <a:srgbClr val="536078"/>
          </a:solidFill>
          <a:ln w="12700">
            <a:solidFill>
              <a:srgbClr val="070A12"/>
            </a:solidFill>
            <a:prstDash val="solid"/>
          </a:ln>
        </p:spPr>
      </p:sp>
      <p:sp>
        <p:nvSpPr>
          <p:cNvPr id="107" name="Shape 105"/>
          <p:cNvSpPr/>
          <p:nvPr/>
        </p:nvSpPr>
        <p:spPr>
          <a:xfrm>
            <a:off x="457200" y="5257800"/>
            <a:ext cx="11277295" cy="960120"/>
          </a:xfrm>
          <a:prstGeom prst="roundRect">
            <a:avLst>
              <a:gd name="adj" fmla="val 5714"/>
            </a:avLst>
          </a:prstGeom>
          <a:solidFill>
            <a:srgbClr val="121B2D"/>
          </a:solidFill>
          <a:ln w="12700">
            <a:solidFill>
              <a:srgbClr val="FF6B7A"/>
            </a:solidFill>
            <a:prstDash val="solid"/>
          </a:ln>
        </p:spPr>
      </p:sp>
      <p:sp>
        <p:nvSpPr>
          <p:cNvPr id="108" name="Text 106"/>
          <p:cNvSpPr/>
          <p:nvPr/>
        </p:nvSpPr>
        <p:spPr>
          <a:xfrm>
            <a:off x="731520" y="5385816"/>
            <a:ext cx="2468880" cy="493776"/>
          </a:xfrm>
          <a:prstGeom prst="rect">
            <a:avLst/>
          </a:prstGeom>
          <a:noFill/>
          <a:ln/>
        </p:spPr>
        <p:txBody>
          <a:bodyPr wrap="square" lIns="0" tIns="0" rIns="0" bIns="0" rtlCol="0" anchor="ctr"/>
          <a:lstStyle/>
          <a:p>
            <a:pPr indent="0" marL="0">
              <a:buNone/>
            </a:pPr>
            <a:r>
              <a:rPr lang="en-US" sz="3400" b="1" dirty="0">
                <a:solidFill>
                  <a:srgbClr val="FF6B7A"/>
                </a:solidFill>
                <a:latin typeface="Calibri" pitchFamily="34" charset="0"/>
                <a:ea typeface="Calibri" pitchFamily="34" charset="-122"/>
                <a:cs typeface="Calibri" pitchFamily="34" charset="-120"/>
              </a:rPr>
              <a:t>$30,125</a:t>
            </a:r>
            <a:endParaRPr lang="en-US" sz="3400" dirty="0"/>
          </a:p>
        </p:txBody>
      </p:sp>
      <p:sp>
        <p:nvSpPr>
          <p:cNvPr id="109" name="Text 107"/>
          <p:cNvSpPr/>
          <p:nvPr/>
        </p:nvSpPr>
        <p:spPr>
          <a:xfrm>
            <a:off x="731520" y="5861304"/>
            <a:ext cx="2651760" cy="219456"/>
          </a:xfrm>
          <a:prstGeom prst="rect">
            <a:avLst/>
          </a:prstGeom>
          <a:noFill/>
          <a:ln/>
        </p:spPr>
        <p:txBody>
          <a:bodyPr wrap="square" lIns="0" tIns="0" rIns="0" bIns="0" rtlCol="0" anchor="ctr"/>
          <a:lstStyle/>
          <a:p>
            <a:pPr indent="0" marL="0">
              <a:buNone/>
            </a:pPr>
            <a:r>
              <a:rPr lang="en-US" sz="1200" b="1" dirty="0">
                <a:solidFill>
                  <a:srgbClr val="91A0B7"/>
                </a:solidFill>
                <a:latin typeface="Calibri" pitchFamily="34" charset="0"/>
                <a:ea typeface="Calibri" pitchFamily="34" charset="-122"/>
                <a:cs typeface="Calibri" pitchFamily="34" charset="-120"/>
              </a:rPr>
              <a:t>no team, no application</a:t>
            </a:r>
            <a:endParaRPr lang="en-US" sz="1200" dirty="0"/>
          </a:p>
        </p:txBody>
      </p:sp>
      <p:sp>
        <p:nvSpPr>
          <p:cNvPr id="110" name="Text 108"/>
          <p:cNvSpPr/>
          <p:nvPr/>
        </p:nvSpPr>
        <p:spPr>
          <a:xfrm>
            <a:off x="3566160" y="5367528"/>
            <a:ext cx="5516575" cy="274320"/>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The largest single line in the bill has no owner</a:t>
            </a:r>
            <a:endParaRPr lang="en-US" sz="1600" dirty="0"/>
          </a:p>
        </p:txBody>
      </p:sp>
      <p:sp>
        <p:nvSpPr>
          <p:cNvPr id="111" name="Text 109"/>
          <p:cNvSpPr/>
          <p:nvPr/>
        </p:nvSpPr>
        <p:spPr>
          <a:xfrm>
            <a:off x="3566160" y="5660136"/>
            <a:ext cx="5516575" cy="566928"/>
          </a:xfrm>
          <a:prstGeom prst="rect">
            <a:avLst/>
          </a:prstGeom>
          <a:noFill/>
          <a:ln/>
        </p:spPr>
        <p:txBody>
          <a:bodyPr wrap="square" lIns="0" tIns="0" rIns="0" bIns="0" rtlCol="0" anchor="t"/>
          <a:lstStyle/>
          <a:p>
            <a:pPr indent="0" marL="0">
              <a:lnSpc>
                <a:spcPct val="115000"/>
              </a:lnSpc>
              <a:buNone/>
            </a:pPr>
            <a:r>
              <a:rPr lang="en-US" sz="1300" dirty="0">
                <a:solidFill>
                  <a:srgbClr val="91A0B7"/>
                </a:solidFill>
                <a:latin typeface="Calibri" pitchFamily="34" charset="0"/>
                <a:ea typeface="Calibri" pitchFamily="34" charset="-122"/>
                <a:cs typeface="Calibri" pitchFamily="34" charset="-120"/>
              </a:rPr>
              <a:t>$28,370 has no application tag, plus $1,754 of guardrail fees. That is 57% of our Bedrock bill, and more than insait.</a:t>
            </a:r>
            <a:endParaRPr lang="en-US" sz="1300" dirty="0"/>
          </a:p>
        </p:txBody>
      </p:sp>
      <p:sp>
        <p:nvSpPr>
          <p:cNvPr id="112" name="Text 110"/>
          <p:cNvSpPr/>
          <p:nvPr/>
        </p:nvSpPr>
        <p:spPr>
          <a:xfrm>
            <a:off x="9357055" y="5422392"/>
            <a:ext cx="2194560" cy="201168"/>
          </a:xfrm>
          <a:prstGeom prst="rect">
            <a:avLst/>
          </a:prstGeom>
          <a:noFill/>
          <a:ln/>
        </p:spPr>
        <p:txBody>
          <a:bodyPr wrap="square" lIns="0" tIns="0" rIns="0" bIns="0" rtlCol="0" anchor="ctr"/>
          <a:lstStyle/>
          <a:p>
            <a:pPr algn="r" indent="0" marL="0">
              <a:buNone/>
            </a:pPr>
            <a:r>
              <a:rPr lang="en-US" sz="1200" b="1" spc="110" kern="0" dirty="0">
                <a:solidFill>
                  <a:srgbClr val="536078"/>
                </a:solidFill>
                <a:latin typeface="Calibri" pitchFamily="34" charset="0"/>
                <a:ea typeface="Calibri" pitchFamily="34" charset="-122"/>
                <a:cs typeface="Calibri" pitchFamily="34" charset="-120"/>
              </a:rPr>
              <a:t>13 OTHER TEAMS</a:t>
            </a:r>
            <a:endParaRPr lang="en-US" sz="1200" dirty="0"/>
          </a:p>
        </p:txBody>
      </p:sp>
      <p:sp>
        <p:nvSpPr>
          <p:cNvPr id="113" name="Text 111"/>
          <p:cNvSpPr/>
          <p:nvPr/>
        </p:nvSpPr>
        <p:spPr>
          <a:xfrm>
            <a:off x="9357055" y="5641848"/>
            <a:ext cx="2194560" cy="365760"/>
          </a:xfrm>
          <a:prstGeom prst="rect">
            <a:avLst/>
          </a:prstGeom>
          <a:noFill/>
          <a:ln/>
        </p:spPr>
        <p:txBody>
          <a:bodyPr wrap="square" lIns="0" tIns="0" rIns="0" bIns="0" rtlCol="0" anchor="ctr"/>
          <a:lstStyle/>
          <a:p>
            <a:pPr algn="r" indent="0" marL="0">
              <a:buNone/>
            </a:pPr>
            <a:r>
              <a:rPr lang="en-US" sz="2400" b="1" dirty="0">
                <a:solidFill>
                  <a:srgbClr val="F4F7FB"/>
                </a:solidFill>
                <a:latin typeface="Calibri" pitchFamily="34" charset="0"/>
                <a:ea typeface="Calibri" pitchFamily="34" charset="-122"/>
                <a:cs typeface="Calibri" pitchFamily="34" charset="-120"/>
              </a:rPr>
              <a:t>$1,461</a:t>
            </a:r>
            <a:endParaRPr lang="en-US" sz="2400" dirty="0"/>
          </a:p>
        </p:txBody>
      </p:sp>
      <p:sp>
        <p:nvSpPr>
          <p:cNvPr id="114" name="Text 112"/>
          <p:cNvSpPr/>
          <p:nvPr/>
        </p:nvSpPr>
        <p:spPr>
          <a:xfrm>
            <a:off x="9357055" y="6007608"/>
            <a:ext cx="2194560" cy="201168"/>
          </a:xfrm>
          <a:prstGeom prst="rect">
            <a:avLst/>
          </a:prstGeom>
          <a:noFill/>
          <a:ln/>
        </p:spPr>
        <p:txBody>
          <a:bodyPr wrap="square" lIns="0" tIns="0" rIns="0" bIns="0" rtlCol="0" anchor="ctr"/>
          <a:lstStyle/>
          <a:p>
            <a:pPr algn="r" indent="0" marL="0">
              <a:buNone/>
            </a:pPr>
            <a:r>
              <a:rPr lang="en-US" sz="1200" dirty="0">
                <a:solidFill>
                  <a:srgbClr val="91A0B7"/>
                </a:solidFill>
                <a:latin typeface="Calibri" pitchFamily="34" charset="0"/>
                <a:ea typeface="Calibri" pitchFamily="34" charset="-122"/>
                <a:cs typeface="Calibri" pitchFamily="34" charset="-120"/>
              </a:rPr>
              <a:t>1.8% of the bill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consumption by team and application — Harel</dc:title>
  <dc:subject>PptxGenJS Presentation</dc:subject>
  <dc:creator>Cloud Infrastructure, DevOps &amp; Databases</dc:creator>
  <cp:lastModifiedBy>Cloud Infrastructure, DevOps &amp; Databases</cp:lastModifiedBy>
  <cp:revision>1</cp:revision>
  <dcterms:created xsi:type="dcterms:W3CDTF">2026-09-22T17:12:14Z</dcterms:created>
  <dcterms:modified xsi:type="dcterms:W3CDTF">2026-09-22T17:12:14Z</dcterms:modified>
</cp:coreProperties>
</file>